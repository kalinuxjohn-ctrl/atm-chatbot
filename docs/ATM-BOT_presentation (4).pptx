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8" r:id="rId49"/>
    <p:sldId id="299" r:id="rId50"/>
    <p:sldId id="300" r:id="rId51"/>
    <p:sldId id="301" r:id="rId52"/>
    <p:sldId id="302" r:id="rId53"/>
    <p:sldId id="303" r:id="rId54"/>
    <p:sldId id="304" r:id="rId55"/>
    <p:sldId id="305" r:id="rId56"/>
    <p:sldId id="306" r:id="rId57"/>
    <p:sldId id="307" r:id="rId58"/>
    <p:sldId id="308" r:id="rId59"/>
    <p:sldId id="294" r:id="rId40"/>
    <p:sldId id="295" r:id="rId41"/>
    <p:sldId id="296" r:id="rId42"/>
    <p:sldId id="297" r:id="rId43"/>
  </p:sldIdLst>
  <p:notesMasterIdLst>
    <p:notesMasterId r:id="rId4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33e4936-5b8d-034e-41b9-67badfd56f69}">
          <p14:sldIdLst>
            <p14:sldId id="256"/>
            <p14:sldId id="257"/>
          </p14:sldIdLst>
        </p14:section>
        <p14:section name="I. Le besoin" id="{d8df8332-7f6a-fd6f-a503-859dc62a5704}">
          <p14:sldIdLst>
            <p14:sldId id="258"/>
            <p14:sldId id="259"/>
            <p14:sldId id="260"/>
            <p14:sldId id="261"/>
          </p14:sldIdLst>
        </p14:section>
        <p14:section name="II. L'usage au quotidien" id="{a25f286d-1e6e-9794-6ec0-266f6acf012d}">
          <p14:sldIdLst>
            <p14:sldId id="262"/>
            <p14:sldId id="263"/>
            <p14:sldId id="264"/>
            <p14:sldId id="265"/>
            <p14:sldId id="266"/>
          </p14:sldIdLst>
        </p14:section>
        <p14:section name="III. L'architecture" id="{b9a523dc-4b6d-0af2-8795-343a56e35f28}">
          <p14:sldIdLst>
            <p14:sldId id="267"/>
            <p14:sldId id="268"/>
          </p14:sldIdLst>
        </p14:section>
        <p14:section name="IV. La base de données" id="{2592c432-3858-5a9a-a2e4-107307e5a2db}">
          <p14:sldIdLst>
            <p14:sldId id="269"/>
            <p14:sldId id="270"/>
            <p14:sldId id="271"/>
            <p14:sldId id="272"/>
            <p14:sldId id="273"/>
            <p14:sldId id="274"/>
            <p14:sldId id="275"/>
            <p14:sldId id="276"/>
          </p14:sldIdLst>
        </p14:section>
        <p14:section name="V. L'intelligence artificielle" id="{f8795997-471d-1a2b-7a5a-83756aa0d0ae}">
          <p14:sldIdLst>
            <p14:sldId id="277"/>
            <p14:sldId id="278"/>
            <p14:sldId id="279"/>
            <p14:sldId id="280"/>
            <p14:sldId id="281"/>
            <p14:sldId id="282"/>
            <p14:sldId id="283"/>
            <p14:sldId id="284"/>
            <p14:sldId id="285"/>
            <p14:sldId id="286"/>
            <p14:sldId id="287"/>
          </p14:sldIdLst>
        </p14:section>
        <p14:section name="VI. Le trajet des données, cas par cas" id="{4336cab7-6c5f-7fd3-7e18-cb25c82e6b29}">
          <p14:sldIdLst>
            <p14:sldId id="288"/>
            <p14:sldId id="289"/>
            <p14:sldId id="290"/>
            <p14:sldId id="291"/>
            <p14:sldId id="292"/>
            <p14:sldId id="293"/>
          </p14:sldIdLst>
        </p14:section>
        <p14:section name="VII. Le trajet des données dans la base" id="{7a1c2e40-5b3d-4f6a-9c11-2d8e4f0b7a21}">
          <p14:sldIdLst>
            <p14:sldId id="298"/>
            <p14:sldId id="299"/>
            <p14:sldId id="300"/>
            <p14:sldId id="301"/>
            <p14:sldId id="302"/>
          </p14:sldIdLst>
        </p14:section>
        <p14:section name="VIII. L'optimisation du système" id="{3f6b9d20-8c4e-4b7a-a1d2-5e9f0c3b7d44}">
          <p14:sldIdLst>
            <p14:sldId id="303"/>
            <p14:sldId id="304"/>
            <p14:sldId id="305"/>
            <p14:sldId id="306"/>
            <p14:sldId id="307"/>
            <p14:sldId id="308"/>
          </p14:sldIdLst>
        </p14:section>
        <p14:section name="IX. ATM-BOT en fonctionnement" id="{e0ce1112-3837-6c62-49d8-bd992b98f469}">
          <p14:sldIdLst>
            <p14:sldId id="294"/>
            <p14:sldId id="295"/>
            <p14:sldId id="296"/>
            <p14:sldId id="29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50.xml"/><Relationship Id="rId41" Type="http://schemas.openxmlformats.org/officeDocument/2006/relationships/slide" Target="slides/slide51.xml"/><Relationship Id="rId42" Type="http://schemas.openxmlformats.org/officeDocument/2006/relationships/slide" Target="slides/slide52.xml"/><Relationship Id="rId43" Type="http://schemas.openxmlformats.org/officeDocument/2006/relationships/slide" Target="slides/slide53.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 Id="rId49" Type="http://schemas.openxmlformats.org/officeDocument/2006/relationships/slide" Target="slides/slide39.xml"/><Relationship Id="rId50" Type="http://schemas.openxmlformats.org/officeDocument/2006/relationships/slide" Target="slides/slide40.xml"/><Relationship Id="rId51" Type="http://schemas.openxmlformats.org/officeDocument/2006/relationships/slide" Target="slides/slide41.xml"/><Relationship Id="rId52" Type="http://schemas.openxmlformats.org/officeDocument/2006/relationships/slide" Target="slides/slide42.xml"/><Relationship Id="rId53" Type="http://schemas.openxmlformats.org/officeDocument/2006/relationships/slide" Target="slides/slide43.xml"/><Relationship Id="rId54" Type="http://schemas.openxmlformats.org/officeDocument/2006/relationships/slide" Target="slides/slide44.xml"/><Relationship Id="rId55" Type="http://schemas.openxmlformats.org/officeDocument/2006/relationships/slide" Target="slides/slide45.xml"/><Relationship Id="rId56" Type="http://schemas.openxmlformats.org/officeDocument/2006/relationships/slide" Target="slides/slide46.xml"/><Relationship Id="rId57" Type="http://schemas.openxmlformats.org/officeDocument/2006/relationships/slide" Target="slides/slide47.xml"/><Relationship Id="rId58" Type="http://schemas.openxmlformats.org/officeDocument/2006/relationships/slide" Target="slides/slide48.xml"/><Relationship Id="rId59" Type="http://schemas.openxmlformats.org/officeDocument/2006/relationships/slide" Target="slides/slide4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1B2630"/>
                </a:solidFill>
              </a:rPr>
              <a:t>Coût de lecture par message (millièmes de dollar)</a:t>
            </a:r>
          </a:p>
        </c:rich>
      </c:tx>
      <c:layout/>
      <c:overlay val="0"/>
    </c:title>
    <c:autoTitleDeleted val="0"/>
    <c:plotArea>
      <c:barChart>
        <c:barDir val="col"/>
        <c:grouping val="clustered"/>
        <c:ser>
          <c:idx val="0"/>
          <c:order val="0"/>
          <c:tx>
            <c:strRef>
              <c:f>Sheet1!$B$1</c:f>
              <c:strCache>
                <c:ptCount val="1"/>
                <c:pt idx="0">
                  <c:v>Sans cache</c:v>
                </c:pt>
              </c:strCache>
            </c:strRef>
          </c:tx>
          <c:spPr>
            <a:solidFill>
              <a:srgbClr val="6B7A86"/>
            </a:solidFill>
          </c:spP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Sheet1!$B$2:$B$21</c:f>
              <c:numCache>
                <c:formatCode>General</c:formatCode>
                <c:ptCount val="20"/>
                <c:pt idx="0">
                  <c:v>6.0</c:v>
                </c:pt>
                <c:pt idx="1">
                  <c:v>6.8</c:v>
                </c:pt>
                <c:pt idx="2">
                  <c:v>7.6</c:v>
                </c:pt>
                <c:pt idx="3">
                  <c:v>8.4</c:v>
                </c:pt>
                <c:pt idx="4">
                  <c:v>9.2</c:v>
                </c:pt>
                <c:pt idx="5">
                  <c:v>10.0</c:v>
                </c:pt>
                <c:pt idx="6">
                  <c:v>10.8</c:v>
                </c:pt>
                <c:pt idx="7">
                  <c:v>11.6</c:v>
                </c:pt>
                <c:pt idx="8">
                  <c:v>12.4</c:v>
                </c:pt>
                <c:pt idx="9">
                  <c:v>13.2</c:v>
                </c:pt>
                <c:pt idx="10">
                  <c:v>14.0</c:v>
                </c:pt>
                <c:pt idx="11">
                  <c:v>14.8</c:v>
                </c:pt>
                <c:pt idx="12">
                  <c:v>15.6</c:v>
                </c:pt>
                <c:pt idx="13">
                  <c:v>16.4</c:v>
                </c:pt>
                <c:pt idx="14">
                  <c:v>17.2</c:v>
                </c:pt>
                <c:pt idx="15">
                  <c:v>18.0</c:v>
                </c:pt>
                <c:pt idx="16">
                  <c:v>18.8</c:v>
                </c:pt>
                <c:pt idx="17">
                  <c:v>19.6</c:v>
                </c:pt>
                <c:pt idx="18">
                  <c:v>20.4</c:v>
                </c:pt>
                <c:pt idx="19">
                  <c:v>21.2</c:v>
                </c:pt>
              </c:numCache>
            </c:numRef>
          </c:val>
        </c:ser>
        <c:ser>
          <c:idx val="1"/>
          <c:order val="1"/>
          <c:tx>
            <c:strRef>
              <c:f>Sheet1!$C$1</c:f>
              <c:strCache>
                <c:ptCount val="1"/>
                <c:pt idx="0">
                  <c:v>Avec cache</c:v>
                </c:pt>
              </c:strCache>
            </c:strRef>
          </c:tx>
          <c:spPr>
            <a:solidFill>
              <a:srgbClr val="0E7C6B"/>
            </a:solidFill>
          </c:spP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Sheet1!$C$2:$C$21</c:f>
              <c:numCache>
                <c:formatCode>General</c:formatCode>
                <c:ptCount val="20"/>
                <c:pt idx="0">
                  <c:v>10.0</c:v>
                </c:pt>
                <c:pt idx="1">
                  <c:v>4.0</c:v>
                </c:pt>
                <c:pt idx="2">
                  <c:v>4.08</c:v>
                </c:pt>
                <c:pt idx="3">
                  <c:v>4.16</c:v>
                </c:pt>
                <c:pt idx="4">
                  <c:v>4.24</c:v>
                </c:pt>
                <c:pt idx="5">
                  <c:v>4.32</c:v>
                </c:pt>
                <c:pt idx="6">
                  <c:v>4.4</c:v>
                </c:pt>
                <c:pt idx="7">
                  <c:v>4.48</c:v>
                </c:pt>
                <c:pt idx="8">
                  <c:v>4.56</c:v>
                </c:pt>
                <c:pt idx="9">
                  <c:v>4.64</c:v>
                </c:pt>
                <c:pt idx="10">
                  <c:v>4.72</c:v>
                </c:pt>
                <c:pt idx="11">
                  <c:v>4.8</c:v>
                </c:pt>
                <c:pt idx="12">
                  <c:v>4.88</c:v>
                </c:pt>
                <c:pt idx="13">
                  <c:v>4.96</c:v>
                </c:pt>
                <c:pt idx="14">
                  <c:v>5.04</c:v>
                </c:pt>
                <c:pt idx="15">
                  <c:v>5.12</c:v>
                </c:pt>
                <c:pt idx="16">
                  <c:v>5.2</c:v>
                </c:pt>
                <c:pt idx="17">
                  <c:v>5.28</c:v>
                </c:pt>
                <c:pt idx="18">
                  <c:v>5.36</c:v>
                </c:pt>
                <c:pt idx="19">
                  <c:v>5.44</c:v>
                </c:pt>
              </c:numCache>
            </c:numRef>
          </c:val>
        </c:ser>
        <c:gapWidth val="60"/>
        <c:overlap val="-10"/>
        <c:axId val="-2068027336"/>
        <c:axId val="-2113994440"/>
      </c:barChart>
      <c:catAx>
        <c:axId val="-2068027336"/>
        <c:scaling>
          <c:orientation val="minMax"/>
        </c:scaling>
        <c:delete val="0"/>
        <c:axPos val="b"/>
        <c:title>
          <c:tx>
            <c:rich>
              <a:bodyPr/>
              <a:lstStyle/>
              <a:p>
                <a:r>
                  <a:rPr sz="1000" b="0"/>
                  <a:t>Message n° (au fil de la conversation)</a:t>
                </a:r>
              </a:p>
            </c:rich>
          </c:tx>
          <c:layout/>
          <c:overlay val="0"/>
        </c:title>
        <c:majorTickMark val="out"/>
        <c:minorTickMark val="none"/>
        <c:tickLblPos val="nextTo"/>
        <c:txPr>
          <a:bodyPr/>
          <a:lstStyle/>
          <a:p>
            <a:pPr>
              <a:defRPr sz="1000">
                <a:solidFill>
                  <a:srgbClr val="2E4A5C"/>
                </a:solidFill>
              </a:defRPr>
            </a:pPr>
          </a:p>
        </c:txPr>
        <c:crossAx val="-2113994440"/>
        <c:crosses val="autoZero"/>
        <c:auto val="1"/>
        <c:lblAlgn val="ctr"/>
        <c:lblOffset val="100"/>
        <c:noMultiLvlLbl val="0"/>
      </c:catAx>
      <c:valAx>
        <c:axId val="-2113994440"/>
        <c:scaling/>
        <c:delete val="0"/>
        <c:axPos val="l"/>
        <c:majorGridlines>
          <c:spPr>
            <a:ln>
              <a:solidFill>
                <a:srgbClr val="D5DCE0"/>
              </a:solidFill>
            </a:ln>
          </c:spPr>
        </c:majorGridlines>
        <c:majorTickMark val="out"/>
        <c:minorTickMark val="none"/>
        <c:tickLblPos val="nextTo"/>
        <c:spPr>
          <a:ln>
            <a:noFill/>
          </a:ln>
        </c:spPr>
        <c:txPr>
          <a:bodyPr/>
          <a:lstStyle/>
          <a:p>
            <a:pPr>
              <a:defRPr sz="1000">
                <a:solidFill>
                  <a:srgbClr val="2E4A5C"/>
                </a:solidFill>
              </a:defRPr>
            </a:pPr>
          </a:p>
        </c:txPr>
        <c:crossAx val="-2068027336"/>
        <c:crosses val="autoZero"/>
      </c:valAx>
    </c:plotArea>
    <c:legend>
      <c:legendPos val="t"/>
      <c:overlay val="0"/>
      <c:txPr>
        <a:bodyPr/>
        <a:lstStyle/>
        <a:p>
          <a:pPr>
            <a:defRPr sz="1100"/>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ATM-BOT est une solution d'assistance à la maintenance des distributeurs. Son cœur n'est pas la conversation mais le cycle diagnostic, recherche, proposition, test, validation et capitalisation : chaque intervention rend la solution plus utile pour la suivante.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 déroulé : le besoin, l'usage au quotidien, l'architecture, la base de données, l'intelligence artificielle, le trajet des données (cas par cas puis dans la base), l'optimisation du système, puis l'application en fonctionnement.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I : Le besoin. Comprendre le problème des équipes de maintenance et la réponse qu'apporte ATM-BOT.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difficultés sont qualitatives : le projet ne dispose pas encore de mesures chiffrées. L'objectif est de faire reconnaître la situation par l'entreprise, pas d'avancer des statistiques.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Insister sur la différence avec un simple chatbot : la valeur vient de la boucle de capitalisation. Une solution validée sur le terrain devient une connaissance exploitable par tous les techniciens.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Aucun bénéfice n'est chiffré : le projet n'a pas encore de mesures réelles. Proposer à l'entreprise de définir ensemble les indicateurs à suivre pendant un pilote (temps de diagnostic, taux de résolution au premier passage, etc.).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II : L'usage au quotidien. Voir comment ATM-BOT apprend du terrain et dialogue avec le technicien.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étapes 1, 5 et 6 sont réalisées par le technicien, les autres par ATM-BOT. Les diagrammes de séquence fournis en annexe détaillent ces échanges (séquence principale et séquence de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validation met à jour outcome_status et is_confirmed_solution dans intervention_action, puis les statistiques de réussite. La vérification de similarité d'une nouvelle action n'est pas encore possible : le schéma ne contient pas d'embedding sur les actions (colonne raw_text_embedding prévue mais commentée dans la migration 0003).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contexte actif est stocké dans conversation_context (JSONB) : intention, équipement, intervention, symptôme et composant courants, dernière recherche avec la position de chaque résultat, résultat sélectionné. Les positions pointent vers intervention_symptom_id, le symptôme réellement observé, et non vers symptom_id, le concept normalisé.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frontend est développé indépendamment du backend. Les fonctions vocales (reconnaissance et synthèse) utilisent les API du navigateur : aucun endpoint backend dédié n'existe ni n'est créé. Les fonctionnalités marquées « Prévu » ne sont pas encore livrées.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III : L'architecture. Voir comment le projet est organisé techniquement, couche par couche.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Lire les couches de haut en bas : le technicien utilise le frontend, le backend orchestre, l'IA est un service appelé par le backend, et les données sont dans PostgreSQL. Claude intervient à chaque message ; Voyage AI uniquement quand une recherche de cas similaires est nécessaire.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IV : La base de données. Comprendre quelles tables stockent la connaissance de maintenance, ce que contient chacune et comment elles sont liées.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diagramme complet en haute résolution est fourni en annexe (atmbot_modele_de_donnees.png). La couleur de chaque groupe est reprise dans les slides suivantes.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GAB : guichet automatique bancaire (distributeur de billets). TPE : terminal de paiement électronique. Le type est obligatoire car il détermine quelles statistiques de réussite s'appliquent.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 table centrale : les symptômes, actions et diagnostics des slides suivantes sont tous rattachés à une intervention.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deux colonnes ne sont pas deux copies de la même chose : à gauche, des lignes créées à chaque intervention ; à droite, une liste stable. La slide suivante détaille leurs colonnes.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Quand le technicien dit « le deuxième », ATM-BOT désigne une observation (intervention_symptom_id), pas un symptôme du catalogue.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statistiques sont calculées à partir des actions tentées (outcome_status, is_confirmed_solution). Le fonctionnement de la recherche est expliqué en partie 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contexte actif permet de comprendre « le deuxième » ou « cette solution ». Les codes d'erreur (migration 0007) sont indépendants du catalogue de diagnostic.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V : L'intelligence artificielle. Comprendre comment ATM-BOT retrouve les bonnes solutions, et pourquoi ces choix techniques.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clé : les techniciens n'écrivent jamais deux fois la même panne de la même manière. Plus la base s'enrichit, plus ce problème grandit. La recherche sémantique résout ce problème en comparant le sens.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Ordre présenté à titre d'illustration. Techniquement : la question est vectorisée par Voyage AI, pgvector compare ce vecteur à la colonne intervention_symptom.embedding (similarité cosinus, index HNSW), puis le backend récupère les actions de ces interventions.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Voyage AI fournit des modèles d'embedding et de reranking. MongoDB l'a racheté en février 2025 ; les modèles restent disponibles via l'API Voyage. Les nombres affichés sont illustratifs. La vue en nuage de points est une simplification : un vrai vecteur a 1024 dimensions.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Raison 1 : technique, il n'y a pas d'alternative chez Anthropic. Raison 2 : économique, le coût de recherche est indépendant du volume de la base. Changer de fournisseur d'embedding reste possible mais impose de revectoriser toute la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backend est au centre de tous les échanges : Claude, Voyage AI et la base ne se parlent jamais directement. Cas 1 : pour un message simple ou une question de suivi, Claude répond à partir du contexte de la conversation, sans embedding. Cas 2 : quand le technicien demande de l'aide sur une panne, Claude identifie la demande, Voyage AI vectorise le problème, pgvector trouve les cas proches, puis Claude rédige la réponse à partir de ces 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troisième option existe : la recherche par mots-clés sans IA de recherche. Elle est rapide mais perd l'intérêt de la recherche sémantique (voir V.a, une formulation sur trois retrouvée). Anthropic ne propose pas de modèle d'embedding et oriente vers des fournisseurs spécialisés, dont Voyage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d'un échange réel avec Claude. Claude ne fabrique pas de liste de nombres : il oriente vers un vrai modèle d'embedding. C'est la raison pour laquelle ATM-BOT confie cette tâche à Voyage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volumes de tokens sont des estimations de conception (consignes, historique, longueur moyenne d'une intervention), pas des mesures. Ils seront à remplacer par les valeurs réelles relevées dans les journaux de l'API une fois la solution en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Cellules surlignées : l'option la moins chère pour chaque taille de base. Le seuil d'environ 40 interventions découle des hypothèses de la slide précédente. Une base de maintenance réelle le dépasse très vite, d'où le choix de Claude + Voyage.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table symptom_action_outcome_stats stocke tentatives, succès et taux de réussite par symptôme, action et type d'équipement. La pondération exacte des critères de classement est en cours de développement : ne pas présenter de formule définitive.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VI : Le trajet des données, cas par cas. Suivre, étape par étape, qui appelle qui dans chacun des cinq cas d'usage.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Diagramme de séquence du cas 1 : les flèches pleines sont les requêtes, les pointillés les réponses, les pastilles numérotées donnent l'ordre des étapes. Exemple : code P200, erreur de lecteur, retirer le lecteur et le nettoyer. La liste des codes fréquents est servie par le serveur frontend ; sa source exacte (tables error_code et fault) reste à préciser.</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Diagramme de séquence du cas 2 : les flèches pleines sont les requêtes, les pointillés les réponses, les pastilles numérotées donnent l'ordre des étapes. Claude reconnaît qu'il n'y a rien à rechercher et répond directement à partir du contexte.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Diagramme de séquence du cas 3 : les flèches pleines sont les requêtes, les pointillés les réponses, les pastilles numérotées donnent l'ordre des étapes. Entre les étapes 9 et 10, le backend classe les solutions (similarité et taux de réussite). À l'étape 12, il mémorise aussi la position de chaque résultat dans le contexte, pour pouvoir résoudre ensuite « le deuxième ».</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Diagramme de séquence du cas 4 : les flèches pleines sont les requêtes, les pointillés les réponses, les pastilles numérotées donnent l'ordre des étapes. La correspondance « le deuxième » → résultat en position 2 est faite par le backend à partir du contexte enregistré au cas 3, de façon déterministe. Claude identifie seulement l'intention.</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Diagramme de séquence du cas 5 : les flèches pleines sont les requêtes, les pointillés les réponses, les pastilles numérotées donnent l'ordre des étapes. Si le technicien propose sa propre solution, elle est enregistrée comme nouvelle action. La vérification de similarité avec les actions existantes reste à développer.</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Partie IX : ATM-BOT en fonctionnement. Voir, sur des captures réelles de l'application, que le système fonctionne.</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de l'application en fonctionnement (cas 2 puis cas 3 de la partie VI). Le panneau de droite affiche le contexte de la session : équipement, conversation, technicien.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Illustration du cas 4 de la partie VI : la réponse s'appuie sur le contexte de la conversation, sans nouvelle recherche.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Illustration du cas 1 de la partie VI : code d'erreur fréquent, réponse directe avec les étapes de résolution.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Partie VII : Le trajet des données dans la base. Suivre un même exemple de panne et voir quelle table est lue ou écrite à chaque étape.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Données de démonstration (seed_demo_data.py). Lignes vertes : l'intervention 3001. L'embedding est calculé une seule fois, à l'enregistrement du symptôme (E). Les statistiques sont recalculées par un job (J).</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Claude renvoie uniquement du texte (JSON), jamais d'identifiant. Le backend transforme ces textes en ID de la base (device_model, error_code). Rien n'est encore commité à cette étape.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Voyage AI vectorise le problème, pgvector compare ce vecteur à intervention_symptom.embedding, filtré par type et modèle d'équipement. Seuil de 0,50, un résultat par intervention, 3 cas maximum. Les valeurs de similarité sont un exemple.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Claude rédige à partir des cas fournis, sans accès à la base. Message, conversation et contexte sont enregistrés en un seul COMMIT. last_search permet de répondre à « détaille le deuxième » sans nouvelle recherche.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Partie VIII : L'optimisation du système. Comprendre comment ATM-BOT limite ses dépenses d'IA, et pourquoi le cache de Claude est indispensable.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Avant : les codes d'erreur venaient de fichiers JSON du frontend et les pannes fréquentes étaient codées en dur ; un clic sur une panne fréquente déclenchait un appel à Claude et à Voyage. Maintenant : codes d'erreur et pannes fréquentes sont lus en base (tables error_code et usual_problem, migration 0011) et gérés depuis le panneau d'administration, sans aucun appel à une IA. Une conversation demandait deux appels à Claude ; elle n'en demande plus qu'un.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L'API de Claude est sans état : chaque appel est indépendant. Pour qu'il comprenne « détaille le cas 2 » ou « ça n'a pas marché », il faut lui renvoyer toute la conversation. Les volumes affichés sont indicatifs ; les hypothèses sont détaillées sur la slide d.</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cache fonctionne sur le début de la requête : tant que ce début est identique au caractère près, Claude le relit depuis son cache. C'est pourquoi la consigne système est totalement fixe et que les éléments qui changent à chaque tour sont placés à la fin. Mis en place pour Claude uniquement. Tarifs : lecture 0,1 × le prix d'entrée, écriture pour une durée d'1 heure 2 × le prix d'entrée (documentation des tarifs Claude, octobre 2026).</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Calcul : message n sans cache = (consigne + échanges précédents + contexte du tour) × 2 $ / M. Avec cache = consigne et anciens échanges relus à 0,20 $ / M, dernier échange écrit dans le cache à 4 $ / M, contexte du tour à 2 $ / M. La réponse (300 jetons à 10 $ / M) coûte la même chose dans les deux cas. Le 1er message coûte un peu plus cher avec le cache, à cause de l'écriture. Ce sont des estimations ; les traces de chaque appel permettront de mesurer le gain réel.</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trois compteurs sont renvoyés par l'API Claude dans le champ usage de chaque réponse ; ATM-BOT les écrit dans une trace à chaque appel. La limite de 100 messages : au-delà, les plus anciens messages ne sont plus envoyés, le début de la requête change et le cache ne peut plus être réutilisé pour cette conversation.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38912"/>
            <a:ext cx="11091672" cy="548640"/>
          </a:xfrm>
          <a:prstGeom prst="rect">
            <a:avLst/>
          </a:prstGeom>
          <a:noFill/>
          <a:ln/>
        </p:spPr>
        <p:txBody>
          <a:bodyPr wrap="square" rtlCol="0"/>
          <a:lstStyle>
            <a:lvl1pPr algn="l" indent="0" marL="0">
              <a:buNone/>
              <a:defRPr lang="en-US" sz="2800" b="1" dirty="0">
                <a:solidFill>
                  <a:schemeClr val="tx1"/>
                </a:solidFill>
                <a:latin typeface="Arial" pitchFamily="34" charset="0"/>
                <a:ea typeface="Arial" pitchFamily="34" charset="-122"/>
                <a:cs typeface="Arial" pitchFamily="34" charset="-120"/>
              </a:defRPr>
            </a:lvl1pPr>
          </a:lstStyle>
          <a:p>
            <a:pPr algn="l" indent="0" marL="0">
              <a:buNone/>
            </a:pPr>
            <a:endParaRPr lang="en-US" sz="2800" dirty="0"/>
          </a:p>
        </p:txBody>
      </p:sp>
      <p:sp>
        <p:nvSpPr>
          <p:cNvPr id="3" name="Text 0"/>
          <p:cNvSpPr/>
          <p:nvPr/>
        </p:nvSpPr>
        <p:spPr>
          <a:xfrm>
            <a:off x="548640" y="6400800"/>
            <a:ext cx="2743200" cy="274320"/>
          </a:xfrm>
          <a:prstGeom prst="rect">
            <a:avLst/>
          </a:prstGeom>
          <a:noFill/>
          <a:ln/>
        </p:spPr>
        <p:txBody>
          <a:bodyPr wrap="square" lIns="0" tIns="0" rIns="0" bIns="0" rtlCol="0" anchor="ctr"/>
          <a:lstStyle/>
          <a:p>
            <a:pPr indent="0" marL="0">
              <a:buNone/>
            </a:pPr>
            <a:r>
              <a:rPr lang="en-US" sz="1000" b="1" dirty="0">
                <a:solidFill>
                  <a:schemeClr val="accent5"/>
                </a:solidFill>
              </a:rPr>
              <a:t>ATM-BOT</a:t>
            </a:r>
            <a:endParaRPr lang="en-US" sz="10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2.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3.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3.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slideLayout" Target="../slideLayouts/slideLayout3.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slideLayout" Target="../slideLayouts/slideLayout3.xml"/><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slideLayout" Target="../slideLayouts/slideLayout3.xml"/><Relationship Id="rId1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3.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3.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slideLayout" Target="../slideLayouts/slideLayout3.xml"/><Relationship Id="rId9"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image" Target="../media/image-24-8.png"/><Relationship Id="rId9" Type="http://schemas.openxmlformats.org/officeDocument/2006/relationships/image" Target="../media/image-24-9.png"/><Relationship Id="rId10" Type="http://schemas.openxmlformats.org/officeDocument/2006/relationships/image" Target="../media/image-24-10.png"/><Relationship Id="rId11" Type="http://schemas.openxmlformats.org/officeDocument/2006/relationships/slideLayout" Target="../slideLayouts/slideLayout3.xml"/><Relationship Id="rId1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3.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3.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image" Target="../media/image-27-8.png"/><Relationship Id="rId9" Type="http://schemas.openxmlformats.org/officeDocument/2006/relationships/image" Target="../media/image-27-9.png"/><Relationship Id="rId10" Type="http://schemas.openxmlformats.org/officeDocument/2006/relationships/slideLayout" Target="../slideLayouts/slideLayout3.xml"/><Relationship Id="rId11"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slideLayout" Target="../slideLayouts/slideLayout3.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slideLayout" Target="../slideLayouts/slideLayout3.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image" Target="../media/image-32-7.png"/><Relationship Id="rId8" Type="http://schemas.openxmlformats.org/officeDocument/2006/relationships/slideLayout" Target="../slideLayouts/slideLayout3.xml"/><Relationship Id="rId9"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image" Target="../media/image-34-6.png"/><Relationship Id="rId7" Type="http://schemas.openxmlformats.org/officeDocument/2006/relationships/image" Target="../media/image-34-7.png"/><Relationship Id="rId8" Type="http://schemas.openxmlformats.org/officeDocument/2006/relationships/slideLayout" Target="../slideLayouts/slideLayout3.xml"/><Relationship Id="rId9" Type="http://schemas.openxmlformats.org/officeDocument/2006/relationships/notesSlide" Target="../notesSlides/notesSlide34.xml"/><Relationship Id="rId10"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image" Target="../media/image-35-6.png"/><Relationship Id="rId7" Type="http://schemas.openxmlformats.org/officeDocument/2006/relationships/image" Target="../media/image-35-7.png"/><Relationship Id="rId8" Type="http://schemas.openxmlformats.org/officeDocument/2006/relationships/slideLayout" Target="../slideLayouts/slideLayout3.xml"/><Relationship Id="rId9" Type="http://schemas.openxmlformats.org/officeDocument/2006/relationships/notesSlide" Target="../notesSlides/notesSlide35.xml"/><Relationship Id="rId10"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image" Target="../media/image-36-6.png"/><Relationship Id="rId7" Type="http://schemas.openxmlformats.org/officeDocument/2006/relationships/image" Target="../media/image-36-7.png"/><Relationship Id="rId8" Type="http://schemas.openxmlformats.org/officeDocument/2006/relationships/slideLayout" Target="../slideLayouts/slideLayout3.xml"/><Relationship Id="rId9" Type="http://schemas.openxmlformats.org/officeDocument/2006/relationships/notesSlide" Target="../notesSlides/notesSlide36.xml"/><Relationship Id="rId10" Type="http://schemas.openxmlformats.org/officeDocument/2006/relationships/image" Target="../media/image3.png"/></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6.png"/><Relationship Id="rId7" Type="http://schemas.openxmlformats.org/officeDocument/2006/relationships/image" Target="../media/image-37-7.png"/><Relationship Id="rId8" Type="http://schemas.openxmlformats.org/officeDocument/2006/relationships/slideLayout" Target="../slideLayouts/slideLayout3.xml"/><Relationship Id="rId9" Type="http://schemas.openxmlformats.org/officeDocument/2006/relationships/notesSlide" Target="../notesSlides/notesSlide37.xml"/><Relationship Id="rId10" Type="http://schemas.openxmlformats.org/officeDocument/2006/relationships/image" Target="../media/image4.png"/></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image" Target="../media/image-38-6.png"/><Relationship Id="rId7" Type="http://schemas.openxmlformats.org/officeDocument/2006/relationships/image" Target="../media/image-38-7.png"/><Relationship Id="rId8" Type="http://schemas.openxmlformats.org/officeDocument/2006/relationships/slideLayout" Target="../slideLayouts/slideLayout3.xml"/><Relationship Id="rId9" Type="http://schemas.openxmlformats.org/officeDocument/2006/relationships/notesSlide" Target="../notesSlides/notesSlide38.xml"/><Relationship Id="rId10" Type="http://schemas.openxmlformats.org/officeDocument/2006/relationships/image" Target="../media/image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0.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image" Target="../media/image-34-6.png"/><Relationship Id="rId7" Type="http://schemas.openxmlformats.org/officeDocument/2006/relationships/image" Target="../media/image-34-7.png"/><Relationship Id="rId8" Type="http://schemas.openxmlformats.org/officeDocument/2006/relationships/slideLayout" Target="../slideLayouts/slideLayout3.xml"/><Relationship Id="rId9" Type="http://schemas.openxmlformats.org/officeDocument/2006/relationships/image" Target="../media/image6.png"/><Relationship Id="rId10" Type="http://schemas.openxmlformats.org/officeDocument/2006/relationships/image" Target="../media/image1.png"/><Relationship Id="rId11" Type="http://schemas.openxmlformats.org/officeDocument/2006/relationships/notesSlide" Target="../notesSlides/notesSlide44.xml"/></Relationships>
</file>

<file path=ppt/slides/_rels/slide41.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image" Target="../media/image-34-6.png"/><Relationship Id="rId7" Type="http://schemas.openxmlformats.org/officeDocument/2006/relationships/image" Target="../media/image-34-7.png"/><Relationship Id="rId8" Type="http://schemas.openxmlformats.org/officeDocument/2006/relationships/slideLayout" Target="../slideLayouts/slideLayout3.xml"/><Relationship Id="rId9" Type="http://schemas.openxmlformats.org/officeDocument/2006/relationships/image" Target="../media/image7.png"/><Relationship Id="rId10" Type="http://schemas.openxmlformats.org/officeDocument/2006/relationships/image" Target="../media/image1.png"/><Relationship Id="rId11" Type="http://schemas.openxmlformats.org/officeDocument/2006/relationships/notesSlide" Target="../notesSlides/notesSlide45.xml"/></Relationships>
</file>

<file path=ppt/slides/_rels/slide42.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image" Target="../media/image-34-6.png"/><Relationship Id="rId7" Type="http://schemas.openxmlformats.org/officeDocument/2006/relationships/image" Target="../media/image-34-7.png"/><Relationship Id="rId8" Type="http://schemas.openxmlformats.org/officeDocument/2006/relationships/slideLayout" Target="../slideLayouts/slideLayout3.xml"/><Relationship Id="rId9" Type="http://schemas.openxmlformats.org/officeDocument/2006/relationships/image" Target="../media/image8.png"/><Relationship Id="rId10" Type="http://schemas.openxmlformats.org/officeDocument/2006/relationships/image" Target="../media/image1.png"/><Relationship Id="rId11" Type="http://schemas.openxmlformats.org/officeDocument/2006/relationships/notesSlide" Target="../notesSlides/notesSlide46.xml"/></Relationships>
</file>

<file path=ppt/slides/_rels/slide43.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image" Target="../media/image-34-6.png"/><Relationship Id="rId7" Type="http://schemas.openxmlformats.org/officeDocument/2006/relationships/image" Target="../media/image-34-7.png"/><Relationship Id="rId8" Type="http://schemas.openxmlformats.org/officeDocument/2006/relationships/slideLayout" Target="../slideLayouts/slideLayout3.xml"/><Relationship Id="rId9" Type="http://schemas.openxmlformats.org/officeDocument/2006/relationships/image" Target="../media/image9.png"/><Relationship Id="rId10" Type="http://schemas.openxmlformats.org/officeDocument/2006/relationships/image" Target="../media/image1.png"/><Relationship Id="rId11" Type="http://schemas.openxmlformats.org/officeDocument/2006/relationships/notesSlide" Target="../notesSlides/notesSlide4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5.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image" Target="../media/image-34-6.png"/><Relationship Id="rId7" Type="http://schemas.openxmlformats.org/officeDocument/2006/relationships/image" Target="../media/image-34-7.png"/><Relationship Id="rId8" Type="http://schemas.openxmlformats.org/officeDocument/2006/relationships/slideLayout" Target="../slideLayouts/slideLayout3.xml"/><Relationship Id="rId9" Type="http://schemas.openxmlformats.org/officeDocument/2006/relationships/image" Target="../media/image9.png"/><Relationship Id="rId10" Type="http://schemas.openxmlformats.org/officeDocument/2006/relationships/image" Target="../media/image1.png"/><Relationship Id="rId11" Type="http://schemas.openxmlformats.org/officeDocument/2006/relationships/notesSlide" Target="../notesSlides/notesSlide49.xml"/><Relationship Id="rId12" Type="http://schemas.openxmlformats.org/officeDocument/2006/relationships/image" Target="../media/image-17-2.png"/><Relationship Id="rId13" Type="http://schemas.openxmlformats.org/officeDocument/2006/relationships/image" Target="../media/image-13-5.png"/><Relationship Id="rId14" Type="http://schemas.openxmlformats.org/officeDocument/2006/relationships/image" Target="../media/image-1-2.png"/><Relationship Id="rId15" Type="http://schemas.openxmlformats.org/officeDocument/2006/relationships/image" Target="../media/image-10-6.png"/></Relationships>
</file>

<file path=ppt/slides/_rels/slide46.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image" Target="../media/image-34-6.png"/><Relationship Id="rId7" Type="http://schemas.openxmlformats.org/officeDocument/2006/relationships/image" Target="../media/image-34-7.png"/><Relationship Id="rId8" Type="http://schemas.openxmlformats.org/officeDocument/2006/relationships/slideLayout" Target="../slideLayouts/slideLayout3.xml"/><Relationship Id="rId9" Type="http://schemas.openxmlformats.org/officeDocument/2006/relationships/image" Target="../media/image9.png"/><Relationship Id="rId10" Type="http://schemas.openxmlformats.org/officeDocument/2006/relationships/image" Target="../media/image1.png"/><Relationship Id="rId11" Type="http://schemas.openxmlformats.org/officeDocument/2006/relationships/notesSlide" Target="../notesSlides/notesSlide50.xml"/></Relationships>
</file>

<file path=ppt/slides/_rels/slide47.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image" Target="../media/image-34-6.png"/><Relationship Id="rId7" Type="http://schemas.openxmlformats.org/officeDocument/2006/relationships/image" Target="../media/image-34-7.png"/><Relationship Id="rId8" Type="http://schemas.openxmlformats.org/officeDocument/2006/relationships/slideLayout" Target="../slideLayouts/slideLayout3.xml"/><Relationship Id="rId9" Type="http://schemas.openxmlformats.org/officeDocument/2006/relationships/image" Target="../media/image9.png"/><Relationship Id="rId10" Type="http://schemas.openxmlformats.org/officeDocument/2006/relationships/image" Target="../media/image1.png"/><Relationship Id="rId11" Type="http://schemas.openxmlformats.org/officeDocument/2006/relationships/notesSlide" Target="../notesSlides/notesSlide51.xml"/><Relationship Id="rId12" Type="http://schemas.openxmlformats.org/officeDocument/2006/relationships/image" Target="../media/image-5-8.png"/><Relationship Id="rId13" Type="http://schemas.openxmlformats.org/officeDocument/2006/relationships/image" Target="../media/image-4-2.png"/><Relationship Id="rId14" Type="http://schemas.openxmlformats.org/officeDocument/2006/relationships/image" Target="../media/image-26-3.png"/></Relationships>
</file>

<file path=ppt/slides/_rels/slide48.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image" Target="../media/image-34-6.png"/><Relationship Id="rId7" Type="http://schemas.openxmlformats.org/officeDocument/2006/relationships/image" Target="../media/image-34-7.png"/><Relationship Id="rId8" Type="http://schemas.openxmlformats.org/officeDocument/2006/relationships/slideLayout" Target="../slideLayouts/slideLayout3.xml"/><Relationship Id="rId9" Type="http://schemas.openxmlformats.org/officeDocument/2006/relationships/image" Target="../media/image9.png"/><Relationship Id="rId10" Type="http://schemas.openxmlformats.org/officeDocument/2006/relationships/image" Target="../media/image1.png"/><Relationship Id="rId11" Type="http://schemas.openxmlformats.org/officeDocument/2006/relationships/notesSlide" Target="../notesSlides/notesSlide52.xml"/><Relationship Id="rId12" Type="http://schemas.openxmlformats.org/officeDocument/2006/relationships/chart" Target="../charts/chart1.xml"/></Relationships>
</file>

<file path=ppt/slides/_rels/slide49.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image" Target="../media/image-34-6.png"/><Relationship Id="rId7" Type="http://schemas.openxmlformats.org/officeDocument/2006/relationships/image" Target="../media/image-34-7.png"/><Relationship Id="rId8" Type="http://schemas.openxmlformats.org/officeDocument/2006/relationships/slideLayout" Target="../slideLayouts/slideLayout3.xml"/><Relationship Id="rId9" Type="http://schemas.openxmlformats.org/officeDocument/2006/relationships/image" Target="../media/image9.png"/><Relationship Id="rId10" Type="http://schemas.openxmlformats.org/officeDocument/2006/relationships/image" Target="../media/image1.png"/><Relationship Id="rId11" Type="http://schemas.openxmlformats.org/officeDocument/2006/relationships/notesSlide" Target="../notesSlides/notesSlide53.xml"/><Relationship Id="rId12" Type="http://schemas.openxmlformats.org/officeDocument/2006/relationships/image" Target="../media/image10.png"/><Relationship Id="rId13" Type="http://schemas.openxmlformats.org/officeDocument/2006/relationships/image" Target="../media/image1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51.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3.xml"/><Relationship Id="rId4" Type="http://schemas.openxmlformats.org/officeDocument/2006/relationships/notesSlide" Target="../notesSlides/notesSlide40.xml"/></Relationships>
</file>

<file path=ppt/slides/_rels/slide52.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3.xml"/><Relationship Id="rId4" Type="http://schemas.openxmlformats.org/officeDocument/2006/relationships/notesSlide" Target="../notesSlides/notesSlide41.xml"/></Relationships>
</file>

<file path=ppt/slides/_rels/slide53.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3.xml"/><Relationship Id="rId4"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xt-1"/>
          <p:cNvSpPr txBox="1"/>
          <p:nvPr/>
        </p:nvSpPr>
        <p:spPr>
          <a:xfrm>
            <a:off x="731520" y="822960"/>
            <a:ext cx="8229600" cy="320040"/>
          </a:xfrm>
          <a:prstGeom prst="rect">
            <a:avLst/>
          </a:prstGeom>
          <a:noFill/>
          <a:ln/>
        </p:spPr>
        <p:txBody>
          <a:bodyPr wrap="square" lIns="0" tIns="0" rIns="0" bIns="0" rtlCol="0" anchor="t"/>
          <a:lstStyle/>
          <a:p>
            <a:pPr indent="0" marL="0">
              <a:buNone/>
            </a:pPr>
            <a:r>
              <a:rPr lang="en-US" sz="1300" b="1" spc="200" kern="0" dirty="0">
                <a:solidFill>
                  <a:schemeClr val="accent2"/>
                </a:solidFill>
              </a:rPr>
              <a:t>SOLUTION LOGICIELLE POUR LA MAINTENANCE BANCAIRE</a:t>
            </a:r>
            <a:endParaRPr lang="en-US" sz="1300" dirty="0"/>
          </a:p>
        </p:txBody>
      </p:sp>
      <p:sp>
        <p:nvSpPr>
          <p:cNvPr id="3" name="txt-2"/>
          <p:cNvSpPr txBox="1"/>
          <p:nvPr/>
        </p:nvSpPr>
        <p:spPr>
          <a:xfrm>
            <a:off x="731520" y="1234440"/>
            <a:ext cx="8229600" cy="1188720"/>
          </a:xfrm>
          <a:prstGeom prst="rect">
            <a:avLst/>
          </a:prstGeom>
          <a:noFill/>
          <a:ln/>
        </p:spPr>
        <p:txBody>
          <a:bodyPr wrap="square" lIns="0" tIns="0" rIns="0" bIns="0" rtlCol="0" anchor="t"/>
          <a:lstStyle/>
          <a:p>
            <a:pPr indent="0" marL="0">
              <a:buNone/>
            </a:pPr>
            <a:r>
              <a:rPr lang="en-US" sz="7200" b="1" dirty="0">
                <a:solidFill>
                  <a:schemeClr val="bg1"/>
                </a:solidFill>
                <a:latin typeface="Arial" pitchFamily="34" charset="0"/>
                <a:ea typeface="Arial" pitchFamily="34" charset="-122"/>
                <a:cs typeface="Arial" pitchFamily="34" charset="-120"/>
              </a:rPr>
              <a:t>ATM-BOT</a:t>
            </a:r>
            <a:endParaRPr lang="en-US" sz="7200" dirty="0"/>
          </a:p>
        </p:txBody>
      </p:sp>
      <p:sp>
        <p:nvSpPr>
          <p:cNvPr id="4" name="txt-3"/>
          <p:cNvSpPr txBox="1"/>
          <p:nvPr/>
        </p:nvSpPr>
        <p:spPr>
          <a:xfrm>
            <a:off x="731520" y="2468880"/>
            <a:ext cx="9601200" cy="548640"/>
          </a:xfrm>
          <a:prstGeom prst="rect">
            <a:avLst/>
          </a:prstGeom>
          <a:noFill/>
          <a:ln/>
        </p:spPr>
        <p:txBody>
          <a:bodyPr wrap="square" lIns="0" tIns="0" rIns="0" bIns="0" rtlCol="0" anchor="t"/>
          <a:lstStyle/>
          <a:p>
            <a:pPr indent="0" marL="0">
              <a:buNone/>
            </a:pPr>
            <a:r>
              <a:rPr lang="en-US" sz="2400" dirty="0">
                <a:solidFill>
                  <a:schemeClr val="bg1"/>
                </a:solidFill>
              </a:rPr>
              <a:t>Solution intelligente d'assistance à la maintenance des ATM/GAB/DAB</a:t>
            </a:r>
            <a:endParaRPr lang="en-US" sz="2400" dirty="0"/>
          </a:p>
        </p:txBody>
      </p:sp>
      <p:sp>
        <p:nvSpPr>
          <p:cNvPr id="5" name="txt-4"/>
          <p:cNvSpPr txBox="1"/>
          <p:nvPr/>
        </p:nvSpPr>
        <p:spPr>
          <a:xfrm>
            <a:off x="731520" y="3154680"/>
            <a:ext cx="9326880" cy="914400"/>
          </a:xfrm>
          <a:prstGeom prst="rect">
            <a:avLst/>
          </a:prstGeom>
          <a:noFill/>
          <a:ln/>
        </p:spPr>
        <p:txBody>
          <a:bodyPr wrap="square" lIns="0" tIns="0" rIns="0" bIns="0" rtlCol="0" anchor="t"/>
          <a:lstStyle/>
          <a:p>
            <a:pPr indent="0" marL="0">
              <a:buNone/>
            </a:pPr>
            <a:r>
              <a:rPr lang="en-US" sz="1600" dirty="0">
                <a:solidFill>
                  <a:srgbClr val="C9D3D9"/>
                </a:solidFill>
              </a:rPr>
              <a:t>Identifier les symptômes, retrouver les interventions similaires, proposer des solutions pertinentes, les tester sur le terrain et enrichir progressivement la base de connaissances de l'entreprise.</a:t>
            </a:r>
            <a:endParaRPr lang="en-US" sz="1600" dirty="0"/>
          </a:p>
        </p:txBody>
      </p:sp>
      <p:sp>
        <p:nvSpPr>
          <p:cNvPr id="6" name="pastille-5"/>
          <p:cNvSpPr/>
          <p:nvPr/>
        </p:nvSpPr>
        <p:spPr>
          <a:xfrm>
            <a:off x="731520" y="4709160"/>
            <a:ext cx="640080" cy="640080"/>
          </a:xfrm>
          <a:prstGeom prst="ellipse">
            <a:avLst/>
          </a:prstGeom>
          <a:solidFill>
            <a:schemeClr val="accent1"/>
          </a:solidFill>
          <a:ln/>
        </p:spPr>
      </p:sp>
      <p:pic>
        <p:nvPicPr>
          <p:cNvPr id="7" name="icone-6" descr="preencoded.png">    </p:cNvPr>
          <p:cNvPicPr>
            <a:picLocks noChangeAspect="1"/>
          </p:cNvPicPr>
          <p:nvPr/>
        </p:nvPicPr>
        <p:blipFill>
          <a:blip r:embed="rId1"/>
          <a:stretch>
            <a:fillRect/>
          </a:stretch>
        </p:blipFill>
        <p:spPr>
          <a:xfrm>
            <a:off x="872338" y="4849978"/>
            <a:ext cx="358445" cy="358445"/>
          </a:xfrm>
          <a:prstGeom prst="rect">
            <a:avLst/>
          </a:prstGeom>
        </p:spPr>
      </p:pic>
      <p:sp>
        <p:nvSpPr>
          <p:cNvPr id="8" name="txt-7"/>
          <p:cNvSpPr txBox="1"/>
          <p:nvPr/>
        </p:nvSpPr>
        <p:spPr>
          <a:xfrm>
            <a:off x="411480" y="5440680"/>
            <a:ext cx="1280160" cy="320040"/>
          </a:xfrm>
          <a:prstGeom prst="rect">
            <a:avLst/>
          </a:prstGeom>
          <a:noFill/>
          <a:ln/>
        </p:spPr>
        <p:txBody>
          <a:bodyPr wrap="square" lIns="0" tIns="0" rIns="0" bIns="0" rtlCol="0" anchor="t"/>
          <a:lstStyle/>
          <a:p>
            <a:pPr algn="ctr" indent="0" marL="0">
              <a:buNone/>
            </a:pPr>
            <a:r>
              <a:rPr lang="en-US" sz="1300" b="1" dirty="0">
                <a:solidFill>
                  <a:schemeClr val="bg1"/>
                </a:solidFill>
              </a:rPr>
              <a:t>Diagnostic</a:t>
            </a:r>
            <a:endParaRPr lang="en-US" sz="1300" dirty="0"/>
          </a:p>
        </p:txBody>
      </p:sp>
      <p:sp>
        <p:nvSpPr>
          <p:cNvPr id="9" name="fleche-8"/>
          <p:cNvSpPr/>
          <p:nvPr/>
        </p:nvSpPr>
        <p:spPr>
          <a:xfrm>
            <a:off x="1463040" y="5029200"/>
            <a:ext cx="1005840" cy="914"/>
          </a:xfrm>
          <a:prstGeom prst="line">
            <a:avLst/>
          </a:prstGeom>
          <a:noFill/>
          <a:ln w="22225">
            <a:solidFill>
              <a:schemeClr val="accent2"/>
            </a:solidFill>
            <a:prstDash val="solid"/>
            <a:tailEnd type="triangle"/>
          </a:ln>
        </p:spPr>
      </p:sp>
      <p:sp>
        <p:nvSpPr>
          <p:cNvPr id="10" name="pastille-9"/>
          <p:cNvSpPr/>
          <p:nvPr/>
        </p:nvSpPr>
        <p:spPr>
          <a:xfrm>
            <a:off x="2560320" y="4709160"/>
            <a:ext cx="640080" cy="640080"/>
          </a:xfrm>
          <a:prstGeom prst="ellipse">
            <a:avLst/>
          </a:prstGeom>
          <a:solidFill>
            <a:schemeClr val="accent1"/>
          </a:solidFill>
          <a:ln/>
        </p:spPr>
      </p:sp>
      <p:pic>
        <p:nvPicPr>
          <p:cNvPr id="11" name="icone-10" descr="preencoded.png">    </p:cNvPr>
          <p:cNvPicPr>
            <a:picLocks noChangeAspect="1"/>
          </p:cNvPicPr>
          <p:nvPr/>
        </p:nvPicPr>
        <p:blipFill>
          <a:blip r:embed="rId2"/>
          <a:stretch>
            <a:fillRect/>
          </a:stretch>
        </p:blipFill>
        <p:spPr>
          <a:xfrm>
            <a:off x="2701138" y="4849978"/>
            <a:ext cx="358445" cy="358445"/>
          </a:xfrm>
          <a:prstGeom prst="rect">
            <a:avLst/>
          </a:prstGeom>
        </p:spPr>
      </p:pic>
      <p:sp>
        <p:nvSpPr>
          <p:cNvPr id="12" name="txt-11"/>
          <p:cNvSpPr txBox="1"/>
          <p:nvPr/>
        </p:nvSpPr>
        <p:spPr>
          <a:xfrm>
            <a:off x="2240280" y="5440680"/>
            <a:ext cx="1280160" cy="320040"/>
          </a:xfrm>
          <a:prstGeom prst="rect">
            <a:avLst/>
          </a:prstGeom>
          <a:noFill/>
          <a:ln/>
        </p:spPr>
        <p:txBody>
          <a:bodyPr wrap="square" lIns="0" tIns="0" rIns="0" bIns="0" rtlCol="0" anchor="t"/>
          <a:lstStyle/>
          <a:p>
            <a:pPr algn="ctr" indent="0" marL="0">
              <a:buNone/>
            </a:pPr>
            <a:r>
              <a:rPr lang="en-US" sz="1300" b="1" dirty="0">
                <a:solidFill>
                  <a:schemeClr val="bg1"/>
                </a:solidFill>
              </a:rPr>
              <a:t>Recherche</a:t>
            </a:r>
            <a:endParaRPr lang="en-US" sz="1300" dirty="0"/>
          </a:p>
        </p:txBody>
      </p:sp>
      <p:sp>
        <p:nvSpPr>
          <p:cNvPr id="13" name="fleche-12"/>
          <p:cNvSpPr/>
          <p:nvPr/>
        </p:nvSpPr>
        <p:spPr>
          <a:xfrm>
            <a:off x="3291840" y="5029200"/>
            <a:ext cx="1005840" cy="914"/>
          </a:xfrm>
          <a:prstGeom prst="line">
            <a:avLst/>
          </a:prstGeom>
          <a:noFill/>
          <a:ln w="22225">
            <a:solidFill>
              <a:schemeClr val="accent2"/>
            </a:solidFill>
            <a:prstDash val="solid"/>
            <a:tailEnd type="triangle"/>
          </a:ln>
        </p:spPr>
      </p:sp>
      <p:sp>
        <p:nvSpPr>
          <p:cNvPr id="14" name="pastille-13"/>
          <p:cNvSpPr/>
          <p:nvPr/>
        </p:nvSpPr>
        <p:spPr>
          <a:xfrm>
            <a:off x="4389120" y="4709160"/>
            <a:ext cx="640080" cy="640080"/>
          </a:xfrm>
          <a:prstGeom prst="ellipse">
            <a:avLst/>
          </a:prstGeom>
          <a:solidFill>
            <a:schemeClr val="accent1"/>
          </a:solidFill>
          <a:ln/>
        </p:spPr>
      </p:sp>
      <p:pic>
        <p:nvPicPr>
          <p:cNvPr id="15" name="icone-14" descr="preencoded.png">    </p:cNvPr>
          <p:cNvPicPr>
            <a:picLocks noChangeAspect="1"/>
          </p:cNvPicPr>
          <p:nvPr/>
        </p:nvPicPr>
        <p:blipFill>
          <a:blip r:embed="rId3"/>
          <a:stretch>
            <a:fillRect/>
          </a:stretch>
        </p:blipFill>
        <p:spPr>
          <a:xfrm>
            <a:off x="4529938" y="4849978"/>
            <a:ext cx="358445" cy="358445"/>
          </a:xfrm>
          <a:prstGeom prst="rect">
            <a:avLst/>
          </a:prstGeom>
        </p:spPr>
      </p:pic>
      <p:sp>
        <p:nvSpPr>
          <p:cNvPr id="16" name="txt-15"/>
          <p:cNvSpPr txBox="1"/>
          <p:nvPr/>
        </p:nvSpPr>
        <p:spPr>
          <a:xfrm>
            <a:off x="4069080" y="5440680"/>
            <a:ext cx="1280160" cy="320040"/>
          </a:xfrm>
          <a:prstGeom prst="rect">
            <a:avLst/>
          </a:prstGeom>
          <a:noFill/>
          <a:ln/>
        </p:spPr>
        <p:txBody>
          <a:bodyPr wrap="square" lIns="0" tIns="0" rIns="0" bIns="0" rtlCol="0" anchor="t"/>
          <a:lstStyle/>
          <a:p>
            <a:pPr algn="ctr" indent="0" marL="0">
              <a:buNone/>
            </a:pPr>
            <a:r>
              <a:rPr lang="en-US" sz="1300" b="1" dirty="0">
                <a:solidFill>
                  <a:schemeClr val="bg1"/>
                </a:solidFill>
              </a:rPr>
              <a:t>Proposition</a:t>
            </a:r>
            <a:endParaRPr lang="en-US" sz="1300" dirty="0"/>
          </a:p>
        </p:txBody>
      </p:sp>
      <p:sp>
        <p:nvSpPr>
          <p:cNvPr id="17" name="fleche-16"/>
          <p:cNvSpPr/>
          <p:nvPr/>
        </p:nvSpPr>
        <p:spPr>
          <a:xfrm>
            <a:off x="5120640" y="5029200"/>
            <a:ext cx="1005840" cy="914"/>
          </a:xfrm>
          <a:prstGeom prst="line">
            <a:avLst/>
          </a:prstGeom>
          <a:noFill/>
          <a:ln w="22225">
            <a:solidFill>
              <a:schemeClr val="accent2"/>
            </a:solidFill>
            <a:prstDash val="solid"/>
            <a:tailEnd type="triangle"/>
          </a:ln>
        </p:spPr>
      </p:sp>
      <p:sp>
        <p:nvSpPr>
          <p:cNvPr id="18" name="pastille-17"/>
          <p:cNvSpPr/>
          <p:nvPr/>
        </p:nvSpPr>
        <p:spPr>
          <a:xfrm>
            <a:off x="6217920" y="4709160"/>
            <a:ext cx="640080" cy="640080"/>
          </a:xfrm>
          <a:prstGeom prst="ellipse">
            <a:avLst/>
          </a:prstGeom>
          <a:solidFill>
            <a:schemeClr val="accent1"/>
          </a:solidFill>
          <a:ln/>
        </p:spPr>
      </p:sp>
      <p:pic>
        <p:nvPicPr>
          <p:cNvPr id="19" name="icone-18" descr="preencoded.png">    </p:cNvPr>
          <p:cNvPicPr>
            <a:picLocks noChangeAspect="1"/>
          </p:cNvPicPr>
          <p:nvPr/>
        </p:nvPicPr>
        <p:blipFill>
          <a:blip r:embed="rId4"/>
          <a:stretch>
            <a:fillRect/>
          </a:stretch>
        </p:blipFill>
        <p:spPr>
          <a:xfrm>
            <a:off x="6358738" y="4849978"/>
            <a:ext cx="358445" cy="358445"/>
          </a:xfrm>
          <a:prstGeom prst="rect">
            <a:avLst/>
          </a:prstGeom>
        </p:spPr>
      </p:pic>
      <p:sp>
        <p:nvSpPr>
          <p:cNvPr id="20" name="txt-19"/>
          <p:cNvSpPr txBox="1"/>
          <p:nvPr/>
        </p:nvSpPr>
        <p:spPr>
          <a:xfrm>
            <a:off x="5897880" y="5440680"/>
            <a:ext cx="1280160" cy="320040"/>
          </a:xfrm>
          <a:prstGeom prst="rect">
            <a:avLst/>
          </a:prstGeom>
          <a:noFill/>
          <a:ln/>
        </p:spPr>
        <p:txBody>
          <a:bodyPr wrap="square" lIns="0" tIns="0" rIns="0" bIns="0" rtlCol="0" anchor="t"/>
          <a:lstStyle/>
          <a:p>
            <a:pPr algn="ctr" indent="0" marL="0">
              <a:buNone/>
            </a:pPr>
            <a:r>
              <a:rPr lang="en-US" sz="1300" b="1" dirty="0">
                <a:solidFill>
                  <a:schemeClr val="bg1"/>
                </a:solidFill>
              </a:rPr>
              <a:t>Test</a:t>
            </a:r>
            <a:endParaRPr lang="en-US" sz="1300" dirty="0"/>
          </a:p>
        </p:txBody>
      </p:sp>
      <p:sp>
        <p:nvSpPr>
          <p:cNvPr id="21" name="fleche-20"/>
          <p:cNvSpPr/>
          <p:nvPr/>
        </p:nvSpPr>
        <p:spPr>
          <a:xfrm>
            <a:off x="6949440" y="5029200"/>
            <a:ext cx="1005840" cy="914"/>
          </a:xfrm>
          <a:prstGeom prst="line">
            <a:avLst/>
          </a:prstGeom>
          <a:noFill/>
          <a:ln w="22225">
            <a:solidFill>
              <a:schemeClr val="accent2"/>
            </a:solidFill>
            <a:prstDash val="solid"/>
            <a:tailEnd type="triangle"/>
          </a:ln>
        </p:spPr>
      </p:sp>
      <p:sp>
        <p:nvSpPr>
          <p:cNvPr id="22" name="pastille-21"/>
          <p:cNvSpPr/>
          <p:nvPr/>
        </p:nvSpPr>
        <p:spPr>
          <a:xfrm>
            <a:off x="8046720" y="4709160"/>
            <a:ext cx="640080" cy="640080"/>
          </a:xfrm>
          <a:prstGeom prst="ellipse">
            <a:avLst/>
          </a:prstGeom>
          <a:solidFill>
            <a:schemeClr val="accent1"/>
          </a:solidFill>
          <a:ln/>
        </p:spPr>
      </p:sp>
      <p:pic>
        <p:nvPicPr>
          <p:cNvPr id="23" name="icone-22" descr="preencoded.png">    </p:cNvPr>
          <p:cNvPicPr>
            <a:picLocks noChangeAspect="1"/>
          </p:cNvPicPr>
          <p:nvPr/>
        </p:nvPicPr>
        <p:blipFill>
          <a:blip r:embed="rId5"/>
          <a:stretch>
            <a:fillRect/>
          </a:stretch>
        </p:blipFill>
        <p:spPr>
          <a:xfrm>
            <a:off x="8187538" y="4849978"/>
            <a:ext cx="358445" cy="358445"/>
          </a:xfrm>
          <a:prstGeom prst="rect">
            <a:avLst/>
          </a:prstGeom>
        </p:spPr>
      </p:pic>
      <p:sp>
        <p:nvSpPr>
          <p:cNvPr id="24" name="txt-23"/>
          <p:cNvSpPr txBox="1"/>
          <p:nvPr/>
        </p:nvSpPr>
        <p:spPr>
          <a:xfrm>
            <a:off x="7726680" y="5440680"/>
            <a:ext cx="1280160" cy="320040"/>
          </a:xfrm>
          <a:prstGeom prst="rect">
            <a:avLst/>
          </a:prstGeom>
          <a:noFill/>
          <a:ln/>
        </p:spPr>
        <p:txBody>
          <a:bodyPr wrap="square" lIns="0" tIns="0" rIns="0" bIns="0" rtlCol="0" anchor="t"/>
          <a:lstStyle/>
          <a:p>
            <a:pPr algn="ctr" indent="0" marL="0">
              <a:buNone/>
            </a:pPr>
            <a:r>
              <a:rPr lang="en-US" sz="1300" b="1" dirty="0">
                <a:solidFill>
                  <a:schemeClr val="bg1"/>
                </a:solidFill>
              </a:rPr>
              <a:t>Validation</a:t>
            </a:r>
            <a:endParaRPr lang="en-US" sz="1300" dirty="0"/>
          </a:p>
        </p:txBody>
      </p:sp>
      <p:sp>
        <p:nvSpPr>
          <p:cNvPr id="25" name="fleche-24"/>
          <p:cNvSpPr/>
          <p:nvPr/>
        </p:nvSpPr>
        <p:spPr>
          <a:xfrm>
            <a:off x="8778240" y="5029200"/>
            <a:ext cx="1005840" cy="914"/>
          </a:xfrm>
          <a:prstGeom prst="line">
            <a:avLst/>
          </a:prstGeom>
          <a:noFill/>
          <a:ln w="22225">
            <a:solidFill>
              <a:schemeClr val="accent2"/>
            </a:solidFill>
            <a:prstDash val="solid"/>
            <a:tailEnd type="triangle"/>
          </a:ln>
        </p:spPr>
      </p:sp>
      <p:sp>
        <p:nvSpPr>
          <p:cNvPr id="26" name="pastille-25"/>
          <p:cNvSpPr/>
          <p:nvPr/>
        </p:nvSpPr>
        <p:spPr>
          <a:xfrm>
            <a:off x="9875520" y="4709160"/>
            <a:ext cx="640080" cy="640080"/>
          </a:xfrm>
          <a:prstGeom prst="ellipse">
            <a:avLst/>
          </a:prstGeom>
          <a:solidFill>
            <a:schemeClr val="accent1"/>
          </a:solidFill>
          <a:ln/>
        </p:spPr>
      </p:sp>
      <p:pic>
        <p:nvPicPr>
          <p:cNvPr id="27" name="icone-26" descr="preencoded.png">    </p:cNvPr>
          <p:cNvPicPr>
            <a:picLocks noChangeAspect="1"/>
          </p:cNvPicPr>
          <p:nvPr/>
        </p:nvPicPr>
        <p:blipFill>
          <a:blip r:embed="rId6"/>
          <a:stretch>
            <a:fillRect/>
          </a:stretch>
        </p:blipFill>
        <p:spPr>
          <a:xfrm>
            <a:off x="10016338" y="4849978"/>
            <a:ext cx="358445" cy="358445"/>
          </a:xfrm>
          <a:prstGeom prst="rect">
            <a:avLst/>
          </a:prstGeom>
        </p:spPr>
      </p:pic>
      <p:sp>
        <p:nvSpPr>
          <p:cNvPr id="28" name="txt-27"/>
          <p:cNvSpPr txBox="1"/>
          <p:nvPr/>
        </p:nvSpPr>
        <p:spPr>
          <a:xfrm>
            <a:off x="9555480" y="5440680"/>
            <a:ext cx="1280160" cy="320040"/>
          </a:xfrm>
          <a:prstGeom prst="rect">
            <a:avLst/>
          </a:prstGeom>
          <a:noFill/>
          <a:ln/>
        </p:spPr>
        <p:txBody>
          <a:bodyPr wrap="square" lIns="0" tIns="0" rIns="0" bIns="0" rtlCol="0" anchor="t"/>
          <a:lstStyle/>
          <a:p>
            <a:pPr algn="ctr" indent="0" marL="0">
              <a:buNone/>
            </a:pPr>
            <a:r>
              <a:rPr lang="en-US" sz="1300" b="1" dirty="0">
                <a:solidFill>
                  <a:schemeClr val="bg1"/>
                </a:solidFill>
              </a:rPr>
              <a:t>Capitalisation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38912"/>
            <a:ext cx="11091672" cy="54864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Sommaire</a:t>
            </a:r>
            <a:endParaRPr lang="en-US" sz="2800" dirty="0"/>
          </a:p>
        </p:txBody>
      </p:sp>
      <p:sp>
        <p:nvSpPr>
          <p:cNvPr id="3" name="Text 1"/>
          <p:cNvSpPr txBox="1"/>
          <p:nvPr/>
        </p:nvSpPr>
        <p:spPr>
          <a:xfrm>
            <a:off x="868680" y="987552"/>
            <a:ext cx="10771632" cy="329184"/>
          </a:xfrm>
          <a:prstGeom prst="rect">
            <a:avLst/>
          </a:prstGeom>
          <a:noFill/>
          <a:ln/>
        </p:spPr>
        <p:txBody>
          <a:bodyPr wrap="square" lIns="0" tIns="0" rIns="0" bIns="0" rtlCol="0" anchor="ctr"/>
          <a:lstStyle/>
          <a:p>
            <a:pPr indent="0" marL="0">
              <a:buNone/>
            </a:pPr>
            <a:r>
              <a:rPr lang="en-US" sz="1400" b="1" i="1" dirty="0">
                <a:solidFill>
                  <a:schemeClr val="tx2"/>
                </a:solidFill>
              </a:rPr>
              <a:t>Objectif : </a:t>
            </a:r>
            <a:pPr indent="0" marL="0">
              <a:buNone/>
            </a:pPr>
            <a:r>
              <a:rPr lang="en-US" sz="1400" i="1" dirty="0">
                <a:solidFill>
                  <a:schemeClr val="tx2"/>
                </a:solidFill>
              </a:rPr>
              <a:t>Savoir à l'avance ce que chaque partie va expliquer.</a:t>
            </a:r>
            <a:endParaRPr lang="en-US" sz="1400" dirty="0"/>
          </a:p>
        </p:txBody>
      </p:sp>
      <p:pic>
        <p:nvPicPr>
          <p:cNvPr id="4" name="Image 0" descr="preencoded.png">    </p:cNvPr>
          <p:cNvPicPr>
            <a:picLocks noChangeAspect="1"/>
          </p:cNvPicPr>
          <p:nvPr/>
        </p:nvPicPr>
        <p:blipFill>
          <a:blip r:embed="rId1"/>
          <a:stretch>
            <a:fillRect/>
          </a:stretch>
        </p:blipFill>
        <p:spPr>
          <a:xfrm>
            <a:off x="548640" y="1033272"/>
            <a:ext cx="237744" cy="237744"/>
          </a:xfrm>
          <a:prstGeom prst="rect">
            <a:avLst/>
          </a:prstGeom>
        </p:spPr>
      </p:pic>
      <p:sp>
        <p:nvSpPr>
          <p:cNvPr id="5" name="card-28"/>
          <p:cNvSpPr/>
          <p:nvPr/>
        </p:nvSpPr>
        <p:spPr>
          <a:xfrm>
            <a:off x="548640" y="1463040"/>
            <a:ext cx="3544824" cy="1463040"/>
          </a:xfrm>
          <a:prstGeom prst="roundRect">
            <a:avLst>
              <a:gd name="adj" fmla="val 5000"/>
            </a:avLst>
          </a:prstGeom>
          <a:solidFill>
            <a:schemeClr val="bg2"/>
          </a:solidFill>
          <a:ln/>
        </p:spPr>
      </p:sp>
      <p:sp>
        <p:nvSpPr>
          <p:cNvPr id="6" name="txt-29"/>
          <p:cNvSpPr txBox="1"/>
          <p:nvPr/>
        </p:nvSpPr>
        <p:spPr>
          <a:xfrm>
            <a:off x="777240" y="1664208"/>
            <a:ext cx="868680" cy="548640"/>
          </a:xfrm>
          <a:prstGeom prst="rect">
            <a:avLst/>
          </a:prstGeom>
          <a:noFill/>
          <a:ln/>
        </p:spPr>
        <p:txBody>
          <a:bodyPr wrap="square" lIns="0" tIns="0" rIns="0" bIns="0" rtlCol="0" anchor="t"/>
          <a:lstStyle/>
          <a:p>
            <a:pPr indent="0" marL="0">
              <a:buNone/>
            </a:pPr>
            <a:r>
              <a:rPr lang="en-US" sz="2600" b="1" dirty="0">
                <a:solidFill>
                  <a:schemeClr val="accent1"/>
                </a:solidFill>
                <a:latin typeface="Arial" pitchFamily="34" charset="0"/>
                <a:ea typeface="Arial" pitchFamily="34" charset="-122"/>
                <a:cs typeface="Arial" pitchFamily="34" charset="-120"/>
              </a:rPr>
              <a:t>I</a:t>
            </a:r>
            <a:endParaRPr lang="en-US" sz="2800" dirty="0"/>
          </a:p>
        </p:txBody>
      </p:sp>
      <p:sp>
        <p:nvSpPr>
          <p:cNvPr id="7" name="txt-30"/>
          <p:cNvSpPr txBox="1"/>
          <p:nvPr/>
        </p:nvSpPr>
        <p:spPr>
          <a:xfrm>
            <a:off x="1645919" y="1645920"/>
            <a:ext cx="2264664" cy="457200"/>
          </a:xfrm>
          <a:prstGeom prst="rect">
            <a:avLst/>
          </a:prstGeom>
          <a:noFill/>
          <a:ln/>
        </p:spPr>
        <p:txBody>
          <a:bodyPr wrap="square" lIns="0" tIns="0" rIns="0" bIns="0" rtlCol="0" anchor="t"/>
          <a:lstStyle/>
          <a:p>
            <a:pPr indent="0" marL="0">
              <a:buNone/>
            </a:pPr>
            <a:r>
              <a:rPr lang="en-US" sz="1350" b="1" dirty="0">
                <a:solidFill>
                  <a:schemeClr val="tx1"/>
                </a:solidFill>
              </a:rPr>
              <a:t>Le besoin</a:t>
            </a:r>
            <a:endParaRPr lang="en-US" sz="1500" dirty="0"/>
          </a:p>
        </p:txBody>
      </p:sp>
      <p:sp>
        <p:nvSpPr>
          <p:cNvPr id="8" name="txt-31"/>
          <p:cNvSpPr txBox="1"/>
          <p:nvPr/>
        </p:nvSpPr>
        <p:spPr>
          <a:xfrm>
            <a:off x="1645919" y="2139696"/>
            <a:ext cx="2264664" cy="731520"/>
          </a:xfrm>
          <a:prstGeom prst="rect">
            <a:avLst/>
          </a:prstGeom>
          <a:noFill/>
          <a:ln/>
        </p:spPr>
        <p:txBody>
          <a:bodyPr wrap="square" lIns="0" tIns="0" rIns="0" bIns="0" rtlCol="0" anchor="t"/>
          <a:lstStyle/>
          <a:p>
            <a:pPr indent="0" marL="0">
              <a:buNone/>
            </a:pPr>
            <a:r>
              <a:rPr lang="en-US" sz="1050" dirty="0">
                <a:solidFill>
                  <a:schemeClr val="tx2"/>
                </a:solidFill>
              </a:rPr>
              <a:t>Comprendre le problème des équipes de maintenance et la réponse qu'apporte ATM-BOT.</a:t>
            </a:r>
            <a:endParaRPr lang="en-US" sz="1150" dirty="0"/>
          </a:p>
        </p:txBody>
      </p:sp>
      <p:sp>
        <p:nvSpPr>
          <p:cNvPr id="9" name="card-32"/>
          <p:cNvSpPr/>
          <p:nvPr/>
        </p:nvSpPr>
        <p:spPr>
          <a:xfrm>
            <a:off x="4322064" y="1463040"/>
            <a:ext cx="3544824" cy="1463040"/>
          </a:xfrm>
          <a:prstGeom prst="roundRect">
            <a:avLst>
              <a:gd name="adj" fmla="val 5000"/>
            </a:avLst>
          </a:prstGeom>
          <a:solidFill>
            <a:schemeClr val="bg2"/>
          </a:solidFill>
          <a:ln/>
        </p:spPr>
      </p:sp>
      <p:sp>
        <p:nvSpPr>
          <p:cNvPr id="10" name="txt-33"/>
          <p:cNvSpPr txBox="1"/>
          <p:nvPr/>
        </p:nvSpPr>
        <p:spPr>
          <a:xfrm>
            <a:off x="4550664" y="1664208"/>
            <a:ext cx="868680" cy="548640"/>
          </a:xfrm>
          <a:prstGeom prst="rect">
            <a:avLst/>
          </a:prstGeom>
          <a:noFill/>
          <a:ln/>
        </p:spPr>
        <p:txBody>
          <a:bodyPr wrap="square" lIns="0" tIns="0" rIns="0" bIns="0" rtlCol="0" anchor="t"/>
          <a:lstStyle/>
          <a:p>
            <a:pPr indent="0" marL="0">
              <a:buNone/>
            </a:pPr>
            <a:r>
              <a:rPr lang="en-US" sz="2600" b="1" dirty="0">
                <a:solidFill>
                  <a:schemeClr val="accent1"/>
                </a:solidFill>
                <a:latin typeface="Arial" pitchFamily="34" charset="0"/>
                <a:ea typeface="Arial" pitchFamily="34" charset="-122"/>
                <a:cs typeface="Arial" pitchFamily="34" charset="-120"/>
              </a:rPr>
              <a:t>II</a:t>
            </a:r>
            <a:endParaRPr lang="en-US" sz="2800" dirty="0"/>
          </a:p>
        </p:txBody>
      </p:sp>
      <p:sp>
        <p:nvSpPr>
          <p:cNvPr id="11" name="txt-34"/>
          <p:cNvSpPr txBox="1"/>
          <p:nvPr/>
        </p:nvSpPr>
        <p:spPr>
          <a:xfrm>
            <a:off x="5419344" y="1645920"/>
            <a:ext cx="2264664" cy="457200"/>
          </a:xfrm>
          <a:prstGeom prst="rect">
            <a:avLst/>
          </a:prstGeom>
          <a:noFill/>
          <a:ln/>
        </p:spPr>
        <p:txBody>
          <a:bodyPr wrap="square" lIns="0" tIns="0" rIns="0" bIns="0" rtlCol="0" anchor="t"/>
          <a:lstStyle/>
          <a:p>
            <a:pPr indent="0" marL="0">
              <a:buNone/>
            </a:pPr>
            <a:r>
              <a:rPr lang="en-US" sz="1350" b="1" dirty="0">
                <a:solidFill>
                  <a:schemeClr val="tx1"/>
                </a:solidFill>
              </a:rPr>
              <a:t>L'usage au quotidien</a:t>
            </a:r>
            <a:endParaRPr lang="en-US" sz="1500" dirty="0"/>
          </a:p>
        </p:txBody>
      </p:sp>
      <p:sp>
        <p:nvSpPr>
          <p:cNvPr id="12" name="txt-35"/>
          <p:cNvSpPr txBox="1"/>
          <p:nvPr/>
        </p:nvSpPr>
        <p:spPr>
          <a:xfrm>
            <a:off x="5419344" y="2139696"/>
            <a:ext cx="2264664" cy="731520"/>
          </a:xfrm>
          <a:prstGeom prst="rect">
            <a:avLst/>
          </a:prstGeom>
          <a:noFill/>
          <a:ln/>
        </p:spPr>
        <p:txBody>
          <a:bodyPr wrap="square" lIns="0" tIns="0" rIns="0" bIns="0" rtlCol="0" anchor="t"/>
          <a:lstStyle/>
          <a:p>
            <a:pPr indent="0" marL="0">
              <a:buNone/>
            </a:pPr>
            <a:r>
              <a:rPr lang="en-US" sz="1050" dirty="0">
                <a:solidFill>
                  <a:schemeClr val="tx2"/>
                </a:solidFill>
              </a:rPr>
              <a:t>Voir comment ATM-BOT apprend du terrain et dialogue avec le technicien.</a:t>
            </a:r>
            <a:endParaRPr lang="en-US" sz="1150" dirty="0"/>
          </a:p>
        </p:txBody>
      </p:sp>
      <p:sp>
        <p:nvSpPr>
          <p:cNvPr id="13" name="card-36"/>
          <p:cNvSpPr/>
          <p:nvPr/>
        </p:nvSpPr>
        <p:spPr>
          <a:xfrm>
            <a:off x="8095488" y="1463040"/>
            <a:ext cx="3544824" cy="1463040"/>
          </a:xfrm>
          <a:prstGeom prst="roundRect">
            <a:avLst>
              <a:gd name="adj" fmla="val 5000"/>
            </a:avLst>
          </a:prstGeom>
          <a:solidFill>
            <a:schemeClr val="bg2"/>
          </a:solidFill>
          <a:ln/>
        </p:spPr>
      </p:sp>
      <p:sp>
        <p:nvSpPr>
          <p:cNvPr id="14" name="txt-37"/>
          <p:cNvSpPr txBox="1"/>
          <p:nvPr/>
        </p:nvSpPr>
        <p:spPr>
          <a:xfrm>
            <a:off x="8324088" y="1664208"/>
            <a:ext cx="868680" cy="548640"/>
          </a:xfrm>
          <a:prstGeom prst="rect">
            <a:avLst/>
          </a:prstGeom>
          <a:noFill/>
          <a:ln/>
        </p:spPr>
        <p:txBody>
          <a:bodyPr wrap="square" lIns="0" tIns="0" rIns="0" bIns="0" rtlCol="0" anchor="t"/>
          <a:lstStyle/>
          <a:p>
            <a:pPr indent="0" marL="0">
              <a:buNone/>
            </a:pPr>
            <a:r>
              <a:rPr lang="en-US" sz="2600" b="1" dirty="0">
                <a:solidFill>
                  <a:schemeClr val="accent1"/>
                </a:solidFill>
                <a:latin typeface="Arial" pitchFamily="34" charset="0"/>
                <a:ea typeface="Arial" pitchFamily="34" charset="-122"/>
                <a:cs typeface="Arial" pitchFamily="34" charset="-120"/>
              </a:rPr>
              <a:t>III</a:t>
            </a:r>
            <a:endParaRPr lang="en-US" sz="2800" dirty="0"/>
          </a:p>
        </p:txBody>
      </p:sp>
      <p:sp>
        <p:nvSpPr>
          <p:cNvPr id="15" name="txt-38"/>
          <p:cNvSpPr txBox="1"/>
          <p:nvPr/>
        </p:nvSpPr>
        <p:spPr>
          <a:xfrm>
            <a:off x="9192768" y="1645920"/>
            <a:ext cx="2264664" cy="457200"/>
          </a:xfrm>
          <a:prstGeom prst="rect">
            <a:avLst/>
          </a:prstGeom>
          <a:noFill/>
          <a:ln/>
        </p:spPr>
        <p:txBody>
          <a:bodyPr wrap="square" lIns="0" tIns="0" rIns="0" bIns="0" rtlCol="0" anchor="t"/>
          <a:lstStyle/>
          <a:p>
            <a:pPr indent="0" marL="0">
              <a:buNone/>
            </a:pPr>
            <a:r>
              <a:rPr lang="en-US" sz="1350" b="1" dirty="0">
                <a:solidFill>
                  <a:schemeClr val="tx1"/>
                </a:solidFill>
              </a:rPr>
              <a:t>L'architecture</a:t>
            </a:r>
            <a:endParaRPr lang="en-US" sz="1500" dirty="0"/>
          </a:p>
        </p:txBody>
      </p:sp>
      <p:sp>
        <p:nvSpPr>
          <p:cNvPr id="16" name="txt-39"/>
          <p:cNvSpPr txBox="1"/>
          <p:nvPr/>
        </p:nvSpPr>
        <p:spPr>
          <a:xfrm>
            <a:off x="9192768" y="2139696"/>
            <a:ext cx="2264664" cy="731520"/>
          </a:xfrm>
          <a:prstGeom prst="rect">
            <a:avLst/>
          </a:prstGeom>
          <a:noFill/>
          <a:ln/>
        </p:spPr>
        <p:txBody>
          <a:bodyPr wrap="square" lIns="0" tIns="0" rIns="0" bIns="0" rtlCol="0" anchor="t"/>
          <a:lstStyle/>
          <a:p>
            <a:pPr indent="0" marL="0">
              <a:buNone/>
            </a:pPr>
            <a:r>
              <a:rPr lang="en-US" sz="1050" dirty="0">
                <a:solidFill>
                  <a:schemeClr val="tx2"/>
                </a:solidFill>
              </a:rPr>
              <a:t>Voir comment le projet est organisé techniquement, couche par couche.</a:t>
            </a:r>
            <a:endParaRPr lang="en-US" sz="1150" dirty="0"/>
          </a:p>
        </p:txBody>
      </p:sp>
      <p:sp>
        <p:nvSpPr>
          <p:cNvPr id="17" name="card-40"/>
          <p:cNvSpPr/>
          <p:nvPr/>
        </p:nvSpPr>
        <p:spPr>
          <a:xfrm>
            <a:off x="548640" y="3108960"/>
            <a:ext cx="3544824" cy="1463040"/>
          </a:xfrm>
          <a:prstGeom prst="roundRect">
            <a:avLst>
              <a:gd name="adj" fmla="val 5000"/>
            </a:avLst>
          </a:prstGeom>
          <a:solidFill>
            <a:schemeClr val="bg2"/>
          </a:solidFill>
          <a:ln/>
        </p:spPr>
      </p:sp>
      <p:sp>
        <p:nvSpPr>
          <p:cNvPr id="18" name="txt-41"/>
          <p:cNvSpPr txBox="1"/>
          <p:nvPr/>
        </p:nvSpPr>
        <p:spPr>
          <a:xfrm>
            <a:off x="777240" y="3310128"/>
            <a:ext cx="868680" cy="548640"/>
          </a:xfrm>
          <a:prstGeom prst="rect">
            <a:avLst/>
          </a:prstGeom>
          <a:noFill/>
          <a:ln/>
        </p:spPr>
        <p:txBody>
          <a:bodyPr wrap="square" lIns="0" tIns="0" rIns="0" bIns="0" rtlCol="0" anchor="t"/>
          <a:lstStyle/>
          <a:p>
            <a:pPr indent="0" marL="0">
              <a:buNone/>
            </a:pPr>
            <a:r>
              <a:rPr lang="en-US" sz="2600" b="1" dirty="0">
                <a:solidFill>
                  <a:schemeClr val="accent1"/>
                </a:solidFill>
                <a:latin typeface="Arial" pitchFamily="34" charset="0"/>
                <a:ea typeface="Arial" pitchFamily="34" charset="-122"/>
                <a:cs typeface="Arial" pitchFamily="34" charset="-120"/>
              </a:rPr>
              <a:t>IV</a:t>
            </a:r>
            <a:endParaRPr lang="en-US" sz="2800" dirty="0"/>
          </a:p>
        </p:txBody>
      </p:sp>
      <p:sp>
        <p:nvSpPr>
          <p:cNvPr id="19" name="txt-42"/>
          <p:cNvSpPr txBox="1"/>
          <p:nvPr/>
        </p:nvSpPr>
        <p:spPr>
          <a:xfrm>
            <a:off x="1645919" y="3291840"/>
            <a:ext cx="2264664" cy="457200"/>
          </a:xfrm>
          <a:prstGeom prst="rect">
            <a:avLst/>
          </a:prstGeom>
          <a:noFill/>
          <a:ln/>
        </p:spPr>
        <p:txBody>
          <a:bodyPr wrap="square" lIns="0" tIns="0" rIns="0" bIns="0" rtlCol="0" anchor="t"/>
          <a:lstStyle/>
          <a:p>
            <a:pPr indent="0" marL="0">
              <a:buNone/>
            </a:pPr>
            <a:r>
              <a:rPr lang="en-US" sz="1350" b="1" dirty="0">
                <a:solidFill>
                  <a:schemeClr val="tx1"/>
                </a:solidFill>
              </a:rPr>
              <a:t>La base de données</a:t>
            </a:r>
            <a:endParaRPr lang="en-US" sz="1500" dirty="0"/>
          </a:p>
        </p:txBody>
      </p:sp>
      <p:sp>
        <p:nvSpPr>
          <p:cNvPr id="20" name="txt-43"/>
          <p:cNvSpPr txBox="1"/>
          <p:nvPr/>
        </p:nvSpPr>
        <p:spPr>
          <a:xfrm>
            <a:off x="1645919" y="3785616"/>
            <a:ext cx="2264664" cy="731520"/>
          </a:xfrm>
          <a:prstGeom prst="rect">
            <a:avLst/>
          </a:prstGeom>
          <a:noFill/>
          <a:ln/>
        </p:spPr>
        <p:txBody>
          <a:bodyPr wrap="square" lIns="0" tIns="0" rIns="0" bIns="0" rtlCol="0" anchor="t"/>
          <a:lstStyle/>
          <a:p>
            <a:pPr indent="0" marL="0">
              <a:buNone/>
            </a:pPr>
            <a:r>
              <a:rPr lang="en-US" sz="1050" dirty="0">
                <a:solidFill>
                  <a:schemeClr val="tx2"/>
                </a:solidFill>
              </a:rPr>
              <a:t>Comprendre quelles tables stockent la connaissance de maintenance, ce que contient chacune et comment elles sont liées.</a:t>
            </a:r>
            <a:endParaRPr lang="en-US" sz="1150" dirty="0"/>
          </a:p>
        </p:txBody>
      </p:sp>
      <p:sp>
        <p:nvSpPr>
          <p:cNvPr id="21" name="card-44"/>
          <p:cNvSpPr/>
          <p:nvPr/>
        </p:nvSpPr>
        <p:spPr>
          <a:xfrm>
            <a:off x="4322064" y="3108960"/>
            <a:ext cx="3544824" cy="1463040"/>
          </a:xfrm>
          <a:prstGeom prst="roundRect">
            <a:avLst>
              <a:gd name="adj" fmla="val 5000"/>
            </a:avLst>
          </a:prstGeom>
          <a:solidFill>
            <a:schemeClr val="bg2"/>
          </a:solidFill>
          <a:ln/>
        </p:spPr>
      </p:sp>
      <p:sp>
        <p:nvSpPr>
          <p:cNvPr id="22" name="txt-45"/>
          <p:cNvSpPr txBox="1"/>
          <p:nvPr/>
        </p:nvSpPr>
        <p:spPr>
          <a:xfrm>
            <a:off x="4550664" y="3310128"/>
            <a:ext cx="868680" cy="548640"/>
          </a:xfrm>
          <a:prstGeom prst="rect">
            <a:avLst/>
          </a:prstGeom>
          <a:noFill/>
          <a:ln/>
        </p:spPr>
        <p:txBody>
          <a:bodyPr wrap="square" lIns="0" tIns="0" rIns="0" bIns="0" rtlCol="0" anchor="t"/>
          <a:lstStyle/>
          <a:p>
            <a:pPr indent="0" marL="0">
              <a:buNone/>
            </a:pPr>
            <a:r>
              <a:rPr lang="en-US" sz="2600" b="1" dirty="0">
                <a:solidFill>
                  <a:schemeClr val="accent1"/>
                </a:solidFill>
                <a:latin typeface="Arial" pitchFamily="34" charset="0"/>
                <a:ea typeface="Arial" pitchFamily="34" charset="-122"/>
                <a:cs typeface="Arial" pitchFamily="34" charset="-120"/>
              </a:rPr>
              <a:t>V</a:t>
            </a:r>
            <a:endParaRPr lang="en-US" sz="2800" dirty="0"/>
          </a:p>
        </p:txBody>
      </p:sp>
      <p:sp>
        <p:nvSpPr>
          <p:cNvPr id="23" name="txt-46"/>
          <p:cNvSpPr txBox="1"/>
          <p:nvPr/>
        </p:nvSpPr>
        <p:spPr>
          <a:xfrm>
            <a:off x="5419344" y="3291840"/>
            <a:ext cx="2264664" cy="457200"/>
          </a:xfrm>
          <a:prstGeom prst="rect">
            <a:avLst/>
          </a:prstGeom>
          <a:noFill/>
          <a:ln/>
        </p:spPr>
        <p:txBody>
          <a:bodyPr wrap="square" lIns="0" tIns="0" rIns="0" bIns="0" rtlCol="0" anchor="t"/>
          <a:lstStyle/>
          <a:p>
            <a:pPr indent="0" marL="0">
              <a:buNone/>
            </a:pPr>
            <a:r>
              <a:rPr lang="en-US" sz="1350" b="1" dirty="0">
                <a:solidFill>
                  <a:schemeClr val="tx1"/>
                </a:solidFill>
              </a:rPr>
              <a:t>L'intelligence artificielle</a:t>
            </a:r>
            <a:endParaRPr lang="en-US" sz="1500" dirty="0"/>
          </a:p>
        </p:txBody>
      </p:sp>
      <p:sp>
        <p:nvSpPr>
          <p:cNvPr id="24" name="txt-47"/>
          <p:cNvSpPr txBox="1"/>
          <p:nvPr/>
        </p:nvSpPr>
        <p:spPr>
          <a:xfrm>
            <a:off x="5419344" y="3785616"/>
            <a:ext cx="2264664" cy="731520"/>
          </a:xfrm>
          <a:prstGeom prst="rect">
            <a:avLst/>
          </a:prstGeom>
          <a:noFill/>
          <a:ln/>
        </p:spPr>
        <p:txBody>
          <a:bodyPr wrap="square" lIns="0" tIns="0" rIns="0" bIns="0" rtlCol="0" anchor="t"/>
          <a:lstStyle/>
          <a:p>
            <a:pPr indent="0" marL="0">
              <a:buNone/>
            </a:pPr>
            <a:r>
              <a:rPr lang="en-US" sz="1050" dirty="0">
                <a:solidFill>
                  <a:schemeClr val="tx2"/>
                </a:solidFill>
              </a:rPr>
              <a:t>Comprendre comment ATM-BOT retrouve les bonnes solutions, et pourquoi ces choix techniques.</a:t>
            </a:r>
            <a:endParaRPr lang="en-US" sz="1150" dirty="0"/>
          </a:p>
        </p:txBody>
      </p:sp>
      <p:sp>
        <p:nvSpPr>
          <p:cNvPr id="25" name="card-48"/>
          <p:cNvSpPr/>
          <p:nvPr/>
        </p:nvSpPr>
        <p:spPr>
          <a:xfrm>
            <a:off x="8095488" y="3108960"/>
            <a:ext cx="3544824" cy="1463040"/>
          </a:xfrm>
          <a:prstGeom prst="roundRect">
            <a:avLst>
              <a:gd name="adj" fmla="val 5000"/>
            </a:avLst>
          </a:prstGeom>
          <a:solidFill>
            <a:schemeClr val="bg2"/>
          </a:solidFill>
          <a:ln/>
        </p:spPr>
      </p:sp>
      <p:sp>
        <p:nvSpPr>
          <p:cNvPr id="26" name="txt-49"/>
          <p:cNvSpPr txBox="1"/>
          <p:nvPr/>
        </p:nvSpPr>
        <p:spPr>
          <a:xfrm>
            <a:off x="8324088" y="3310128"/>
            <a:ext cx="868680" cy="548640"/>
          </a:xfrm>
          <a:prstGeom prst="rect">
            <a:avLst/>
          </a:prstGeom>
          <a:noFill/>
          <a:ln/>
        </p:spPr>
        <p:txBody>
          <a:bodyPr wrap="square" lIns="0" tIns="0" rIns="0" bIns="0" rtlCol="0" anchor="t"/>
          <a:lstStyle/>
          <a:p>
            <a:pPr indent="0" marL="0">
              <a:buNone/>
            </a:pPr>
            <a:r>
              <a:rPr lang="en-US" sz="2600" b="1" dirty="0">
                <a:solidFill>
                  <a:schemeClr val="accent1"/>
                </a:solidFill>
                <a:latin typeface="Arial" pitchFamily="34" charset="0"/>
                <a:ea typeface="Arial" pitchFamily="34" charset="-122"/>
                <a:cs typeface="Arial" pitchFamily="34" charset="-120"/>
              </a:rPr>
              <a:t>VI</a:t>
            </a:r>
            <a:endParaRPr lang="en-US" sz="2800" dirty="0"/>
          </a:p>
        </p:txBody>
      </p:sp>
      <p:sp>
        <p:nvSpPr>
          <p:cNvPr id="27" name="txt-50"/>
          <p:cNvSpPr txBox="1"/>
          <p:nvPr/>
        </p:nvSpPr>
        <p:spPr>
          <a:xfrm>
            <a:off x="9192768" y="3291840"/>
            <a:ext cx="2264664" cy="457200"/>
          </a:xfrm>
          <a:prstGeom prst="rect">
            <a:avLst/>
          </a:prstGeom>
          <a:noFill/>
          <a:ln/>
        </p:spPr>
        <p:txBody>
          <a:bodyPr wrap="square" lIns="0" tIns="0" rIns="0" bIns="0" rtlCol="0" anchor="t"/>
          <a:lstStyle/>
          <a:p>
            <a:pPr indent="0" marL="0">
              <a:buNone/>
            </a:pPr>
            <a:r>
              <a:rPr lang="en-US" sz="1350" b="1" dirty="0">
                <a:solidFill>
                  <a:schemeClr val="tx1"/>
                </a:solidFill>
              </a:rPr>
              <a:t>Le trajet des données, cas par cas</a:t>
            </a:r>
            <a:endParaRPr lang="en-US" sz="1500" dirty="0"/>
          </a:p>
        </p:txBody>
      </p:sp>
      <p:sp>
        <p:nvSpPr>
          <p:cNvPr id="28" name="txt-51"/>
          <p:cNvSpPr txBox="1"/>
          <p:nvPr/>
        </p:nvSpPr>
        <p:spPr>
          <a:xfrm>
            <a:off x="9192768" y="3785616"/>
            <a:ext cx="2264664" cy="731520"/>
          </a:xfrm>
          <a:prstGeom prst="rect">
            <a:avLst/>
          </a:prstGeom>
          <a:noFill/>
          <a:ln/>
        </p:spPr>
        <p:txBody>
          <a:bodyPr wrap="square" lIns="0" tIns="0" rIns="0" bIns="0" rtlCol="0" anchor="t"/>
          <a:lstStyle/>
          <a:p>
            <a:pPr indent="0" marL="0">
              <a:buNone/>
            </a:pPr>
            <a:r>
              <a:rPr lang="en-US" sz="1050" dirty="0">
                <a:solidFill>
                  <a:schemeClr val="tx2"/>
                </a:solidFill>
              </a:rPr>
              <a:t>Suivre, étape par étape, qui appelle qui dans chacun des cinq cas d'usage.</a:t>
            </a:r>
            <a:endParaRPr lang="en-US" sz="1150" dirty="0"/>
          </a:p>
        </p:txBody>
      </p:sp>
      <p:sp>
        <p:nvSpPr>
          <p:cNvPr id="29" name="card-52"/>
          <p:cNvSpPr/>
          <p:nvPr/>
        </p:nvSpPr>
        <p:spPr>
          <a:xfrm>
            <a:off x="548640" y="4754880"/>
            <a:ext cx="3544824" cy="1463040"/>
          </a:xfrm>
          <a:prstGeom prst="roundRect">
            <a:avLst>
              <a:gd name="adj" fmla="val 5000"/>
            </a:avLst>
          </a:prstGeom>
          <a:solidFill>
            <a:schemeClr val="bg2"/>
          </a:solidFill>
          <a:ln/>
        </p:spPr>
      </p:sp>
      <p:sp>
        <p:nvSpPr>
          <p:cNvPr id="30" name="txt-53"/>
          <p:cNvSpPr txBox="1"/>
          <p:nvPr/>
        </p:nvSpPr>
        <p:spPr>
          <a:xfrm>
            <a:off x="777240" y="4956048"/>
            <a:ext cx="868680" cy="548640"/>
          </a:xfrm>
          <a:prstGeom prst="rect">
            <a:avLst/>
          </a:prstGeom>
          <a:noFill/>
          <a:ln/>
        </p:spPr>
        <p:txBody>
          <a:bodyPr wrap="square" lIns="0" tIns="0" rIns="0" bIns="0" rtlCol="0" anchor="t"/>
          <a:lstStyle/>
          <a:p>
            <a:pPr indent="0" marL="0">
              <a:buNone/>
            </a:pPr>
            <a:r>
              <a:rPr lang="en-US" sz="2600" b="1" dirty="0">
                <a:solidFill>
                  <a:schemeClr val="accent1"/>
                </a:solidFill>
                <a:latin typeface="Arial" pitchFamily="34" charset="0"/>
                <a:ea typeface="Arial" pitchFamily="34" charset="-122"/>
                <a:cs typeface="Arial" pitchFamily="34" charset="-120"/>
              </a:rPr>
              <a:t>VII</a:t>
            </a:r>
            <a:endParaRPr lang="en-US" sz="2800" dirty="0"/>
          </a:p>
        </p:txBody>
      </p:sp>
      <p:sp>
        <p:nvSpPr>
          <p:cNvPr id="31" name="txt-54"/>
          <p:cNvSpPr txBox="1"/>
          <p:nvPr/>
        </p:nvSpPr>
        <p:spPr>
          <a:xfrm>
            <a:off x="1645919" y="4937760"/>
            <a:ext cx="2264664" cy="457200"/>
          </a:xfrm>
          <a:prstGeom prst="rect">
            <a:avLst/>
          </a:prstGeom>
          <a:noFill/>
          <a:ln/>
        </p:spPr>
        <p:txBody>
          <a:bodyPr wrap="square" lIns="0" tIns="0" rIns="0" bIns="0" rtlCol="0" anchor="t"/>
          <a:lstStyle/>
          <a:p>
            <a:pPr indent="0" marL="0">
              <a:buNone/>
            </a:pPr>
            <a:r>
              <a:rPr lang="en-US" sz="1350" b="1" dirty="0">
                <a:solidFill>
                  <a:schemeClr val="tx1"/>
                </a:solidFill>
              </a:rPr>
              <a:t>Le trajet des données dans la base</a:t>
            </a:r>
            <a:endParaRPr lang="en-US" sz="1500" dirty="0"/>
          </a:p>
        </p:txBody>
      </p:sp>
      <p:sp>
        <p:nvSpPr>
          <p:cNvPr id="32" name="txt-55"/>
          <p:cNvSpPr txBox="1"/>
          <p:nvPr/>
        </p:nvSpPr>
        <p:spPr>
          <a:xfrm>
            <a:off x="1645919" y="5431536"/>
            <a:ext cx="2264664" cy="731520"/>
          </a:xfrm>
          <a:prstGeom prst="rect">
            <a:avLst/>
          </a:prstGeom>
          <a:noFill/>
          <a:ln/>
        </p:spPr>
        <p:txBody>
          <a:bodyPr wrap="square" lIns="0" tIns="0" rIns="0" bIns="0" rtlCol="0" anchor="t"/>
          <a:lstStyle/>
          <a:p>
            <a:pPr indent="0" marL="0">
              <a:buNone/>
            </a:pPr>
            <a:r>
              <a:rPr lang="en-US" sz="1050" dirty="0">
                <a:solidFill>
                  <a:schemeClr val="tx2"/>
                </a:solidFill>
              </a:rPr>
              <a:t>Suivre un même exemple de panne et voir quelle table est lue ou écrite à chaque étape.</a:t>
            </a:r>
            <a:endParaRPr lang="en-US" sz="115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
        <p:nvSpPr>
          <p:cNvPr id="29" name="card-52"/>
          <p:cNvSpPr/>
          <p:nvPr/>
        </p:nvSpPr>
        <p:spPr>
          <a:xfrm>
            <a:off x="4322064" y="4754880"/>
            <a:ext cx="3544824" cy="1463040"/>
          </a:xfrm>
          <a:prstGeom prst="roundRect">
            <a:avLst>
              <a:gd name="adj" fmla="val 5000"/>
            </a:avLst>
          </a:prstGeom>
          <a:solidFill>
            <a:schemeClr val="bg2"/>
          </a:solidFill>
          <a:ln/>
        </p:spPr>
      </p:sp>
      <p:sp>
        <p:nvSpPr>
          <p:cNvPr id="30" name="txt-53"/>
          <p:cNvSpPr txBox="1"/>
          <p:nvPr/>
        </p:nvSpPr>
        <p:spPr>
          <a:xfrm>
            <a:off x="4550664" y="4956048"/>
            <a:ext cx="868680" cy="548640"/>
          </a:xfrm>
          <a:prstGeom prst="rect">
            <a:avLst/>
          </a:prstGeom>
          <a:noFill/>
          <a:ln/>
        </p:spPr>
        <p:txBody>
          <a:bodyPr wrap="square" lIns="0" tIns="0" rIns="0" bIns="0" rtlCol="0" anchor="t"/>
          <a:lstStyle/>
          <a:p>
            <a:pPr indent="0" marL="0">
              <a:buNone/>
            </a:pPr>
            <a:r>
              <a:rPr lang="en-US" sz="2600" b="1" dirty="0">
                <a:solidFill>
                  <a:schemeClr val="accent1"/>
                </a:solidFill>
                <a:latin typeface="Arial" pitchFamily="34" charset="0"/>
                <a:ea typeface="Arial" pitchFamily="34" charset="-122"/>
                <a:cs typeface="Arial" pitchFamily="34" charset="-120"/>
              </a:rPr>
              <a:t>VIII</a:t>
            </a:r>
            <a:endParaRPr lang="en-US" sz="2800" dirty="0"/>
          </a:p>
        </p:txBody>
      </p:sp>
      <p:sp>
        <p:nvSpPr>
          <p:cNvPr id="31" name="txt-54"/>
          <p:cNvSpPr txBox="1"/>
          <p:nvPr/>
        </p:nvSpPr>
        <p:spPr>
          <a:xfrm>
            <a:off x="5419344" y="4937760"/>
            <a:ext cx="2264664" cy="457200"/>
          </a:xfrm>
          <a:prstGeom prst="rect">
            <a:avLst/>
          </a:prstGeom>
          <a:noFill/>
          <a:ln/>
        </p:spPr>
        <p:txBody>
          <a:bodyPr wrap="square" lIns="0" tIns="0" rIns="0" bIns="0" rtlCol="0" anchor="t"/>
          <a:lstStyle/>
          <a:p>
            <a:pPr indent="0" marL="0">
              <a:buNone/>
            </a:pPr>
            <a:r>
              <a:rPr lang="en-US" sz="1350" b="1" dirty="0">
                <a:solidFill>
                  <a:schemeClr val="tx1"/>
                </a:solidFill>
              </a:rPr>
              <a:t>L'optimisation du système</a:t>
            </a:r>
            <a:endParaRPr lang="en-US" sz="1500" dirty="0"/>
          </a:p>
        </p:txBody>
      </p:sp>
      <p:sp>
        <p:nvSpPr>
          <p:cNvPr id="32" name="txt-55"/>
          <p:cNvSpPr txBox="1"/>
          <p:nvPr/>
        </p:nvSpPr>
        <p:spPr>
          <a:xfrm>
            <a:off x="5419344" y="5431536"/>
            <a:ext cx="2264664" cy="731520"/>
          </a:xfrm>
          <a:prstGeom prst="rect">
            <a:avLst/>
          </a:prstGeom>
          <a:noFill/>
          <a:ln/>
        </p:spPr>
        <p:txBody>
          <a:bodyPr wrap="square" lIns="0" tIns="0" rIns="0" bIns="0" rtlCol="0" anchor="t"/>
          <a:lstStyle/>
          <a:p>
            <a:pPr indent="0" marL="0">
              <a:buNone/>
            </a:pPr>
            <a:r>
              <a:rPr lang="en-US" sz="1050" dirty="0">
                <a:solidFill>
                  <a:schemeClr val="tx2"/>
                </a:solidFill>
              </a:rPr>
              <a:t>Comprendre comment ATM-BOT limite ses dépenses d'IA, notamment grâce au cache de Claude.</a:t>
            </a:r>
            <a:endParaRPr lang="en-US" sz="1150" dirty="0"/>
          </a:p>
        </p:txBody>
      </p:sp>
      <p:sp>
        <p:nvSpPr>
          <p:cNvPr id="29" name="card-52"/>
          <p:cNvSpPr/>
          <p:nvPr/>
        </p:nvSpPr>
        <p:spPr>
          <a:xfrm>
            <a:off x="8095488" y="4754880"/>
            <a:ext cx="3544824" cy="1463040"/>
          </a:xfrm>
          <a:prstGeom prst="roundRect">
            <a:avLst>
              <a:gd name="adj" fmla="val 5000"/>
            </a:avLst>
          </a:prstGeom>
          <a:solidFill>
            <a:schemeClr val="bg2"/>
          </a:solidFill>
          <a:ln/>
        </p:spPr>
      </p:sp>
      <p:sp>
        <p:nvSpPr>
          <p:cNvPr id="30" name="txt-53"/>
          <p:cNvSpPr txBox="1"/>
          <p:nvPr/>
        </p:nvSpPr>
        <p:spPr>
          <a:xfrm>
            <a:off x="8324088" y="4956048"/>
            <a:ext cx="868680" cy="548640"/>
          </a:xfrm>
          <a:prstGeom prst="rect">
            <a:avLst/>
          </a:prstGeom>
          <a:noFill/>
          <a:ln/>
        </p:spPr>
        <p:txBody>
          <a:bodyPr wrap="square" lIns="0" tIns="0" rIns="0" bIns="0" rtlCol="0" anchor="t"/>
          <a:lstStyle/>
          <a:p>
            <a:pPr indent="0" marL="0">
              <a:buNone/>
            </a:pPr>
            <a:r>
              <a:rPr lang="en-US" sz="2600" b="1" dirty="0">
                <a:solidFill>
                  <a:schemeClr val="accent1"/>
                </a:solidFill>
                <a:latin typeface="Arial" pitchFamily="34" charset="0"/>
                <a:ea typeface="Arial" pitchFamily="34" charset="-122"/>
                <a:cs typeface="Arial" pitchFamily="34" charset="-120"/>
              </a:rPr>
              <a:t>IX</a:t>
            </a:r>
            <a:endParaRPr lang="en-US" sz="2800" dirty="0"/>
          </a:p>
        </p:txBody>
      </p:sp>
      <p:sp>
        <p:nvSpPr>
          <p:cNvPr id="31" name="txt-54"/>
          <p:cNvSpPr txBox="1"/>
          <p:nvPr/>
        </p:nvSpPr>
        <p:spPr>
          <a:xfrm>
            <a:off x="9192768" y="4937760"/>
            <a:ext cx="2264664" cy="457200"/>
          </a:xfrm>
          <a:prstGeom prst="rect">
            <a:avLst/>
          </a:prstGeom>
          <a:noFill/>
          <a:ln/>
        </p:spPr>
        <p:txBody>
          <a:bodyPr wrap="square" lIns="0" tIns="0" rIns="0" bIns="0" rtlCol="0" anchor="t"/>
          <a:lstStyle/>
          <a:p>
            <a:pPr indent="0" marL="0">
              <a:buNone/>
            </a:pPr>
            <a:r>
              <a:rPr lang="en-US" sz="1350" b="1" dirty="0">
                <a:solidFill>
                  <a:schemeClr val="tx1"/>
                </a:solidFill>
              </a:rPr>
              <a:t>ATM-BOT en fonctionnement</a:t>
            </a:r>
            <a:endParaRPr lang="en-US" sz="1500" dirty="0"/>
          </a:p>
        </p:txBody>
      </p:sp>
      <p:sp>
        <p:nvSpPr>
          <p:cNvPr id="32" name="txt-55"/>
          <p:cNvSpPr txBox="1"/>
          <p:nvPr/>
        </p:nvSpPr>
        <p:spPr>
          <a:xfrm>
            <a:off x="9192768" y="5431536"/>
            <a:ext cx="2264664" cy="731520"/>
          </a:xfrm>
          <a:prstGeom prst="rect">
            <a:avLst/>
          </a:prstGeom>
          <a:noFill/>
          <a:ln/>
        </p:spPr>
        <p:txBody>
          <a:bodyPr wrap="square" lIns="0" tIns="0" rIns="0" bIns="0" rtlCol="0" anchor="t"/>
          <a:lstStyle/>
          <a:p>
            <a:pPr indent="0" marL="0">
              <a:buNone/>
            </a:pPr>
            <a:r>
              <a:rPr lang="en-US" sz="1050" dirty="0">
                <a:solidFill>
                  <a:schemeClr val="tx2"/>
                </a:solidFill>
              </a:rPr>
              <a:t>Voir, sur des captures réelles de l'application, que le système fonctionne.</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xt-56"/>
          <p:cNvSpPr txBox="1"/>
          <p:nvPr/>
        </p:nvSpPr>
        <p:spPr>
          <a:xfrm>
            <a:off x="731520" y="1097280"/>
            <a:ext cx="3657600" cy="320040"/>
          </a:xfrm>
          <a:prstGeom prst="rect">
            <a:avLst/>
          </a:prstGeom>
          <a:noFill/>
          <a:ln/>
        </p:spPr>
        <p:txBody>
          <a:bodyPr wrap="square" lIns="0" tIns="0" rIns="0" bIns="0" rtlCol="0" anchor="t"/>
          <a:lstStyle/>
          <a:p>
            <a:pPr indent="0" marL="0">
              <a:buNone/>
            </a:pPr>
            <a:r>
              <a:rPr lang="en-US" sz="1400" b="1" spc="200" kern="0" dirty="0">
                <a:solidFill>
                  <a:schemeClr val="accent2"/>
                </a:solidFill>
              </a:rPr>
              <a:t>PARTIE</a:t>
            </a:r>
            <a:endParaRPr lang="en-US" sz="1400" dirty="0"/>
          </a:p>
        </p:txBody>
      </p:sp>
      <p:sp>
        <p:nvSpPr>
          <p:cNvPr id="3" name="txt-57"/>
          <p:cNvSpPr txBox="1"/>
          <p:nvPr/>
        </p:nvSpPr>
        <p:spPr>
          <a:xfrm>
            <a:off x="731520" y="1417320"/>
            <a:ext cx="3657600" cy="1280160"/>
          </a:xfrm>
          <a:prstGeom prst="rect">
            <a:avLst/>
          </a:prstGeom>
          <a:noFill/>
          <a:ln/>
        </p:spPr>
        <p:txBody>
          <a:bodyPr wrap="square" lIns="0" tIns="0" rIns="0" bIns="0" rtlCol="0" anchor="t"/>
          <a:lstStyle/>
          <a:p>
            <a:pPr indent="0" marL="0">
              <a:buNone/>
            </a:pPr>
            <a:r>
              <a:rPr lang="en-US" sz="8800" b="1" dirty="0">
                <a:solidFill>
                  <a:schemeClr val="accent1"/>
                </a:solidFill>
                <a:latin typeface="Arial" pitchFamily="34" charset="0"/>
                <a:ea typeface="Arial" pitchFamily="34" charset="-122"/>
                <a:cs typeface="Arial" pitchFamily="34" charset="-120"/>
              </a:rPr>
              <a:t>I</a:t>
            </a:r>
            <a:endParaRPr lang="en-US" sz="8800" dirty="0"/>
          </a:p>
        </p:txBody>
      </p:sp>
      <p:sp>
        <p:nvSpPr>
          <p:cNvPr id="4" name="txt-58"/>
          <p:cNvSpPr txBox="1"/>
          <p:nvPr/>
        </p:nvSpPr>
        <p:spPr>
          <a:xfrm>
            <a:off x="731520" y="2697480"/>
            <a:ext cx="5486400" cy="1097280"/>
          </a:xfrm>
          <a:prstGeom prst="rect">
            <a:avLst/>
          </a:prstGeom>
          <a:noFill/>
          <a:ln/>
        </p:spPr>
        <p:txBody>
          <a:bodyPr wrap="square" lIns="0" tIns="0" rIns="0" bIns="0" rtlCol="0" anchor="t"/>
          <a:lstStyle/>
          <a:p>
            <a:pPr indent="0" marL="0">
              <a:buNone/>
            </a:pPr>
            <a:r>
              <a:rPr lang="en-US" sz="3000" b="1" dirty="0">
                <a:solidFill>
                  <a:schemeClr val="bg1"/>
                </a:solidFill>
                <a:latin typeface="Arial" pitchFamily="34" charset="0"/>
                <a:ea typeface="Arial" pitchFamily="34" charset="-122"/>
                <a:cs typeface="Arial" pitchFamily="34" charset="-120"/>
              </a:rPr>
              <a:t>Le besoin</a:t>
            </a:r>
            <a:endParaRPr lang="en-US" sz="3000" dirty="0"/>
          </a:p>
        </p:txBody>
      </p:sp>
      <p:sp>
        <p:nvSpPr>
          <p:cNvPr id="5" name="txt-59"/>
          <p:cNvSpPr txBox="1"/>
          <p:nvPr/>
        </p:nvSpPr>
        <p:spPr>
          <a:xfrm>
            <a:off x="731520" y="3931920"/>
            <a:ext cx="5303520" cy="1188720"/>
          </a:xfrm>
          <a:prstGeom prst="rect">
            <a:avLst/>
          </a:prstGeom>
          <a:noFill/>
          <a:ln/>
        </p:spPr>
        <p:txBody>
          <a:bodyPr wrap="square" lIns="0" tIns="0" rIns="0" bIns="0" rtlCol="0" anchor="t"/>
          <a:lstStyle/>
          <a:p>
            <a:pPr indent="0" marL="0">
              <a:buNone/>
            </a:pPr>
            <a:r>
              <a:rPr lang="en-US" sz="1600" dirty="0">
                <a:solidFill>
                  <a:srgbClr val="C9D3D9"/>
                </a:solidFill>
              </a:rPr>
              <a:t>Comprendre le problème des équipes de maintenance et la réponse qu'apporte ATM-BOT.</a:t>
            </a:r>
            <a:endParaRPr lang="en-US" sz="1600" dirty="0"/>
          </a:p>
        </p:txBody>
      </p:sp>
      <p:sp>
        <p:nvSpPr>
          <p:cNvPr id="6" name="txt-60"/>
          <p:cNvSpPr txBox="1"/>
          <p:nvPr/>
        </p:nvSpPr>
        <p:spPr>
          <a:xfrm>
            <a:off x="6766560" y="1463040"/>
            <a:ext cx="4846320" cy="365760"/>
          </a:xfrm>
          <a:prstGeom prst="rect">
            <a:avLst/>
          </a:prstGeom>
          <a:noFill/>
          <a:ln/>
        </p:spPr>
        <p:txBody>
          <a:bodyPr wrap="square" lIns="0" tIns="0" rIns="0" bIns="0" rtlCol="0" anchor="t"/>
          <a:lstStyle/>
          <a:p>
            <a:pPr indent="0" marL="0">
              <a:buNone/>
            </a:pPr>
            <a:r>
              <a:rPr lang="en-US" sz="1400" b="1" dirty="0">
                <a:solidFill>
                  <a:schemeClr val="accent2"/>
                </a:solidFill>
              </a:rPr>
              <a:t>Dans cette partie</a:t>
            </a:r>
            <a:endParaRPr lang="en-US" sz="1400" dirty="0"/>
          </a:p>
        </p:txBody>
      </p:sp>
      <p:sp>
        <p:nvSpPr>
          <p:cNvPr id="7" name="Shape 5"/>
          <p:cNvSpPr/>
          <p:nvPr/>
        </p:nvSpPr>
        <p:spPr>
          <a:xfrm>
            <a:off x="6766560" y="1965960"/>
            <a:ext cx="4873752" cy="530352"/>
          </a:xfrm>
          <a:prstGeom prst="roundRect">
            <a:avLst>
              <a:gd name="adj" fmla="val 17241"/>
            </a:avLst>
          </a:prstGeom>
          <a:solidFill>
            <a:srgbClr val="FFFFFF">
              <a:alpha val="8000"/>
            </a:srgbClr>
          </a:solidFill>
          <a:ln/>
        </p:spPr>
      </p:sp>
      <p:sp>
        <p:nvSpPr>
          <p:cNvPr id="8" name="txt-61"/>
          <p:cNvSpPr txBox="1"/>
          <p:nvPr/>
        </p:nvSpPr>
        <p:spPr>
          <a:xfrm>
            <a:off x="6949440" y="1965960"/>
            <a:ext cx="4572000" cy="530352"/>
          </a:xfrm>
          <a:prstGeom prst="rect">
            <a:avLst/>
          </a:prstGeom>
          <a:noFill/>
          <a:ln/>
        </p:spPr>
        <p:txBody>
          <a:bodyPr wrap="square" lIns="0" tIns="0" rIns="0" bIns="0" rtlCol="0" anchor="ctr"/>
          <a:lstStyle/>
          <a:p>
            <a:pPr indent="0" marL="0">
              <a:buNone/>
            </a:pPr>
            <a:r>
              <a:rPr lang="en-US" sz="1500" dirty="0">
                <a:solidFill>
                  <a:schemeClr val="bg1"/>
                </a:solidFill>
              </a:rPr>
              <a:t>a) Le problème métier</a:t>
            </a:r>
            <a:endParaRPr lang="en-US" sz="1500" dirty="0"/>
          </a:p>
        </p:txBody>
      </p:sp>
      <p:sp>
        <p:nvSpPr>
          <p:cNvPr id="9" name="Shape 7"/>
          <p:cNvSpPr/>
          <p:nvPr/>
        </p:nvSpPr>
        <p:spPr>
          <a:xfrm>
            <a:off x="6766560" y="2606040"/>
            <a:ext cx="4873752" cy="530352"/>
          </a:xfrm>
          <a:prstGeom prst="roundRect">
            <a:avLst>
              <a:gd name="adj" fmla="val 17241"/>
            </a:avLst>
          </a:prstGeom>
          <a:solidFill>
            <a:srgbClr val="FFFFFF">
              <a:alpha val="8000"/>
            </a:srgbClr>
          </a:solidFill>
          <a:ln/>
        </p:spPr>
      </p:sp>
      <p:sp>
        <p:nvSpPr>
          <p:cNvPr id="10" name="txt-62"/>
          <p:cNvSpPr txBox="1"/>
          <p:nvPr/>
        </p:nvSpPr>
        <p:spPr>
          <a:xfrm>
            <a:off x="6949440" y="2606040"/>
            <a:ext cx="4572000" cy="530352"/>
          </a:xfrm>
          <a:prstGeom prst="rect">
            <a:avLst/>
          </a:prstGeom>
          <a:noFill/>
          <a:ln/>
        </p:spPr>
        <p:txBody>
          <a:bodyPr wrap="square" lIns="0" tIns="0" rIns="0" bIns="0" rtlCol="0" anchor="ctr"/>
          <a:lstStyle/>
          <a:p>
            <a:pPr indent="0" marL="0">
              <a:buNone/>
            </a:pPr>
            <a:r>
              <a:rPr lang="en-US" sz="1500" dirty="0">
                <a:solidFill>
                  <a:schemeClr val="bg1"/>
                </a:solidFill>
              </a:rPr>
              <a:t>b) La solution ATM-BOT</a:t>
            </a:r>
            <a:endParaRPr lang="en-US" sz="1500" dirty="0"/>
          </a:p>
        </p:txBody>
      </p:sp>
      <p:sp>
        <p:nvSpPr>
          <p:cNvPr id="11" name="Shape 9"/>
          <p:cNvSpPr/>
          <p:nvPr/>
        </p:nvSpPr>
        <p:spPr>
          <a:xfrm>
            <a:off x="6766560" y="3246120"/>
            <a:ext cx="4873752" cy="530352"/>
          </a:xfrm>
          <a:prstGeom prst="roundRect">
            <a:avLst>
              <a:gd name="adj" fmla="val 17241"/>
            </a:avLst>
          </a:prstGeom>
          <a:solidFill>
            <a:srgbClr val="FFFFFF">
              <a:alpha val="8000"/>
            </a:srgbClr>
          </a:solidFill>
          <a:ln/>
        </p:spPr>
      </p:sp>
      <p:sp>
        <p:nvSpPr>
          <p:cNvPr id="12" name="txt-63"/>
          <p:cNvSpPr txBox="1"/>
          <p:nvPr/>
        </p:nvSpPr>
        <p:spPr>
          <a:xfrm>
            <a:off x="6949440" y="3246120"/>
            <a:ext cx="4572000" cy="530352"/>
          </a:xfrm>
          <a:prstGeom prst="rect">
            <a:avLst/>
          </a:prstGeom>
          <a:noFill/>
          <a:ln/>
        </p:spPr>
        <p:txBody>
          <a:bodyPr wrap="square" lIns="0" tIns="0" rIns="0" bIns="0" rtlCol="0" anchor="ctr"/>
          <a:lstStyle/>
          <a:p>
            <a:pPr indent="0" marL="0">
              <a:buNone/>
            </a:pPr>
            <a:r>
              <a:rPr lang="en-US" sz="1500" dirty="0">
                <a:solidFill>
                  <a:schemeClr val="bg1"/>
                </a:solidFill>
              </a:rPr>
              <a:t>c) La valeur pour l'entreprise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partie"/>
          <p:cNvSpPr txBox="1"/>
          <p:nvPr/>
        </p:nvSpPr>
        <p:spPr>
          <a:xfrm>
            <a:off x="548640" y="182880"/>
            <a:ext cx="8229600" cy="256032"/>
          </a:xfrm>
          <a:prstGeom prst="rect">
            <a:avLst/>
          </a:prstGeom>
          <a:noFill/>
          <a:ln/>
        </p:spPr>
        <p:txBody>
          <a:bodyPr wrap="square" lIns="0" tIns="0" rIns="0" bIns="0" rtlCol="0" anchor="ctr"/>
          <a:lstStyle/>
          <a:p>
            <a:pPr indent="0" marL="0">
              <a:buNone/>
            </a:pPr>
            <a:r>
              <a:rPr lang="en-US" sz="1100" b="1" spc="150" kern="0" dirty="0">
                <a:solidFill>
                  <a:schemeClr val="accent1"/>
                </a:solidFill>
              </a:rPr>
              <a:t>I. LE BESOIN</a:t>
            </a:r>
            <a:endParaRPr lang="en-US" sz="1100" dirty="0"/>
          </a:p>
        </p:txBody>
      </p:sp>
      <p:sp>
        <p:nvSpPr>
          <p:cNvPr id="3" name="Text 0"/>
          <p:cNvSpPr/>
          <p:nvPr>
            <p:ph idx="100" type="title" hasCustomPrompt="1"/>
          </p:nvPr>
        </p:nvSpPr>
        <p:spPr>
          <a:xfrm>
            <a:off x="548640" y="438912"/>
            <a:ext cx="11091672" cy="54864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a) Le problème : un savoir de maintenance dispersé</a:t>
            </a:r>
            <a:endParaRPr lang="en-US" sz="2800" dirty="0"/>
          </a:p>
        </p:txBody>
      </p:sp>
      <p:pic>
        <p:nvPicPr>
          <p:cNvPr id="4" name="icone-objectif" descr="preencoded.png">    </p:cNvPr>
          <p:cNvPicPr>
            <a:picLocks noChangeAspect="1"/>
          </p:cNvPicPr>
          <p:nvPr/>
        </p:nvPicPr>
        <p:blipFill>
          <a:blip r:embed="rId1"/>
          <a:stretch>
            <a:fillRect/>
          </a:stretch>
        </p:blipFill>
        <p:spPr>
          <a:xfrm>
            <a:off x="548640" y="1033272"/>
            <a:ext cx="237744" cy="237744"/>
          </a:xfrm>
          <a:prstGeom prst="rect">
            <a:avLst/>
          </a:prstGeom>
        </p:spPr>
      </p:pic>
      <p:sp>
        <p:nvSpPr>
          <p:cNvPr id="5" name="objectif"/>
          <p:cNvSpPr txBox="1"/>
          <p:nvPr/>
        </p:nvSpPr>
        <p:spPr>
          <a:xfrm>
            <a:off x="868680" y="987552"/>
            <a:ext cx="10771632" cy="329184"/>
          </a:xfrm>
          <a:prstGeom prst="rect">
            <a:avLst/>
          </a:prstGeom>
          <a:noFill/>
          <a:ln/>
        </p:spPr>
        <p:txBody>
          <a:bodyPr wrap="square" lIns="0" tIns="0" rIns="0" bIns="0" rtlCol="0" anchor="ctr"/>
          <a:lstStyle/>
          <a:p>
            <a:pPr indent="0" marL="0">
              <a:buNone/>
            </a:pPr>
            <a:r>
              <a:rPr lang="en-US" sz="1400" b="1" i="1" dirty="0">
                <a:solidFill>
                  <a:schemeClr val="tx2"/>
                </a:solidFill>
              </a:rPr>
              <a:t>Objectif : </a:t>
            </a:r>
            <a:pPr indent="0" marL="0">
              <a:buNone/>
            </a:pPr>
            <a:r>
              <a:rPr lang="en-US" sz="1400" i="1" dirty="0">
                <a:solidFill>
                  <a:schemeClr val="tx2"/>
                </a:solidFill>
              </a:rPr>
              <a:t>Comprendre les difficultés que rencontrent aujourd'hui les équipes de maintenance.</a:t>
            </a:r>
            <a:endParaRPr lang="en-US" sz="1400" dirty="0"/>
          </a:p>
        </p:txBody>
      </p:sp>
      <p:sp>
        <p:nvSpPr>
          <p:cNvPr id="6" name="card-64"/>
          <p:cNvSpPr/>
          <p:nvPr/>
        </p:nvSpPr>
        <p:spPr>
          <a:xfrm>
            <a:off x="548640" y="1508760"/>
            <a:ext cx="3520440" cy="2103120"/>
          </a:xfrm>
          <a:prstGeom prst="roundRect">
            <a:avLst>
              <a:gd name="adj" fmla="val 5217"/>
            </a:avLst>
          </a:prstGeom>
          <a:solidFill>
            <a:schemeClr val="bg2"/>
          </a:solidFill>
          <a:ln/>
        </p:spPr>
      </p:sp>
      <p:sp>
        <p:nvSpPr>
          <p:cNvPr id="7" name="pastille-65"/>
          <p:cNvSpPr/>
          <p:nvPr/>
        </p:nvSpPr>
        <p:spPr>
          <a:xfrm>
            <a:off x="822960" y="1783080"/>
            <a:ext cx="685800" cy="685800"/>
          </a:xfrm>
          <a:prstGeom prst="ellipse">
            <a:avLst/>
          </a:prstGeom>
          <a:solidFill>
            <a:schemeClr val="accent4"/>
          </a:solidFill>
          <a:ln/>
        </p:spPr>
      </p:sp>
      <p:pic>
        <p:nvPicPr>
          <p:cNvPr id="8" name="icone-66" descr="preencoded.png">    </p:cNvPr>
          <p:cNvPicPr>
            <a:picLocks noChangeAspect="1"/>
          </p:cNvPicPr>
          <p:nvPr/>
        </p:nvPicPr>
        <p:blipFill>
          <a:blip r:embed="rId2"/>
          <a:stretch>
            <a:fillRect/>
          </a:stretch>
        </p:blipFill>
        <p:spPr>
          <a:xfrm>
            <a:off x="973836" y="1933956"/>
            <a:ext cx="384048" cy="384048"/>
          </a:xfrm>
          <a:prstGeom prst="rect">
            <a:avLst/>
          </a:prstGeom>
        </p:spPr>
      </p:pic>
      <p:sp>
        <p:nvSpPr>
          <p:cNvPr id="9" name="txt-67"/>
          <p:cNvSpPr txBox="1"/>
          <p:nvPr/>
        </p:nvSpPr>
        <p:spPr>
          <a:xfrm>
            <a:off x="822960" y="2606040"/>
            <a:ext cx="3017520" cy="365760"/>
          </a:xfrm>
          <a:prstGeom prst="rect">
            <a:avLst/>
          </a:prstGeom>
          <a:noFill/>
          <a:ln/>
        </p:spPr>
        <p:txBody>
          <a:bodyPr wrap="square" lIns="0" tIns="0" rIns="0" bIns="0" rtlCol="0" anchor="t"/>
          <a:lstStyle/>
          <a:p>
            <a:pPr indent="0" marL="0">
              <a:buNone/>
            </a:pPr>
            <a:r>
              <a:rPr lang="en-US" sz="1700" b="1" dirty="0">
                <a:solidFill>
                  <a:schemeClr val="tx1"/>
                </a:solidFill>
              </a:rPr>
              <a:t>Diagnostic parfois long</a:t>
            </a:r>
            <a:endParaRPr lang="en-US" sz="1700" dirty="0"/>
          </a:p>
        </p:txBody>
      </p:sp>
      <p:sp>
        <p:nvSpPr>
          <p:cNvPr id="10" name="txt-68"/>
          <p:cNvSpPr txBox="1"/>
          <p:nvPr/>
        </p:nvSpPr>
        <p:spPr>
          <a:xfrm>
            <a:off x="822960" y="2971800"/>
            <a:ext cx="3017520" cy="548640"/>
          </a:xfrm>
          <a:prstGeom prst="rect">
            <a:avLst/>
          </a:prstGeom>
          <a:noFill/>
          <a:ln/>
        </p:spPr>
        <p:txBody>
          <a:bodyPr wrap="square" lIns="0" tIns="0" rIns="0" bIns="0" rtlCol="0" anchor="t"/>
          <a:lstStyle/>
          <a:p>
            <a:pPr indent="0" marL="0">
              <a:buNone/>
            </a:pPr>
            <a:r>
              <a:rPr lang="en-US" sz="1400" dirty="0">
                <a:solidFill>
                  <a:schemeClr val="tx2"/>
                </a:solidFill>
              </a:rPr>
              <a:t>Identifier la cause d'une panne peut demander de nombreux essais successifs.</a:t>
            </a:r>
            <a:endParaRPr lang="en-US" sz="1400" dirty="0"/>
          </a:p>
        </p:txBody>
      </p:sp>
      <p:sp>
        <p:nvSpPr>
          <p:cNvPr id="11" name="card-69"/>
          <p:cNvSpPr/>
          <p:nvPr/>
        </p:nvSpPr>
        <p:spPr>
          <a:xfrm>
            <a:off x="4334256" y="1508760"/>
            <a:ext cx="3520440" cy="2103120"/>
          </a:xfrm>
          <a:prstGeom prst="roundRect">
            <a:avLst>
              <a:gd name="adj" fmla="val 5217"/>
            </a:avLst>
          </a:prstGeom>
          <a:solidFill>
            <a:schemeClr val="bg2"/>
          </a:solidFill>
          <a:ln/>
        </p:spPr>
      </p:sp>
      <p:sp>
        <p:nvSpPr>
          <p:cNvPr id="12" name="pastille-70"/>
          <p:cNvSpPr/>
          <p:nvPr/>
        </p:nvSpPr>
        <p:spPr>
          <a:xfrm>
            <a:off x="4608576" y="1783080"/>
            <a:ext cx="685800" cy="685800"/>
          </a:xfrm>
          <a:prstGeom prst="ellipse">
            <a:avLst/>
          </a:prstGeom>
          <a:solidFill>
            <a:schemeClr val="accent4"/>
          </a:solidFill>
          <a:ln/>
        </p:spPr>
      </p:sp>
      <p:pic>
        <p:nvPicPr>
          <p:cNvPr id="13" name="icone-71" descr="preencoded.png">    </p:cNvPr>
          <p:cNvPicPr>
            <a:picLocks noChangeAspect="1"/>
          </p:cNvPicPr>
          <p:nvPr/>
        </p:nvPicPr>
        <p:blipFill>
          <a:blip r:embed="rId3"/>
          <a:stretch>
            <a:fillRect/>
          </a:stretch>
        </p:blipFill>
        <p:spPr>
          <a:xfrm>
            <a:off x="4759452" y="1933956"/>
            <a:ext cx="384048" cy="384048"/>
          </a:xfrm>
          <a:prstGeom prst="rect">
            <a:avLst/>
          </a:prstGeom>
        </p:spPr>
      </p:pic>
      <p:sp>
        <p:nvSpPr>
          <p:cNvPr id="14" name="txt-72"/>
          <p:cNvSpPr txBox="1"/>
          <p:nvPr/>
        </p:nvSpPr>
        <p:spPr>
          <a:xfrm>
            <a:off x="4608576" y="2606040"/>
            <a:ext cx="3017520" cy="365760"/>
          </a:xfrm>
          <a:prstGeom prst="rect">
            <a:avLst/>
          </a:prstGeom>
          <a:noFill/>
          <a:ln/>
        </p:spPr>
        <p:txBody>
          <a:bodyPr wrap="square" lIns="0" tIns="0" rIns="0" bIns="0" rtlCol="0" anchor="t"/>
          <a:lstStyle/>
          <a:p>
            <a:pPr indent="0" marL="0">
              <a:buNone/>
            </a:pPr>
            <a:r>
              <a:rPr lang="en-US" sz="1700" b="1" dirty="0">
                <a:solidFill>
                  <a:schemeClr val="tx1"/>
                </a:solidFill>
              </a:rPr>
              <a:t>Information dispersée</a:t>
            </a:r>
            <a:endParaRPr lang="en-US" sz="1700" dirty="0"/>
          </a:p>
        </p:txBody>
      </p:sp>
      <p:sp>
        <p:nvSpPr>
          <p:cNvPr id="15" name="txt-73"/>
          <p:cNvSpPr txBox="1"/>
          <p:nvPr/>
        </p:nvSpPr>
        <p:spPr>
          <a:xfrm>
            <a:off x="4608576" y="2971800"/>
            <a:ext cx="3017520" cy="548640"/>
          </a:xfrm>
          <a:prstGeom prst="rect">
            <a:avLst/>
          </a:prstGeom>
          <a:noFill/>
          <a:ln/>
        </p:spPr>
        <p:txBody>
          <a:bodyPr wrap="square" lIns="0" tIns="0" rIns="0" bIns="0" rtlCol="0" anchor="t"/>
          <a:lstStyle/>
          <a:p>
            <a:pPr indent="0" marL="0">
              <a:buNone/>
            </a:pPr>
            <a:r>
              <a:rPr lang="en-US" sz="1400" dirty="0">
                <a:solidFill>
                  <a:schemeClr val="tx2"/>
                </a:solidFill>
              </a:rPr>
              <a:t>Procédures et retours terrain sont éparpillés entre plusieurs sources.</a:t>
            </a:r>
            <a:endParaRPr lang="en-US" sz="1400" dirty="0"/>
          </a:p>
        </p:txBody>
      </p:sp>
      <p:sp>
        <p:nvSpPr>
          <p:cNvPr id="16" name="card-74"/>
          <p:cNvSpPr/>
          <p:nvPr/>
        </p:nvSpPr>
        <p:spPr>
          <a:xfrm>
            <a:off x="8119872" y="1508760"/>
            <a:ext cx="3520440" cy="2103120"/>
          </a:xfrm>
          <a:prstGeom prst="roundRect">
            <a:avLst>
              <a:gd name="adj" fmla="val 5217"/>
            </a:avLst>
          </a:prstGeom>
          <a:solidFill>
            <a:schemeClr val="bg2"/>
          </a:solidFill>
          <a:ln/>
        </p:spPr>
      </p:sp>
      <p:sp>
        <p:nvSpPr>
          <p:cNvPr id="17" name="pastille-75"/>
          <p:cNvSpPr/>
          <p:nvPr/>
        </p:nvSpPr>
        <p:spPr>
          <a:xfrm>
            <a:off x="8394192" y="1783080"/>
            <a:ext cx="685800" cy="685800"/>
          </a:xfrm>
          <a:prstGeom prst="ellipse">
            <a:avLst/>
          </a:prstGeom>
          <a:solidFill>
            <a:schemeClr val="accent4"/>
          </a:solidFill>
          <a:ln/>
        </p:spPr>
      </p:sp>
      <p:pic>
        <p:nvPicPr>
          <p:cNvPr id="18" name="icone-76" descr="preencoded.png">    </p:cNvPr>
          <p:cNvPicPr>
            <a:picLocks noChangeAspect="1"/>
          </p:cNvPicPr>
          <p:nvPr/>
        </p:nvPicPr>
        <p:blipFill>
          <a:blip r:embed="rId4"/>
          <a:stretch>
            <a:fillRect/>
          </a:stretch>
        </p:blipFill>
        <p:spPr>
          <a:xfrm>
            <a:off x="8545068" y="1933956"/>
            <a:ext cx="384048" cy="384048"/>
          </a:xfrm>
          <a:prstGeom prst="rect">
            <a:avLst/>
          </a:prstGeom>
        </p:spPr>
      </p:pic>
      <p:sp>
        <p:nvSpPr>
          <p:cNvPr id="19" name="txt-77"/>
          <p:cNvSpPr txBox="1"/>
          <p:nvPr/>
        </p:nvSpPr>
        <p:spPr>
          <a:xfrm>
            <a:off x="8394192" y="2606040"/>
            <a:ext cx="3017520" cy="365760"/>
          </a:xfrm>
          <a:prstGeom prst="rect">
            <a:avLst/>
          </a:prstGeom>
          <a:noFill/>
          <a:ln/>
        </p:spPr>
        <p:txBody>
          <a:bodyPr wrap="square" lIns="0" tIns="0" rIns="0" bIns="0" rtlCol="0" anchor="t"/>
          <a:lstStyle/>
          <a:p>
            <a:pPr indent="0" marL="0">
              <a:buNone/>
            </a:pPr>
            <a:r>
              <a:rPr lang="en-US" sz="1700" b="1" dirty="0">
                <a:solidFill>
                  <a:schemeClr val="tx1"/>
                </a:solidFill>
              </a:rPr>
              <a:t>Dépendance à l'expérience</a:t>
            </a:r>
            <a:endParaRPr lang="en-US" sz="1700" dirty="0"/>
          </a:p>
        </p:txBody>
      </p:sp>
      <p:sp>
        <p:nvSpPr>
          <p:cNvPr id="20" name="txt-78"/>
          <p:cNvSpPr txBox="1"/>
          <p:nvPr/>
        </p:nvSpPr>
        <p:spPr>
          <a:xfrm>
            <a:off x="8394192" y="2971800"/>
            <a:ext cx="3017520" cy="548640"/>
          </a:xfrm>
          <a:prstGeom prst="rect">
            <a:avLst/>
          </a:prstGeom>
          <a:noFill/>
          <a:ln/>
        </p:spPr>
        <p:txBody>
          <a:bodyPr wrap="square" lIns="0" tIns="0" rIns="0" bIns="0" rtlCol="0" anchor="t"/>
          <a:lstStyle/>
          <a:p>
            <a:pPr indent="0" marL="0">
              <a:buNone/>
            </a:pPr>
            <a:r>
              <a:rPr lang="en-US" sz="1400" dirty="0">
                <a:solidFill>
                  <a:schemeClr val="tx2"/>
                </a:solidFill>
              </a:rPr>
              <a:t>La résolution repose souvent sur quelques techniciens expérimentés.</a:t>
            </a:r>
            <a:endParaRPr lang="en-US" sz="1400" dirty="0"/>
          </a:p>
        </p:txBody>
      </p:sp>
      <p:sp>
        <p:nvSpPr>
          <p:cNvPr id="21" name="card-79"/>
          <p:cNvSpPr/>
          <p:nvPr/>
        </p:nvSpPr>
        <p:spPr>
          <a:xfrm>
            <a:off x="548640" y="3886200"/>
            <a:ext cx="3520440" cy="2103120"/>
          </a:xfrm>
          <a:prstGeom prst="roundRect">
            <a:avLst>
              <a:gd name="adj" fmla="val 5217"/>
            </a:avLst>
          </a:prstGeom>
          <a:solidFill>
            <a:schemeClr val="bg2"/>
          </a:solidFill>
          <a:ln/>
        </p:spPr>
      </p:sp>
      <p:sp>
        <p:nvSpPr>
          <p:cNvPr id="22" name="pastille-80"/>
          <p:cNvSpPr/>
          <p:nvPr/>
        </p:nvSpPr>
        <p:spPr>
          <a:xfrm>
            <a:off x="822960" y="4160520"/>
            <a:ext cx="685800" cy="685800"/>
          </a:xfrm>
          <a:prstGeom prst="ellipse">
            <a:avLst/>
          </a:prstGeom>
          <a:solidFill>
            <a:schemeClr val="accent4"/>
          </a:solidFill>
          <a:ln/>
        </p:spPr>
      </p:sp>
      <p:pic>
        <p:nvPicPr>
          <p:cNvPr id="23" name="icone-81" descr="preencoded.png">    </p:cNvPr>
          <p:cNvPicPr>
            <a:picLocks noChangeAspect="1"/>
          </p:cNvPicPr>
          <p:nvPr/>
        </p:nvPicPr>
        <p:blipFill>
          <a:blip r:embed="rId5"/>
          <a:stretch>
            <a:fillRect/>
          </a:stretch>
        </p:blipFill>
        <p:spPr>
          <a:xfrm>
            <a:off x="973836" y="4311396"/>
            <a:ext cx="384048" cy="384048"/>
          </a:xfrm>
          <a:prstGeom prst="rect">
            <a:avLst/>
          </a:prstGeom>
        </p:spPr>
      </p:pic>
      <p:sp>
        <p:nvSpPr>
          <p:cNvPr id="24" name="txt-82"/>
          <p:cNvSpPr txBox="1"/>
          <p:nvPr/>
        </p:nvSpPr>
        <p:spPr>
          <a:xfrm>
            <a:off x="822960" y="4983480"/>
            <a:ext cx="3017520" cy="365760"/>
          </a:xfrm>
          <a:prstGeom prst="rect">
            <a:avLst/>
          </a:prstGeom>
          <a:noFill/>
          <a:ln/>
        </p:spPr>
        <p:txBody>
          <a:bodyPr wrap="square" lIns="0" tIns="0" rIns="0" bIns="0" rtlCol="0" anchor="t"/>
          <a:lstStyle/>
          <a:p>
            <a:pPr indent="0" marL="0">
              <a:buNone/>
            </a:pPr>
            <a:r>
              <a:rPr lang="en-US" sz="1700" b="1" dirty="0">
                <a:solidFill>
                  <a:schemeClr val="tx1"/>
                </a:solidFill>
              </a:rPr>
              <a:t>Cas similaires introuvables</a:t>
            </a:r>
            <a:endParaRPr lang="en-US" sz="1700" dirty="0"/>
          </a:p>
        </p:txBody>
      </p:sp>
      <p:sp>
        <p:nvSpPr>
          <p:cNvPr id="25" name="txt-83"/>
          <p:cNvSpPr txBox="1"/>
          <p:nvPr/>
        </p:nvSpPr>
        <p:spPr>
          <a:xfrm>
            <a:off x="822960" y="5349240"/>
            <a:ext cx="3017520" cy="548640"/>
          </a:xfrm>
          <a:prstGeom prst="rect">
            <a:avLst/>
          </a:prstGeom>
          <a:noFill/>
          <a:ln/>
        </p:spPr>
        <p:txBody>
          <a:bodyPr wrap="square" lIns="0" tIns="0" rIns="0" bIns="0" rtlCol="0" anchor="t"/>
          <a:lstStyle/>
          <a:p>
            <a:pPr indent="0" marL="0">
              <a:buNone/>
            </a:pPr>
            <a:r>
              <a:rPr lang="en-US" sz="1400" dirty="0">
                <a:solidFill>
                  <a:schemeClr val="tx2"/>
                </a:solidFill>
              </a:rPr>
              <a:t>Un cas déjà rencontré est difficile à retrouver s'il a été décrit autrement.</a:t>
            </a:r>
            <a:endParaRPr lang="en-US" sz="1400" dirty="0"/>
          </a:p>
        </p:txBody>
      </p:sp>
      <p:sp>
        <p:nvSpPr>
          <p:cNvPr id="26" name="card-84"/>
          <p:cNvSpPr/>
          <p:nvPr/>
        </p:nvSpPr>
        <p:spPr>
          <a:xfrm>
            <a:off x="4334256" y="3886200"/>
            <a:ext cx="3520440" cy="2103120"/>
          </a:xfrm>
          <a:prstGeom prst="roundRect">
            <a:avLst>
              <a:gd name="adj" fmla="val 5217"/>
            </a:avLst>
          </a:prstGeom>
          <a:solidFill>
            <a:schemeClr val="bg2"/>
          </a:solidFill>
          <a:ln/>
        </p:spPr>
      </p:sp>
      <p:sp>
        <p:nvSpPr>
          <p:cNvPr id="27" name="pastille-85"/>
          <p:cNvSpPr/>
          <p:nvPr/>
        </p:nvSpPr>
        <p:spPr>
          <a:xfrm>
            <a:off x="4608576" y="4160520"/>
            <a:ext cx="685800" cy="685800"/>
          </a:xfrm>
          <a:prstGeom prst="ellipse">
            <a:avLst/>
          </a:prstGeom>
          <a:solidFill>
            <a:schemeClr val="accent4"/>
          </a:solidFill>
          <a:ln/>
        </p:spPr>
      </p:sp>
      <p:pic>
        <p:nvPicPr>
          <p:cNvPr id="28" name="icone-86" descr="preencoded.png">    </p:cNvPr>
          <p:cNvPicPr>
            <a:picLocks noChangeAspect="1"/>
          </p:cNvPicPr>
          <p:nvPr/>
        </p:nvPicPr>
        <p:blipFill>
          <a:blip r:embed="rId6"/>
          <a:stretch>
            <a:fillRect/>
          </a:stretch>
        </p:blipFill>
        <p:spPr>
          <a:xfrm>
            <a:off x="4759452" y="4311396"/>
            <a:ext cx="384048" cy="384048"/>
          </a:xfrm>
          <a:prstGeom prst="rect">
            <a:avLst/>
          </a:prstGeom>
        </p:spPr>
      </p:pic>
      <p:sp>
        <p:nvSpPr>
          <p:cNvPr id="29" name="txt-87"/>
          <p:cNvSpPr txBox="1"/>
          <p:nvPr/>
        </p:nvSpPr>
        <p:spPr>
          <a:xfrm>
            <a:off x="4608576" y="4983480"/>
            <a:ext cx="3017520" cy="365760"/>
          </a:xfrm>
          <a:prstGeom prst="rect">
            <a:avLst/>
          </a:prstGeom>
          <a:noFill/>
          <a:ln/>
        </p:spPr>
        <p:txBody>
          <a:bodyPr wrap="square" lIns="0" tIns="0" rIns="0" bIns="0" rtlCol="0" anchor="t"/>
          <a:lstStyle/>
          <a:p>
            <a:pPr indent="0" marL="0">
              <a:buNone/>
            </a:pPr>
            <a:r>
              <a:rPr lang="en-US" sz="1700" b="1" dirty="0">
                <a:solidFill>
                  <a:schemeClr val="tx1"/>
                </a:solidFill>
              </a:rPr>
              <a:t>Solutions déjà utilisées oubliées</a:t>
            </a:r>
            <a:endParaRPr lang="en-US" sz="1700" dirty="0"/>
          </a:p>
        </p:txBody>
      </p:sp>
      <p:sp>
        <p:nvSpPr>
          <p:cNvPr id="30" name="txt-88"/>
          <p:cNvSpPr txBox="1"/>
          <p:nvPr/>
        </p:nvSpPr>
        <p:spPr>
          <a:xfrm>
            <a:off x="4608576" y="5349240"/>
            <a:ext cx="3017520" cy="548640"/>
          </a:xfrm>
          <a:prstGeom prst="rect">
            <a:avLst/>
          </a:prstGeom>
          <a:noFill/>
          <a:ln/>
        </p:spPr>
        <p:txBody>
          <a:bodyPr wrap="square" lIns="0" tIns="0" rIns="0" bIns="0" rtlCol="0" anchor="t"/>
          <a:lstStyle/>
          <a:p>
            <a:pPr indent="0" marL="0">
              <a:buNone/>
            </a:pPr>
            <a:r>
              <a:rPr lang="en-US" sz="1400" dirty="0">
                <a:solidFill>
                  <a:schemeClr val="tx2"/>
                </a:solidFill>
              </a:rPr>
              <a:t>Ce qui a fonctionné hier n'est pas facilement accessible aujourd'hui.</a:t>
            </a:r>
            <a:endParaRPr lang="en-US" sz="1400" dirty="0"/>
          </a:p>
        </p:txBody>
      </p:sp>
      <p:sp>
        <p:nvSpPr>
          <p:cNvPr id="31" name="card-89"/>
          <p:cNvSpPr/>
          <p:nvPr/>
        </p:nvSpPr>
        <p:spPr>
          <a:xfrm>
            <a:off x="8119872" y="3886200"/>
            <a:ext cx="3520440" cy="2103120"/>
          </a:xfrm>
          <a:prstGeom prst="roundRect">
            <a:avLst>
              <a:gd name="adj" fmla="val 5217"/>
            </a:avLst>
          </a:prstGeom>
          <a:solidFill>
            <a:schemeClr val="bg2"/>
          </a:solidFill>
          <a:ln/>
        </p:spPr>
      </p:sp>
      <p:sp>
        <p:nvSpPr>
          <p:cNvPr id="32" name="pastille-90"/>
          <p:cNvSpPr/>
          <p:nvPr/>
        </p:nvSpPr>
        <p:spPr>
          <a:xfrm>
            <a:off x="8394192" y="4160520"/>
            <a:ext cx="685800" cy="685800"/>
          </a:xfrm>
          <a:prstGeom prst="ellipse">
            <a:avLst/>
          </a:prstGeom>
          <a:solidFill>
            <a:schemeClr val="accent4"/>
          </a:solidFill>
          <a:ln/>
        </p:spPr>
      </p:sp>
      <p:pic>
        <p:nvPicPr>
          <p:cNvPr id="33" name="icone-91" descr="preencoded.png">    </p:cNvPr>
          <p:cNvPicPr>
            <a:picLocks noChangeAspect="1"/>
          </p:cNvPicPr>
          <p:nvPr/>
        </p:nvPicPr>
        <p:blipFill>
          <a:blip r:embed="rId7"/>
          <a:stretch>
            <a:fillRect/>
          </a:stretch>
        </p:blipFill>
        <p:spPr>
          <a:xfrm>
            <a:off x="8545068" y="4311396"/>
            <a:ext cx="384048" cy="384048"/>
          </a:xfrm>
          <a:prstGeom prst="rect">
            <a:avLst/>
          </a:prstGeom>
        </p:spPr>
      </p:pic>
      <p:sp>
        <p:nvSpPr>
          <p:cNvPr id="34" name="txt-92"/>
          <p:cNvSpPr txBox="1"/>
          <p:nvPr/>
        </p:nvSpPr>
        <p:spPr>
          <a:xfrm>
            <a:off x="8394192" y="4983480"/>
            <a:ext cx="3017520" cy="365760"/>
          </a:xfrm>
          <a:prstGeom prst="rect">
            <a:avLst/>
          </a:prstGeom>
          <a:noFill/>
          <a:ln/>
        </p:spPr>
        <p:txBody>
          <a:bodyPr wrap="square" lIns="0" tIns="0" rIns="0" bIns="0" rtlCol="0" anchor="t"/>
          <a:lstStyle/>
          <a:p>
            <a:pPr indent="0" marL="0">
              <a:buNone/>
            </a:pPr>
            <a:r>
              <a:rPr lang="en-US" sz="1700" b="1" dirty="0">
                <a:solidFill>
                  <a:schemeClr val="tx1"/>
                </a:solidFill>
              </a:rPr>
              <a:t>Connaissance non capitalisée</a:t>
            </a:r>
            <a:endParaRPr lang="en-US" sz="1700" dirty="0"/>
          </a:p>
        </p:txBody>
      </p:sp>
      <p:sp>
        <p:nvSpPr>
          <p:cNvPr id="35" name="txt-93"/>
          <p:cNvSpPr txBox="1"/>
          <p:nvPr/>
        </p:nvSpPr>
        <p:spPr>
          <a:xfrm>
            <a:off x="8394192" y="5349240"/>
            <a:ext cx="3017520" cy="548640"/>
          </a:xfrm>
          <a:prstGeom prst="rect">
            <a:avLst/>
          </a:prstGeom>
          <a:noFill/>
          <a:ln/>
        </p:spPr>
        <p:txBody>
          <a:bodyPr wrap="square" lIns="0" tIns="0" rIns="0" bIns="0" rtlCol="0" anchor="t"/>
          <a:lstStyle/>
          <a:p>
            <a:pPr indent="0" marL="0">
              <a:buNone/>
            </a:pPr>
            <a:r>
              <a:rPr lang="en-US" sz="1400" dirty="0">
                <a:solidFill>
                  <a:schemeClr val="tx2"/>
                </a:solidFill>
              </a:rPr>
              <a:t>L'expérience disparaît avec les départs et les rotations d'équipes.</a:t>
            </a:r>
            <a:endParaRPr lang="en-US" sz="14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partie"/>
          <p:cNvSpPr txBox="1"/>
          <p:nvPr/>
        </p:nvSpPr>
        <p:spPr>
          <a:xfrm>
            <a:off x="548640" y="182880"/>
            <a:ext cx="8229600" cy="256032"/>
          </a:xfrm>
          <a:prstGeom prst="rect">
            <a:avLst/>
          </a:prstGeom>
          <a:noFill/>
          <a:ln/>
        </p:spPr>
        <p:txBody>
          <a:bodyPr wrap="square" lIns="0" tIns="0" rIns="0" bIns="0" rtlCol="0" anchor="ctr"/>
          <a:lstStyle/>
          <a:p>
            <a:pPr indent="0" marL="0">
              <a:buNone/>
            </a:pPr>
            <a:r>
              <a:rPr lang="en-US" sz="1100" b="1" spc="150" kern="0" dirty="0">
                <a:solidFill>
                  <a:schemeClr val="accent1"/>
                </a:solidFill>
              </a:rPr>
              <a:t>I. LE BESOIN</a:t>
            </a:r>
            <a:endParaRPr lang="en-US" sz="1100" dirty="0"/>
          </a:p>
        </p:txBody>
      </p:sp>
      <p:sp>
        <p:nvSpPr>
          <p:cNvPr id="3" name="Text 0"/>
          <p:cNvSpPr/>
          <p:nvPr>
            <p:ph idx="100" type="title" hasCustomPrompt="1"/>
          </p:nvPr>
        </p:nvSpPr>
        <p:spPr>
          <a:xfrm>
            <a:off x="548640" y="438912"/>
            <a:ext cx="11091672" cy="54864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b) La solution : capitaliser chaque intervention</a:t>
            </a:r>
            <a:endParaRPr lang="en-US" sz="2800" dirty="0"/>
          </a:p>
        </p:txBody>
      </p:sp>
      <p:pic>
        <p:nvPicPr>
          <p:cNvPr id="4" name="icone-objectif" descr="preencoded.png">    </p:cNvPr>
          <p:cNvPicPr>
            <a:picLocks noChangeAspect="1"/>
          </p:cNvPicPr>
          <p:nvPr/>
        </p:nvPicPr>
        <p:blipFill>
          <a:blip r:embed="rId1"/>
          <a:stretch>
            <a:fillRect/>
          </a:stretch>
        </p:blipFill>
        <p:spPr>
          <a:xfrm>
            <a:off x="548640" y="1033272"/>
            <a:ext cx="237744" cy="237744"/>
          </a:xfrm>
          <a:prstGeom prst="rect">
            <a:avLst/>
          </a:prstGeom>
        </p:spPr>
      </p:pic>
      <p:sp>
        <p:nvSpPr>
          <p:cNvPr id="5" name="objectif"/>
          <p:cNvSpPr txBox="1"/>
          <p:nvPr/>
        </p:nvSpPr>
        <p:spPr>
          <a:xfrm>
            <a:off x="868680" y="987552"/>
            <a:ext cx="10771632" cy="329184"/>
          </a:xfrm>
          <a:prstGeom prst="rect">
            <a:avLst/>
          </a:prstGeom>
          <a:noFill/>
          <a:ln/>
        </p:spPr>
        <p:txBody>
          <a:bodyPr wrap="square" lIns="0" tIns="0" rIns="0" bIns="0" rtlCol="0" anchor="ctr"/>
          <a:lstStyle/>
          <a:p>
            <a:pPr indent="0" marL="0">
              <a:buNone/>
            </a:pPr>
            <a:r>
              <a:rPr lang="en-US" sz="1400" b="1" i="1" dirty="0">
                <a:solidFill>
                  <a:schemeClr val="tx2"/>
                </a:solidFill>
              </a:rPr>
              <a:t>Objectif : </a:t>
            </a:r>
            <a:pPr indent="0" marL="0">
              <a:buNone/>
            </a:pPr>
            <a:r>
              <a:rPr lang="en-US" sz="1400" i="1" dirty="0">
                <a:solidFill>
                  <a:schemeClr val="tx2"/>
                </a:solidFill>
              </a:rPr>
              <a:t>Voir comment ATM-BOT répond à ces difficultés, en un seul cycle.</a:t>
            </a:r>
            <a:endParaRPr lang="en-US" sz="1400" dirty="0"/>
          </a:p>
        </p:txBody>
      </p:sp>
      <p:sp>
        <p:nvSpPr>
          <p:cNvPr id="6" name="txt-94"/>
          <p:cNvSpPr txBox="1"/>
          <p:nvPr/>
        </p:nvSpPr>
        <p:spPr>
          <a:xfrm>
            <a:off x="548640" y="1508760"/>
            <a:ext cx="11064240" cy="640080"/>
          </a:xfrm>
          <a:prstGeom prst="rect">
            <a:avLst/>
          </a:prstGeom>
          <a:noFill/>
          <a:ln/>
        </p:spPr>
        <p:txBody>
          <a:bodyPr wrap="square" lIns="0" tIns="0" rIns="0" bIns="0" rtlCol="0" anchor="t"/>
          <a:lstStyle/>
          <a:p>
            <a:pPr indent="0" marL="0">
              <a:buNone/>
            </a:pPr>
            <a:r>
              <a:rPr lang="en-US" sz="1800" dirty="0">
                <a:solidFill>
                  <a:schemeClr val="tx2"/>
                </a:solidFill>
              </a:rPr>
              <a:t>ATM-BOT centralise les connaissances de maintenance et assiste le technicien dans son diagnostic grâce à une interface conversationnelle.</a:t>
            </a:r>
            <a:endParaRPr lang="en-US" sz="1800" dirty="0"/>
          </a:p>
        </p:txBody>
      </p:sp>
      <p:sp>
        <p:nvSpPr>
          <p:cNvPr id="7" name="pastille-95"/>
          <p:cNvSpPr/>
          <p:nvPr/>
        </p:nvSpPr>
        <p:spPr>
          <a:xfrm>
            <a:off x="914400" y="2514600"/>
            <a:ext cx="1097280" cy="1097280"/>
          </a:xfrm>
          <a:prstGeom prst="ellipse">
            <a:avLst/>
          </a:prstGeom>
          <a:solidFill>
            <a:schemeClr val="accent1"/>
          </a:solidFill>
          <a:ln/>
        </p:spPr>
      </p:sp>
      <p:pic>
        <p:nvPicPr>
          <p:cNvPr id="8" name="icone-96" descr="preencoded.png">    </p:cNvPr>
          <p:cNvPicPr>
            <a:picLocks noChangeAspect="1"/>
          </p:cNvPicPr>
          <p:nvPr/>
        </p:nvPicPr>
        <p:blipFill>
          <a:blip r:embed="rId2"/>
          <a:stretch>
            <a:fillRect/>
          </a:stretch>
        </p:blipFill>
        <p:spPr>
          <a:xfrm>
            <a:off x="1155802" y="2756002"/>
            <a:ext cx="614477" cy="614477"/>
          </a:xfrm>
          <a:prstGeom prst="rect">
            <a:avLst/>
          </a:prstGeom>
        </p:spPr>
      </p:pic>
      <p:sp>
        <p:nvSpPr>
          <p:cNvPr id="9" name="txt-97"/>
          <p:cNvSpPr txBox="1"/>
          <p:nvPr/>
        </p:nvSpPr>
        <p:spPr>
          <a:xfrm>
            <a:off x="594360" y="3749040"/>
            <a:ext cx="1737360" cy="365760"/>
          </a:xfrm>
          <a:prstGeom prst="rect">
            <a:avLst/>
          </a:prstGeom>
          <a:noFill/>
          <a:ln/>
        </p:spPr>
        <p:txBody>
          <a:bodyPr wrap="square" lIns="0" tIns="0" rIns="0" bIns="0" rtlCol="0" anchor="t"/>
          <a:lstStyle/>
          <a:p>
            <a:pPr algn="ctr" indent="0" marL="0">
              <a:buNone/>
            </a:pPr>
            <a:r>
              <a:rPr lang="en-US" sz="1700" b="1" dirty="0">
                <a:solidFill>
                  <a:schemeClr val="tx1"/>
                </a:solidFill>
              </a:rPr>
              <a:t>Symptôme</a:t>
            </a:r>
            <a:endParaRPr lang="en-US" sz="1700" dirty="0"/>
          </a:p>
        </p:txBody>
      </p:sp>
      <p:sp>
        <p:nvSpPr>
          <p:cNvPr id="10" name="txt-98"/>
          <p:cNvSpPr txBox="1"/>
          <p:nvPr/>
        </p:nvSpPr>
        <p:spPr>
          <a:xfrm>
            <a:off x="594360" y="4114800"/>
            <a:ext cx="1737360" cy="457200"/>
          </a:xfrm>
          <a:prstGeom prst="rect">
            <a:avLst/>
          </a:prstGeom>
          <a:noFill/>
          <a:ln/>
        </p:spPr>
        <p:txBody>
          <a:bodyPr wrap="square" lIns="0" tIns="0" rIns="0" bIns="0" rtlCol="0" anchor="t"/>
          <a:lstStyle/>
          <a:p>
            <a:pPr algn="ctr" indent="0" marL="0">
              <a:buNone/>
            </a:pPr>
            <a:r>
              <a:rPr lang="en-US" sz="1400" dirty="0">
                <a:solidFill>
                  <a:schemeClr val="tx2"/>
                </a:solidFill>
              </a:rPr>
              <a:t>décrit par le technicien</a:t>
            </a:r>
            <a:endParaRPr lang="en-US" sz="1400" dirty="0"/>
          </a:p>
        </p:txBody>
      </p:sp>
      <p:sp>
        <p:nvSpPr>
          <p:cNvPr id="11" name="fleche-99"/>
          <p:cNvSpPr/>
          <p:nvPr/>
        </p:nvSpPr>
        <p:spPr>
          <a:xfrm>
            <a:off x="2084832" y="3063240"/>
            <a:ext cx="612648" cy="914"/>
          </a:xfrm>
          <a:prstGeom prst="line">
            <a:avLst/>
          </a:prstGeom>
          <a:noFill/>
          <a:ln w="22225">
            <a:solidFill>
              <a:schemeClr val="accent5"/>
            </a:solidFill>
            <a:prstDash val="solid"/>
            <a:tailEnd type="triangle"/>
          </a:ln>
        </p:spPr>
      </p:sp>
      <p:sp>
        <p:nvSpPr>
          <p:cNvPr id="12" name="pastille-100"/>
          <p:cNvSpPr/>
          <p:nvPr/>
        </p:nvSpPr>
        <p:spPr>
          <a:xfrm>
            <a:off x="2770632" y="2514600"/>
            <a:ext cx="1097280" cy="1097280"/>
          </a:xfrm>
          <a:prstGeom prst="ellipse">
            <a:avLst/>
          </a:prstGeom>
          <a:solidFill>
            <a:schemeClr val="accent1"/>
          </a:solidFill>
          <a:ln/>
        </p:spPr>
      </p:sp>
      <p:pic>
        <p:nvPicPr>
          <p:cNvPr id="13" name="icone-101" descr="preencoded.png">    </p:cNvPr>
          <p:cNvPicPr>
            <a:picLocks noChangeAspect="1"/>
          </p:cNvPicPr>
          <p:nvPr/>
        </p:nvPicPr>
        <p:blipFill>
          <a:blip r:embed="rId3"/>
          <a:stretch>
            <a:fillRect/>
          </a:stretch>
        </p:blipFill>
        <p:spPr>
          <a:xfrm>
            <a:off x="3012034" y="2756002"/>
            <a:ext cx="614477" cy="614477"/>
          </a:xfrm>
          <a:prstGeom prst="rect">
            <a:avLst/>
          </a:prstGeom>
        </p:spPr>
      </p:pic>
      <p:sp>
        <p:nvSpPr>
          <p:cNvPr id="14" name="txt-102"/>
          <p:cNvSpPr txBox="1"/>
          <p:nvPr/>
        </p:nvSpPr>
        <p:spPr>
          <a:xfrm>
            <a:off x="2450592" y="3749040"/>
            <a:ext cx="1737360" cy="365760"/>
          </a:xfrm>
          <a:prstGeom prst="rect">
            <a:avLst/>
          </a:prstGeom>
          <a:noFill/>
          <a:ln/>
        </p:spPr>
        <p:txBody>
          <a:bodyPr wrap="square" lIns="0" tIns="0" rIns="0" bIns="0" rtlCol="0" anchor="t"/>
          <a:lstStyle/>
          <a:p>
            <a:pPr algn="ctr" indent="0" marL="0">
              <a:buNone/>
            </a:pPr>
            <a:r>
              <a:rPr lang="en-US" sz="1700" b="1" dirty="0">
                <a:solidFill>
                  <a:schemeClr val="tx1"/>
                </a:solidFill>
              </a:rPr>
              <a:t>Recherche</a:t>
            </a:r>
            <a:endParaRPr lang="en-US" sz="1700" dirty="0"/>
          </a:p>
        </p:txBody>
      </p:sp>
      <p:sp>
        <p:nvSpPr>
          <p:cNvPr id="15" name="txt-103"/>
          <p:cNvSpPr txBox="1"/>
          <p:nvPr/>
        </p:nvSpPr>
        <p:spPr>
          <a:xfrm>
            <a:off x="2450592" y="4114800"/>
            <a:ext cx="1737360" cy="457200"/>
          </a:xfrm>
          <a:prstGeom prst="rect">
            <a:avLst/>
          </a:prstGeom>
          <a:noFill/>
          <a:ln/>
        </p:spPr>
        <p:txBody>
          <a:bodyPr wrap="square" lIns="0" tIns="0" rIns="0" bIns="0" rtlCol="0" anchor="t"/>
          <a:lstStyle/>
          <a:p>
            <a:pPr algn="ctr" indent="0" marL="0">
              <a:buNone/>
            </a:pPr>
            <a:r>
              <a:rPr lang="en-US" sz="1400" dirty="0">
                <a:solidFill>
                  <a:schemeClr val="tx2"/>
                </a:solidFill>
              </a:rPr>
              <a:t>des cas similaires</a:t>
            </a:r>
            <a:endParaRPr lang="en-US" sz="1400" dirty="0"/>
          </a:p>
        </p:txBody>
      </p:sp>
      <p:sp>
        <p:nvSpPr>
          <p:cNvPr id="16" name="fleche-104"/>
          <p:cNvSpPr/>
          <p:nvPr/>
        </p:nvSpPr>
        <p:spPr>
          <a:xfrm>
            <a:off x="3941064" y="3063240"/>
            <a:ext cx="612648" cy="914"/>
          </a:xfrm>
          <a:prstGeom prst="line">
            <a:avLst/>
          </a:prstGeom>
          <a:noFill/>
          <a:ln w="22225">
            <a:solidFill>
              <a:schemeClr val="accent5"/>
            </a:solidFill>
            <a:prstDash val="solid"/>
            <a:tailEnd type="triangle"/>
          </a:ln>
        </p:spPr>
      </p:sp>
      <p:sp>
        <p:nvSpPr>
          <p:cNvPr id="17" name="pastille-105"/>
          <p:cNvSpPr/>
          <p:nvPr/>
        </p:nvSpPr>
        <p:spPr>
          <a:xfrm>
            <a:off x="4626864" y="2514600"/>
            <a:ext cx="1097280" cy="1097280"/>
          </a:xfrm>
          <a:prstGeom prst="ellipse">
            <a:avLst/>
          </a:prstGeom>
          <a:solidFill>
            <a:schemeClr val="accent1"/>
          </a:solidFill>
          <a:ln/>
        </p:spPr>
      </p:sp>
      <p:pic>
        <p:nvPicPr>
          <p:cNvPr id="18" name="icone-106" descr="preencoded.png">    </p:cNvPr>
          <p:cNvPicPr>
            <a:picLocks noChangeAspect="1"/>
          </p:cNvPicPr>
          <p:nvPr/>
        </p:nvPicPr>
        <p:blipFill>
          <a:blip r:embed="rId4"/>
          <a:stretch>
            <a:fillRect/>
          </a:stretch>
        </p:blipFill>
        <p:spPr>
          <a:xfrm>
            <a:off x="4868266" y="2756002"/>
            <a:ext cx="614477" cy="614477"/>
          </a:xfrm>
          <a:prstGeom prst="rect">
            <a:avLst/>
          </a:prstGeom>
        </p:spPr>
      </p:pic>
      <p:sp>
        <p:nvSpPr>
          <p:cNvPr id="19" name="txt-107"/>
          <p:cNvSpPr txBox="1"/>
          <p:nvPr/>
        </p:nvSpPr>
        <p:spPr>
          <a:xfrm>
            <a:off x="4306824" y="3749040"/>
            <a:ext cx="1737360" cy="365760"/>
          </a:xfrm>
          <a:prstGeom prst="rect">
            <a:avLst/>
          </a:prstGeom>
          <a:noFill/>
          <a:ln/>
        </p:spPr>
        <p:txBody>
          <a:bodyPr wrap="square" lIns="0" tIns="0" rIns="0" bIns="0" rtlCol="0" anchor="t"/>
          <a:lstStyle/>
          <a:p>
            <a:pPr algn="ctr" indent="0" marL="0">
              <a:buNone/>
            </a:pPr>
            <a:r>
              <a:rPr lang="en-US" sz="1700" b="1" dirty="0">
                <a:solidFill>
                  <a:schemeClr val="tx1"/>
                </a:solidFill>
              </a:rPr>
              <a:t>Solutions</a:t>
            </a:r>
            <a:endParaRPr lang="en-US" sz="1700" dirty="0"/>
          </a:p>
        </p:txBody>
      </p:sp>
      <p:sp>
        <p:nvSpPr>
          <p:cNvPr id="20" name="txt-108"/>
          <p:cNvSpPr txBox="1"/>
          <p:nvPr/>
        </p:nvSpPr>
        <p:spPr>
          <a:xfrm>
            <a:off x="4306824" y="4114800"/>
            <a:ext cx="1737360" cy="457200"/>
          </a:xfrm>
          <a:prstGeom prst="rect">
            <a:avLst/>
          </a:prstGeom>
          <a:noFill/>
          <a:ln/>
        </p:spPr>
        <p:txBody>
          <a:bodyPr wrap="square" lIns="0" tIns="0" rIns="0" bIns="0" rtlCol="0" anchor="t"/>
          <a:lstStyle/>
          <a:p>
            <a:pPr algn="ctr" indent="0" marL="0">
              <a:buNone/>
            </a:pPr>
            <a:r>
              <a:rPr lang="en-US" sz="1400" dirty="0">
                <a:solidFill>
                  <a:schemeClr val="tx2"/>
                </a:solidFill>
              </a:rPr>
              <a:t>proposées et classées</a:t>
            </a:r>
            <a:endParaRPr lang="en-US" sz="1400" dirty="0"/>
          </a:p>
        </p:txBody>
      </p:sp>
      <p:sp>
        <p:nvSpPr>
          <p:cNvPr id="21" name="fleche-109"/>
          <p:cNvSpPr/>
          <p:nvPr/>
        </p:nvSpPr>
        <p:spPr>
          <a:xfrm>
            <a:off x="5797296" y="3063240"/>
            <a:ext cx="612648" cy="914"/>
          </a:xfrm>
          <a:prstGeom prst="line">
            <a:avLst/>
          </a:prstGeom>
          <a:noFill/>
          <a:ln w="22225">
            <a:solidFill>
              <a:schemeClr val="accent5"/>
            </a:solidFill>
            <a:prstDash val="solid"/>
            <a:tailEnd type="triangle"/>
          </a:ln>
        </p:spPr>
      </p:sp>
      <p:sp>
        <p:nvSpPr>
          <p:cNvPr id="22" name="pastille-110"/>
          <p:cNvSpPr/>
          <p:nvPr/>
        </p:nvSpPr>
        <p:spPr>
          <a:xfrm>
            <a:off x="6483096" y="2514600"/>
            <a:ext cx="1097280" cy="1097280"/>
          </a:xfrm>
          <a:prstGeom prst="ellipse">
            <a:avLst/>
          </a:prstGeom>
          <a:solidFill>
            <a:schemeClr val="accent1"/>
          </a:solidFill>
          <a:ln/>
        </p:spPr>
      </p:sp>
      <p:pic>
        <p:nvPicPr>
          <p:cNvPr id="23" name="icone-111" descr="preencoded.png">    </p:cNvPr>
          <p:cNvPicPr>
            <a:picLocks noChangeAspect="1"/>
          </p:cNvPicPr>
          <p:nvPr/>
        </p:nvPicPr>
        <p:blipFill>
          <a:blip r:embed="rId5"/>
          <a:stretch>
            <a:fillRect/>
          </a:stretch>
        </p:blipFill>
        <p:spPr>
          <a:xfrm>
            <a:off x="6724498" y="2756002"/>
            <a:ext cx="614477" cy="614477"/>
          </a:xfrm>
          <a:prstGeom prst="rect">
            <a:avLst/>
          </a:prstGeom>
        </p:spPr>
      </p:pic>
      <p:sp>
        <p:nvSpPr>
          <p:cNvPr id="24" name="txt-112"/>
          <p:cNvSpPr txBox="1"/>
          <p:nvPr/>
        </p:nvSpPr>
        <p:spPr>
          <a:xfrm>
            <a:off x="6163056" y="3749040"/>
            <a:ext cx="1737360" cy="365760"/>
          </a:xfrm>
          <a:prstGeom prst="rect">
            <a:avLst/>
          </a:prstGeom>
          <a:noFill/>
          <a:ln/>
        </p:spPr>
        <p:txBody>
          <a:bodyPr wrap="square" lIns="0" tIns="0" rIns="0" bIns="0" rtlCol="0" anchor="t"/>
          <a:lstStyle/>
          <a:p>
            <a:pPr algn="ctr" indent="0" marL="0">
              <a:buNone/>
            </a:pPr>
            <a:r>
              <a:rPr lang="en-US" sz="1700" b="1" dirty="0">
                <a:solidFill>
                  <a:schemeClr val="tx1"/>
                </a:solidFill>
              </a:rPr>
              <a:t>Test</a:t>
            </a:r>
            <a:endParaRPr lang="en-US" sz="1700" dirty="0"/>
          </a:p>
        </p:txBody>
      </p:sp>
      <p:sp>
        <p:nvSpPr>
          <p:cNvPr id="25" name="txt-113"/>
          <p:cNvSpPr txBox="1"/>
          <p:nvPr/>
        </p:nvSpPr>
        <p:spPr>
          <a:xfrm>
            <a:off x="6163056" y="4114800"/>
            <a:ext cx="1737360" cy="457200"/>
          </a:xfrm>
          <a:prstGeom prst="rect">
            <a:avLst/>
          </a:prstGeom>
          <a:noFill/>
          <a:ln/>
        </p:spPr>
        <p:txBody>
          <a:bodyPr wrap="square" lIns="0" tIns="0" rIns="0" bIns="0" rtlCol="0" anchor="t"/>
          <a:lstStyle/>
          <a:p>
            <a:pPr algn="ctr" indent="0" marL="0">
              <a:buNone/>
            </a:pPr>
            <a:r>
              <a:rPr lang="en-US" sz="1400" dirty="0">
                <a:solidFill>
                  <a:schemeClr val="tx2"/>
                </a:solidFill>
              </a:rPr>
              <a:t>sur l'équipement</a:t>
            </a:r>
            <a:endParaRPr lang="en-US" sz="1400" dirty="0"/>
          </a:p>
        </p:txBody>
      </p:sp>
      <p:sp>
        <p:nvSpPr>
          <p:cNvPr id="26" name="fleche-114"/>
          <p:cNvSpPr/>
          <p:nvPr/>
        </p:nvSpPr>
        <p:spPr>
          <a:xfrm>
            <a:off x="7653528" y="3063240"/>
            <a:ext cx="612648" cy="914"/>
          </a:xfrm>
          <a:prstGeom prst="line">
            <a:avLst/>
          </a:prstGeom>
          <a:noFill/>
          <a:ln w="22225">
            <a:solidFill>
              <a:schemeClr val="accent5"/>
            </a:solidFill>
            <a:prstDash val="solid"/>
            <a:tailEnd type="triangle"/>
          </a:ln>
        </p:spPr>
      </p:sp>
      <p:sp>
        <p:nvSpPr>
          <p:cNvPr id="27" name="pastille-115"/>
          <p:cNvSpPr/>
          <p:nvPr/>
        </p:nvSpPr>
        <p:spPr>
          <a:xfrm>
            <a:off x="8339328" y="2514600"/>
            <a:ext cx="1097280" cy="1097280"/>
          </a:xfrm>
          <a:prstGeom prst="ellipse">
            <a:avLst/>
          </a:prstGeom>
          <a:solidFill>
            <a:schemeClr val="accent1"/>
          </a:solidFill>
          <a:ln/>
        </p:spPr>
      </p:sp>
      <p:pic>
        <p:nvPicPr>
          <p:cNvPr id="28" name="icone-116" descr="preencoded.png">    </p:cNvPr>
          <p:cNvPicPr>
            <a:picLocks noChangeAspect="1"/>
          </p:cNvPicPr>
          <p:nvPr/>
        </p:nvPicPr>
        <p:blipFill>
          <a:blip r:embed="rId6"/>
          <a:stretch>
            <a:fillRect/>
          </a:stretch>
        </p:blipFill>
        <p:spPr>
          <a:xfrm>
            <a:off x="8580730" y="2756002"/>
            <a:ext cx="614477" cy="614477"/>
          </a:xfrm>
          <a:prstGeom prst="rect">
            <a:avLst/>
          </a:prstGeom>
        </p:spPr>
      </p:pic>
      <p:sp>
        <p:nvSpPr>
          <p:cNvPr id="29" name="txt-117"/>
          <p:cNvSpPr txBox="1"/>
          <p:nvPr/>
        </p:nvSpPr>
        <p:spPr>
          <a:xfrm>
            <a:off x="8019288" y="3749040"/>
            <a:ext cx="1737360" cy="365760"/>
          </a:xfrm>
          <a:prstGeom prst="rect">
            <a:avLst/>
          </a:prstGeom>
          <a:noFill/>
          <a:ln/>
        </p:spPr>
        <p:txBody>
          <a:bodyPr wrap="square" lIns="0" tIns="0" rIns="0" bIns="0" rtlCol="0" anchor="t"/>
          <a:lstStyle/>
          <a:p>
            <a:pPr algn="ctr" indent="0" marL="0">
              <a:buNone/>
            </a:pPr>
            <a:r>
              <a:rPr lang="en-US" sz="1700" b="1" dirty="0">
                <a:solidFill>
                  <a:schemeClr val="tx1"/>
                </a:solidFill>
              </a:rPr>
              <a:t>Validation</a:t>
            </a:r>
            <a:endParaRPr lang="en-US" sz="1700" dirty="0"/>
          </a:p>
        </p:txBody>
      </p:sp>
      <p:sp>
        <p:nvSpPr>
          <p:cNvPr id="30" name="txt-118"/>
          <p:cNvSpPr txBox="1"/>
          <p:nvPr/>
        </p:nvSpPr>
        <p:spPr>
          <a:xfrm>
            <a:off x="8019288" y="4114800"/>
            <a:ext cx="1737360" cy="457200"/>
          </a:xfrm>
          <a:prstGeom prst="rect">
            <a:avLst/>
          </a:prstGeom>
          <a:noFill/>
          <a:ln/>
        </p:spPr>
        <p:txBody>
          <a:bodyPr wrap="square" lIns="0" tIns="0" rIns="0" bIns="0" rtlCol="0" anchor="t"/>
          <a:lstStyle/>
          <a:p>
            <a:pPr algn="ctr" indent="0" marL="0">
              <a:buNone/>
            </a:pPr>
            <a:r>
              <a:rPr lang="en-US" sz="1400" dirty="0">
                <a:solidFill>
                  <a:schemeClr val="tx2"/>
                </a:solidFill>
              </a:rPr>
              <a:t>résultat indiqué</a:t>
            </a:r>
            <a:endParaRPr lang="en-US" sz="1400" dirty="0"/>
          </a:p>
        </p:txBody>
      </p:sp>
      <p:sp>
        <p:nvSpPr>
          <p:cNvPr id="31" name="fleche-119"/>
          <p:cNvSpPr/>
          <p:nvPr/>
        </p:nvSpPr>
        <p:spPr>
          <a:xfrm>
            <a:off x="9509760" y="3063240"/>
            <a:ext cx="612648" cy="914"/>
          </a:xfrm>
          <a:prstGeom prst="line">
            <a:avLst/>
          </a:prstGeom>
          <a:noFill/>
          <a:ln w="22225">
            <a:solidFill>
              <a:schemeClr val="accent5"/>
            </a:solidFill>
            <a:prstDash val="solid"/>
            <a:tailEnd type="triangle"/>
          </a:ln>
        </p:spPr>
      </p:sp>
      <p:sp>
        <p:nvSpPr>
          <p:cNvPr id="32" name="pastille-120"/>
          <p:cNvSpPr/>
          <p:nvPr/>
        </p:nvSpPr>
        <p:spPr>
          <a:xfrm>
            <a:off x="10195560" y="2514600"/>
            <a:ext cx="1097280" cy="1097280"/>
          </a:xfrm>
          <a:prstGeom prst="ellipse">
            <a:avLst/>
          </a:prstGeom>
          <a:solidFill>
            <a:schemeClr val="accent2"/>
          </a:solidFill>
          <a:ln/>
        </p:spPr>
      </p:sp>
      <p:pic>
        <p:nvPicPr>
          <p:cNvPr id="33" name="icone-121" descr="preencoded.png">    </p:cNvPr>
          <p:cNvPicPr>
            <a:picLocks noChangeAspect="1"/>
          </p:cNvPicPr>
          <p:nvPr/>
        </p:nvPicPr>
        <p:blipFill>
          <a:blip r:embed="rId7"/>
          <a:stretch>
            <a:fillRect/>
          </a:stretch>
        </p:blipFill>
        <p:spPr>
          <a:xfrm>
            <a:off x="10436962" y="2756002"/>
            <a:ext cx="614477" cy="614477"/>
          </a:xfrm>
          <a:prstGeom prst="rect">
            <a:avLst/>
          </a:prstGeom>
        </p:spPr>
      </p:pic>
      <p:sp>
        <p:nvSpPr>
          <p:cNvPr id="34" name="txt-122"/>
          <p:cNvSpPr txBox="1"/>
          <p:nvPr/>
        </p:nvSpPr>
        <p:spPr>
          <a:xfrm>
            <a:off x="9875520" y="3749040"/>
            <a:ext cx="1737360" cy="365760"/>
          </a:xfrm>
          <a:prstGeom prst="rect">
            <a:avLst/>
          </a:prstGeom>
          <a:noFill/>
          <a:ln/>
        </p:spPr>
        <p:txBody>
          <a:bodyPr wrap="square" lIns="0" tIns="0" rIns="0" bIns="0" rtlCol="0" anchor="t"/>
          <a:lstStyle/>
          <a:p>
            <a:pPr algn="ctr" indent="0" marL="0">
              <a:buNone/>
            </a:pPr>
            <a:r>
              <a:rPr lang="en-US" sz="1700" b="1" dirty="0">
                <a:solidFill>
                  <a:schemeClr val="tx1"/>
                </a:solidFill>
              </a:rPr>
              <a:t>Capitalisation</a:t>
            </a:r>
            <a:endParaRPr lang="en-US" sz="1700" dirty="0"/>
          </a:p>
        </p:txBody>
      </p:sp>
      <p:sp>
        <p:nvSpPr>
          <p:cNvPr id="35" name="txt-123"/>
          <p:cNvSpPr txBox="1"/>
          <p:nvPr/>
        </p:nvSpPr>
        <p:spPr>
          <a:xfrm>
            <a:off x="9875520" y="4114800"/>
            <a:ext cx="1737360" cy="457200"/>
          </a:xfrm>
          <a:prstGeom prst="rect">
            <a:avLst/>
          </a:prstGeom>
          <a:noFill/>
          <a:ln/>
        </p:spPr>
        <p:txBody>
          <a:bodyPr wrap="square" lIns="0" tIns="0" rIns="0" bIns="0" rtlCol="0" anchor="t"/>
          <a:lstStyle/>
          <a:p>
            <a:pPr algn="ctr" indent="0" marL="0">
              <a:buNone/>
            </a:pPr>
            <a:r>
              <a:rPr lang="en-US" sz="1400" dirty="0">
                <a:solidFill>
                  <a:schemeClr val="tx2"/>
                </a:solidFill>
              </a:rPr>
              <a:t>base enrichie</a:t>
            </a:r>
            <a:endParaRPr lang="en-US" sz="1400" dirty="0"/>
          </a:p>
        </p:txBody>
      </p:sp>
      <p:sp>
        <p:nvSpPr>
          <p:cNvPr id="36" name="card-124"/>
          <p:cNvSpPr/>
          <p:nvPr/>
        </p:nvSpPr>
        <p:spPr>
          <a:xfrm>
            <a:off x="548640" y="4983480"/>
            <a:ext cx="11091672" cy="1051560"/>
          </a:xfrm>
          <a:prstGeom prst="roundRect">
            <a:avLst>
              <a:gd name="adj" fmla="val 10435"/>
            </a:avLst>
          </a:prstGeom>
          <a:solidFill>
            <a:schemeClr val="accent1">
              <a:alpha val="12000"/>
            </a:schemeClr>
          </a:solidFill>
          <a:ln/>
        </p:spPr>
      </p:sp>
      <p:sp>
        <p:nvSpPr>
          <p:cNvPr id="37" name="pastille-125"/>
          <p:cNvSpPr/>
          <p:nvPr/>
        </p:nvSpPr>
        <p:spPr>
          <a:xfrm>
            <a:off x="822960" y="5184648"/>
            <a:ext cx="640080" cy="640080"/>
          </a:xfrm>
          <a:prstGeom prst="ellipse">
            <a:avLst/>
          </a:prstGeom>
          <a:solidFill>
            <a:schemeClr val="accent1"/>
          </a:solidFill>
          <a:ln/>
        </p:spPr>
      </p:sp>
      <p:pic>
        <p:nvPicPr>
          <p:cNvPr id="38" name="icone-126" descr="preencoded.png">    </p:cNvPr>
          <p:cNvPicPr>
            <a:picLocks noChangeAspect="1"/>
          </p:cNvPicPr>
          <p:nvPr/>
        </p:nvPicPr>
        <p:blipFill>
          <a:blip r:embed="rId8"/>
          <a:stretch>
            <a:fillRect/>
          </a:stretch>
        </p:blipFill>
        <p:spPr>
          <a:xfrm>
            <a:off x="963778" y="5325466"/>
            <a:ext cx="358445" cy="358445"/>
          </a:xfrm>
          <a:prstGeom prst="rect">
            <a:avLst/>
          </a:prstGeom>
        </p:spPr>
      </p:pic>
      <p:sp>
        <p:nvSpPr>
          <p:cNvPr id="39" name="txt-127"/>
          <p:cNvSpPr txBox="1"/>
          <p:nvPr/>
        </p:nvSpPr>
        <p:spPr>
          <a:xfrm>
            <a:off x="1691640" y="5120640"/>
            <a:ext cx="9692640" cy="777240"/>
          </a:xfrm>
          <a:prstGeom prst="rect">
            <a:avLst/>
          </a:prstGeom>
          <a:noFill/>
          <a:ln/>
        </p:spPr>
        <p:txBody>
          <a:bodyPr wrap="square" lIns="0" tIns="0" rIns="0" bIns="0" rtlCol="0" anchor="ctr"/>
          <a:lstStyle/>
          <a:p>
            <a:pPr indent="0" marL="0">
              <a:buNone/>
            </a:pPr>
            <a:r>
              <a:rPr lang="en-US" sz="1600" b="1" dirty="0">
                <a:solidFill>
                  <a:schemeClr val="tx1"/>
                </a:solidFill>
              </a:rPr>
              <a:t>Le chatbot n'est que l'interface. </a:t>
            </a:r>
            <a:pPr indent="0" marL="0">
              <a:buNone/>
            </a:pPr>
            <a:r>
              <a:rPr lang="en-US" sz="1600" dirty="0">
                <a:solidFill>
                  <a:schemeClr val="tx1"/>
                </a:solidFill>
              </a:rPr>
              <a:t>Le cœur d'ATM-BOT est ce cycle : chaque validation enrichit la base et améliore la recherche suivante.</a:t>
            </a:r>
            <a:endParaRPr lang="en-US" sz="16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partie"/>
          <p:cNvSpPr txBox="1"/>
          <p:nvPr/>
        </p:nvSpPr>
        <p:spPr>
          <a:xfrm>
            <a:off x="548640" y="182880"/>
            <a:ext cx="8229600" cy="256032"/>
          </a:xfrm>
          <a:prstGeom prst="rect">
            <a:avLst/>
          </a:prstGeom>
          <a:noFill/>
          <a:ln/>
        </p:spPr>
        <p:txBody>
          <a:bodyPr wrap="square" lIns="0" tIns="0" rIns="0" bIns="0" rtlCol="0" anchor="ctr"/>
          <a:lstStyle/>
          <a:p>
            <a:pPr indent="0" marL="0">
              <a:buNone/>
            </a:pPr>
            <a:r>
              <a:rPr lang="en-US" sz="1100" b="1" spc="150" kern="0" dirty="0">
                <a:solidFill>
                  <a:schemeClr val="accent1"/>
                </a:solidFill>
              </a:rPr>
              <a:t>I. LE BESOIN</a:t>
            </a:r>
            <a:endParaRPr lang="en-US" sz="1100" dirty="0"/>
          </a:p>
        </p:txBody>
      </p:sp>
      <p:sp>
        <p:nvSpPr>
          <p:cNvPr id="3" name="Text 0"/>
          <p:cNvSpPr/>
          <p:nvPr>
            <p:ph idx="100" type="title" hasCustomPrompt="1"/>
          </p:nvPr>
        </p:nvSpPr>
        <p:spPr>
          <a:xfrm>
            <a:off x="548640" y="438912"/>
            <a:ext cx="11091672" cy="54864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c) La valeur pour l'entreprise</a:t>
            </a:r>
            <a:endParaRPr lang="en-US" sz="2800" dirty="0"/>
          </a:p>
        </p:txBody>
      </p:sp>
      <p:pic>
        <p:nvPicPr>
          <p:cNvPr id="4" name="icone-objectif" descr="preencoded.png">    </p:cNvPr>
          <p:cNvPicPr>
            <a:picLocks noChangeAspect="1"/>
          </p:cNvPicPr>
          <p:nvPr/>
        </p:nvPicPr>
        <p:blipFill>
          <a:blip r:embed="rId1"/>
          <a:stretch>
            <a:fillRect/>
          </a:stretch>
        </p:blipFill>
        <p:spPr>
          <a:xfrm>
            <a:off x="548640" y="1033272"/>
            <a:ext cx="237744" cy="237744"/>
          </a:xfrm>
          <a:prstGeom prst="rect">
            <a:avLst/>
          </a:prstGeom>
        </p:spPr>
      </p:pic>
      <p:sp>
        <p:nvSpPr>
          <p:cNvPr id="5" name="objectif"/>
          <p:cNvSpPr txBox="1"/>
          <p:nvPr/>
        </p:nvSpPr>
        <p:spPr>
          <a:xfrm>
            <a:off x="868680" y="987552"/>
            <a:ext cx="10771632" cy="329184"/>
          </a:xfrm>
          <a:prstGeom prst="rect">
            <a:avLst/>
          </a:prstGeom>
          <a:noFill/>
          <a:ln/>
        </p:spPr>
        <p:txBody>
          <a:bodyPr wrap="square" lIns="0" tIns="0" rIns="0" bIns="0" rtlCol="0" anchor="ctr"/>
          <a:lstStyle/>
          <a:p>
            <a:pPr indent="0" marL="0">
              <a:buNone/>
            </a:pPr>
            <a:r>
              <a:rPr lang="en-US" sz="1400" b="1" i="1" dirty="0">
                <a:solidFill>
                  <a:schemeClr val="tx2"/>
                </a:solidFill>
              </a:rPr>
              <a:t>Objectif : </a:t>
            </a:r>
            <a:pPr indent="0" marL="0">
              <a:buNone/>
            </a:pPr>
            <a:r>
              <a:rPr lang="en-US" sz="1400" i="1" dirty="0">
                <a:solidFill>
                  <a:schemeClr val="tx2"/>
                </a:solidFill>
              </a:rPr>
              <a:t>Identifier ce que l'entreprise gagne avec ATM-BOT.</a:t>
            </a:r>
            <a:endParaRPr lang="en-US" sz="1400" dirty="0"/>
          </a:p>
        </p:txBody>
      </p:sp>
      <p:sp>
        <p:nvSpPr>
          <p:cNvPr id="6" name="card-128"/>
          <p:cNvSpPr/>
          <p:nvPr/>
        </p:nvSpPr>
        <p:spPr>
          <a:xfrm>
            <a:off x="548640" y="1463040"/>
            <a:ext cx="3566160" cy="4572000"/>
          </a:xfrm>
          <a:prstGeom prst="roundRect">
            <a:avLst>
              <a:gd name="adj" fmla="val 3077"/>
            </a:avLst>
          </a:prstGeom>
          <a:solidFill>
            <a:schemeClr val="tx2"/>
          </a:solidFill>
          <a:ln/>
        </p:spPr>
      </p:sp>
      <p:sp>
        <p:nvSpPr>
          <p:cNvPr id="7" name="pastille-129"/>
          <p:cNvSpPr/>
          <p:nvPr/>
        </p:nvSpPr>
        <p:spPr>
          <a:xfrm>
            <a:off x="868680" y="1783080"/>
            <a:ext cx="777240" cy="777240"/>
          </a:xfrm>
          <a:prstGeom prst="ellipse">
            <a:avLst/>
          </a:prstGeom>
          <a:solidFill>
            <a:schemeClr val="accent2"/>
          </a:solidFill>
          <a:ln/>
        </p:spPr>
      </p:sp>
      <p:pic>
        <p:nvPicPr>
          <p:cNvPr id="8" name="icone-130" descr="preencoded.png">    </p:cNvPr>
          <p:cNvPicPr>
            <a:picLocks noChangeAspect="1"/>
          </p:cNvPicPr>
          <p:nvPr/>
        </p:nvPicPr>
        <p:blipFill>
          <a:blip r:embed="rId2"/>
          <a:stretch>
            <a:fillRect/>
          </a:stretch>
        </p:blipFill>
        <p:spPr>
          <a:xfrm>
            <a:off x="1039673" y="1954073"/>
            <a:ext cx="435254" cy="435254"/>
          </a:xfrm>
          <a:prstGeom prst="rect">
            <a:avLst/>
          </a:prstGeom>
        </p:spPr>
      </p:pic>
      <p:sp>
        <p:nvSpPr>
          <p:cNvPr id="9" name="txt-131"/>
          <p:cNvSpPr txBox="1"/>
          <p:nvPr/>
        </p:nvSpPr>
        <p:spPr>
          <a:xfrm>
            <a:off x="868680" y="2743200"/>
            <a:ext cx="2971800" cy="1737360"/>
          </a:xfrm>
          <a:prstGeom prst="rect">
            <a:avLst/>
          </a:prstGeom>
          <a:noFill/>
          <a:ln/>
        </p:spPr>
        <p:txBody>
          <a:bodyPr wrap="square" lIns="0" tIns="0" rIns="0" bIns="0" rtlCol="0" anchor="t"/>
          <a:lstStyle/>
          <a:p>
            <a:pPr indent="0" marL="0">
              <a:buNone/>
            </a:pPr>
            <a:r>
              <a:rPr lang="en-US" sz="2200" b="1" dirty="0">
                <a:solidFill>
                  <a:schemeClr val="bg1"/>
                </a:solidFill>
              </a:rPr>
              <a:t>Transformer l'expérience terrain en un actif de l'entreprise</a:t>
            </a:r>
            <a:endParaRPr lang="en-US" sz="2200" dirty="0"/>
          </a:p>
        </p:txBody>
      </p:sp>
      <p:sp>
        <p:nvSpPr>
          <p:cNvPr id="10" name="txt-132"/>
          <p:cNvSpPr txBox="1"/>
          <p:nvPr/>
        </p:nvSpPr>
        <p:spPr>
          <a:xfrm>
            <a:off x="868680" y="4754880"/>
            <a:ext cx="2971800" cy="1005840"/>
          </a:xfrm>
          <a:prstGeom prst="rect">
            <a:avLst/>
          </a:prstGeom>
          <a:noFill/>
          <a:ln/>
        </p:spPr>
        <p:txBody>
          <a:bodyPr wrap="square" lIns="0" tIns="0" rIns="0" bIns="0" rtlCol="0" anchor="t"/>
          <a:lstStyle/>
          <a:p>
            <a:pPr indent="0" marL="0">
              <a:buNone/>
            </a:pPr>
            <a:r>
              <a:rPr lang="en-US" sz="1300" dirty="0">
                <a:solidFill>
                  <a:srgbClr val="C9D3D9"/>
                </a:solidFill>
              </a:rPr>
              <a:t>Bénéfices attendus, qualitatifs à ce stade : ils seront mesurés une fois la solution en exploitation.</a:t>
            </a:r>
            <a:endParaRPr lang="en-US" sz="1300" dirty="0"/>
          </a:p>
        </p:txBody>
      </p:sp>
      <p:sp>
        <p:nvSpPr>
          <p:cNvPr id="11" name="pastille-133"/>
          <p:cNvSpPr/>
          <p:nvPr/>
        </p:nvSpPr>
        <p:spPr>
          <a:xfrm>
            <a:off x="4480560" y="1554480"/>
            <a:ext cx="566928" cy="566928"/>
          </a:xfrm>
          <a:prstGeom prst="ellipse">
            <a:avLst/>
          </a:prstGeom>
          <a:solidFill>
            <a:schemeClr val="accent1"/>
          </a:solidFill>
          <a:ln/>
        </p:spPr>
      </p:sp>
      <p:pic>
        <p:nvPicPr>
          <p:cNvPr id="12" name="icone-134" descr="preencoded.png">    </p:cNvPr>
          <p:cNvPicPr>
            <a:picLocks noChangeAspect="1"/>
          </p:cNvPicPr>
          <p:nvPr/>
        </p:nvPicPr>
        <p:blipFill>
          <a:blip r:embed="rId3"/>
          <a:stretch>
            <a:fillRect/>
          </a:stretch>
        </p:blipFill>
        <p:spPr>
          <a:xfrm>
            <a:off x="4605284" y="1679204"/>
            <a:ext cx="317480" cy="317480"/>
          </a:xfrm>
          <a:prstGeom prst="rect">
            <a:avLst/>
          </a:prstGeom>
        </p:spPr>
      </p:pic>
      <p:sp>
        <p:nvSpPr>
          <p:cNvPr id="13" name="txt-135"/>
          <p:cNvSpPr txBox="1"/>
          <p:nvPr/>
        </p:nvSpPr>
        <p:spPr>
          <a:xfrm>
            <a:off x="5212080" y="1508760"/>
            <a:ext cx="2788920" cy="365760"/>
          </a:xfrm>
          <a:prstGeom prst="rect">
            <a:avLst/>
          </a:prstGeom>
          <a:noFill/>
          <a:ln/>
        </p:spPr>
        <p:txBody>
          <a:bodyPr wrap="square" lIns="0" tIns="0" rIns="0" bIns="0" rtlCol="0" anchor="t"/>
          <a:lstStyle/>
          <a:p>
            <a:pPr indent="0" marL="0">
              <a:buNone/>
            </a:pPr>
            <a:r>
              <a:rPr lang="en-US" sz="1500" b="1" dirty="0">
                <a:solidFill>
                  <a:schemeClr val="tx1"/>
                </a:solidFill>
              </a:rPr>
              <a:t>Moins de temps de recherche</a:t>
            </a:r>
            <a:endParaRPr lang="en-US" sz="1500" dirty="0"/>
          </a:p>
        </p:txBody>
      </p:sp>
      <p:sp>
        <p:nvSpPr>
          <p:cNvPr id="14" name="txt-136"/>
          <p:cNvSpPr txBox="1"/>
          <p:nvPr/>
        </p:nvSpPr>
        <p:spPr>
          <a:xfrm>
            <a:off x="5212080" y="1874520"/>
            <a:ext cx="2788920" cy="548640"/>
          </a:xfrm>
          <a:prstGeom prst="rect">
            <a:avLst/>
          </a:prstGeom>
          <a:noFill/>
          <a:ln/>
        </p:spPr>
        <p:txBody>
          <a:bodyPr wrap="square" lIns="0" tIns="0" rIns="0" bIns="0" rtlCol="0" anchor="t"/>
          <a:lstStyle/>
          <a:p>
            <a:pPr indent="0" marL="0">
              <a:buNone/>
            </a:pPr>
            <a:r>
              <a:rPr lang="en-US" sz="1300" dirty="0">
                <a:solidFill>
                  <a:schemeClr val="tx2"/>
                </a:solidFill>
              </a:rPr>
              <a:t>L'information utile est retrouvée en une question.</a:t>
            </a:r>
            <a:endParaRPr lang="en-US" sz="1300" dirty="0"/>
          </a:p>
        </p:txBody>
      </p:sp>
      <p:sp>
        <p:nvSpPr>
          <p:cNvPr id="15" name="pastille-137"/>
          <p:cNvSpPr/>
          <p:nvPr/>
        </p:nvSpPr>
        <p:spPr>
          <a:xfrm>
            <a:off x="8138160" y="1554480"/>
            <a:ext cx="566928" cy="566928"/>
          </a:xfrm>
          <a:prstGeom prst="ellipse">
            <a:avLst/>
          </a:prstGeom>
          <a:solidFill>
            <a:schemeClr val="accent1"/>
          </a:solidFill>
          <a:ln/>
        </p:spPr>
      </p:sp>
      <p:pic>
        <p:nvPicPr>
          <p:cNvPr id="16" name="icone-138" descr="preencoded.png">    </p:cNvPr>
          <p:cNvPicPr>
            <a:picLocks noChangeAspect="1"/>
          </p:cNvPicPr>
          <p:nvPr/>
        </p:nvPicPr>
        <p:blipFill>
          <a:blip r:embed="rId4"/>
          <a:stretch>
            <a:fillRect/>
          </a:stretch>
        </p:blipFill>
        <p:spPr>
          <a:xfrm>
            <a:off x="8262884" y="1679204"/>
            <a:ext cx="317480" cy="317480"/>
          </a:xfrm>
          <a:prstGeom prst="rect">
            <a:avLst/>
          </a:prstGeom>
        </p:spPr>
      </p:pic>
      <p:sp>
        <p:nvSpPr>
          <p:cNvPr id="17" name="txt-139"/>
          <p:cNvSpPr txBox="1"/>
          <p:nvPr/>
        </p:nvSpPr>
        <p:spPr>
          <a:xfrm>
            <a:off x="8869680" y="1508760"/>
            <a:ext cx="2788920" cy="365760"/>
          </a:xfrm>
          <a:prstGeom prst="rect">
            <a:avLst/>
          </a:prstGeom>
          <a:noFill/>
          <a:ln/>
        </p:spPr>
        <p:txBody>
          <a:bodyPr wrap="square" lIns="0" tIns="0" rIns="0" bIns="0" rtlCol="0" anchor="t"/>
          <a:lstStyle/>
          <a:p>
            <a:pPr indent="0" marL="0">
              <a:buNone/>
            </a:pPr>
            <a:r>
              <a:rPr lang="en-US" sz="1500" b="1" dirty="0">
                <a:solidFill>
                  <a:schemeClr val="tx1"/>
                </a:solidFill>
              </a:rPr>
              <a:t>Assistance au diagnostic</a:t>
            </a:r>
            <a:endParaRPr lang="en-US" sz="1500" dirty="0"/>
          </a:p>
        </p:txBody>
      </p:sp>
      <p:sp>
        <p:nvSpPr>
          <p:cNvPr id="18" name="txt-140"/>
          <p:cNvSpPr txBox="1"/>
          <p:nvPr/>
        </p:nvSpPr>
        <p:spPr>
          <a:xfrm>
            <a:off x="8869680" y="1874520"/>
            <a:ext cx="2788920" cy="548640"/>
          </a:xfrm>
          <a:prstGeom prst="rect">
            <a:avLst/>
          </a:prstGeom>
          <a:noFill/>
          <a:ln/>
        </p:spPr>
        <p:txBody>
          <a:bodyPr wrap="square" lIns="0" tIns="0" rIns="0" bIns="0" rtlCol="0" anchor="t"/>
          <a:lstStyle/>
          <a:p>
            <a:pPr indent="0" marL="0">
              <a:buNone/>
            </a:pPr>
            <a:r>
              <a:rPr lang="en-US" sz="1300" dirty="0">
                <a:solidFill>
                  <a:schemeClr val="tx2"/>
                </a:solidFill>
              </a:rPr>
              <a:t>Des pistes classées, issues de cas réels.</a:t>
            </a:r>
            <a:endParaRPr lang="en-US" sz="1300" dirty="0"/>
          </a:p>
        </p:txBody>
      </p:sp>
      <p:sp>
        <p:nvSpPr>
          <p:cNvPr id="19" name="pastille-141"/>
          <p:cNvSpPr/>
          <p:nvPr/>
        </p:nvSpPr>
        <p:spPr>
          <a:xfrm>
            <a:off x="4480560" y="2715768"/>
            <a:ext cx="566928" cy="566928"/>
          </a:xfrm>
          <a:prstGeom prst="ellipse">
            <a:avLst/>
          </a:prstGeom>
          <a:solidFill>
            <a:schemeClr val="accent1"/>
          </a:solidFill>
          <a:ln/>
        </p:spPr>
      </p:sp>
      <p:pic>
        <p:nvPicPr>
          <p:cNvPr id="20" name="icone-142" descr="preencoded.png">    </p:cNvPr>
          <p:cNvPicPr>
            <a:picLocks noChangeAspect="1"/>
          </p:cNvPicPr>
          <p:nvPr/>
        </p:nvPicPr>
        <p:blipFill>
          <a:blip r:embed="rId5"/>
          <a:stretch>
            <a:fillRect/>
          </a:stretch>
        </p:blipFill>
        <p:spPr>
          <a:xfrm>
            <a:off x="4605284" y="2840492"/>
            <a:ext cx="317480" cy="317480"/>
          </a:xfrm>
          <a:prstGeom prst="rect">
            <a:avLst/>
          </a:prstGeom>
        </p:spPr>
      </p:pic>
      <p:sp>
        <p:nvSpPr>
          <p:cNvPr id="21" name="txt-143"/>
          <p:cNvSpPr txBox="1"/>
          <p:nvPr/>
        </p:nvSpPr>
        <p:spPr>
          <a:xfrm>
            <a:off x="5212080" y="2670048"/>
            <a:ext cx="2788920" cy="365760"/>
          </a:xfrm>
          <a:prstGeom prst="rect">
            <a:avLst/>
          </a:prstGeom>
          <a:noFill/>
          <a:ln/>
        </p:spPr>
        <p:txBody>
          <a:bodyPr wrap="square" lIns="0" tIns="0" rIns="0" bIns="0" rtlCol="0" anchor="t"/>
          <a:lstStyle/>
          <a:p>
            <a:pPr indent="0" marL="0">
              <a:buNone/>
            </a:pPr>
            <a:r>
              <a:rPr lang="en-US" sz="1500" b="1" dirty="0">
                <a:solidFill>
                  <a:schemeClr val="tx1"/>
                </a:solidFill>
              </a:rPr>
              <a:t>Capitalisation des connaissances</a:t>
            </a:r>
            <a:endParaRPr lang="en-US" sz="1500" dirty="0"/>
          </a:p>
        </p:txBody>
      </p:sp>
      <p:sp>
        <p:nvSpPr>
          <p:cNvPr id="22" name="txt-144"/>
          <p:cNvSpPr txBox="1"/>
          <p:nvPr/>
        </p:nvSpPr>
        <p:spPr>
          <a:xfrm>
            <a:off x="5212080" y="3035808"/>
            <a:ext cx="2788920" cy="548640"/>
          </a:xfrm>
          <a:prstGeom prst="rect">
            <a:avLst/>
          </a:prstGeom>
          <a:noFill/>
          <a:ln/>
        </p:spPr>
        <p:txBody>
          <a:bodyPr wrap="square" lIns="0" tIns="0" rIns="0" bIns="0" rtlCol="0" anchor="t"/>
          <a:lstStyle/>
          <a:p>
            <a:pPr indent="0" marL="0">
              <a:buNone/>
            </a:pPr>
            <a:r>
              <a:rPr lang="en-US" sz="1300" dirty="0">
                <a:solidFill>
                  <a:schemeClr val="tx2"/>
                </a:solidFill>
              </a:rPr>
              <a:t>Chaque intervention enrichit la base.</a:t>
            </a:r>
            <a:endParaRPr lang="en-US" sz="1300" dirty="0"/>
          </a:p>
        </p:txBody>
      </p:sp>
      <p:sp>
        <p:nvSpPr>
          <p:cNvPr id="23" name="pastille-145"/>
          <p:cNvSpPr/>
          <p:nvPr/>
        </p:nvSpPr>
        <p:spPr>
          <a:xfrm>
            <a:off x="8138160" y="2715768"/>
            <a:ext cx="566928" cy="566928"/>
          </a:xfrm>
          <a:prstGeom prst="ellipse">
            <a:avLst/>
          </a:prstGeom>
          <a:solidFill>
            <a:schemeClr val="accent1"/>
          </a:solidFill>
          <a:ln/>
        </p:spPr>
      </p:sp>
      <p:pic>
        <p:nvPicPr>
          <p:cNvPr id="24" name="icone-146" descr="preencoded.png">    </p:cNvPr>
          <p:cNvPicPr>
            <a:picLocks noChangeAspect="1"/>
          </p:cNvPicPr>
          <p:nvPr/>
        </p:nvPicPr>
        <p:blipFill>
          <a:blip r:embed="rId6"/>
          <a:stretch>
            <a:fillRect/>
          </a:stretch>
        </p:blipFill>
        <p:spPr>
          <a:xfrm>
            <a:off x="8262884" y="2840492"/>
            <a:ext cx="317480" cy="317480"/>
          </a:xfrm>
          <a:prstGeom prst="rect">
            <a:avLst/>
          </a:prstGeom>
        </p:spPr>
      </p:pic>
      <p:sp>
        <p:nvSpPr>
          <p:cNvPr id="25" name="txt-147"/>
          <p:cNvSpPr txBox="1"/>
          <p:nvPr/>
        </p:nvSpPr>
        <p:spPr>
          <a:xfrm>
            <a:off x="8869680" y="2670048"/>
            <a:ext cx="2788920" cy="365760"/>
          </a:xfrm>
          <a:prstGeom prst="rect">
            <a:avLst/>
          </a:prstGeom>
          <a:noFill/>
          <a:ln/>
        </p:spPr>
        <p:txBody>
          <a:bodyPr wrap="square" lIns="0" tIns="0" rIns="0" bIns="0" rtlCol="0" anchor="t"/>
          <a:lstStyle/>
          <a:p>
            <a:pPr indent="0" marL="0">
              <a:buNone/>
            </a:pPr>
            <a:r>
              <a:rPr lang="en-US" sz="1500" b="1" dirty="0">
                <a:solidFill>
                  <a:schemeClr val="tx1"/>
                </a:solidFill>
              </a:rPr>
              <a:t>Pratiques standardisées</a:t>
            </a:r>
            <a:endParaRPr lang="en-US" sz="1500" dirty="0"/>
          </a:p>
        </p:txBody>
      </p:sp>
      <p:sp>
        <p:nvSpPr>
          <p:cNvPr id="26" name="txt-148"/>
          <p:cNvSpPr txBox="1"/>
          <p:nvPr/>
        </p:nvSpPr>
        <p:spPr>
          <a:xfrm>
            <a:off x="8869680" y="3035808"/>
            <a:ext cx="2788920" cy="548640"/>
          </a:xfrm>
          <a:prstGeom prst="rect">
            <a:avLst/>
          </a:prstGeom>
          <a:noFill/>
          <a:ln/>
        </p:spPr>
        <p:txBody>
          <a:bodyPr wrap="square" lIns="0" tIns="0" rIns="0" bIns="0" rtlCol="0" anchor="t"/>
          <a:lstStyle/>
          <a:p>
            <a:pPr indent="0" marL="0">
              <a:buNone/>
            </a:pPr>
            <a:r>
              <a:rPr lang="en-US" sz="1300" dirty="0">
                <a:solidFill>
                  <a:schemeClr val="tx2"/>
                </a:solidFill>
              </a:rPr>
              <a:t>Les solutions validées deviennent la référence.</a:t>
            </a:r>
            <a:endParaRPr lang="en-US" sz="1300" dirty="0"/>
          </a:p>
        </p:txBody>
      </p:sp>
      <p:sp>
        <p:nvSpPr>
          <p:cNvPr id="27" name="pastille-149"/>
          <p:cNvSpPr/>
          <p:nvPr/>
        </p:nvSpPr>
        <p:spPr>
          <a:xfrm>
            <a:off x="4480560" y="3877056"/>
            <a:ext cx="566928" cy="566928"/>
          </a:xfrm>
          <a:prstGeom prst="ellipse">
            <a:avLst/>
          </a:prstGeom>
          <a:solidFill>
            <a:schemeClr val="accent1"/>
          </a:solidFill>
          <a:ln/>
        </p:spPr>
      </p:sp>
      <p:pic>
        <p:nvPicPr>
          <p:cNvPr id="28" name="icone-150" descr="preencoded.png">    </p:cNvPr>
          <p:cNvPicPr>
            <a:picLocks noChangeAspect="1"/>
          </p:cNvPicPr>
          <p:nvPr/>
        </p:nvPicPr>
        <p:blipFill>
          <a:blip r:embed="rId7"/>
          <a:stretch>
            <a:fillRect/>
          </a:stretch>
        </p:blipFill>
        <p:spPr>
          <a:xfrm>
            <a:off x="4605284" y="4001780"/>
            <a:ext cx="317480" cy="317480"/>
          </a:xfrm>
          <a:prstGeom prst="rect">
            <a:avLst/>
          </a:prstGeom>
        </p:spPr>
      </p:pic>
      <p:sp>
        <p:nvSpPr>
          <p:cNvPr id="29" name="txt-151"/>
          <p:cNvSpPr txBox="1"/>
          <p:nvPr/>
        </p:nvSpPr>
        <p:spPr>
          <a:xfrm>
            <a:off x="5212080" y="3831336"/>
            <a:ext cx="2788920" cy="365760"/>
          </a:xfrm>
          <a:prstGeom prst="rect">
            <a:avLst/>
          </a:prstGeom>
          <a:noFill/>
          <a:ln/>
        </p:spPr>
        <p:txBody>
          <a:bodyPr wrap="square" lIns="0" tIns="0" rIns="0" bIns="0" rtlCol="0" anchor="t"/>
          <a:lstStyle/>
          <a:p>
            <a:pPr indent="0" marL="0">
              <a:buNone/>
            </a:pPr>
            <a:r>
              <a:rPr lang="en-US" sz="1500" b="1" dirty="0">
                <a:solidFill>
                  <a:schemeClr val="tx1"/>
                </a:solidFill>
              </a:rPr>
              <a:t>Historique exploité</a:t>
            </a:r>
            <a:endParaRPr lang="en-US" sz="1500" dirty="0"/>
          </a:p>
        </p:txBody>
      </p:sp>
      <p:sp>
        <p:nvSpPr>
          <p:cNvPr id="30" name="txt-152"/>
          <p:cNvSpPr txBox="1"/>
          <p:nvPr/>
        </p:nvSpPr>
        <p:spPr>
          <a:xfrm>
            <a:off x="5212080" y="4197096"/>
            <a:ext cx="2788920" cy="548640"/>
          </a:xfrm>
          <a:prstGeom prst="rect">
            <a:avLst/>
          </a:prstGeom>
          <a:noFill/>
          <a:ln/>
        </p:spPr>
        <p:txBody>
          <a:bodyPr wrap="square" lIns="0" tIns="0" rIns="0" bIns="0" rtlCol="0" anchor="t"/>
          <a:lstStyle/>
          <a:p>
            <a:pPr indent="0" marL="0">
              <a:buNone/>
            </a:pPr>
            <a:r>
              <a:rPr lang="en-US" sz="1300" dirty="0">
                <a:solidFill>
                  <a:schemeClr val="tx2"/>
                </a:solidFill>
              </a:rPr>
              <a:t>Les interventions passées servent à nouveau.</a:t>
            </a:r>
            <a:endParaRPr lang="en-US" sz="1300" dirty="0"/>
          </a:p>
        </p:txBody>
      </p:sp>
      <p:sp>
        <p:nvSpPr>
          <p:cNvPr id="31" name="pastille-153"/>
          <p:cNvSpPr/>
          <p:nvPr/>
        </p:nvSpPr>
        <p:spPr>
          <a:xfrm>
            <a:off x="8138160" y="3877056"/>
            <a:ext cx="566928" cy="566928"/>
          </a:xfrm>
          <a:prstGeom prst="ellipse">
            <a:avLst/>
          </a:prstGeom>
          <a:solidFill>
            <a:schemeClr val="accent1"/>
          </a:solidFill>
          <a:ln/>
        </p:spPr>
      </p:sp>
      <p:pic>
        <p:nvPicPr>
          <p:cNvPr id="32" name="icone-154" descr="preencoded.png">    </p:cNvPr>
          <p:cNvPicPr>
            <a:picLocks noChangeAspect="1"/>
          </p:cNvPicPr>
          <p:nvPr/>
        </p:nvPicPr>
        <p:blipFill>
          <a:blip r:embed="rId8"/>
          <a:stretch>
            <a:fillRect/>
          </a:stretch>
        </p:blipFill>
        <p:spPr>
          <a:xfrm>
            <a:off x="8262884" y="4001780"/>
            <a:ext cx="317480" cy="317480"/>
          </a:xfrm>
          <a:prstGeom prst="rect">
            <a:avLst/>
          </a:prstGeom>
        </p:spPr>
      </p:pic>
      <p:sp>
        <p:nvSpPr>
          <p:cNvPr id="33" name="txt-155"/>
          <p:cNvSpPr txBox="1"/>
          <p:nvPr/>
        </p:nvSpPr>
        <p:spPr>
          <a:xfrm>
            <a:off x="8869680" y="3831336"/>
            <a:ext cx="2788920" cy="365760"/>
          </a:xfrm>
          <a:prstGeom prst="rect">
            <a:avLst/>
          </a:prstGeom>
          <a:noFill/>
          <a:ln/>
        </p:spPr>
        <p:txBody>
          <a:bodyPr wrap="square" lIns="0" tIns="0" rIns="0" bIns="0" rtlCol="0" anchor="t"/>
          <a:lstStyle/>
          <a:p>
            <a:pPr indent="0" marL="0">
              <a:buNone/>
            </a:pPr>
            <a:r>
              <a:rPr lang="en-US" sz="1500" b="1" dirty="0">
                <a:solidFill>
                  <a:schemeClr val="tx1"/>
                </a:solidFill>
              </a:rPr>
              <a:t>Pertinence croissante</a:t>
            </a:r>
            <a:endParaRPr lang="en-US" sz="1500" dirty="0"/>
          </a:p>
        </p:txBody>
      </p:sp>
      <p:sp>
        <p:nvSpPr>
          <p:cNvPr id="34" name="txt-156"/>
          <p:cNvSpPr txBox="1"/>
          <p:nvPr/>
        </p:nvSpPr>
        <p:spPr>
          <a:xfrm>
            <a:off x="8869680" y="4197096"/>
            <a:ext cx="2788920" cy="548640"/>
          </a:xfrm>
          <a:prstGeom prst="rect">
            <a:avLst/>
          </a:prstGeom>
          <a:noFill/>
          <a:ln/>
        </p:spPr>
        <p:txBody>
          <a:bodyPr wrap="square" lIns="0" tIns="0" rIns="0" bIns="0" rtlCol="0" anchor="t"/>
          <a:lstStyle/>
          <a:p>
            <a:pPr indent="0" marL="0">
              <a:buNone/>
            </a:pPr>
            <a:r>
              <a:rPr lang="en-US" sz="1300" dirty="0">
                <a:solidFill>
                  <a:schemeClr val="tx2"/>
                </a:solidFill>
              </a:rPr>
              <a:t>Les taux de réussite affinent le classement.</a:t>
            </a:r>
            <a:endParaRPr lang="en-US" sz="1300" dirty="0"/>
          </a:p>
        </p:txBody>
      </p:sp>
      <p:sp>
        <p:nvSpPr>
          <p:cNvPr id="35" name="pastille-157"/>
          <p:cNvSpPr/>
          <p:nvPr/>
        </p:nvSpPr>
        <p:spPr>
          <a:xfrm>
            <a:off x="4480560" y="5038344"/>
            <a:ext cx="566928" cy="566928"/>
          </a:xfrm>
          <a:prstGeom prst="ellipse">
            <a:avLst/>
          </a:prstGeom>
          <a:solidFill>
            <a:schemeClr val="accent1"/>
          </a:solidFill>
          <a:ln/>
        </p:spPr>
      </p:sp>
      <p:pic>
        <p:nvPicPr>
          <p:cNvPr id="36" name="icone-158" descr="preencoded.png">    </p:cNvPr>
          <p:cNvPicPr>
            <a:picLocks noChangeAspect="1"/>
          </p:cNvPicPr>
          <p:nvPr/>
        </p:nvPicPr>
        <p:blipFill>
          <a:blip r:embed="rId9"/>
          <a:stretch>
            <a:fillRect/>
          </a:stretch>
        </p:blipFill>
        <p:spPr>
          <a:xfrm>
            <a:off x="4605284" y="5163068"/>
            <a:ext cx="317480" cy="317480"/>
          </a:xfrm>
          <a:prstGeom prst="rect">
            <a:avLst/>
          </a:prstGeom>
        </p:spPr>
      </p:pic>
      <p:sp>
        <p:nvSpPr>
          <p:cNvPr id="37" name="txt-159"/>
          <p:cNvSpPr txBox="1"/>
          <p:nvPr/>
        </p:nvSpPr>
        <p:spPr>
          <a:xfrm>
            <a:off x="5212080" y="4992624"/>
            <a:ext cx="2788920" cy="365760"/>
          </a:xfrm>
          <a:prstGeom prst="rect">
            <a:avLst/>
          </a:prstGeom>
          <a:noFill/>
          <a:ln/>
        </p:spPr>
        <p:txBody>
          <a:bodyPr wrap="square" lIns="0" tIns="0" rIns="0" bIns="0" rtlCol="0" anchor="t"/>
          <a:lstStyle/>
          <a:p>
            <a:pPr indent="0" marL="0">
              <a:buNone/>
            </a:pPr>
            <a:r>
              <a:rPr lang="en-US" sz="1500" b="1" dirty="0">
                <a:solidFill>
                  <a:schemeClr val="tx1"/>
                </a:solidFill>
              </a:rPr>
              <a:t>Moins de dépendance individuelle</a:t>
            </a:r>
            <a:endParaRPr lang="en-US" sz="1500" dirty="0"/>
          </a:p>
        </p:txBody>
      </p:sp>
      <p:sp>
        <p:nvSpPr>
          <p:cNvPr id="38" name="txt-160"/>
          <p:cNvSpPr txBox="1"/>
          <p:nvPr/>
        </p:nvSpPr>
        <p:spPr>
          <a:xfrm>
            <a:off x="5212080" y="5358384"/>
            <a:ext cx="2788920" cy="548640"/>
          </a:xfrm>
          <a:prstGeom prst="rect">
            <a:avLst/>
          </a:prstGeom>
          <a:noFill/>
          <a:ln/>
        </p:spPr>
        <p:txBody>
          <a:bodyPr wrap="square" lIns="0" tIns="0" rIns="0" bIns="0" rtlCol="0" anchor="t"/>
          <a:lstStyle/>
          <a:p>
            <a:pPr indent="0" marL="0">
              <a:buNone/>
            </a:pPr>
            <a:r>
              <a:rPr lang="en-US" sz="1300" dirty="0">
                <a:solidFill>
                  <a:schemeClr val="tx2"/>
                </a:solidFill>
              </a:rPr>
              <a:t>Le savoir des experts est partagé avec tous.</a:t>
            </a:r>
            <a:endParaRPr lang="en-US" sz="13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xt-161"/>
          <p:cNvSpPr txBox="1"/>
          <p:nvPr/>
        </p:nvSpPr>
        <p:spPr>
          <a:xfrm>
            <a:off x="731520" y="1097280"/>
            <a:ext cx="3657600" cy="320040"/>
          </a:xfrm>
          <a:prstGeom prst="rect">
            <a:avLst/>
          </a:prstGeom>
          <a:noFill/>
          <a:ln/>
        </p:spPr>
        <p:txBody>
          <a:bodyPr wrap="square" lIns="0" tIns="0" rIns="0" bIns="0" rtlCol="0" anchor="t"/>
          <a:lstStyle/>
          <a:p>
            <a:pPr indent="0" marL="0">
              <a:buNone/>
            </a:pPr>
            <a:r>
              <a:rPr lang="en-US" sz="1400" b="1" spc="200" kern="0" dirty="0">
                <a:solidFill>
                  <a:schemeClr val="accent2"/>
                </a:solidFill>
              </a:rPr>
              <a:t>PARTIE</a:t>
            </a:r>
            <a:endParaRPr lang="en-US" sz="1400" dirty="0"/>
          </a:p>
        </p:txBody>
      </p:sp>
      <p:sp>
        <p:nvSpPr>
          <p:cNvPr id="3" name="txt-162"/>
          <p:cNvSpPr txBox="1"/>
          <p:nvPr/>
        </p:nvSpPr>
        <p:spPr>
          <a:xfrm>
            <a:off x="731520" y="1417320"/>
            <a:ext cx="3657600" cy="1280160"/>
          </a:xfrm>
          <a:prstGeom prst="rect">
            <a:avLst/>
          </a:prstGeom>
          <a:noFill/>
          <a:ln/>
        </p:spPr>
        <p:txBody>
          <a:bodyPr wrap="square" lIns="0" tIns="0" rIns="0" bIns="0" rtlCol="0" anchor="t"/>
          <a:lstStyle/>
          <a:p>
            <a:pPr indent="0" marL="0">
              <a:buNone/>
            </a:pPr>
            <a:r>
              <a:rPr lang="en-US" sz="8800" b="1" dirty="0">
                <a:solidFill>
                  <a:schemeClr val="accent1"/>
                </a:solidFill>
                <a:latin typeface="Arial" pitchFamily="34" charset="0"/>
                <a:ea typeface="Arial" pitchFamily="34" charset="-122"/>
                <a:cs typeface="Arial" pitchFamily="34" charset="-120"/>
              </a:rPr>
              <a:t>II</a:t>
            </a:r>
            <a:endParaRPr lang="en-US" sz="8800" dirty="0"/>
          </a:p>
        </p:txBody>
      </p:sp>
      <p:sp>
        <p:nvSpPr>
          <p:cNvPr id="4" name="txt-163"/>
          <p:cNvSpPr txBox="1"/>
          <p:nvPr/>
        </p:nvSpPr>
        <p:spPr>
          <a:xfrm>
            <a:off x="731520" y="2697480"/>
            <a:ext cx="5486400" cy="1097280"/>
          </a:xfrm>
          <a:prstGeom prst="rect">
            <a:avLst/>
          </a:prstGeom>
          <a:noFill/>
          <a:ln/>
        </p:spPr>
        <p:txBody>
          <a:bodyPr wrap="square" lIns="0" tIns="0" rIns="0" bIns="0" rtlCol="0" anchor="t"/>
          <a:lstStyle/>
          <a:p>
            <a:pPr indent="0" marL="0">
              <a:buNone/>
            </a:pPr>
            <a:r>
              <a:rPr lang="en-US" sz="3000" b="1" dirty="0">
                <a:solidFill>
                  <a:schemeClr val="bg1"/>
                </a:solidFill>
                <a:latin typeface="Arial" pitchFamily="34" charset="0"/>
                <a:ea typeface="Arial" pitchFamily="34" charset="-122"/>
                <a:cs typeface="Arial" pitchFamily="34" charset="-120"/>
              </a:rPr>
              <a:t>L'usage au quotidien</a:t>
            </a:r>
            <a:endParaRPr lang="en-US" sz="3000" dirty="0"/>
          </a:p>
        </p:txBody>
      </p:sp>
      <p:sp>
        <p:nvSpPr>
          <p:cNvPr id="5" name="txt-164"/>
          <p:cNvSpPr txBox="1"/>
          <p:nvPr/>
        </p:nvSpPr>
        <p:spPr>
          <a:xfrm>
            <a:off x="731520" y="3931920"/>
            <a:ext cx="5303520" cy="1188720"/>
          </a:xfrm>
          <a:prstGeom prst="rect">
            <a:avLst/>
          </a:prstGeom>
          <a:noFill/>
          <a:ln/>
        </p:spPr>
        <p:txBody>
          <a:bodyPr wrap="square" lIns="0" tIns="0" rIns="0" bIns="0" rtlCol="0" anchor="t"/>
          <a:lstStyle/>
          <a:p>
            <a:pPr indent="0" marL="0">
              <a:buNone/>
            </a:pPr>
            <a:r>
              <a:rPr lang="en-US" sz="1600" dirty="0">
                <a:solidFill>
                  <a:srgbClr val="C9D3D9"/>
                </a:solidFill>
              </a:rPr>
              <a:t>Voir comment ATM-BOT apprend du terrain et dialogue avec le technicien.</a:t>
            </a:r>
            <a:endParaRPr lang="en-US" sz="1600" dirty="0"/>
          </a:p>
        </p:txBody>
      </p:sp>
      <p:sp>
        <p:nvSpPr>
          <p:cNvPr id="6" name="txt-165"/>
          <p:cNvSpPr txBox="1"/>
          <p:nvPr/>
        </p:nvSpPr>
        <p:spPr>
          <a:xfrm>
            <a:off x="6766560" y="1463040"/>
            <a:ext cx="4846320" cy="365760"/>
          </a:xfrm>
          <a:prstGeom prst="rect">
            <a:avLst/>
          </a:prstGeom>
          <a:noFill/>
          <a:ln/>
        </p:spPr>
        <p:txBody>
          <a:bodyPr wrap="square" lIns="0" tIns="0" rIns="0" bIns="0" rtlCol="0" anchor="t"/>
          <a:lstStyle/>
          <a:p>
            <a:pPr indent="0" marL="0">
              <a:buNone/>
            </a:pPr>
            <a:r>
              <a:rPr lang="en-US" sz="1400" b="1" dirty="0">
                <a:solidFill>
                  <a:schemeClr val="accent2"/>
                </a:solidFill>
              </a:rPr>
              <a:t>Dans cette partie</a:t>
            </a:r>
            <a:endParaRPr lang="en-US" sz="1400" dirty="0"/>
          </a:p>
        </p:txBody>
      </p:sp>
      <p:sp>
        <p:nvSpPr>
          <p:cNvPr id="7" name="Shape 5"/>
          <p:cNvSpPr/>
          <p:nvPr/>
        </p:nvSpPr>
        <p:spPr>
          <a:xfrm>
            <a:off x="6766560" y="1965960"/>
            <a:ext cx="4873752" cy="530352"/>
          </a:xfrm>
          <a:prstGeom prst="roundRect">
            <a:avLst>
              <a:gd name="adj" fmla="val 17241"/>
            </a:avLst>
          </a:prstGeom>
          <a:solidFill>
            <a:srgbClr val="FFFFFF">
              <a:alpha val="8000"/>
            </a:srgbClr>
          </a:solidFill>
          <a:ln/>
        </p:spPr>
      </p:sp>
      <p:sp>
        <p:nvSpPr>
          <p:cNvPr id="8" name="txt-166"/>
          <p:cNvSpPr txBox="1"/>
          <p:nvPr/>
        </p:nvSpPr>
        <p:spPr>
          <a:xfrm>
            <a:off x="6949440" y="1965960"/>
            <a:ext cx="4572000" cy="530352"/>
          </a:xfrm>
          <a:prstGeom prst="rect">
            <a:avLst/>
          </a:prstGeom>
          <a:noFill/>
          <a:ln/>
        </p:spPr>
        <p:txBody>
          <a:bodyPr wrap="square" lIns="0" tIns="0" rIns="0" bIns="0" rtlCol="0" anchor="ctr"/>
          <a:lstStyle/>
          <a:p>
            <a:pPr indent="0" marL="0">
              <a:buNone/>
            </a:pPr>
            <a:r>
              <a:rPr lang="en-US" sz="1500" dirty="0">
                <a:solidFill>
                  <a:schemeClr val="bg1"/>
                </a:solidFill>
              </a:rPr>
              <a:t>a) Le parcours du technicien</a:t>
            </a:r>
            <a:endParaRPr lang="en-US" sz="1500" dirty="0"/>
          </a:p>
        </p:txBody>
      </p:sp>
      <p:sp>
        <p:nvSpPr>
          <p:cNvPr id="9" name="Shape 7"/>
          <p:cNvSpPr/>
          <p:nvPr/>
        </p:nvSpPr>
        <p:spPr>
          <a:xfrm>
            <a:off x="6766560" y="2606040"/>
            <a:ext cx="4873752" cy="530352"/>
          </a:xfrm>
          <a:prstGeom prst="roundRect">
            <a:avLst>
              <a:gd name="adj" fmla="val 17241"/>
            </a:avLst>
          </a:prstGeom>
          <a:solidFill>
            <a:srgbClr val="FFFFFF">
              <a:alpha val="8000"/>
            </a:srgbClr>
          </a:solidFill>
          <a:ln/>
        </p:spPr>
      </p:sp>
      <p:sp>
        <p:nvSpPr>
          <p:cNvPr id="10" name="txt-167"/>
          <p:cNvSpPr txBox="1"/>
          <p:nvPr/>
        </p:nvSpPr>
        <p:spPr>
          <a:xfrm>
            <a:off x="6949440" y="2606040"/>
            <a:ext cx="4572000" cy="530352"/>
          </a:xfrm>
          <a:prstGeom prst="rect">
            <a:avLst/>
          </a:prstGeom>
          <a:noFill/>
          <a:ln/>
        </p:spPr>
        <p:txBody>
          <a:bodyPr wrap="square" lIns="0" tIns="0" rIns="0" bIns="0" rtlCol="0" anchor="ctr"/>
          <a:lstStyle/>
          <a:p>
            <a:pPr indent="0" marL="0">
              <a:buNone/>
            </a:pPr>
            <a:r>
              <a:rPr lang="en-US" sz="1500" dirty="0">
                <a:solidFill>
                  <a:schemeClr val="bg1"/>
                </a:solidFill>
              </a:rPr>
              <a:t>b) Validation et capitalisation</a:t>
            </a:r>
            <a:endParaRPr lang="en-US" sz="1500" dirty="0"/>
          </a:p>
        </p:txBody>
      </p:sp>
      <p:sp>
        <p:nvSpPr>
          <p:cNvPr id="11" name="Shape 9"/>
          <p:cNvSpPr/>
          <p:nvPr/>
        </p:nvSpPr>
        <p:spPr>
          <a:xfrm>
            <a:off x="6766560" y="3246120"/>
            <a:ext cx="4873752" cy="530352"/>
          </a:xfrm>
          <a:prstGeom prst="roundRect">
            <a:avLst>
              <a:gd name="adj" fmla="val 17241"/>
            </a:avLst>
          </a:prstGeom>
          <a:solidFill>
            <a:srgbClr val="FFFFFF">
              <a:alpha val="8000"/>
            </a:srgbClr>
          </a:solidFill>
          <a:ln/>
        </p:spPr>
      </p:sp>
      <p:sp>
        <p:nvSpPr>
          <p:cNvPr id="12" name="txt-168"/>
          <p:cNvSpPr txBox="1"/>
          <p:nvPr/>
        </p:nvSpPr>
        <p:spPr>
          <a:xfrm>
            <a:off x="6949440" y="3246120"/>
            <a:ext cx="4572000" cy="530352"/>
          </a:xfrm>
          <a:prstGeom prst="rect">
            <a:avLst/>
          </a:prstGeom>
          <a:noFill/>
          <a:ln/>
        </p:spPr>
        <p:txBody>
          <a:bodyPr wrap="square" lIns="0" tIns="0" rIns="0" bIns="0" rtlCol="0" anchor="ctr"/>
          <a:lstStyle/>
          <a:p>
            <a:pPr indent="0" marL="0">
              <a:buNone/>
            </a:pPr>
            <a:r>
              <a:rPr lang="en-US" sz="1500" dirty="0">
                <a:solidFill>
                  <a:schemeClr val="bg1"/>
                </a:solidFill>
              </a:rPr>
              <a:t>c) Intelligence conversationnelle</a:t>
            </a:r>
            <a:endParaRPr lang="en-US" sz="1500" dirty="0"/>
          </a:p>
        </p:txBody>
      </p:sp>
      <p:sp>
        <p:nvSpPr>
          <p:cNvPr id="13" name="Shape 11"/>
          <p:cNvSpPr/>
          <p:nvPr/>
        </p:nvSpPr>
        <p:spPr>
          <a:xfrm>
            <a:off x="6766560" y="3886200"/>
            <a:ext cx="4873752" cy="530352"/>
          </a:xfrm>
          <a:prstGeom prst="roundRect">
            <a:avLst>
              <a:gd name="adj" fmla="val 17241"/>
            </a:avLst>
          </a:prstGeom>
          <a:solidFill>
            <a:srgbClr val="FFFFFF">
              <a:alpha val="8000"/>
            </a:srgbClr>
          </a:solidFill>
          <a:ln/>
        </p:spPr>
      </p:sp>
      <p:sp>
        <p:nvSpPr>
          <p:cNvPr id="14" name="txt-169"/>
          <p:cNvSpPr txBox="1"/>
          <p:nvPr/>
        </p:nvSpPr>
        <p:spPr>
          <a:xfrm>
            <a:off x="6949440" y="3886200"/>
            <a:ext cx="4572000" cy="530352"/>
          </a:xfrm>
          <a:prstGeom prst="rect">
            <a:avLst/>
          </a:prstGeom>
          <a:noFill/>
          <a:ln/>
        </p:spPr>
        <p:txBody>
          <a:bodyPr wrap="square" lIns="0" tIns="0" rIns="0" bIns="0" rtlCol="0" anchor="ctr"/>
          <a:lstStyle/>
          <a:p>
            <a:pPr indent="0" marL="0">
              <a:buNone/>
            </a:pPr>
            <a:r>
              <a:rPr lang="en-US" sz="1500" dirty="0">
                <a:solidFill>
                  <a:schemeClr val="bg1"/>
                </a:solidFill>
              </a:rPr>
              <a:t>d) L'interface du technicien</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partie"/>
          <p:cNvSpPr txBox="1"/>
          <p:nvPr/>
        </p:nvSpPr>
        <p:spPr>
          <a:xfrm>
            <a:off x="548640" y="182880"/>
            <a:ext cx="8229600" cy="256032"/>
          </a:xfrm>
          <a:prstGeom prst="rect">
            <a:avLst/>
          </a:prstGeom>
          <a:noFill/>
          <a:ln/>
        </p:spPr>
        <p:txBody>
          <a:bodyPr wrap="square" lIns="0" tIns="0" rIns="0" bIns="0" rtlCol="0" anchor="ctr"/>
          <a:lstStyle/>
          <a:p>
            <a:pPr indent="0" marL="0">
              <a:buNone/>
            </a:pPr>
            <a:r>
              <a:rPr lang="en-US" sz="1100" b="1" spc="150" kern="0" dirty="0">
                <a:solidFill>
                  <a:schemeClr val="accent1"/>
                </a:solidFill>
              </a:rPr>
              <a:t>II. L'USAGE AU QUOTIDIEN</a:t>
            </a:r>
            <a:endParaRPr lang="en-US" sz="1100" dirty="0"/>
          </a:p>
        </p:txBody>
      </p:sp>
      <p:sp>
        <p:nvSpPr>
          <p:cNvPr id="3" name="Text 0"/>
          <p:cNvSpPr/>
          <p:nvPr>
            <p:ph idx="100" type="title" hasCustomPrompt="1"/>
          </p:nvPr>
        </p:nvSpPr>
        <p:spPr>
          <a:xfrm>
            <a:off x="548640" y="438912"/>
            <a:ext cx="11091672" cy="54864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a) Le parcours du technicien</a:t>
            </a:r>
            <a:endParaRPr lang="en-US" sz="2800" dirty="0"/>
          </a:p>
        </p:txBody>
      </p:sp>
      <p:pic>
        <p:nvPicPr>
          <p:cNvPr id="4" name="icone-objectif" descr="preencoded.png">    </p:cNvPr>
          <p:cNvPicPr>
            <a:picLocks noChangeAspect="1"/>
          </p:cNvPicPr>
          <p:nvPr/>
        </p:nvPicPr>
        <p:blipFill>
          <a:blip r:embed="rId1"/>
          <a:stretch>
            <a:fillRect/>
          </a:stretch>
        </p:blipFill>
        <p:spPr>
          <a:xfrm>
            <a:off x="548640" y="1033272"/>
            <a:ext cx="237744" cy="237744"/>
          </a:xfrm>
          <a:prstGeom prst="rect">
            <a:avLst/>
          </a:prstGeom>
        </p:spPr>
      </p:pic>
      <p:sp>
        <p:nvSpPr>
          <p:cNvPr id="5" name="objectif"/>
          <p:cNvSpPr txBox="1"/>
          <p:nvPr/>
        </p:nvSpPr>
        <p:spPr>
          <a:xfrm>
            <a:off x="868680" y="987552"/>
            <a:ext cx="10771632" cy="329184"/>
          </a:xfrm>
          <a:prstGeom prst="rect">
            <a:avLst/>
          </a:prstGeom>
          <a:noFill/>
          <a:ln/>
        </p:spPr>
        <p:txBody>
          <a:bodyPr wrap="square" lIns="0" tIns="0" rIns="0" bIns="0" rtlCol="0" anchor="ctr"/>
          <a:lstStyle/>
          <a:p>
            <a:pPr indent="0" marL="0">
              <a:buNone/>
            </a:pPr>
            <a:r>
              <a:rPr lang="en-US" sz="1400" b="1" i="1" dirty="0">
                <a:solidFill>
                  <a:schemeClr val="tx2"/>
                </a:solidFill>
              </a:rPr>
              <a:t>Objectif : </a:t>
            </a:r>
            <a:pPr indent="0" marL="0">
              <a:buNone/>
            </a:pPr>
            <a:r>
              <a:rPr lang="en-US" sz="1400" i="1" dirty="0">
                <a:solidFill>
                  <a:schemeClr val="tx2"/>
                </a:solidFill>
              </a:rPr>
              <a:t>Suivre, étape par étape, ce que fait le technicien et ce que fait ATM-BOT.</a:t>
            </a:r>
            <a:endParaRPr lang="en-US" sz="1400" dirty="0"/>
          </a:p>
        </p:txBody>
      </p:sp>
      <p:sp>
        <p:nvSpPr>
          <p:cNvPr id="6" name="fleche-170"/>
          <p:cNvSpPr/>
          <p:nvPr/>
        </p:nvSpPr>
        <p:spPr>
          <a:xfrm>
            <a:off x="1984248" y="2221992"/>
            <a:ext cx="1472184" cy="914"/>
          </a:xfrm>
          <a:prstGeom prst="line">
            <a:avLst/>
          </a:prstGeom>
          <a:noFill/>
          <a:ln w="22225">
            <a:solidFill>
              <a:schemeClr val="accent5"/>
            </a:solidFill>
            <a:prstDash val="solid"/>
            <a:tailEnd type="triangle"/>
          </a:ln>
        </p:spPr>
      </p:sp>
      <p:sp>
        <p:nvSpPr>
          <p:cNvPr id="7" name="etape-171"/>
          <p:cNvSpPr txBox="1"/>
          <p:nvPr/>
        </p:nvSpPr>
        <p:spPr>
          <a:xfrm>
            <a:off x="1252728" y="1874520"/>
            <a:ext cx="694944" cy="694944"/>
          </a:xfrm>
          <a:prstGeom prst="ellipse">
            <a:avLst/>
          </a:prstGeom>
          <a:solidFill>
            <a:schemeClr val="accent3"/>
          </a:solid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8" name="txt-172"/>
          <p:cNvSpPr txBox="1"/>
          <p:nvPr/>
        </p:nvSpPr>
        <p:spPr>
          <a:xfrm>
            <a:off x="594360" y="2697480"/>
            <a:ext cx="2011680" cy="731520"/>
          </a:xfrm>
          <a:prstGeom prst="rect">
            <a:avLst/>
          </a:prstGeom>
          <a:noFill/>
          <a:ln/>
        </p:spPr>
        <p:txBody>
          <a:bodyPr wrap="square" lIns="0" tIns="0" rIns="0" bIns="0" rtlCol="0" anchor="t"/>
          <a:lstStyle/>
          <a:p>
            <a:pPr algn="ctr" indent="0" marL="0">
              <a:buNone/>
            </a:pPr>
            <a:r>
              <a:rPr lang="en-US" sz="1400" dirty="0">
                <a:solidFill>
                  <a:schemeClr val="tx1"/>
                </a:solidFill>
              </a:rPr>
              <a:t>Le technicien décrit le problème</a:t>
            </a:r>
            <a:endParaRPr lang="en-US" sz="1400" dirty="0"/>
          </a:p>
        </p:txBody>
      </p:sp>
      <p:sp>
        <p:nvSpPr>
          <p:cNvPr id="9" name="fleche-173"/>
          <p:cNvSpPr/>
          <p:nvPr/>
        </p:nvSpPr>
        <p:spPr>
          <a:xfrm>
            <a:off x="4224528" y="2221992"/>
            <a:ext cx="1472184" cy="914"/>
          </a:xfrm>
          <a:prstGeom prst="line">
            <a:avLst/>
          </a:prstGeom>
          <a:noFill/>
          <a:ln w="22225">
            <a:solidFill>
              <a:schemeClr val="accent5"/>
            </a:solidFill>
            <a:prstDash val="solid"/>
            <a:tailEnd type="triangle"/>
          </a:ln>
        </p:spPr>
      </p:sp>
      <p:sp>
        <p:nvSpPr>
          <p:cNvPr id="10" name="etape-174"/>
          <p:cNvSpPr txBox="1"/>
          <p:nvPr/>
        </p:nvSpPr>
        <p:spPr>
          <a:xfrm>
            <a:off x="3493008" y="1874520"/>
            <a:ext cx="694944" cy="694944"/>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1" name="txt-175"/>
          <p:cNvSpPr txBox="1"/>
          <p:nvPr/>
        </p:nvSpPr>
        <p:spPr>
          <a:xfrm>
            <a:off x="2834640" y="2697480"/>
            <a:ext cx="2011680" cy="731520"/>
          </a:xfrm>
          <a:prstGeom prst="rect">
            <a:avLst/>
          </a:prstGeom>
          <a:noFill/>
          <a:ln/>
        </p:spPr>
        <p:txBody>
          <a:bodyPr wrap="square" lIns="0" tIns="0" rIns="0" bIns="0" rtlCol="0" anchor="t"/>
          <a:lstStyle/>
          <a:p>
            <a:pPr algn="ctr" indent="0" marL="0">
              <a:buNone/>
            </a:pPr>
            <a:r>
              <a:rPr lang="en-US" sz="1400" dirty="0">
                <a:solidFill>
                  <a:schemeClr val="tx1"/>
                </a:solidFill>
              </a:rPr>
              <a:t>ATM-BOT comprend la demande</a:t>
            </a:r>
            <a:endParaRPr lang="en-US" sz="1400" dirty="0"/>
          </a:p>
        </p:txBody>
      </p:sp>
      <p:sp>
        <p:nvSpPr>
          <p:cNvPr id="12" name="fleche-176"/>
          <p:cNvSpPr/>
          <p:nvPr/>
        </p:nvSpPr>
        <p:spPr>
          <a:xfrm>
            <a:off x="6464808" y="2221992"/>
            <a:ext cx="1472184" cy="914"/>
          </a:xfrm>
          <a:prstGeom prst="line">
            <a:avLst/>
          </a:prstGeom>
          <a:noFill/>
          <a:ln w="22225">
            <a:solidFill>
              <a:schemeClr val="accent5"/>
            </a:solidFill>
            <a:prstDash val="solid"/>
            <a:tailEnd type="triangle"/>
          </a:ln>
        </p:spPr>
      </p:sp>
      <p:sp>
        <p:nvSpPr>
          <p:cNvPr id="13" name="etape-177"/>
          <p:cNvSpPr txBox="1"/>
          <p:nvPr/>
        </p:nvSpPr>
        <p:spPr>
          <a:xfrm>
            <a:off x="5733288" y="1874520"/>
            <a:ext cx="694944" cy="694944"/>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4" name="txt-178"/>
          <p:cNvSpPr txBox="1"/>
          <p:nvPr/>
        </p:nvSpPr>
        <p:spPr>
          <a:xfrm>
            <a:off x="5074920" y="2697480"/>
            <a:ext cx="2011680" cy="731520"/>
          </a:xfrm>
          <a:prstGeom prst="rect">
            <a:avLst/>
          </a:prstGeom>
          <a:noFill/>
          <a:ln/>
        </p:spPr>
        <p:txBody>
          <a:bodyPr wrap="square" lIns="0" tIns="0" rIns="0" bIns="0" rtlCol="0" anchor="t"/>
          <a:lstStyle/>
          <a:p>
            <a:pPr algn="ctr" indent="0" marL="0">
              <a:buNone/>
            </a:pPr>
            <a:r>
              <a:rPr lang="en-US" sz="1400" dirty="0">
                <a:solidFill>
                  <a:schemeClr val="tx1"/>
                </a:solidFill>
              </a:rPr>
              <a:t>Recherche des symptômes similaires</a:t>
            </a:r>
            <a:endParaRPr lang="en-US" sz="1400" dirty="0"/>
          </a:p>
        </p:txBody>
      </p:sp>
      <p:sp>
        <p:nvSpPr>
          <p:cNvPr id="15" name="fleche-179"/>
          <p:cNvSpPr/>
          <p:nvPr/>
        </p:nvSpPr>
        <p:spPr>
          <a:xfrm>
            <a:off x="8705088" y="2221992"/>
            <a:ext cx="1472184" cy="914"/>
          </a:xfrm>
          <a:prstGeom prst="line">
            <a:avLst/>
          </a:prstGeom>
          <a:noFill/>
          <a:ln w="22225">
            <a:solidFill>
              <a:schemeClr val="accent5"/>
            </a:solidFill>
            <a:prstDash val="solid"/>
            <a:tailEnd type="triangle"/>
          </a:ln>
        </p:spPr>
      </p:sp>
      <p:sp>
        <p:nvSpPr>
          <p:cNvPr id="16" name="etape-180"/>
          <p:cNvSpPr txBox="1"/>
          <p:nvPr/>
        </p:nvSpPr>
        <p:spPr>
          <a:xfrm>
            <a:off x="7973568" y="1874520"/>
            <a:ext cx="694944" cy="694944"/>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7" name="txt-181"/>
          <p:cNvSpPr txBox="1"/>
          <p:nvPr/>
        </p:nvSpPr>
        <p:spPr>
          <a:xfrm>
            <a:off x="7315200" y="2697480"/>
            <a:ext cx="2011680" cy="731520"/>
          </a:xfrm>
          <a:prstGeom prst="rect">
            <a:avLst/>
          </a:prstGeom>
          <a:noFill/>
          <a:ln/>
        </p:spPr>
        <p:txBody>
          <a:bodyPr wrap="square" lIns="0" tIns="0" rIns="0" bIns="0" rtlCol="0" anchor="t"/>
          <a:lstStyle/>
          <a:p>
            <a:pPr algn="ctr" indent="0" marL="0">
              <a:buNone/>
            </a:pPr>
            <a:r>
              <a:rPr lang="en-US" sz="1400" dirty="0">
                <a:solidFill>
                  <a:schemeClr val="tx1"/>
                </a:solidFill>
              </a:rPr>
              <a:t>Classement des solutions associées</a:t>
            </a:r>
            <a:endParaRPr lang="en-US" sz="1400" dirty="0"/>
          </a:p>
        </p:txBody>
      </p:sp>
      <p:sp>
        <p:nvSpPr>
          <p:cNvPr id="18" name="etape-182"/>
          <p:cNvSpPr txBox="1"/>
          <p:nvPr/>
        </p:nvSpPr>
        <p:spPr>
          <a:xfrm>
            <a:off x="10213848" y="1874520"/>
            <a:ext cx="694944" cy="694944"/>
          </a:xfrm>
          <a:prstGeom prst="ellipse">
            <a:avLst/>
          </a:prstGeom>
          <a:solidFill>
            <a:schemeClr val="accent3"/>
          </a:solid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19" name="txt-183"/>
          <p:cNvSpPr txBox="1"/>
          <p:nvPr/>
        </p:nvSpPr>
        <p:spPr>
          <a:xfrm>
            <a:off x="9555480" y="2697480"/>
            <a:ext cx="2011680" cy="731520"/>
          </a:xfrm>
          <a:prstGeom prst="rect">
            <a:avLst/>
          </a:prstGeom>
          <a:noFill/>
          <a:ln/>
        </p:spPr>
        <p:txBody>
          <a:bodyPr wrap="square" lIns="0" tIns="0" rIns="0" bIns="0" rtlCol="0" anchor="t"/>
          <a:lstStyle/>
          <a:p>
            <a:pPr algn="ctr" indent="0" marL="0">
              <a:buNone/>
            </a:pPr>
            <a:r>
              <a:rPr lang="en-US" sz="1400" dirty="0">
                <a:solidFill>
                  <a:schemeClr val="tx1"/>
                </a:solidFill>
              </a:rPr>
              <a:t>Le technicien teste les solutions</a:t>
            </a:r>
            <a:endParaRPr lang="en-US" sz="1400" dirty="0"/>
          </a:p>
        </p:txBody>
      </p:sp>
      <p:sp>
        <p:nvSpPr>
          <p:cNvPr id="20" name="fleche-184"/>
          <p:cNvSpPr/>
          <p:nvPr/>
        </p:nvSpPr>
        <p:spPr>
          <a:xfrm>
            <a:off x="1984248" y="4416552"/>
            <a:ext cx="1472184" cy="914"/>
          </a:xfrm>
          <a:prstGeom prst="line">
            <a:avLst/>
          </a:prstGeom>
          <a:noFill/>
          <a:ln w="22225">
            <a:solidFill>
              <a:schemeClr val="accent5"/>
            </a:solidFill>
            <a:prstDash val="solid"/>
            <a:tailEnd type="triangle"/>
          </a:ln>
        </p:spPr>
      </p:sp>
      <p:sp>
        <p:nvSpPr>
          <p:cNvPr id="21" name="etape-185"/>
          <p:cNvSpPr txBox="1"/>
          <p:nvPr/>
        </p:nvSpPr>
        <p:spPr>
          <a:xfrm>
            <a:off x="1252728" y="4069080"/>
            <a:ext cx="694944" cy="694944"/>
          </a:xfrm>
          <a:prstGeom prst="ellipse">
            <a:avLst/>
          </a:prstGeom>
          <a:solidFill>
            <a:schemeClr val="accent3"/>
          </a:solidFill>
          <a:ln/>
        </p:spPr>
        <p:txBody>
          <a:bodyPr wrap="square" lIns="0" tIns="0" rIns="0" bIns="0" rtlCol="0" anchor="ctr"/>
          <a:lstStyle/>
          <a:p>
            <a:pPr algn="ctr" indent="0" marL="0">
              <a:buNone/>
            </a:pPr>
            <a:r>
              <a:rPr lang="en-US" sz="2000" b="1" dirty="0">
                <a:solidFill>
                  <a:schemeClr val="bg1"/>
                </a:solidFill>
              </a:rPr>
              <a:t>6</a:t>
            </a:r>
            <a:endParaRPr lang="en-US" sz="2000" dirty="0"/>
          </a:p>
        </p:txBody>
      </p:sp>
      <p:sp>
        <p:nvSpPr>
          <p:cNvPr id="22" name="txt-186"/>
          <p:cNvSpPr txBox="1"/>
          <p:nvPr/>
        </p:nvSpPr>
        <p:spPr>
          <a:xfrm>
            <a:off x="594360" y="4892040"/>
            <a:ext cx="2011680" cy="731520"/>
          </a:xfrm>
          <a:prstGeom prst="rect">
            <a:avLst/>
          </a:prstGeom>
          <a:noFill/>
          <a:ln/>
        </p:spPr>
        <p:txBody>
          <a:bodyPr wrap="square" lIns="0" tIns="0" rIns="0" bIns="0" rtlCol="0" anchor="t"/>
          <a:lstStyle/>
          <a:p>
            <a:pPr algn="ctr" indent="0" marL="0">
              <a:buNone/>
            </a:pPr>
            <a:r>
              <a:rPr lang="en-US" sz="1400" dirty="0">
                <a:solidFill>
                  <a:schemeClr val="tx1"/>
                </a:solidFill>
              </a:rPr>
              <a:t>Il indique si la solution fonctionne</a:t>
            </a:r>
            <a:endParaRPr lang="en-US" sz="1400" dirty="0"/>
          </a:p>
        </p:txBody>
      </p:sp>
      <p:sp>
        <p:nvSpPr>
          <p:cNvPr id="23" name="fleche-187"/>
          <p:cNvSpPr/>
          <p:nvPr/>
        </p:nvSpPr>
        <p:spPr>
          <a:xfrm>
            <a:off x="4224528" y="4416552"/>
            <a:ext cx="1472184" cy="914"/>
          </a:xfrm>
          <a:prstGeom prst="line">
            <a:avLst/>
          </a:prstGeom>
          <a:noFill/>
          <a:ln w="22225">
            <a:solidFill>
              <a:schemeClr val="accent5"/>
            </a:solidFill>
            <a:prstDash val="solid"/>
            <a:tailEnd type="triangle"/>
          </a:ln>
        </p:spPr>
      </p:sp>
      <p:sp>
        <p:nvSpPr>
          <p:cNvPr id="24" name="etape-188"/>
          <p:cNvSpPr txBox="1"/>
          <p:nvPr/>
        </p:nvSpPr>
        <p:spPr>
          <a:xfrm>
            <a:off x="3493008" y="4069080"/>
            <a:ext cx="694944" cy="694944"/>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7</a:t>
            </a:r>
            <a:endParaRPr lang="en-US" sz="2000" dirty="0"/>
          </a:p>
        </p:txBody>
      </p:sp>
      <p:sp>
        <p:nvSpPr>
          <p:cNvPr id="25" name="txt-189"/>
          <p:cNvSpPr txBox="1"/>
          <p:nvPr/>
        </p:nvSpPr>
        <p:spPr>
          <a:xfrm>
            <a:off x="2834640" y="4892040"/>
            <a:ext cx="2011680" cy="731520"/>
          </a:xfrm>
          <a:prstGeom prst="rect">
            <a:avLst/>
          </a:prstGeom>
          <a:noFill/>
          <a:ln/>
        </p:spPr>
        <p:txBody>
          <a:bodyPr wrap="square" lIns="0" tIns="0" rIns="0" bIns="0" rtlCol="0" anchor="t"/>
          <a:lstStyle/>
          <a:p>
            <a:pPr algn="ctr" indent="0" marL="0">
              <a:buNone/>
            </a:pPr>
            <a:r>
              <a:rPr lang="en-US" sz="1400" dirty="0">
                <a:solidFill>
                  <a:schemeClr val="tx1"/>
                </a:solidFill>
              </a:rPr>
              <a:t>Le résultat est enregistré</a:t>
            </a:r>
            <a:endParaRPr lang="en-US" sz="1400" dirty="0"/>
          </a:p>
        </p:txBody>
      </p:sp>
      <p:sp>
        <p:nvSpPr>
          <p:cNvPr id="26" name="fleche-190"/>
          <p:cNvSpPr/>
          <p:nvPr/>
        </p:nvSpPr>
        <p:spPr>
          <a:xfrm>
            <a:off x="6464808" y="4416552"/>
            <a:ext cx="1472184" cy="914"/>
          </a:xfrm>
          <a:prstGeom prst="line">
            <a:avLst/>
          </a:prstGeom>
          <a:noFill/>
          <a:ln w="22225">
            <a:solidFill>
              <a:schemeClr val="accent5"/>
            </a:solidFill>
            <a:prstDash val="solid"/>
            <a:tailEnd type="triangle"/>
          </a:ln>
        </p:spPr>
      </p:sp>
      <p:sp>
        <p:nvSpPr>
          <p:cNvPr id="27" name="etape-191"/>
          <p:cNvSpPr txBox="1"/>
          <p:nvPr/>
        </p:nvSpPr>
        <p:spPr>
          <a:xfrm>
            <a:off x="5733288" y="4069080"/>
            <a:ext cx="694944" cy="694944"/>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8</a:t>
            </a:r>
            <a:endParaRPr lang="en-US" sz="2000" dirty="0"/>
          </a:p>
        </p:txBody>
      </p:sp>
      <p:sp>
        <p:nvSpPr>
          <p:cNvPr id="28" name="txt-192"/>
          <p:cNvSpPr txBox="1"/>
          <p:nvPr/>
        </p:nvSpPr>
        <p:spPr>
          <a:xfrm>
            <a:off x="5074920" y="4892040"/>
            <a:ext cx="2011680" cy="731520"/>
          </a:xfrm>
          <a:prstGeom prst="rect">
            <a:avLst/>
          </a:prstGeom>
          <a:noFill/>
          <a:ln/>
        </p:spPr>
        <p:txBody>
          <a:bodyPr wrap="square" lIns="0" tIns="0" rIns="0" bIns="0" rtlCol="0" anchor="t"/>
          <a:lstStyle/>
          <a:p>
            <a:pPr algn="ctr" indent="0" marL="0">
              <a:buNone/>
            </a:pPr>
            <a:r>
              <a:rPr lang="en-US" sz="1400" dirty="0">
                <a:solidFill>
                  <a:schemeClr val="tx1"/>
                </a:solidFill>
              </a:rPr>
              <a:t>Statistiques de réussite mises à jour</a:t>
            </a:r>
            <a:endParaRPr lang="en-US" sz="1400" dirty="0"/>
          </a:p>
        </p:txBody>
      </p:sp>
      <p:sp>
        <p:nvSpPr>
          <p:cNvPr id="29" name="etape-193"/>
          <p:cNvSpPr txBox="1"/>
          <p:nvPr/>
        </p:nvSpPr>
        <p:spPr>
          <a:xfrm>
            <a:off x="7973568" y="4069080"/>
            <a:ext cx="694944" cy="694944"/>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9</a:t>
            </a:r>
            <a:endParaRPr lang="en-US" sz="2000" dirty="0"/>
          </a:p>
        </p:txBody>
      </p:sp>
      <p:sp>
        <p:nvSpPr>
          <p:cNvPr id="30" name="txt-194"/>
          <p:cNvSpPr txBox="1"/>
          <p:nvPr/>
        </p:nvSpPr>
        <p:spPr>
          <a:xfrm>
            <a:off x="7315200" y="4892040"/>
            <a:ext cx="2011680" cy="731520"/>
          </a:xfrm>
          <a:prstGeom prst="rect">
            <a:avLst/>
          </a:prstGeom>
          <a:noFill/>
          <a:ln/>
        </p:spPr>
        <p:txBody>
          <a:bodyPr wrap="square" lIns="0" tIns="0" rIns="0" bIns="0" rtlCol="0" anchor="t"/>
          <a:lstStyle/>
          <a:p>
            <a:pPr algn="ctr" indent="0" marL="0">
              <a:buNone/>
            </a:pPr>
            <a:r>
              <a:rPr lang="en-US" sz="1400" dirty="0">
                <a:solidFill>
                  <a:schemeClr val="tx1"/>
                </a:solidFill>
              </a:rPr>
              <a:t>Nouvelle solution proposée si nécessaire</a:t>
            </a:r>
            <a:endParaRPr lang="en-US" sz="1400" dirty="0"/>
          </a:p>
        </p:txBody>
      </p:sp>
      <p:sp>
        <p:nvSpPr>
          <p:cNvPr id="31" name="fleche-195"/>
          <p:cNvSpPr/>
          <p:nvPr/>
        </p:nvSpPr>
        <p:spPr>
          <a:xfrm>
            <a:off x="10561320" y="3401568"/>
            <a:ext cx="914" cy="210312"/>
          </a:xfrm>
          <a:prstGeom prst="line">
            <a:avLst/>
          </a:prstGeom>
          <a:noFill/>
          <a:ln w="22225">
            <a:solidFill>
              <a:schemeClr val="accent5"/>
            </a:solidFill>
            <a:prstDash val="solid"/>
          </a:ln>
        </p:spPr>
      </p:sp>
      <p:sp>
        <p:nvSpPr>
          <p:cNvPr id="32" name="fleche-196"/>
          <p:cNvSpPr/>
          <p:nvPr/>
        </p:nvSpPr>
        <p:spPr>
          <a:xfrm flipH="1">
            <a:off x="1600200" y="3611880"/>
            <a:ext cx="8961120" cy="914"/>
          </a:xfrm>
          <a:prstGeom prst="line">
            <a:avLst/>
          </a:prstGeom>
          <a:noFill/>
          <a:ln w="22225">
            <a:solidFill>
              <a:schemeClr val="accent5"/>
            </a:solidFill>
            <a:prstDash val="solid"/>
          </a:ln>
        </p:spPr>
      </p:sp>
      <p:sp>
        <p:nvSpPr>
          <p:cNvPr id="33" name="fleche-197"/>
          <p:cNvSpPr/>
          <p:nvPr/>
        </p:nvSpPr>
        <p:spPr>
          <a:xfrm>
            <a:off x="1600200" y="3611880"/>
            <a:ext cx="914" cy="429768"/>
          </a:xfrm>
          <a:prstGeom prst="line">
            <a:avLst/>
          </a:prstGeom>
          <a:noFill/>
          <a:ln w="22225">
            <a:solidFill>
              <a:schemeClr val="accent5"/>
            </a:solidFill>
            <a:prstDash val="solid"/>
            <a:tailEnd type="triangle"/>
          </a:ln>
        </p:spPr>
      </p:sp>
      <p:sp>
        <p:nvSpPr>
          <p:cNvPr id="34" name="card-198"/>
          <p:cNvSpPr/>
          <p:nvPr/>
        </p:nvSpPr>
        <p:spPr>
          <a:xfrm>
            <a:off x="9601200" y="4069080"/>
            <a:ext cx="2039112" cy="1508760"/>
          </a:xfrm>
          <a:prstGeom prst="roundRect">
            <a:avLst>
              <a:gd name="adj" fmla="val 7273"/>
            </a:avLst>
          </a:prstGeom>
          <a:solidFill>
            <a:schemeClr val="accent2">
              <a:alpha val="15000"/>
            </a:schemeClr>
          </a:solidFill>
          <a:ln/>
        </p:spPr>
      </p:sp>
      <p:sp>
        <p:nvSpPr>
          <p:cNvPr id="35" name="txt-199"/>
          <p:cNvSpPr txBox="1"/>
          <p:nvPr/>
        </p:nvSpPr>
        <p:spPr>
          <a:xfrm>
            <a:off x="9765792" y="4206240"/>
            <a:ext cx="1737360" cy="1280160"/>
          </a:xfrm>
          <a:prstGeom prst="rect">
            <a:avLst/>
          </a:prstGeom>
          <a:noFill/>
          <a:ln/>
        </p:spPr>
        <p:txBody>
          <a:bodyPr wrap="square" lIns="0" tIns="0" rIns="0" bIns="0" rtlCol="0" anchor="t"/>
          <a:lstStyle/>
          <a:p>
            <a:pPr indent="0" marL="0">
              <a:buNone/>
            </a:pPr>
            <a:r>
              <a:rPr lang="en-US" sz="1300" b="1" dirty="0">
                <a:solidFill>
                  <a:schemeClr val="tx1"/>
                </a:solidFill>
              </a:rPr>
              <a:t>Échec ?</a:t>
            </a:r>
            <a:endParaRPr lang="en-US" sz="1300" dirty="0"/>
          </a:p>
          <a:p>
            <a:pPr indent="0" marL="0">
              <a:buNone/>
            </a:pPr>
            <a:r>
              <a:rPr lang="en-US" sz="1300" dirty="0">
                <a:solidFill>
                  <a:schemeClr val="tx1"/>
                </a:solidFill>
              </a:rPr>
              <a:t>ATM-BOT propose la solution suivante, ou le technicien ajoute la sienne.</a:t>
            </a:r>
            <a:endParaRPr lang="en-US" sz="1300" dirty="0"/>
          </a:p>
        </p:txBody>
      </p:sp>
      <p:sp>
        <p:nvSpPr>
          <p:cNvPr id="36" name="Shape 33"/>
          <p:cNvSpPr/>
          <p:nvPr/>
        </p:nvSpPr>
        <p:spPr>
          <a:xfrm>
            <a:off x="548640" y="5897880"/>
            <a:ext cx="201168" cy="201168"/>
          </a:xfrm>
          <a:prstGeom prst="ellipse">
            <a:avLst/>
          </a:prstGeom>
          <a:solidFill>
            <a:schemeClr val="accent3"/>
          </a:solidFill>
          <a:ln/>
        </p:spPr>
      </p:sp>
      <p:sp>
        <p:nvSpPr>
          <p:cNvPr id="37" name="txt-200"/>
          <p:cNvSpPr txBox="1"/>
          <p:nvPr/>
        </p:nvSpPr>
        <p:spPr>
          <a:xfrm>
            <a:off x="841248" y="5870448"/>
            <a:ext cx="2194560" cy="274320"/>
          </a:xfrm>
          <a:prstGeom prst="rect">
            <a:avLst/>
          </a:prstGeom>
          <a:noFill/>
          <a:ln/>
        </p:spPr>
        <p:txBody>
          <a:bodyPr wrap="square" lIns="0" tIns="0" rIns="0" bIns="0" rtlCol="0" anchor="t"/>
          <a:lstStyle/>
          <a:p>
            <a:pPr indent="0" marL="0">
              <a:buNone/>
            </a:pPr>
            <a:r>
              <a:rPr lang="en-US" sz="1200" dirty="0">
                <a:solidFill>
                  <a:schemeClr val="tx2"/>
                </a:solidFill>
              </a:rPr>
              <a:t>Action du technicien</a:t>
            </a:r>
            <a:endParaRPr lang="en-US" sz="1200" dirty="0"/>
          </a:p>
        </p:txBody>
      </p:sp>
      <p:sp>
        <p:nvSpPr>
          <p:cNvPr id="38" name="Shape 35"/>
          <p:cNvSpPr/>
          <p:nvPr/>
        </p:nvSpPr>
        <p:spPr>
          <a:xfrm>
            <a:off x="2926080" y="5897880"/>
            <a:ext cx="201168" cy="201168"/>
          </a:xfrm>
          <a:prstGeom prst="ellipse">
            <a:avLst/>
          </a:prstGeom>
          <a:solidFill>
            <a:schemeClr val="accent1"/>
          </a:solidFill>
          <a:ln/>
        </p:spPr>
      </p:sp>
      <p:sp>
        <p:nvSpPr>
          <p:cNvPr id="39" name="txt-201"/>
          <p:cNvSpPr txBox="1"/>
          <p:nvPr/>
        </p:nvSpPr>
        <p:spPr>
          <a:xfrm>
            <a:off x="3218688" y="5870448"/>
            <a:ext cx="2377440" cy="274320"/>
          </a:xfrm>
          <a:prstGeom prst="rect">
            <a:avLst/>
          </a:prstGeom>
          <a:noFill/>
          <a:ln/>
        </p:spPr>
        <p:txBody>
          <a:bodyPr wrap="square" lIns="0" tIns="0" rIns="0" bIns="0" rtlCol="0" anchor="t"/>
          <a:lstStyle/>
          <a:p>
            <a:pPr indent="0" marL="0">
              <a:buNone/>
            </a:pPr>
            <a:r>
              <a:rPr lang="en-US" sz="1200" dirty="0">
                <a:solidFill>
                  <a:schemeClr val="tx2"/>
                </a:solidFill>
              </a:rPr>
              <a:t>Traitement par ATM-BOT</a:t>
            </a:r>
            <a:endParaRPr lang="en-US" sz="12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partie"/>
          <p:cNvSpPr txBox="1"/>
          <p:nvPr/>
        </p:nvSpPr>
        <p:spPr>
          <a:xfrm>
            <a:off x="548640" y="182880"/>
            <a:ext cx="8229600" cy="256032"/>
          </a:xfrm>
          <a:prstGeom prst="rect">
            <a:avLst/>
          </a:prstGeom>
          <a:noFill/>
          <a:ln/>
        </p:spPr>
        <p:txBody>
          <a:bodyPr wrap="square" lIns="0" tIns="0" rIns="0" bIns="0" rtlCol="0" anchor="ctr"/>
          <a:lstStyle/>
          <a:p>
            <a:pPr indent="0" marL="0">
              <a:buNone/>
            </a:pPr>
            <a:r>
              <a:rPr lang="en-US" sz="1100" b="1" spc="150" kern="0" dirty="0">
                <a:solidFill>
                  <a:schemeClr val="accent1"/>
                </a:solidFill>
              </a:rPr>
              <a:t>II. L'USAGE AU QUOTIDIEN</a:t>
            </a:r>
            <a:endParaRPr lang="en-US" sz="1100" dirty="0"/>
          </a:p>
        </p:txBody>
      </p:sp>
      <p:sp>
        <p:nvSpPr>
          <p:cNvPr id="3" name="Text 0"/>
          <p:cNvSpPr/>
          <p:nvPr>
            <p:ph idx="100" type="title" hasCustomPrompt="1"/>
          </p:nvPr>
        </p:nvSpPr>
        <p:spPr>
          <a:xfrm>
            <a:off x="548640" y="438912"/>
            <a:ext cx="11091672" cy="54864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b) Validation et capitalisation</a:t>
            </a:r>
            <a:endParaRPr lang="en-US" sz="2800" dirty="0"/>
          </a:p>
        </p:txBody>
      </p:sp>
      <p:pic>
        <p:nvPicPr>
          <p:cNvPr id="4" name="icone-objectif" descr="preencoded.png">    </p:cNvPr>
          <p:cNvPicPr>
            <a:picLocks noChangeAspect="1"/>
          </p:cNvPicPr>
          <p:nvPr/>
        </p:nvPicPr>
        <p:blipFill>
          <a:blip r:embed="rId1"/>
          <a:stretch>
            <a:fillRect/>
          </a:stretch>
        </p:blipFill>
        <p:spPr>
          <a:xfrm>
            <a:off x="548640" y="1033272"/>
            <a:ext cx="237744" cy="237744"/>
          </a:xfrm>
          <a:prstGeom prst="rect">
            <a:avLst/>
          </a:prstGeom>
        </p:spPr>
      </p:pic>
      <p:sp>
        <p:nvSpPr>
          <p:cNvPr id="5" name="objectif"/>
          <p:cNvSpPr txBox="1"/>
          <p:nvPr/>
        </p:nvSpPr>
        <p:spPr>
          <a:xfrm>
            <a:off x="868680" y="987552"/>
            <a:ext cx="10771632" cy="329184"/>
          </a:xfrm>
          <a:prstGeom prst="rect">
            <a:avLst/>
          </a:prstGeom>
          <a:noFill/>
          <a:ln/>
        </p:spPr>
        <p:txBody>
          <a:bodyPr wrap="square" lIns="0" tIns="0" rIns="0" bIns="0" rtlCol="0" anchor="ctr"/>
          <a:lstStyle/>
          <a:p>
            <a:pPr indent="0" marL="0">
              <a:buNone/>
            </a:pPr>
            <a:r>
              <a:rPr lang="en-US" sz="1400" b="1" i="1" dirty="0">
                <a:solidFill>
                  <a:schemeClr val="tx2"/>
                </a:solidFill>
              </a:rPr>
              <a:t>Objectif : </a:t>
            </a:r>
            <a:pPr indent="0" marL="0">
              <a:buNone/>
            </a:pPr>
            <a:r>
              <a:rPr lang="en-US" sz="1400" i="1" dirty="0">
                <a:solidFill>
                  <a:schemeClr val="tx2"/>
                </a:solidFill>
              </a:rPr>
              <a:t>Voir comment chaque test sur le terrain enrichit la base.</a:t>
            </a:r>
            <a:endParaRPr lang="en-US" sz="1400" dirty="0"/>
          </a:p>
        </p:txBody>
      </p:sp>
      <p:sp>
        <p:nvSpPr>
          <p:cNvPr id="6" name="etape-202"/>
          <p:cNvSpPr txBox="1"/>
          <p:nvPr/>
        </p:nvSpPr>
        <p:spPr>
          <a:xfrm>
            <a:off x="548640" y="1600200"/>
            <a:ext cx="2194560" cy="868680"/>
          </a:xfrm>
          <a:prstGeom prst="roundRect">
            <a:avLst>
              <a:gd name="adj" fmla="val 10526"/>
            </a:avLst>
          </a:prstGeom>
          <a:solidFill>
            <a:schemeClr val="accent1">
              <a:alpha val="15000"/>
            </a:schemeClr>
          </a:solidFill>
          <a:ln w="15875">
            <a:solidFill>
              <a:schemeClr val="accent1"/>
            </a:solidFill>
          </a:ln>
        </p:spPr>
        <p:txBody>
          <a:bodyPr wrap="square" lIns="1016" tIns="1016" rIns="1016" bIns="1016" rtlCol="0" anchor="ctr"/>
          <a:lstStyle/>
          <a:p>
            <a:pPr algn="ctr" indent="0" marL="0">
              <a:buNone/>
            </a:pPr>
            <a:r>
              <a:rPr lang="en-US" sz="1400" b="1" dirty="0">
                <a:solidFill>
                  <a:schemeClr val="tx1"/>
                </a:solidFill>
              </a:rPr>
              <a:t>Solution proposée</a:t>
            </a:r>
            <a:endParaRPr lang="en-US" sz="1400" dirty="0"/>
          </a:p>
        </p:txBody>
      </p:sp>
      <p:sp>
        <p:nvSpPr>
          <p:cNvPr id="7" name="etape-203"/>
          <p:cNvSpPr txBox="1"/>
          <p:nvPr/>
        </p:nvSpPr>
        <p:spPr>
          <a:xfrm>
            <a:off x="3246120" y="1600200"/>
            <a:ext cx="2194560" cy="868680"/>
          </a:xfrm>
          <a:prstGeom prst="roundRect">
            <a:avLst>
              <a:gd name="adj" fmla="val 10526"/>
            </a:avLst>
          </a:prstGeom>
          <a:solidFill>
            <a:schemeClr val="accent3">
              <a:alpha val="15000"/>
            </a:schemeClr>
          </a:solidFill>
          <a:ln w="15875">
            <a:solidFill>
              <a:schemeClr val="accent3"/>
            </a:solidFill>
          </a:ln>
        </p:spPr>
        <p:txBody>
          <a:bodyPr wrap="square" lIns="1016" tIns="1016" rIns="1016" bIns="1016" rtlCol="0" anchor="ctr"/>
          <a:lstStyle/>
          <a:p>
            <a:pPr algn="ctr" indent="0" marL="0">
              <a:buNone/>
            </a:pPr>
            <a:r>
              <a:rPr lang="en-US" sz="1400" b="1" dirty="0">
                <a:solidFill>
                  <a:schemeClr val="tx1"/>
                </a:solidFill>
              </a:rPr>
              <a:t>Le technicien teste</a:t>
            </a:r>
            <a:endParaRPr lang="en-US" sz="1400" dirty="0"/>
          </a:p>
        </p:txBody>
      </p:sp>
      <p:sp>
        <p:nvSpPr>
          <p:cNvPr id="8" name="Text 5"/>
          <p:cNvSpPr txBox="1"/>
          <p:nvPr/>
        </p:nvSpPr>
        <p:spPr>
          <a:xfrm>
            <a:off x="5897880" y="1463040"/>
            <a:ext cx="1920240" cy="1143000"/>
          </a:xfrm>
          <a:prstGeom prst="diamond">
            <a:avLst/>
          </a:prstGeom>
          <a:solidFill>
            <a:schemeClr val="bg2"/>
          </a:solidFill>
          <a:ln w="15875">
            <a:solidFill>
              <a:schemeClr val="accent5"/>
            </a:solidFill>
          </a:ln>
        </p:spPr>
        <p:txBody>
          <a:bodyPr wrap="square" lIns="0" tIns="0" rIns="0" bIns="0" rtlCol="0" anchor="ctr"/>
          <a:lstStyle/>
          <a:p>
            <a:pPr algn="ctr" indent="0" marL="0">
              <a:buNone/>
            </a:pPr>
            <a:r>
              <a:rPr lang="en-US" sz="1400" b="1" dirty="0">
                <a:solidFill>
                  <a:schemeClr val="tx1"/>
                </a:solidFill>
              </a:rPr>
              <a:t>Fonctionne ?</a:t>
            </a:r>
            <a:endParaRPr lang="en-US" sz="1400" dirty="0"/>
          </a:p>
        </p:txBody>
      </p:sp>
      <p:sp>
        <p:nvSpPr>
          <p:cNvPr id="9" name="etape-204"/>
          <p:cNvSpPr txBox="1"/>
          <p:nvPr/>
        </p:nvSpPr>
        <p:spPr>
          <a:xfrm>
            <a:off x="8412480" y="1600200"/>
            <a:ext cx="3227832" cy="868680"/>
          </a:xfrm>
          <a:prstGeom prst="roundRect">
            <a:avLst>
              <a:gd name="adj" fmla="val 10526"/>
            </a:avLst>
          </a:prstGeom>
          <a:solidFill>
            <a:schemeClr val="accent6">
              <a:alpha val="20000"/>
            </a:schemeClr>
          </a:solidFill>
          <a:ln w="15875">
            <a:solidFill>
              <a:schemeClr val="accent6"/>
            </a:solidFill>
          </a:ln>
        </p:spPr>
        <p:txBody>
          <a:bodyPr wrap="square" lIns="1016" tIns="1016" rIns="1016" bIns="1016" rtlCol="0" anchor="ctr"/>
          <a:lstStyle/>
          <a:p>
            <a:pPr algn="ctr" indent="0" marL="0">
              <a:buNone/>
            </a:pPr>
            <a:r>
              <a:rPr lang="en-US" sz="1400" b="1" dirty="0">
                <a:solidFill>
                  <a:schemeClr val="tx1"/>
                </a:solidFill>
              </a:rPr>
              <a:t>Validée : statistiques mises à jour</a:t>
            </a:r>
            <a:endParaRPr lang="en-US" sz="1400" dirty="0"/>
          </a:p>
        </p:txBody>
      </p:sp>
      <p:sp>
        <p:nvSpPr>
          <p:cNvPr id="10" name="fleche-205"/>
          <p:cNvSpPr/>
          <p:nvPr/>
        </p:nvSpPr>
        <p:spPr>
          <a:xfrm>
            <a:off x="2743200" y="2029968"/>
            <a:ext cx="457200" cy="914"/>
          </a:xfrm>
          <a:prstGeom prst="line">
            <a:avLst/>
          </a:prstGeom>
          <a:noFill/>
          <a:ln w="22225">
            <a:solidFill>
              <a:schemeClr val="accent5"/>
            </a:solidFill>
            <a:prstDash val="solid"/>
            <a:tailEnd type="triangle"/>
          </a:ln>
        </p:spPr>
      </p:sp>
      <p:sp>
        <p:nvSpPr>
          <p:cNvPr id="11" name="fleche-206"/>
          <p:cNvSpPr/>
          <p:nvPr/>
        </p:nvSpPr>
        <p:spPr>
          <a:xfrm>
            <a:off x="5440680" y="2029968"/>
            <a:ext cx="411480" cy="914"/>
          </a:xfrm>
          <a:prstGeom prst="line">
            <a:avLst/>
          </a:prstGeom>
          <a:noFill/>
          <a:ln w="22225">
            <a:solidFill>
              <a:schemeClr val="accent5"/>
            </a:solidFill>
            <a:prstDash val="solid"/>
            <a:tailEnd type="triangle"/>
          </a:ln>
        </p:spPr>
      </p:sp>
      <p:sp>
        <p:nvSpPr>
          <p:cNvPr id="12" name="fleche-207"/>
          <p:cNvSpPr/>
          <p:nvPr/>
        </p:nvSpPr>
        <p:spPr>
          <a:xfrm>
            <a:off x="7818120" y="2029968"/>
            <a:ext cx="548640" cy="914"/>
          </a:xfrm>
          <a:prstGeom prst="line">
            <a:avLst/>
          </a:prstGeom>
          <a:noFill/>
          <a:ln w="22225">
            <a:solidFill>
              <a:schemeClr val="accent6"/>
            </a:solidFill>
            <a:prstDash val="solid"/>
            <a:tailEnd type="triangle"/>
          </a:ln>
        </p:spPr>
      </p:sp>
      <p:sp>
        <p:nvSpPr>
          <p:cNvPr id="13" name="txt-208"/>
          <p:cNvSpPr txBox="1"/>
          <p:nvPr/>
        </p:nvSpPr>
        <p:spPr>
          <a:xfrm>
            <a:off x="7909560" y="1645920"/>
            <a:ext cx="457200" cy="274320"/>
          </a:xfrm>
          <a:prstGeom prst="rect">
            <a:avLst/>
          </a:prstGeom>
          <a:noFill/>
          <a:ln/>
        </p:spPr>
        <p:txBody>
          <a:bodyPr wrap="square" lIns="0" tIns="0" rIns="0" bIns="0" rtlCol="0" anchor="t"/>
          <a:lstStyle/>
          <a:p>
            <a:pPr indent="0" marL="0">
              <a:buNone/>
            </a:pPr>
            <a:r>
              <a:rPr lang="en-US" sz="1200" b="1" dirty="0">
                <a:solidFill>
                  <a:schemeClr val="accent6"/>
                </a:solidFill>
              </a:rPr>
              <a:t>Oui</a:t>
            </a:r>
            <a:endParaRPr lang="en-US" sz="1200" dirty="0"/>
          </a:p>
        </p:txBody>
      </p:sp>
      <p:sp>
        <p:nvSpPr>
          <p:cNvPr id="14" name="etape-209"/>
          <p:cNvSpPr txBox="1"/>
          <p:nvPr/>
        </p:nvSpPr>
        <p:spPr>
          <a:xfrm>
            <a:off x="5760720" y="3246120"/>
            <a:ext cx="2194560" cy="868680"/>
          </a:xfrm>
          <a:prstGeom prst="roundRect">
            <a:avLst>
              <a:gd name="adj" fmla="val 10526"/>
            </a:avLst>
          </a:prstGeom>
          <a:solidFill>
            <a:schemeClr val="accent2">
              <a:alpha val="15000"/>
            </a:schemeClr>
          </a:solidFill>
          <a:ln w="15875">
            <a:solidFill>
              <a:schemeClr val="accent2"/>
            </a:solidFill>
          </a:ln>
        </p:spPr>
        <p:txBody>
          <a:bodyPr wrap="square" lIns="1016" tIns="1016" rIns="1016" bIns="1016" rtlCol="0" anchor="ctr"/>
          <a:lstStyle/>
          <a:p>
            <a:pPr algn="ctr" indent="0" marL="0">
              <a:buNone/>
            </a:pPr>
            <a:r>
              <a:rPr lang="en-US" sz="1400" b="1" dirty="0">
                <a:solidFill>
                  <a:schemeClr val="tx1"/>
                </a:solidFill>
              </a:rPr>
              <a:t>Essayer une autre solution</a:t>
            </a:r>
            <a:endParaRPr lang="en-US" sz="1400" dirty="0"/>
          </a:p>
        </p:txBody>
      </p:sp>
      <p:sp>
        <p:nvSpPr>
          <p:cNvPr id="15" name="fleche-210"/>
          <p:cNvSpPr/>
          <p:nvPr/>
        </p:nvSpPr>
        <p:spPr>
          <a:xfrm>
            <a:off x="6858000" y="2606040"/>
            <a:ext cx="914" cy="594360"/>
          </a:xfrm>
          <a:prstGeom prst="line">
            <a:avLst/>
          </a:prstGeom>
          <a:noFill/>
          <a:ln w="22225">
            <a:solidFill>
              <a:schemeClr val="accent4"/>
            </a:solidFill>
            <a:prstDash val="solid"/>
            <a:tailEnd type="triangle"/>
          </a:ln>
        </p:spPr>
      </p:sp>
      <p:sp>
        <p:nvSpPr>
          <p:cNvPr id="16" name="txt-211"/>
          <p:cNvSpPr txBox="1"/>
          <p:nvPr/>
        </p:nvSpPr>
        <p:spPr>
          <a:xfrm>
            <a:off x="6949440" y="2743200"/>
            <a:ext cx="457200" cy="274320"/>
          </a:xfrm>
          <a:prstGeom prst="rect">
            <a:avLst/>
          </a:prstGeom>
          <a:noFill/>
          <a:ln/>
        </p:spPr>
        <p:txBody>
          <a:bodyPr wrap="square" lIns="0" tIns="0" rIns="0" bIns="0" rtlCol="0" anchor="t"/>
          <a:lstStyle/>
          <a:p>
            <a:pPr indent="0" marL="0">
              <a:buNone/>
            </a:pPr>
            <a:r>
              <a:rPr lang="en-US" sz="1200" b="1" dirty="0">
                <a:solidFill>
                  <a:schemeClr val="accent4"/>
                </a:solidFill>
              </a:rPr>
              <a:t>Non</a:t>
            </a:r>
            <a:endParaRPr lang="en-US" sz="1200" dirty="0"/>
          </a:p>
        </p:txBody>
      </p:sp>
      <p:sp>
        <p:nvSpPr>
          <p:cNvPr id="17" name="fleche-212"/>
          <p:cNvSpPr/>
          <p:nvPr/>
        </p:nvSpPr>
        <p:spPr>
          <a:xfrm flipH="1">
            <a:off x="1645920" y="3675888"/>
            <a:ext cx="4114800" cy="914"/>
          </a:xfrm>
          <a:prstGeom prst="line">
            <a:avLst/>
          </a:prstGeom>
          <a:noFill/>
          <a:ln w="22225">
            <a:solidFill>
              <a:schemeClr val="accent5"/>
            </a:solidFill>
            <a:prstDash val="solid"/>
          </a:ln>
        </p:spPr>
      </p:sp>
      <p:sp>
        <p:nvSpPr>
          <p:cNvPr id="18" name="fleche-213"/>
          <p:cNvSpPr/>
          <p:nvPr/>
        </p:nvSpPr>
        <p:spPr>
          <a:xfrm flipV="1">
            <a:off x="1645920" y="2514600"/>
            <a:ext cx="914" cy="1161288"/>
          </a:xfrm>
          <a:prstGeom prst="line">
            <a:avLst/>
          </a:prstGeom>
          <a:noFill/>
          <a:ln w="22225">
            <a:solidFill>
              <a:schemeClr val="accent5"/>
            </a:solidFill>
            <a:prstDash val="solid"/>
            <a:tailEnd type="triangle"/>
          </a:ln>
        </p:spPr>
      </p:sp>
      <p:sp>
        <p:nvSpPr>
          <p:cNvPr id="19" name="etape-214"/>
          <p:cNvSpPr txBox="1"/>
          <p:nvPr/>
        </p:nvSpPr>
        <p:spPr>
          <a:xfrm>
            <a:off x="5760720" y="4937760"/>
            <a:ext cx="2194560" cy="868680"/>
          </a:xfrm>
          <a:prstGeom prst="roundRect">
            <a:avLst>
              <a:gd name="adj" fmla="val 10526"/>
            </a:avLst>
          </a:prstGeom>
          <a:solidFill>
            <a:schemeClr val="accent3">
              <a:alpha val="15000"/>
            </a:schemeClr>
          </a:solidFill>
          <a:ln w="15875">
            <a:solidFill>
              <a:schemeClr val="accent3"/>
            </a:solidFill>
          </a:ln>
        </p:spPr>
        <p:txBody>
          <a:bodyPr wrap="square" lIns="1016" tIns="1016" rIns="1016" bIns="1016" rtlCol="0" anchor="ctr"/>
          <a:lstStyle/>
          <a:p>
            <a:pPr algn="ctr" indent="0" marL="0">
              <a:buNone/>
            </a:pPr>
            <a:r>
              <a:rPr lang="en-US" sz="1400" b="1" dirty="0">
                <a:solidFill>
                  <a:schemeClr val="tx1"/>
                </a:solidFill>
              </a:rPr>
              <a:t>Nouvelle action du technicien</a:t>
            </a:r>
            <a:endParaRPr lang="en-US" sz="1400" dirty="0"/>
          </a:p>
        </p:txBody>
      </p:sp>
      <p:sp>
        <p:nvSpPr>
          <p:cNvPr id="20" name="fleche-215"/>
          <p:cNvSpPr/>
          <p:nvPr/>
        </p:nvSpPr>
        <p:spPr>
          <a:xfrm>
            <a:off x="6858000" y="4114800"/>
            <a:ext cx="914" cy="777240"/>
          </a:xfrm>
          <a:prstGeom prst="line">
            <a:avLst/>
          </a:prstGeom>
          <a:noFill/>
          <a:ln w="22225">
            <a:solidFill>
              <a:schemeClr val="accent5"/>
            </a:solidFill>
            <a:prstDash val="solid"/>
            <a:tailEnd type="triangle"/>
          </a:ln>
        </p:spPr>
      </p:sp>
      <p:sp>
        <p:nvSpPr>
          <p:cNvPr id="21" name="txt-216"/>
          <p:cNvSpPr txBox="1"/>
          <p:nvPr/>
        </p:nvSpPr>
        <p:spPr>
          <a:xfrm>
            <a:off x="6949440" y="4343400"/>
            <a:ext cx="2011680" cy="274320"/>
          </a:xfrm>
          <a:prstGeom prst="rect">
            <a:avLst/>
          </a:prstGeom>
          <a:noFill/>
          <a:ln/>
        </p:spPr>
        <p:txBody>
          <a:bodyPr wrap="square" lIns="0" tIns="0" rIns="0" bIns="0" rtlCol="0" anchor="t"/>
          <a:lstStyle/>
          <a:p>
            <a:pPr indent="0" marL="0">
              <a:buNone/>
            </a:pPr>
            <a:r>
              <a:rPr lang="en-US" sz="1200" dirty="0">
                <a:solidFill>
                  <a:schemeClr val="tx2"/>
                </a:solidFill>
              </a:rPr>
              <a:t>aucune solution efficace</a:t>
            </a:r>
            <a:endParaRPr lang="en-US" sz="1200" dirty="0"/>
          </a:p>
        </p:txBody>
      </p:sp>
      <p:sp>
        <p:nvSpPr>
          <p:cNvPr id="22" name="etape-217"/>
          <p:cNvSpPr txBox="1"/>
          <p:nvPr/>
        </p:nvSpPr>
        <p:spPr>
          <a:xfrm>
            <a:off x="8412480" y="4937760"/>
            <a:ext cx="3227832" cy="868680"/>
          </a:xfrm>
          <a:prstGeom prst="roundRect">
            <a:avLst>
              <a:gd name="adj" fmla="val 10526"/>
            </a:avLst>
          </a:prstGeom>
          <a:solidFill>
            <a:schemeClr val="accent5">
              <a:alpha val="15000"/>
            </a:schemeClr>
          </a:solidFill>
          <a:ln w="15875">
            <a:solidFill>
              <a:schemeClr val="accent5"/>
            </a:solidFill>
          </a:ln>
        </p:spPr>
        <p:txBody>
          <a:bodyPr wrap="square" lIns="1016" tIns="1016" rIns="1016" bIns="1016" rtlCol="0" anchor="ctr"/>
          <a:lstStyle/>
          <a:p>
            <a:pPr algn="ctr" indent="0" marL="0">
              <a:buNone/>
            </a:pPr>
            <a:r>
              <a:rPr lang="en-US" sz="1400" dirty="0">
                <a:solidFill>
                  <a:schemeClr val="tx1"/>
                </a:solidFill>
              </a:rPr>
              <a:t>Vérification de similarité → nouvelle connaissance ou enrichissement</a:t>
            </a:r>
            <a:endParaRPr lang="en-US" sz="1400" dirty="0"/>
          </a:p>
        </p:txBody>
      </p:sp>
      <p:sp>
        <p:nvSpPr>
          <p:cNvPr id="23" name="fleche-218"/>
          <p:cNvSpPr/>
          <p:nvPr/>
        </p:nvSpPr>
        <p:spPr>
          <a:xfrm>
            <a:off x="7955280" y="5367528"/>
            <a:ext cx="411480" cy="914"/>
          </a:xfrm>
          <a:prstGeom prst="line">
            <a:avLst/>
          </a:prstGeom>
          <a:noFill/>
          <a:ln w="22225">
            <a:solidFill>
              <a:schemeClr val="accent5"/>
            </a:solidFill>
            <a:prstDash val="solid"/>
            <a:tailEnd type="triangle"/>
          </a:ln>
        </p:spPr>
      </p:sp>
      <p:sp>
        <p:nvSpPr>
          <p:cNvPr id="24" name="etiquette-219"/>
          <p:cNvSpPr txBox="1"/>
          <p:nvPr/>
        </p:nvSpPr>
        <p:spPr>
          <a:xfrm>
            <a:off x="10561320" y="4754880"/>
            <a:ext cx="1005840" cy="237744"/>
          </a:xfrm>
          <a:prstGeom prst="roundRect">
            <a:avLst>
              <a:gd name="adj" fmla="val 50000"/>
            </a:avLst>
          </a:prstGeom>
          <a:solidFill>
            <a:schemeClr val="accent4"/>
          </a:solidFill>
          <a:ln/>
        </p:spPr>
        <p:txBody>
          <a:bodyPr wrap="square" lIns="0" tIns="0" rIns="0" bIns="0" rtlCol="0" anchor="ctr"/>
          <a:lstStyle/>
          <a:p>
            <a:pPr algn="ctr" indent="0" marL="0">
              <a:buNone/>
            </a:pPr>
            <a:r>
              <a:rPr lang="en-US" sz="1000" b="1" dirty="0">
                <a:solidFill>
                  <a:schemeClr val="bg1"/>
                </a:solidFill>
              </a:rPr>
              <a:t>À développer</a:t>
            </a:r>
            <a:endParaRPr lang="en-US" sz="1000" dirty="0"/>
          </a:p>
        </p:txBody>
      </p:sp>
      <p:sp>
        <p:nvSpPr>
          <p:cNvPr id="25" name="card-220"/>
          <p:cNvSpPr/>
          <p:nvPr/>
        </p:nvSpPr>
        <p:spPr>
          <a:xfrm>
            <a:off x="548640" y="4572000"/>
            <a:ext cx="4754880" cy="1280160"/>
          </a:xfrm>
          <a:prstGeom prst="roundRect">
            <a:avLst>
              <a:gd name="adj" fmla="val 8571"/>
            </a:avLst>
          </a:prstGeom>
          <a:solidFill>
            <a:schemeClr val="accent1">
              <a:alpha val="12000"/>
            </a:schemeClr>
          </a:solidFill>
          <a:ln/>
        </p:spPr>
      </p:sp>
      <p:sp>
        <p:nvSpPr>
          <p:cNvPr id="26" name="pastille-221"/>
          <p:cNvSpPr/>
          <p:nvPr/>
        </p:nvSpPr>
        <p:spPr>
          <a:xfrm>
            <a:off x="777240" y="4892040"/>
            <a:ext cx="640080" cy="640080"/>
          </a:xfrm>
          <a:prstGeom prst="ellipse">
            <a:avLst/>
          </a:prstGeom>
          <a:solidFill>
            <a:schemeClr val="accent1"/>
          </a:solidFill>
          <a:ln/>
        </p:spPr>
      </p:sp>
      <p:pic>
        <p:nvPicPr>
          <p:cNvPr id="27" name="icone-222" descr="preencoded.png">    </p:cNvPr>
          <p:cNvPicPr>
            <a:picLocks noChangeAspect="1"/>
          </p:cNvPicPr>
          <p:nvPr/>
        </p:nvPicPr>
        <p:blipFill>
          <a:blip r:embed="rId2"/>
          <a:stretch>
            <a:fillRect/>
          </a:stretch>
        </p:blipFill>
        <p:spPr>
          <a:xfrm>
            <a:off x="918058" y="5032858"/>
            <a:ext cx="358445" cy="358445"/>
          </a:xfrm>
          <a:prstGeom prst="rect">
            <a:avLst/>
          </a:prstGeom>
        </p:spPr>
      </p:pic>
      <p:sp>
        <p:nvSpPr>
          <p:cNvPr id="28" name="txt-223"/>
          <p:cNvSpPr txBox="1"/>
          <p:nvPr/>
        </p:nvSpPr>
        <p:spPr>
          <a:xfrm>
            <a:off x="1600200" y="4663440"/>
            <a:ext cx="3566160" cy="1097280"/>
          </a:xfrm>
          <a:prstGeom prst="rect">
            <a:avLst/>
          </a:prstGeom>
          <a:noFill/>
          <a:ln/>
        </p:spPr>
        <p:txBody>
          <a:bodyPr wrap="square" lIns="0" tIns="0" rIns="0" bIns="0" rtlCol="0" anchor="ctr"/>
          <a:lstStyle/>
          <a:p>
            <a:pPr indent="0" marL="0">
              <a:buNone/>
            </a:pPr>
            <a:r>
              <a:rPr lang="en-US" sz="1400" dirty="0">
                <a:solidFill>
                  <a:schemeClr val="tx1"/>
                </a:solidFill>
              </a:rPr>
              <a:t>Chaque test, réussi ou non, alimente les statistiques : la solution capitalise l'expérience terrain.</a:t>
            </a:r>
            <a:endParaRPr lang="en-US" sz="14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partie"/>
          <p:cNvSpPr txBox="1"/>
          <p:nvPr/>
        </p:nvSpPr>
        <p:spPr>
          <a:xfrm>
            <a:off x="548640" y="182880"/>
            <a:ext cx="8229600" cy="256032"/>
          </a:xfrm>
          <a:prstGeom prst="rect">
            <a:avLst/>
          </a:prstGeom>
          <a:noFill/>
          <a:ln/>
        </p:spPr>
        <p:txBody>
          <a:bodyPr wrap="square" lIns="0" tIns="0" rIns="0" bIns="0" rtlCol="0" anchor="ctr"/>
          <a:lstStyle/>
          <a:p>
            <a:pPr indent="0" marL="0">
              <a:buNone/>
            </a:pPr>
            <a:r>
              <a:rPr lang="en-US" sz="1100" b="1" spc="150" kern="0" dirty="0">
                <a:solidFill>
                  <a:schemeClr val="accent1"/>
                </a:solidFill>
              </a:rPr>
              <a:t>II. L'USAGE AU QUOTIDIEN</a:t>
            </a:r>
            <a:endParaRPr lang="en-US" sz="1100" dirty="0"/>
          </a:p>
        </p:txBody>
      </p:sp>
      <p:sp>
        <p:nvSpPr>
          <p:cNvPr id="3" name="Text 0"/>
          <p:cNvSpPr/>
          <p:nvPr>
            <p:ph idx="100" type="title" hasCustomPrompt="1"/>
          </p:nvPr>
        </p:nvSpPr>
        <p:spPr>
          <a:xfrm>
            <a:off x="548640" y="438912"/>
            <a:ext cx="11091672" cy="54864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c) Intelligence conversationnelle</a:t>
            </a:r>
            <a:endParaRPr lang="en-US" sz="2800" dirty="0"/>
          </a:p>
        </p:txBody>
      </p:sp>
      <p:pic>
        <p:nvPicPr>
          <p:cNvPr id="4" name="icone-objectif" descr="preencoded.png">    </p:cNvPr>
          <p:cNvPicPr>
            <a:picLocks noChangeAspect="1"/>
          </p:cNvPicPr>
          <p:nvPr/>
        </p:nvPicPr>
        <p:blipFill>
          <a:blip r:embed="rId1"/>
          <a:stretch>
            <a:fillRect/>
          </a:stretch>
        </p:blipFill>
        <p:spPr>
          <a:xfrm>
            <a:off x="548640" y="1033272"/>
            <a:ext cx="237744" cy="237744"/>
          </a:xfrm>
          <a:prstGeom prst="rect">
            <a:avLst/>
          </a:prstGeom>
        </p:spPr>
      </p:pic>
      <p:sp>
        <p:nvSpPr>
          <p:cNvPr id="5" name="objectif"/>
          <p:cNvSpPr txBox="1"/>
          <p:nvPr/>
        </p:nvSpPr>
        <p:spPr>
          <a:xfrm>
            <a:off x="868680" y="987552"/>
            <a:ext cx="10771632" cy="329184"/>
          </a:xfrm>
          <a:prstGeom prst="rect">
            <a:avLst/>
          </a:prstGeom>
          <a:noFill/>
          <a:ln/>
        </p:spPr>
        <p:txBody>
          <a:bodyPr wrap="square" lIns="0" tIns="0" rIns="0" bIns="0" rtlCol="0" anchor="ctr"/>
          <a:lstStyle/>
          <a:p>
            <a:pPr indent="0" marL="0">
              <a:buNone/>
            </a:pPr>
            <a:r>
              <a:rPr lang="en-US" sz="1400" b="1" i="1" dirty="0">
                <a:solidFill>
                  <a:schemeClr val="tx2"/>
                </a:solidFill>
              </a:rPr>
              <a:t>Objectif : </a:t>
            </a:r>
            <a:pPr indent="0" marL="0">
              <a:buNone/>
            </a:pPr>
            <a:r>
              <a:rPr lang="en-US" sz="1400" i="1" dirty="0">
                <a:solidFill>
                  <a:schemeClr val="tx2"/>
                </a:solidFill>
              </a:rPr>
              <a:t>Comprendre comment ATM-BOT suit la conversation sans se tromper de résultat.</a:t>
            </a:r>
            <a:endParaRPr lang="en-US" sz="1400" dirty="0"/>
          </a:p>
        </p:txBody>
      </p:sp>
      <p:sp>
        <p:nvSpPr>
          <p:cNvPr id="6" name="card-224"/>
          <p:cNvSpPr/>
          <p:nvPr/>
        </p:nvSpPr>
        <p:spPr>
          <a:xfrm>
            <a:off x="548640" y="1463040"/>
            <a:ext cx="5120640" cy="4572000"/>
          </a:xfrm>
          <a:prstGeom prst="roundRect">
            <a:avLst>
              <a:gd name="adj" fmla="val 2400"/>
            </a:avLst>
          </a:prstGeom>
          <a:solidFill>
            <a:schemeClr val="bg1"/>
          </a:solidFill>
          <a:ln w="12700">
            <a:solidFill>
              <a:srgbClr val="D5DCE0"/>
            </a:solidFill>
            <a:prstDash val="solid"/>
          </a:ln>
        </p:spPr>
      </p:sp>
      <p:sp>
        <p:nvSpPr>
          <p:cNvPr id="7" name="bulle-225"/>
          <p:cNvSpPr txBox="1"/>
          <p:nvPr/>
        </p:nvSpPr>
        <p:spPr>
          <a:xfrm>
            <a:off x="1737360" y="1737360"/>
            <a:ext cx="3657600" cy="566928"/>
          </a:xfrm>
          <a:prstGeom prst="roundRect">
            <a:avLst>
              <a:gd name="adj" fmla="val 24194"/>
            </a:avLst>
          </a:prstGeom>
          <a:solidFill>
            <a:schemeClr val="accent3"/>
          </a:solidFill>
          <a:ln/>
        </p:spPr>
        <p:txBody>
          <a:bodyPr wrap="square" lIns="0" tIns="127000" rIns="127000" bIns="0" rtlCol="0" anchor="ctr"/>
          <a:lstStyle/>
          <a:p>
            <a:pPr indent="0" marL="0">
              <a:buNone/>
            </a:pPr>
            <a:r>
              <a:rPr lang="en-US" sz="1400" dirty="0">
                <a:solidFill>
                  <a:schemeClr val="bg1"/>
                </a:solidFill>
              </a:rPr>
              <a:t>Le lecteur de carte ne fonctionne pas.</a:t>
            </a:r>
            <a:endParaRPr lang="en-US" sz="1400" dirty="0"/>
          </a:p>
        </p:txBody>
      </p:sp>
      <p:sp>
        <p:nvSpPr>
          <p:cNvPr id="8" name="bulle-226"/>
          <p:cNvSpPr txBox="1"/>
          <p:nvPr/>
        </p:nvSpPr>
        <p:spPr>
          <a:xfrm>
            <a:off x="822960" y="2514600"/>
            <a:ext cx="4206240" cy="566928"/>
          </a:xfrm>
          <a:prstGeom prst="roundRect">
            <a:avLst>
              <a:gd name="adj" fmla="val 24194"/>
            </a:avLst>
          </a:prstGeom>
          <a:solidFill>
            <a:schemeClr val="bg2"/>
          </a:solidFill>
          <a:ln/>
        </p:spPr>
        <p:txBody>
          <a:bodyPr wrap="square" lIns="0" tIns="127000" rIns="127000" bIns="0" rtlCol="0" anchor="ctr"/>
          <a:lstStyle/>
          <a:p>
            <a:pPr indent="0" marL="0">
              <a:buNone/>
            </a:pPr>
            <a:r>
              <a:rPr lang="en-US" sz="1400" dirty="0">
                <a:solidFill>
                  <a:schemeClr val="tx1"/>
                </a:solidFill>
              </a:rPr>
              <a:t>J'ai trouvé 3 cas similaires : 1… 2… 3…</a:t>
            </a:r>
            <a:endParaRPr lang="en-US" sz="1400" dirty="0"/>
          </a:p>
        </p:txBody>
      </p:sp>
      <p:sp>
        <p:nvSpPr>
          <p:cNvPr id="9" name="bulle-227"/>
          <p:cNvSpPr txBox="1"/>
          <p:nvPr/>
        </p:nvSpPr>
        <p:spPr>
          <a:xfrm>
            <a:off x="2743200" y="3291840"/>
            <a:ext cx="2651760" cy="566928"/>
          </a:xfrm>
          <a:prstGeom prst="roundRect">
            <a:avLst>
              <a:gd name="adj" fmla="val 24194"/>
            </a:avLst>
          </a:prstGeom>
          <a:solidFill>
            <a:schemeClr val="accent3"/>
          </a:solidFill>
          <a:ln/>
        </p:spPr>
        <p:txBody>
          <a:bodyPr wrap="square" lIns="0" tIns="127000" rIns="127000" bIns="0" rtlCol="0" anchor="ctr"/>
          <a:lstStyle/>
          <a:p>
            <a:pPr indent="0" marL="0">
              <a:buNone/>
            </a:pPr>
            <a:r>
              <a:rPr lang="en-US" sz="1400" dirty="0">
                <a:solidFill>
                  <a:schemeClr val="bg1"/>
                </a:solidFill>
              </a:rPr>
              <a:t>Testons le deuxième.</a:t>
            </a:r>
            <a:endParaRPr lang="en-US" sz="1400" dirty="0"/>
          </a:p>
        </p:txBody>
      </p:sp>
      <p:sp>
        <p:nvSpPr>
          <p:cNvPr id="10" name="bulle-228"/>
          <p:cNvSpPr txBox="1"/>
          <p:nvPr/>
        </p:nvSpPr>
        <p:spPr>
          <a:xfrm>
            <a:off x="822960" y="4069080"/>
            <a:ext cx="4206240" cy="566928"/>
          </a:xfrm>
          <a:prstGeom prst="roundRect">
            <a:avLst>
              <a:gd name="adj" fmla="val 24194"/>
            </a:avLst>
          </a:prstGeom>
          <a:solidFill>
            <a:schemeClr val="bg2"/>
          </a:solidFill>
          <a:ln/>
        </p:spPr>
        <p:txBody>
          <a:bodyPr wrap="square" lIns="0" tIns="127000" rIns="127000" bIns="0" rtlCol="0" anchor="ctr"/>
          <a:lstStyle/>
          <a:p>
            <a:pPr indent="0" marL="0">
              <a:buNone/>
            </a:pPr>
            <a:r>
              <a:rPr lang="en-US" sz="1400" dirty="0">
                <a:solidFill>
                  <a:schemeClr val="tx1"/>
                </a:solidFill>
              </a:rPr>
              <a:t>Voici la solution du cas n° 2…</a:t>
            </a:r>
            <a:endParaRPr lang="en-US" sz="1400" dirty="0"/>
          </a:p>
        </p:txBody>
      </p:sp>
      <p:sp>
        <p:nvSpPr>
          <p:cNvPr id="11" name="bulle-229"/>
          <p:cNvSpPr txBox="1"/>
          <p:nvPr/>
        </p:nvSpPr>
        <p:spPr>
          <a:xfrm>
            <a:off x="2194560" y="4846320"/>
            <a:ext cx="3200400" cy="566928"/>
          </a:xfrm>
          <a:prstGeom prst="roundRect">
            <a:avLst>
              <a:gd name="adj" fmla="val 24194"/>
            </a:avLst>
          </a:prstGeom>
          <a:solidFill>
            <a:schemeClr val="accent3"/>
          </a:solidFill>
          <a:ln/>
        </p:spPr>
        <p:txBody>
          <a:bodyPr wrap="square" lIns="0" tIns="127000" rIns="127000" bIns="0" rtlCol="0" anchor="ctr"/>
          <a:lstStyle/>
          <a:p>
            <a:pPr indent="0" marL="0">
              <a:buNone/>
            </a:pPr>
            <a:r>
              <a:rPr lang="en-US" sz="1400" dirty="0">
                <a:solidFill>
                  <a:schemeClr val="bg1"/>
                </a:solidFill>
              </a:rPr>
              <a:t>Non, je parle du premier.</a:t>
            </a:r>
            <a:endParaRPr lang="en-US" sz="1400" dirty="0"/>
          </a:p>
        </p:txBody>
      </p:sp>
      <p:sp>
        <p:nvSpPr>
          <p:cNvPr id="12" name="txt-230"/>
          <p:cNvSpPr txBox="1"/>
          <p:nvPr/>
        </p:nvSpPr>
        <p:spPr>
          <a:xfrm>
            <a:off x="6126480" y="1463040"/>
            <a:ext cx="5486400" cy="365760"/>
          </a:xfrm>
          <a:prstGeom prst="rect">
            <a:avLst/>
          </a:prstGeom>
          <a:noFill/>
          <a:ln/>
        </p:spPr>
        <p:txBody>
          <a:bodyPr wrap="square" lIns="0" tIns="0" rIns="0" bIns="0" rtlCol="0" anchor="t"/>
          <a:lstStyle/>
          <a:p>
            <a:pPr indent="0" marL="0">
              <a:buNone/>
            </a:pPr>
            <a:r>
              <a:rPr lang="en-US" sz="1700" b="1" dirty="0">
                <a:solidFill>
                  <a:schemeClr val="tx1"/>
                </a:solidFill>
              </a:rPr>
              <a:t>Le backend résout chaque référence</a:t>
            </a:r>
            <a:endParaRPr lang="en-US" sz="1700" dirty="0"/>
          </a:p>
        </p:txBody>
      </p:sp>
      <p:sp>
        <p:nvSpPr>
          <p:cNvPr id="13" name="card-231"/>
          <p:cNvSpPr/>
          <p:nvPr/>
        </p:nvSpPr>
        <p:spPr>
          <a:xfrm>
            <a:off x="6126480" y="1965960"/>
            <a:ext cx="5513832" cy="512064"/>
          </a:xfrm>
          <a:prstGeom prst="roundRect">
            <a:avLst>
              <a:gd name="adj" fmla="val 21429"/>
            </a:avLst>
          </a:prstGeom>
          <a:solidFill>
            <a:schemeClr val="bg2"/>
          </a:solidFill>
          <a:ln/>
        </p:spPr>
      </p:sp>
      <p:sp>
        <p:nvSpPr>
          <p:cNvPr id="14" name="txt-232"/>
          <p:cNvSpPr txBox="1"/>
          <p:nvPr/>
        </p:nvSpPr>
        <p:spPr>
          <a:xfrm>
            <a:off x="6309360" y="1965960"/>
            <a:ext cx="2514600" cy="512064"/>
          </a:xfrm>
          <a:prstGeom prst="rect">
            <a:avLst/>
          </a:prstGeom>
          <a:noFill/>
          <a:ln/>
        </p:spPr>
        <p:txBody>
          <a:bodyPr wrap="square" lIns="0" tIns="0" rIns="0" bIns="0" rtlCol="0" anchor="ctr"/>
          <a:lstStyle/>
          <a:p>
            <a:pPr indent="0" marL="0">
              <a:buNone/>
            </a:pPr>
            <a:r>
              <a:rPr lang="en-US" sz="1400" b="1" dirty="0">
                <a:solidFill>
                  <a:schemeClr val="accent3"/>
                </a:solidFill>
              </a:rPr>
              <a:t>« le deuxième »</a:t>
            </a:r>
            <a:endParaRPr lang="en-US" sz="1400" dirty="0"/>
          </a:p>
        </p:txBody>
      </p:sp>
      <p:pic>
        <p:nvPicPr>
          <p:cNvPr id="15" name="Image 1" descr="preencoded.png">    </p:cNvPr>
          <p:cNvPicPr>
            <a:picLocks noChangeAspect="1"/>
          </p:cNvPicPr>
          <p:nvPr/>
        </p:nvPicPr>
        <p:blipFill>
          <a:blip r:embed="rId2"/>
          <a:stretch>
            <a:fillRect/>
          </a:stretch>
        </p:blipFill>
        <p:spPr>
          <a:xfrm>
            <a:off x="8778240" y="2103120"/>
            <a:ext cx="237744" cy="237744"/>
          </a:xfrm>
          <a:prstGeom prst="rect">
            <a:avLst/>
          </a:prstGeom>
        </p:spPr>
      </p:pic>
      <p:sp>
        <p:nvSpPr>
          <p:cNvPr id="16" name="txt-233"/>
          <p:cNvSpPr txBox="1"/>
          <p:nvPr/>
        </p:nvSpPr>
        <p:spPr>
          <a:xfrm>
            <a:off x="9098280" y="1965960"/>
            <a:ext cx="2468880" cy="512064"/>
          </a:xfrm>
          <a:prstGeom prst="rect">
            <a:avLst/>
          </a:prstGeom>
          <a:noFill/>
          <a:ln/>
        </p:spPr>
        <p:txBody>
          <a:bodyPr wrap="square" lIns="0" tIns="0" rIns="0" bIns="0" rtlCol="0" anchor="ctr"/>
          <a:lstStyle/>
          <a:p>
            <a:pPr indent="0" marL="0">
              <a:buNone/>
            </a:pPr>
            <a:r>
              <a:rPr lang="en-US" sz="1300" dirty="0">
                <a:solidFill>
                  <a:schemeClr val="tx1"/>
                </a:solidFill>
              </a:rPr>
              <a:t>résultat en position 2</a:t>
            </a:r>
            <a:endParaRPr lang="en-US" sz="1300" dirty="0"/>
          </a:p>
        </p:txBody>
      </p:sp>
      <p:sp>
        <p:nvSpPr>
          <p:cNvPr id="17" name="card-234"/>
          <p:cNvSpPr/>
          <p:nvPr/>
        </p:nvSpPr>
        <p:spPr>
          <a:xfrm>
            <a:off x="6126480" y="2587752"/>
            <a:ext cx="5513832" cy="512064"/>
          </a:xfrm>
          <a:prstGeom prst="roundRect">
            <a:avLst>
              <a:gd name="adj" fmla="val 21429"/>
            </a:avLst>
          </a:prstGeom>
          <a:solidFill>
            <a:schemeClr val="bg2"/>
          </a:solidFill>
          <a:ln/>
        </p:spPr>
      </p:sp>
      <p:sp>
        <p:nvSpPr>
          <p:cNvPr id="18" name="txt-235"/>
          <p:cNvSpPr txBox="1"/>
          <p:nvPr/>
        </p:nvSpPr>
        <p:spPr>
          <a:xfrm>
            <a:off x="6309360" y="2587752"/>
            <a:ext cx="2514600" cy="512064"/>
          </a:xfrm>
          <a:prstGeom prst="rect">
            <a:avLst/>
          </a:prstGeom>
          <a:noFill/>
          <a:ln/>
        </p:spPr>
        <p:txBody>
          <a:bodyPr wrap="square" lIns="0" tIns="0" rIns="0" bIns="0" rtlCol="0" anchor="ctr"/>
          <a:lstStyle/>
          <a:p>
            <a:pPr indent="0" marL="0">
              <a:buNone/>
            </a:pPr>
            <a:r>
              <a:rPr lang="en-US" sz="1400" b="1" dirty="0">
                <a:solidFill>
                  <a:schemeClr val="accent3"/>
                </a:solidFill>
              </a:rPr>
              <a:t>« le premier symptôme »</a:t>
            </a:r>
            <a:endParaRPr lang="en-US" sz="1400" dirty="0"/>
          </a:p>
        </p:txBody>
      </p:sp>
      <p:pic>
        <p:nvPicPr>
          <p:cNvPr id="19" name="Image 2" descr="preencoded.png">    </p:cNvPr>
          <p:cNvPicPr>
            <a:picLocks noChangeAspect="1"/>
          </p:cNvPicPr>
          <p:nvPr/>
        </p:nvPicPr>
        <p:blipFill>
          <a:blip r:embed="rId3"/>
          <a:stretch>
            <a:fillRect/>
          </a:stretch>
        </p:blipFill>
        <p:spPr>
          <a:xfrm>
            <a:off x="8778240" y="2724912"/>
            <a:ext cx="237744" cy="237744"/>
          </a:xfrm>
          <a:prstGeom prst="rect">
            <a:avLst/>
          </a:prstGeom>
        </p:spPr>
      </p:pic>
      <p:sp>
        <p:nvSpPr>
          <p:cNvPr id="20" name="txt-236"/>
          <p:cNvSpPr txBox="1"/>
          <p:nvPr/>
        </p:nvSpPr>
        <p:spPr>
          <a:xfrm>
            <a:off x="9098280" y="2587752"/>
            <a:ext cx="2468880" cy="512064"/>
          </a:xfrm>
          <a:prstGeom prst="rect">
            <a:avLst/>
          </a:prstGeom>
          <a:noFill/>
          <a:ln/>
        </p:spPr>
        <p:txBody>
          <a:bodyPr wrap="square" lIns="0" tIns="0" rIns="0" bIns="0" rtlCol="0" anchor="ctr"/>
          <a:lstStyle/>
          <a:p>
            <a:pPr indent="0" marL="0">
              <a:buNone/>
            </a:pPr>
            <a:r>
              <a:rPr lang="en-US" sz="1300" dirty="0">
                <a:solidFill>
                  <a:schemeClr val="tx1"/>
                </a:solidFill>
              </a:rPr>
              <a:t>résultat en position 1</a:t>
            </a:r>
            <a:endParaRPr lang="en-US" sz="1300" dirty="0"/>
          </a:p>
        </p:txBody>
      </p:sp>
      <p:sp>
        <p:nvSpPr>
          <p:cNvPr id="21" name="card-237"/>
          <p:cNvSpPr/>
          <p:nvPr/>
        </p:nvSpPr>
        <p:spPr>
          <a:xfrm>
            <a:off x="6126480" y="3209544"/>
            <a:ext cx="5513832" cy="512064"/>
          </a:xfrm>
          <a:prstGeom prst="roundRect">
            <a:avLst>
              <a:gd name="adj" fmla="val 21429"/>
            </a:avLst>
          </a:prstGeom>
          <a:solidFill>
            <a:schemeClr val="bg2"/>
          </a:solidFill>
          <a:ln/>
        </p:spPr>
      </p:sp>
      <p:sp>
        <p:nvSpPr>
          <p:cNvPr id="22" name="txt-238"/>
          <p:cNvSpPr txBox="1"/>
          <p:nvPr/>
        </p:nvSpPr>
        <p:spPr>
          <a:xfrm>
            <a:off x="6309360" y="3209544"/>
            <a:ext cx="2514600" cy="512064"/>
          </a:xfrm>
          <a:prstGeom prst="rect">
            <a:avLst/>
          </a:prstGeom>
          <a:noFill/>
          <a:ln/>
        </p:spPr>
        <p:txBody>
          <a:bodyPr wrap="square" lIns="0" tIns="0" rIns="0" bIns="0" rtlCol="0" anchor="ctr"/>
          <a:lstStyle/>
          <a:p>
            <a:pPr indent="0" marL="0">
              <a:buNone/>
            </a:pPr>
            <a:r>
              <a:rPr lang="en-US" sz="1400" b="1" dirty="0">
                <a:solidFill>
                  <a:schemeClr val="accent3"/>
                </a:solidFill>
              </a:rPr>
              <a:t>« cette solution »</a:t>
            </a:r>
            <a:endParaRPr lang="en-US" sz="1400" dirty="0"/>
          </a:p>
        </p:txBody>
      </p:sp>
      <p:pic>
        <p:nvPicPr>
          <p:cNvPr id="23" name="Image 3" descr="preencoded.png">    </p:cNvPr>
          <p:cNvPicPr>
            <a:picLocks noChangeAspect="1"/>
          </p:cNvPicPr>
          <p:nvPr/>
        </p:nvPicPr>
        <p:blipFill>
          <a:blip r:embed="rId4"/>
          <a:stretch>
            <a:fillRect/>
          </a:stretch>
        </p:blipFill>
        <p:spPr>
          <a:xfrm>
            <a:off x="8778240" y="3346704"/>
            <a:ext cx="237744" cy="237744"/>
          </a:xfrm>
          <a:prstGeom prst="rect">
            <a:avLst/>
          </a:prstGeom>
        </p:spPr>
      </p:pic>
      <p:sp>
        <p:nvSpPr>
          <p:cNvPr id="24" name="txt-239"/>
          <p:cNvSpPr txBox="1"/>
          <p:nvPr/>
        </p:nvSpPr>
        <p:spPr>
          <a:xfrm>
            <a:off x="9098280" y="3209544"/>
            <a:ext cx="2468880" cy="512064"/>
          </a:xfrm>
          <a:prstGeom prst="rect">
            <a:avLst/>
          </a:prstGeom>
          <a:noFill/>
          <a:ln/>
        </p:spPr>
        <p:txBody>
          <a:bodyPr wrap="square" lIns="0" tIns="0" rIns="0" bIns="0" rtlCol="0" anchor="ctr"/>
          <a:lstStyle/>
          <a:p>
            <a:pPr indent="0" marL="0">
              <a:buNone/>
            </a:pPr>
            <a:r>
              <a:rPr lang="en-US" sz="1300" dirty="0">
                <a:solidFill>
                  <a:schemeClr val="tx1"/>
                </a:solidFill>
              </a:rPr>
              <a:t>résultat sélectionné / action courante</a:t>
            </a:r>
            <a:endParaRPr lang="en-US" sz="1300" dirty="0"/>
          </a:p>
        </p:txBody>
      </p:sp>
      <p:sp>
        <p:nvSpPr>
          <p:cNvPr id="25" name="card-240"/>
          <p:cNvSpPr/>
          <p:nvPr/>
        </p:nvSpPr>
        <p:spPr>
          <a:xfrm>
            <a:off x="6126480" y="3831336"/>
            <a:ext cx="5513832" cy="512064"/>
          </a:xfrm>
          <a:prstGeom prst="roundRect">
            <a:avLst>
              <a:gd name="adj" fmla="val 21429"/>
            </a:avLst>
          </a:prstGeom>
          <a:solidFill>
            <a:schemeClr val="bg2"/>
          </a:solidFill>
          <a:ln/>
        </p:spPr>
      </p:sp>
      <p:sp>
        <p:nvSpPr>
          <p:cNvPr id="26" name="txt-241"/>
          <p:cNvSpPr txBox="1"/>
          <p:nvPr/>
        </p:nvSpPr>
        <p:spPr>
          <a:xfrm>
            <a:off x="6309360" y="3831336"/>
            <a:ext cx="2514600" cy="512064"/>
          </a:xfrm>
          <a:prstGeom prst="rect">
            <a:avLst/>
          </a:prstGeom>
          <a:noFill/>
          <a:ln/>
        </p:spPr>
        <p:txBody>
          <a:bodyPr wrap="square" lIns="0" tIns="0" rIns="0" bIns="0" rtlCol="0" anchor="ctr"/>
          <a:lstStyle/>
          <a:p>
            <a:pPr indent="0" marL="0">
              <a:buNone/>
            </a:pPr>
            <a:r>
              <a:rPr lang="en-US" sz="1400" b="1" dirty="0">
                <a:solidFill>
                  <a:schemeClr val="accent3"/>
                </a:solidFill>
              </a:rPr>
              <a:t>« non, je parle du premier »</a:t>
            </a:r>
            <a:endParaRPr lang="en-US" sz="1400" dirty="0"/>
          </a:p>
        </p:txBody>
      </p:sp>
      <p:pic>
        <p:nvPicPr>
          <p:cNvPr id="27" name="Image 4" descr="preencoded.png">    </p:cNvPr>
          <p:cNvPicPr>
            <a:picLocks noChangeAspect="1"/>
          </p:cNvPicPr>
          <p:nvPr/>
        </p:nvPicPr>
        <p:blipFill>
          <a:blip r:embed="rId5"/>
          <a:stretch>
            <a:fillRect/>
          </a:stretch>
        </p:blipFill>
        <p:spPr>
          <a:xfrm>
            <a:off x="8778240" y="3968496"/>
            <a:ext cx="237744" cy="237744"/>
          </a:xfrm>
          <a:prstGeom prst="rect">
            <a:avLst/>
          </a:prstGeom>
        </p:spPr>
      </p:pic>
      <p:sp>
        <p:nvSpPr>
          <p:cNvPr id="28" name="txt-242"/>
          <p:cNvSpPr txBox="1"/>
          <p:nvPr/>
        </p:nvSpPr>
        <p:spPr>
          <a:xfrm>
            <a:off x="9098280" y="3831336"/>
            <a:ext cx="2468880" cy="512064"/>
          </a:xfrm>
          <a:prstGeom prst="rect">
            <a:avLst/>
          </a:prstGeom>
          <a:noFill/>
          <a:ln/>
        </p:spPr>
        <p:txBody>
          <a:bodyPr wrap="square" lIns="0" tIns="0" rIns="0" bIns="0" rtlCol="0" anchor="ctr"/>
          <a:lstStyle/>
          <a:p>
            <a:pPr indent="0" marL="0">
              <a:buNone/>
            </a:pPr>
            <a:r>
              <a:rPr lang="en-US" sz="1300" dirty="0">
                <a:solidFill>
                  <a:schemeClr val="tx1"/>
                </a:solidFill>
              </a:rPr>
              <a:t>la sélection passe au résultat 1</a:t>
            </a:r>
            <a:endParaRPr lang="en-US" sz="1300" dirty="0"/>
          </a:p>
        </p:txBody>
      </p:sp>
      <p:sp>
        <p:nvSpPr>
          <p:cNvPr id="29" name="pastille-243"/>
          <p:cNvSpPr/>
          <p:nvPr/>
        </p:nvSpPr>
        <p:spPr>
          <a:xfrm>
            <a:off x="6126480" y="4526280"/>
            <a:ext cx="457200" cy="457200"/>
          </a:xfrm>
          <a:prstGeom prst="ellipse">
            <a:avLst/>
          </a:prstGeom>
          <a:solidFill>
            <a:schemeClr val="accent1"/>
          </a:solidFill>
          <a:ln/>
        </p:spPr>
      </p:sp>
      <p:pic>
        <p:nvPicPr>
          <p:cNvPr id="30" name="icone-244" descr="preencoded.png">    </p:cNvPr>
          <p:cNvPicPr>
            <a:picLocks noChangeAspect="1"/>
          </p:cNvPicPr>
          <p:nvPr/>
        </p:nvPicPr>
        <p:blipFill>
          <a:blip r:embed="rId6"/>
          <a:stretch>
            <a:fillRect/>
          </a:stretch>
        </p:blipFill>
        <p:spPr>
          <a:xfrm>
            <a:off x="6227064" y="4626864"/>
            <a:ext cx="256032" cy="256032"/>
          </a:xfrm>
          <a:prstGeom prst="rect">
            <a:avLst/>
          </a:prstGeom>
        </p:spPr>
      </p:pic>
      <p:sp>
        <p:nvSpPr>
          <p:cNvPr id="31" name="txt-245"/>
          <p:cNvSpPr txBox="1"/>
          <p:nvPr/>
        </p:nvSpPr>
        <p:spPr>
          <a:xfrm>
            <a:off x="6656832" y="4480560"/>
            <a:ext cx="1280160" cy="548640"/>
          </a:xfrm>
          <a:prstGeom prst="rect">
            <a:avLst/>
          </a:prstGeom>
          <a:noFill/>
          <a:ln/>
        </p:spPr>
        <p:txBody>
          <a:bodyPr wrap="square" lIns="0" tIns="0" rIns="0" bIns="0" rtlCol="0" anchor="ctr"/>
          <a:lstStyle/>
          <a:p>
            <a:pPr indent="0" marL="0">
              <a:buNone/>
            </a:pPr>
            <a:r>
              <a:rPr lang="en-US" sz="1200" b="1" dirty="0">
                <a:solidFill>
                  <a:schemeClr val="tx1"/>
                </a:solidFill>
              </a:rPr>
              <a:t>Historique complet</a:t>
            </a:r>
            <a:endParaRPr lang="en-US" sz="1200" dirty="0"/>
          </a:p>
        </p:txBody>
      </p:sp>
      <p:sp>
        <p:nvSpPr>
          <p:cNvPr id="32" name="pastille-246"/>
          <p:cNvSpPr/>
          <p:nvPr/>
        </p:nvSpPr>
        <p:spPr>
          <a:xfrm>
            <a:off x="8001000" y="4526280"/>
            <a:ext cx="457200" cy="457200"/>
          </a:xfrm>
          <a:prstGeom prst="ellipse">
            <a:avLst/>
          </a:prstGeom>
          <a:solidFill>
            <a:schemeClr val="accent1"/>
          </a:solidFill>
          <a:ln/>
        </p:spPr>
      </p:sp>
      <p:pic>
        <p:nvPicPr>
          <p:cNvPr id="33" name="icone-247" descr="preencoded.png">    </p:cNvPr>
          <p:cNvPicPr>
            <a:picLocks noChangeAspect="1"/>
          </p:cNvPicPr>
          <p:nvPr/>
        </p:nvPicPr>
        <p:blipFill>
          <a:blip r:embed="rId7"/>
          <a:stretch>
            <a:fillRect/>
          </a:stretch>
        </p:blipFill>
        <p:spPr>
          <a:xfrm>
            <a:off x="8101584" y="4626864"/>
            <a:ext cx="256032" cy="256032"/>
          </a:xfrm>
          <a:prstGeom prst="rect">
            <a:avLst/>
          </a:prstGeom>
        </p:spPr>
      </p:pic>
      <p:sp>
        <p:nvSpPr>
          <p:cNvPr id="34" name="txt-248"/>
          <p:cNvSpPr txBox="1"/>
          <p:nvPr/>
        </p:nvSpPr>
        <p:spPr>
          <a:xfrm>
            <a:off x="8531352" y="4480560"/>
            <a:ext cx="1280160" cy="548640"/>
          </a:xfrm>
          <a:prstGeom prst="rect">
            <a:avLst/>
          </a:prstGeom>
          <a:noFill/>
          <a:ln/>
        </p:spPr>
        <p:txBody>
          <a:bodyPr wrap="square" lIns="0" tIns="0" rIns="0" bIns="0" rtlCol="0" anchor="ctr"/>
          <a:lstStyle/>
          <a:p>
            <a:pPr indent="0" marL="0">
              <a:buNone/>
            </a:pPr>
            <a:r>
              <a:rPr lang="en-US" sz="1200" b="1" dirty="0">
                <a:solidFill>
                  <a:schemeClr val="tx1"/>
                </a:solidFill>
              </a:rPr>
              <a:t>Contexte actif</a:t>
            </a:r>
            <a:endParaRPr lang="en-US" sz="1200" dirty="0"/>
          </a:p>
        </p:txBody>
      </p:sp>
      <p:sp>
        <p:nvSpPr>
          <p:cNvPr id="35" name="pastille-249"/>
          <p:cNvSpPr/>
          <p:nvPr/>
        </p:nvSpPr>
        <p:spPr>
          <a:xfrm>
            <a:off x="9875520" y="4526280"/>
            <a:ext cx="457200" cy="457200"/>
          </a:xfrm>
          <a:prstGeom prst="ellipse">
            <a:avLst/>
          </a:prstGeom>
          <a:solidFill>
            <a:schemeClr val="accent1"/>
          </a:solidFill>
          <a:ln/>
        </p:spPr>
      </p:sp>
      <p:pic>
        <p:nvPicPr>
          <p:cNvPr id="36" name="icone-250" descr="preencoded.png">    </p:cNvPr>
          <p:cNvPicPr>
            <a:picLocks noChangeAspect="1"/>
          </p:cNvPicPr>
          <p:nvPr/>
        </p:nvPicPr>
        <p:blipFill>
          <a:blip r:embed="rId8"/>
          <a:stretch>
            <a:fillRect/>
          </a:stretch>
        </p:blipFill>
        <p:spPr>
          <a:xfrm>
            <a:off x="9976104" y="4626864"/>
            <a:ext cx="256032" cy="256032"/>
          </a:xfrm>
          <a:prstGeom prst="rect">
            <a:avLst/>
          </a:prstGeom>
        </p:spPr>
      </p:pic>
      <p:sp>
        <p:nvSpPr>
          <p:cNvPr id="37" name="txt-251"/>
          <p:cNvSpPr txBox="1"/>
          <p:nvPr/>
        </p:nvSpPr>
        <p:spPr>
          <a:xfrm>
            <a:off x="10405872" y="4480560"/>
            <a:ext cx="1280160" cy="548640"/>
          </a:xfrm>
          <a:prstGeom prst="rect">
            <a:avLst/>
          </a:prstGeom>
          <a:noFill/>
          <a:ln/>
        </p:spPr>
        <p:txBody>
          <a:bodyPr wrap="square" lIns="0" tIns="0" rIns="0" bIns="0" rtlCol="0" anchor="ctr"/>
          <a:lstStyle/>
          <a:p>
            <a:pPr indent="0" marL="0">
              <a:buNone/>
            </a:pPr>
            <a:r>
              <a:rPr lang="en-US" sz="1200" b="1" dirty="0">
                <a:solidFill>
                  <a:schemeClr val="tx1"/>
                </a:solidFill>
              </a:rPr>
              <a:t>Résolution des références</a:t>
            </a:r>
            <a:endParaRPr lang="en-US" sz="1200" dirty="0"/>
          </a:p>
        </p:txBody>
      </p:sp>
      <p:sp>
        <p:nvSpPr>
          <p:cNvPr id="38" name="card-252"/>
          <p:cNvSpPr/>
          <p:nvPr/>
        </p:nvSpPr>
        <p:spPr>
          <a:xfrm>
            <a:off x="6126480" y="5257800"/>
            <a:ext cx="5513832" cy="777240"/>
          </a:xfrm>
          <a:prstGeom prst="roundRect">
            <a:avLst>
              <a:gd name="adj" fmla="val 14118"/>
            </a:avLst>
          </a:prstGeom>
          <a:solidFill>
            <a:schemeClr val="accent4">
              <a:alpha val="12000"/>
            </a:schemeClr>
          </a:solidFill>
          <a:ln/>
        </p:spPr>
      </p:sp>
      <p:pic>
        <p:nvPicPr>
          <p:cNvPr id="39" name="Image 8" descr="preencoded.png">    </p:cNvPr>
          <p:cNvPicPr>
            <a:picLocks noChangeAspect="1"/>
          </p:cNvPicPr>
          <p:nvPr/>
        </p:nvPicPr>
        <p:blipFill>
          <a:blip r:embed="rId9"/>
          <a:stretch>
            <a:fillRect/>
          </a:stretch>
        </p:blipFill>
        <p:spPr>
          <a:xfrm>
            <a:off x="6309360" y="5458968"/>
            <a:ext cx="365760" cy="365760"/>
          </a:xfrm>
          <a:prstGeom prst="rect">
            <a:avLst/>
          </a:prstGeom>
        </p:spPr>
      </p:pic>
      <p:sp>
        <p:nvSpPr>
          <p:cNvPr id="40" name="txt-253"/>
          <p:cNvSpPr txBox="1"/>
          <p:nvPr/>
        </p:nvSpPr>
        <p:spPr>
          <a:xfrm>
            <a:off x="6812280" y="5303520"/>
            <a:ext cx="4709160" cy="685800"/>
          </a:xfrm>
          <a:prstGeom prst="rect">
            <a:avLst/>
          </a:prstGeom>
          <a:noFill/>
          <a:ln/>
        </p:spPr>
        <p:txBody>
          <a:bodyPr wrap="square" lIns="0" tIns="0" rIns="0" bIns="0" rtlCol="0" anchor="ctr"/>
          <a:lstStyle/>
          <a:p>
            <a:pPr indent="0" marL="0">
              <a:buNone/>
            </a:pPr>
            <a:r>
              <a:rPr lang="en-US" sz="1300" dirty="0">
                <a:solidFill>
                  <a:schemeClr val="tx1"/>
                </a:solidFill>
              </a:rPr>
              <a:t>Résolution déterministe côté backend : le LLM n'invente jamais un identifiant de la base.</a:t>
            </a:r>
            <a:endParaRPr lang="en-US" sz="13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partie"/>
          <p:cNvSpPr txBox="1"/>
          <p:nvPr/>
        </p:nvSpPr>
        <p:spPr>
          <a:xfrm>
            <a:off x="548640" y="182880"/>
            <a:ext cx="8229600" cy="256032"/>
          </a:xfrm>
          <a:prstGeom prst="rect">
            <a:avLst/>
          </a:prstGeom>
          <a:noFill/>
          <a:ln/>
        </p:spPr>
        <p:txBody>
          <a:bodyPr wrap="square" lIns="0" tIns="0" rIns="0" bIns="0" rtlCol="0" anchor="ctr"/>
          <a:lstStyle/>
          <a:p>
            <a:pPr indent="0" marL="0">
              <a:buNone/>
            </a:pPr>
            <a:r>
              <a:rPr lang="en-US" sz="1100" b="1" spc="150" kern="0" dirty="0">
                <a:solidFill>
                  <a:schemeClr val="accent1"/>
                </a:solidFill>
              </a:rPr>
              <a:t>II. L'USAGE AU QUOTIDIEN</a:t>
            </a:r>
            <a:endParaRPr lang="en-US" sz="1100" dirty="0"/>
          </a:p>
        </p:txBody>
      </p:sp>
      <p:sp>
        <p:nvSpPr>
          <p:cNvPr id="3" name="Text 0"/>
          <p:cNvSpPr/>
          <p:nvPr>
            <p:ph idx="100" type="title" hasCustomPrompt="1"/>
          </p:nvPr>
        </p:nvSpPr>
        <p:spPr>
          <a:xfrm>
            <a:off x="548640" y="438912"/>
            <a:ext cx="11091672" cy="54864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d) L'interface du technicien</a:t>
            </a:r>
            <a:endParaRPr lang="en-US" sz="2800" dirty="0"/>
          </a:p>
        </p:txBody>
      </p:sp>
      <p:pic>
        <p:nvPicPr>
          <p:cNvPr id="4" name="icone-objectif" descr="preencoded.png">    </p:cNvPr>
          <p:cNvPicPr>
            <a:picLocks noChangeAspect="1"/>
          </p:cNvPicPr>
          <p:nvPr/>
        </p:nvPicPr>
        <p:blipFill>
          <a:blip r:embed="rId1"/>
          <a:stretch>
            <a:fillRect/>
          </a:stretch>
        </p:blipFill>
        <p:spPr>
          <a:xfrm>
            <a:off x="548640" y="1033272"/>
            <a:ext cx="237744" cy="237744"/>
          </a:xfrm>
          <a:prstGeom prst="rect">
            <a:avLst/>
          </a:prstGeom>
        </p:spPr>
      </p:pic>
      <p:sp>
        <p:nvSpPr>
          <p:cNvPr id="5" name="objectif"/>
          <p:cNvSpPr txBox="1"/>
          <p:nvPr/>
        </p:nvSpPr>
        <p:spPr>
          <a:xfrm>
            <a:off x="868680" y="987552"/>
            <a:ext cx="10771632" cy="329184"/>
          </a:xfrm>
          <a:prstGeom prst="rect">
            <a:avLst/>
          </a:prstGeom>
          <a:noFill/>
          <a:ln/>
        </p:spPr>
        <p:txBody>
          <a:bodyPr wrap="square" lIns="0" tIns="0" rIns="0" bIns="0" rtlCol="0" anchor="ctr"/>
          <a:lstStyle/>
          <a:p>
            <a:pPr indent="0" marL="0">
              <a:buNone/>
            </a:pPr>
            <a:r>
              <a:rPr lang="en-US" sz="1400" b="1" i="1" dirty="0">
                <a:solidFill>
                  <a:schemeClr val="tx2"/>
                </a:solidFill>
              </a:rPr>
              <a:t>Objectif : </a:t>
            </a:r>
            <a:pPr indent="0" marL="0">
              <a:buNone/>
            </a:pPr>
            <a:r>
              <a:rPr lang="en-US" sz="1400" i="1" dirty="0">
                <a:solidFill>
                  <a:schemeClr val="tx2"/>
                </a:solidFill>
              </a:rPr>
              <a:t>Découvrir l'interface utilisée sur le terrain et ce qui est prévu.</a:t>
            </a:r>
            <a:endParaRPr lang="en-US" sz="1400" dirty="0"/>
          </a:p>
        </p:txBody>
      </p:sp>
      <p:sp>
        <p:nvSpPr>
          <p:cNvPr id="6" name="card-254"/>
          <p:cNvSpPr/>
          <p:nvPr/>
        </p:nvSpPr>
        <p:spPr>
          <a:xfrm>
            <a:off x="822960" y="1417320"/>
            <a:ext cx="3017520" cy="4663440"/>
          </a:xfrm>
          <a:prstGeom prst="roundRect">
            <a:avLst>
              <a:gd name="adj" fmla="val 9091"/>
            </a:avLst>
          </a:prstGeom>
          <a:solidFill>
            <a:schemeClr val="tx1"/>
          </a:solidFill>
          <a:ln/>
        </p:spPr>
      </p:sp>
      <p:sp>
        <p:nvSpPr>
          <p:cNvPr id="7" name="card-255"/>
          <p:cNvSpPr/>
          <p:nvPr/>
        </p:nvSpPr>
        <p:spPr>
          <a:xfrm>
            <a:off x="960120" y="1600200"/>
            <a:ext cx="2743200" cy="4297680"/>
          </a:xfrm>
          <a:prstGeom prst="roundRect">
            <a:avLst>
              <a:gd name="adj" fmla="val 6667"/>
            </a:avLst>
          </a:prstGeom>
          <a:solidFill>
            <a:schemeClr val="bg1"/>
          </a:solidFill>
          <a:ln/>
        </p:spPr>
      </p:sp>
      <p:sp>
        <p:nvSpPr>
          <p:cNvPr id="8" name="pastille-256"/>
          <p:cNvSpPr/>
          <p:nvPr/>
        </p:nvSpPr>
        <p:spPr>
          <a:xfrm>
            <a:off x="1143000" y="1783080"/>
            <a:ext cx="502920" cy="502920"/>
          </a:xfrm>
          <a:prstGeom prst="ellipse">
            <a:avLst/>
          </a:prstGeom>
          <a:solidFill>
            <a:schemeClr val="accent1"/>
          </a:solidFill>
          <a:ln/>
        </p:spPr>
      </p:sp>
      <p:pic>
        <p:nvPicPr>
          <p:cNvPr id="9" name="icone-257" descr="preencoded.png">    </p:cNvPr>
          <p:cNvPicPr>
            <a:picLocks noChangeAspect="1"/>
          </p:cNvPicPr>
          <p:nvPr/>
        </p:nvPicPr>
        <p:blipFill>
          <a:blip r:embed="rId2"/>
          <a:stretch>
            <a:fillRect/>
          </a:stretch>
        </p:blipFill>
        <p:spPr>
          <a:xfrm>
            <a:off x="1253642" y="1893722"/>
            <a:ext cx="281635" cy="281635"/>
          </a:xfrm>
          <a:prstGeom prst="rect">
            <a:avLst/>
          </a:prstGeom>
        </p:spPr>
      </p:pic>
      <p:sp>
        <p:nvSpPr>
          <p:cNvPr id="10" name="txt-258"/>
          <p:cNvSpPr txBox="1"/>
          <p:nvPr/>
        </p:nvSpPr>
        <p:spPr>
          <a:xfrm>
            <a:off x="1737360" y="1828800"/>
            <a:ext cx="1645920" cy="411480"/>
          </a:xfrm>
          <a:prstGeom prst="rect">
            <a:avLst/>
          </a:prstGeom>
          <a:noFill/>
          <a:ln/>
        </p:spPr>
        <p:txBody>
          <a:bodyPr wrap="square" lIns="0" tIns="0" rIns="0" bIns="0" rtlCol="0" anchor="ctr"/>
          <a:lstStyle/>
          <a:p>
            <a:pPr indent="0" marL="0">
              <a:buNone/>
            </a:pPr>
            <a:r>
              <a:rPr lang="en-US" sz="1400" b="1" dirty="0">
                <a:solidFill>
                  <a:schemeClr val="tx1"/>
                </a:solidFill>
              </a:rPr>
              <a:t>ATM-BOT</a:t>
            </a:r>
            <a:endParaRPr lang="en-US" sz="1400" dirty="0"/>
          </a:p>
        </p:txBody>
      </p:sp>
      <p:sp>
        <p:nvSpPr>
          <p:cNvPr id="11" name="bulle-259"/>
          <p:cNvSpPr txBox="1"/>
          <p:nvPr/>
        </p:nvSpPr>
        <p:spPr>
          <a:xfrm>
            <a:off x="1143000" y="2514600"/>
            <a:ext cx="2377440" cy="566928"/>
          </a:xfrm>
          <a:prstGeom prst="roundRect">
            <a:avLst>
              <a:gd name="adj" fmla="val 24194"/>
            </a:avLst>
          </a:prstGeom>
          <a:solidFill>
            <a:schemeClr val="bg2"/>
          </a:solidFill>
          <a:ln/>
        </p:spPr>
        <p:txBody>
          <a:bodyPr wrap="square" lIns="0" tIns="127000" rIns="127000" bIns="0" rtlCol="0" anchor="ctr"/>
          <a:lstStyle/>
          <a:p>
            <a:pPr indent="0" marL="0">
              <a:buNone/>
            </a:pPr>
            <a:r>
              <a:rPr lang="en-US" sz="1400" dirty="0">
                <a:solidFill>
                  <a:schemeClr val="tx1"/>
                </a:solidFill>
              </a:rPr>
              <a:t>Décrivez la panne…</a:t>
            </a:r>
            <a:endParaRPr lang="en-US" sz="1400" dirty="0"/>
          </a:p>
        </p:txBody>
      </p:sp>
      <p:sp>
        <p:nvSpPr>
          <p:cNvPr id="12" name="bulle-260"/>
          <p:cNvSpPr txBox="1"/>
          <p:nvPr/>
        </p:nvSpPr>
        <p:spPr>
          <a:xfrm>
            <a:off x="1463040" y="3200400"/>
            <a:ext cx="2057400" cy="566928"/>
          </a:xfrm>
          <a:prstGeom prst="roundRect">
            <a:avLst>
              <a:gd name="adj" fmla="val 24194"/>
            </a:avLst>
          </a:prstGeom>
          <a:solidFill>
            <a:schemeClr val="accent3"/>
          </a:solidFill>
          <a:ln/>
        </p:spPr>
        <p:txBody>
          <a:bodyPr wrap="square" lIns="0" tIns="127000" rIns="127000" bIns="0" rtlCol="0" anchor="ctr"/>
          <a:lstStyle/>
          <a:p>
            <a:pPr indent="0" marL="0">
              <a:buNone/>
            </a:pPr>
            <a:r>
              <a:rPr lang="en-US" sz="1400" dirty="0">
                <a:solidFill>
                  <a:schemeClr val="bg1"/>
                </a:solidFill>
              </a:rPr>
              <a:t>Lecteur de carte HS</a:t>
            </a:r>
            <a:endParaRPr lang="en-US" sz="1400" dirty="0"/>
          </a:p>
        </p:txBody>
      </p:sp>
      <p:sp>
        <p:nvSpPr>
          <p:cNvPr id="13" name="bulle-261"/>
          <p:cNvSpPr txBox="1"/>
          <p:nvPr/>
        </p:nvSpPr>
        <p:spPr>
          <a:xfrm>
            <a:off x="1143000" y="3886200"/>
            <a:ext cx="2377440" cy="566928"/>
          </a:xfrm>
          <a:prstGeom prst="roundRect">
            <a:avLst>
              <a:gd name="adj" fmla="val 24194"/>
            </a:avLst>
          </a:prstGeom>
          <a:solidFill>
            <a:schemeClr val="bg2"/>
          </a:solidFill>
          <a:ln/>
        </p:spPr>
        <p:txBody>
          <a:bodyPr wrap="square" lIns="0" tIns="127000" rIns="127000" bIns="0" rtlCol="0" anchor="ctr"/>
          <a:lstStyle/>
          <a:p>
            <a:pPr indent="0" marL="0">
              <a:buNone/>
            </a:pPr>
            <a:r>
              <a:rPr lang="en-US" sz="1400" dirty="0">
                <a:solidFill>
                  <a:schemeClr val="tx1"/>
                </a:solidFill>
              </a:rPr>
              <a:t>3 cas similaires…</a:t>
            </a:r>
            <a:endParaRPr lang="en-US" sz="1400" dirty="0"/>
          </a:p>
        </p:txBody>
      </p:sp>
      <p:sp>
        <p:nvSpPr>
          <p:cNvPr id="14" name="pastille-262"/>
          <p:cNvSpPr/>
          <p:nvPr/>
        </p:nvSpPr>
        <p:spPr>
          <a:xfrm>
            <a:off x="1993392" y="4892040"/>
            <a:ext cx="685800" cy="685800"/>
          </a:xfrm>
          <a:prstGeom prst="ellipse">
            <a:avLst/>
          </a:prstGeom>
          <a:solidFill>
            <a:schemeClr val="accent2"/>
          </a:solidFill>
          <a:ln/>
        </p:spPr>
      </p:sp>
      <p:pic>
        <p:nvPicPr>
          <p:cNvPr id="15" name="icone-263" descr="preencoded.png">    </p:cNvPr>
          <p:cNvPicPr>
            <a:picLocks noChangeAspect="1"/>
          </p:cNvPicPr>
          <p:nvPr/>
        </p:nvPicPr>
        <p:blipFill>
          <a:blip r:embed="rId3"/>
          <a:stretch>
            <a:fillRect/>
          </a:stretch>
        </p:blipFill>
        <p:spPr>
          <a:xfrm>
            <a:off x="2144268" y="5042916"/>
            <a:ext cx="384048" cy="384048"/>
          </a:xfrm>
          <a:prstGeom prst="rect">
            <a:avLst/>
          </a:prstGeom>
        </p:spPr>
      </p:pic>
      <p:sp>
        <p:nvSpPr>
          <p:cNvPr id="16" name="pastille-264"/>
          <p:cNvSpPr/>
          <p:nvPr/>
        </p:nvSpPr>
        <p:spPr>
          <a:xfrm>
            <a:off x="4389120" y="1463040"/>
            <a:ext cx="512064" cy="512064"/>
          </a:xfrm>
          <a:prstGeom prst="ellipse">
            <a:avLst/>
          </a:prstGeom>
          <a:solidFill>
            <a:schemeClr val="accent1"/>
          </a:solidFill>
          <a:ln/>
        </p:spPr>
      </p:sp>
      <p:pic>
        <p:nvPicPr>
          <p:cNvPr id="17" name="icone-265" descr="preencoded.png">    </p:cNvPr>
          <p:cNvPicPr>
            <a:picLocks noChangeAspect="1"/>
          </p:cNvPicPr>
          <p:nvPr/>
        </p:nvPicPr>
        <p:blipFill>
          <a:blip r:embed="rId4"/>
          <a:stretch>
            <a:fillRect/>
          </a:stretch>
        </p:blipFill>
        <p:spPr>
          <a:xfrm>
            <a:off x="4501774" y="1575694"/>
            <a:ext cx="286756" cy="286756"/>
          </a:xfrm>
          <a:prstGeom prst="rect">
            <a:avLst/>
          </a:prstGeom>
        </p:spPr>
      </p:pic>
      <p:sp>
        <p:nvSpPr>
          <p:cNvPr id="18" name="txt-266"/>
          <p:cNvSpPr txBox="1"/>
          <p:nvPr/>
        </p:nvSpPr>
        <p:spPr>
          <a:xfrm>
            <a:off x="5047488" y="1463040"/>
            <a:ext cx="2103120" cy="512064"/>
          </a:xfrm>
          <a:prstGeom prst="rect">
            <a:avLst/>
          </a:prstGeom>
          <a:noFill/>
          <a:ln/>
        </p:spPr>
        <p:txBody>
          <a:bodyPr wrap="square" lIns="0" tIns="0" rIns="0" bIns="0" rtlCol="0" anchor="ctr"/>
          <a:lstStyle/>
          <a:p>
            <a:pPr indent="0" marL="0">
              <a:buNone/>
            </a:pPr>
            <a:r>
              <a:rPr lang="en-US" sz="1500" b="1" dirty="0">
                <a:solidFill>
                  <a:schemeClr val="tx1"/>
                </a:solidFill>
              </a:rPr>
              <a:t>Interface conversationnelle</a:t>
            </a:r>
            <a:endParaRPr lang="en-US" sz="1500" dirty="0"/>
          </a:p>
        </p:txBody>
      </p:sp>
      <p:sp>
        <p:nvSpPr>
          <p:cNvPr id="19" name="pastille-267"/>
          <p:cNvSpPr/>
          <p:nvPr/>
        </p:nvSpPr>
        <p:spPr>
          <a:xfrm>
            <a:off x="8046720" y="1463040"/>
            <a:ext cx="512064" cy="512064"/>
          </a:xfrm>
          <a:prstGeom prst="ellipse">
            <a:avLst/>
          </a:prstGeom>
          <a:solidFill>
            <a:schemeClr val="accent1"/>
          </a:solidFill>
          <a:ln/>
        </p:spPr>
      </p:sp>
      <p:pic>
        <p:nvPicPr>
          <p:cNvPr id="20" name="icone-268" descr="preencoded.png">    </p:cNvPr>
          <p:cNvPicPr>
            <a:picLocks noChangeAspect="1"/>
          </p:cNvPicPr>
          <p:nvPr/>
        </p:nvPicPr>
        <p:blipFill>
          <a:blip r:embed="rId5"/>
          <a:stretch>
            <a:fillRect/>
          </a:stretch>
        </p:blipFill>
        <p:spPr>
          <a:xfrm>
            <a:off x="8159374" y="1575694"/>
            <a:ext cx="286756" cy="286756"/>
          </a:xfrm>
          <a:prstGeom prst="rect">
            <a:avLst/>
          </a:prstGeom>
        </p:spPr>
      </p:pic>
      <p:sp>
        <p:nvSpPr>
          <p:cNvPr id="21" name="txt-269"/>
          <p:cNvSpPr txBox="1"/>
          <p:nvPr/>
        </p:nvSpPr>
        <p:spPr>
          <a:xfrm>
            <a:off x="8705088" y="1463040"/>
            <a:ext cx="2103120" cy="512064"/>
          </a:xfrm>
          <a:prstGeom prst="rect">
            <a:avLst/>
          </a:prstGeom>
          <a:noFill/>
          <a:ln/>
        </p:spPr>
        <p:txBody>
          <a:bodyPr wrap="square" lIns="0" tIns="0" rIns="0" bIns="0" rtlCol="0" anchor="ctr"/>
          <a:lstStyle/>
          <a:p>
            <a:pPr indent="0" marL="0">
              <a:buNone/>
            </a:pPr>
            <a:r>
              <a:rPr lang="en-US" sz="1500" b="1" dirty="0">
                <a:solidFill>
                  <a:schemeClr val="tx1"/>
                </a:solidFill>
              </a:rPr>
              <a:t>Animations légères</a:t>
            </a:r>
            <a:endParaRPr lang="en-US" sz="1500" dirty="0"/>
          </a:p>
        </p:txBody>
      </p:sp>
      <p:sp>
        <p:nvSpPr>
          <p:cNvPr id="22" name="pastille-270"/>
          <p:cNvSpPr/>
          <p:nvPr/>
        </p:nvSpPr>
        <p:spPr>
          <a:xfrm>
            <a:off x="4389120" y="2267712"/>
            <a:ext cx="512064" cy="512064"/>
          </a:xfrm>
          <a:prstGeom prst="ellipse">
            <a:avLst/>
          </a:prstGeom>
          <a:solidFill>
            <a:schemeClr val="accent1"/>
          </a:solidFill>
          <a:ln/>
        </p:spPr>
      </p:sp>
      <p:pic>
        <p:nvPicPr>
          <p:cNvPr id="23" name="icone-271" descr="preencoded.png">    </p:cNvPr>
          <p:cNvPicPr>
            <a:picLocks noChangeAspect="1"/>
          </p:cNvPicPr>
          <p:nvPr/>
        </p:nvPicPr>
        <p:blipFill>
          <a:blip r:embed="rId6"/>
          <a:stretch>
            <a:fillRect/>
          </a:stretch>
        </p:blipFill>
        <p:spPr>
          <a:xfrm>
            <a:off x="4501774" y="2380366"/>
            <a:ext cx="286756" cy="286756"/>
          </a:xfrm>
          <a:prstGeom prst="rect">
            <a:avLst/>
          </a:prstGeom>
        </p:spPr>
      </p:pic>
      <p:sp>
        <p:nvSpPr>
          <p:cNvPr id="24" name="txt-272"/>
          <p:cNvSpPr txBox="1"/>
          <p:nvPr/>
        </p:nvSpPr>
        <p:spPr>
          <a:xfrm>
            <a:off x="5047488" y="2267712"/>
            <a:ext cx="2103120" cy="512064"/>
          </a:xfrm>
          <a:prstGeom prst="rect">
            <a:avLst/>
          </a:prstGeom>
          <a:noFill/>
          <a:ln/>
        </p:spPr>
        <p:txBody>
          <a:bodyPr wrap="square" lIns="0" tIns="0" rIns="0" bIns="0" rtlCol="0" anchor="ctr"/>
          <a:lstStyle/>
          <a:p>
            <a:pPr indent="0" marL="0">
              <a:buNone/>
            </a:pPr>
            <a:r>
              <a:rPr lang="en-US" sz="1500" b="1" dirty="0">
                <a:solidFill>
                  <a:schemeClr val="tx1"/>
                </a:solidFill>
              </a:rPr>
              <a:t>Saisie vocale</a:t>
            </a:r>
            <a:endParaRPr lang="en-US" sz="1500" dirty="0"/>
          </a:p>
        </p:txBody>
      </p:sp>
      <p:sp>
        <p:nvSpPr>
          <p:cNvPr id="25" name="etiquette-273"/>
          <p:cNvSpPr txBox="1"/>
          <p:nvPr/>
        </p:nvSpPr>
        <p:spPr>
          <a:xfrm>
            <a:off x="7132320" y="2404872"/>
            <a:ext cx="640080" cy="237744"/>
          </a:xfrm>
          <a:prstGeom prst="roundRect">
            <a:avLst>
              <a:gd name="adj" fmla="val 50000"/>
            </a:avLst>
          </a:prstGeom>
          <a:solidFill>
            <a:schemeClr val="accent2"/>
          </a:solidFill>
          <a:ln/>
        </p:spPr>
        <p:txBody>
          <a:bodyPr wrap="square" lIns="0" tIns="0" rIns="0" bIns="0" rtlCol="0" anchor="ctr"/>
          <a:lstStyle/>
          <a:p>
            <a:pPr algn="ctr" indent="0" marL="0">
              <a:buNone/>
            </a:pPr>
            <a:r>
              <a:rPr lang="en-US" sz="1000" b="1" dirty="0">
                <a:solidFill>
                  <a:schemeClr val="bg1"/>
                </a:solidFill>
              </a:rPr>
              <a:t>Prévu</a:t>
            </a:r>
            <a:endParaRPr lang="en-US" sz="1000" dirty="0"/>
          </a:p>
        </p:txBody>
      </p:sp>
      <p:sp>
        <p:nvSpPr>
          <p:cNvPr id="26" name="pastille-274"/>
          <p:cNvSpPr/>
          <p:nvPr/>
        </p:nvSpPr>
        <p:spPr>
          <a:xfrm>
            <a:off x="8046720" y="2267712"/>
            <a:ext cx="512064" cy="512064"/>
          </a:xfrm>
          <a:prstGeom prst="ellipse">
            <a:avLst/>
          </a:prstGeom>
          <a:solidFill>
            <a:schemeClr val="accent1"/>
          </a:solidFill>
          <a:ln/>
        </p:spPr>
      </p:sp>
      <p:pic>
        <p:nvPicPr>
          <p:cNvPr id="27" name="icone-275" descr="preencoded.png">    </p:cNvPr>
          <p:cNvPicPr>
            <a:picLocks noChangeAspect="1"/>
          </p:cNvPicPr>
          <p:nvPr/>
        </p:nvPicPr>
        <p:blipFill>
          <a:blip r:embed="rId7"/>
          <a:stretch>
            <a:fillRect/>
          </a:stretch>
        </p:blipFill>
        <p:spPr>
          <a:xfrm>
            <a:off x="8159374" y="2380366"/>
            <a:ext cx="286756" cy="286756"/>
          </a:xfrm>
          <a:prstGeom prst="rect">
            <a:avLst/>
          </a:prstGeom>
        </p:spPr>
      </p:pic>
      <p:sp>
        <p:nvSpPr>
          <p:cNvPr id="28" name="txt-276"/>
          <p:cNvSpPr txBox="1"/>
          <p:nvPr/>
        </p:nvSpPr>
        <p:spPr>
          <a:xfrm>
            <a:off x="8705088" y="2267712"/>
            <a:ext cx="2103120" cy="512064"/>
          </a:xfrm>
          <a:prstGeom prst="rect">
            <a:avLst/>
          </a:prstGeom>
          <a:noFill/>
          <a:ln/>
        </p:spPr>
        <p:txBody>
          <a:bodyPr wrap="square" lIns="0" tIns="0" rIns="0" bIns="0" rtlCol="0" anchor="ctr"/>
          <a:lstStyle/>
          <a:p>
            <a:pPr indent="0" marL="0">
              <a:buNone/>
            </a:pPr>
            <a:r>
              <a:rPr lang="en-US" sz="1500" b="1" dirty="0">
                <a:solidFill>
                  <a:schemeClr val="tx1"/>
                </a:solidFill>
              </a:rPr>
              <a:t>Lecture vocale</a:t>
            </a:r>
            <a:endParaRPr lang="en-US" sz="1500" dirty="0"/>
          </a:p>
        </p:txBody>
      </p:sp>
      <p:sp>
        <p:nvSpPr>
          <p:cNvPr id="29" name="etiquette-277"/>
          <p:cNvSpPr txBox="1"/>
          <p:nvPr/>
        </p:nvSpPr>
        <p:spPr>
          <a:xfrm>
            <a:off x="10789920" y="2404872"/>
            <a:ext cx="640080" cy="237744"/>
          </a:xfrm>
          <a:prstGeom prst="roundRect">
            <a:avLst>
              <a:gd name="adj" fmla="val 50000"/>
            </a:avLst>
          </a:prstGeom>
          <a:solidFill>
            <a:schemeClr val="accent2"/>
          </a:solidFill>
          <a:ln/>
        </p:spPr>
        <p:txBody>
          <a:bodyPr wrap="square" lIns="0" tIns="0" rIns="0" bIns="0" rtlCol="0" anchor="ctr"/>
          <a:lstStyle/>
          <a:p>
            <a:pPr algn="ctr" indent="0" marL="0">
              <a:buNone/>
            </a:pPr>
            <a:r>
              <a:rPr lang="en-US" sz="1000" b="1" dirty="0">
                <a:solidFill>
                  <a:schemeClr val="bg1"/>
                </a:solidFill>
              </a:rPr>
              <a:t>Prévu</a:t>
            </a:r>
            <a:endParaRPr lang="en-US" sz="1000" dirty="0"/>
          </a:p>
        </p:txBody>
      </p:sp>
      <p:sp>
        <p:nvSpPr>
          <p:cNvPr id="30" name="pastille-278"/>
          <p:cNvSpPr/>
          <p:nvPr/>
        </p:nvSpPr>
        <p:spPr>
          <a:xfrm>
            <a:off x="4389120" y="3072384"/>
            <a:ext cx="512064" cy="512064"/>
          </a:xfrm>
          <a:prstGeom prst="ellipse">
            <a:avLst/>
          </a:prstGeom>
          <a:solidFill>
            <a:schemeClr val="accent1"/>
          </a:solidFill>
          <a:ln/>
        </p:spPr>
      </p:sp>
      <p:pic>
        <p:nvPicPr>
          <p:cNvPr id="31" name="icone-279" descr="preencoded.png">    </p:cNvPr>
          <p:cNvPicPr>
            <a:picLocks noChangeAspect="1"/>
          </p:cNvPicPr>
          <p:nvPr/>
        </p:nvPicPr>
        <p:blipFill>
          <a:blip r:embed="rId8"/>
          <a:stretch>
            <a:fillRect/>
          </a:stretch>
        </p:blipFill>
        <p:spPr>
          <a:xfrm>
            <a:off x="4501774" y="3185038"/>
            <a:ext cx="286756" cy="286756"/>
          </a:xfrm>
          <a:prstGeom prst="rect">
            <a:avLst/>
          </a:prstGeom>
        </p:spPr>
      </p:pic>
      <p:sp>
        <p:nvSpPr>
          <p:cNvPr id="32" name="txt-280"/>
          <p:cNvSpPr txBox="1"/>
          <p:nvPr/>
        </p:nvSpPr>
        <p:spPr>
          <a:xfrm>
            <a:off x="5047488" y="3072384"/>
            <a:ext cx="2103120" cy="512064"/>
          </a:xfrm>
          <a:prstGeom prst="rect">
            <a:avLst/>
          </a:prstGeom>
          <a:noFill/>
          <a:ln/>
        </p:spPr>
        <p:txBody>
          <a:bodyPr wrap="square" lIns="0" tIns="0" rIns="0" bIns="0" rtlCol="0" anchor="ctr"/>
          <a:lstStyle/>
          <a:p>
            <a:pPr indent="0" marL="0">
              <a:buNone/>
            </a:pPr>
            <a:r>
              <a:rPr lang="en-US" sz="1500" b="1" dirty="0">
                <a:solidFill>
                  <a:schemeClr val="tx1"/>
                </a:solidFill>
              </a:rPr>
              <a:t>Choix de l'avatar</a:t>
            </a:r>
            <a:endParaRPr lang="en-US" sz="1500" dirty="0"/>
          </a:p>
        </p:txBody>
      </p:sp>
      <p:sp>
        <p:nvSpPr>
          <p:cNvPr id="33" name="etiquette-281"/>
          <p:cNvSpPr txBox="1"/>
          <p:nvPr/>
        </p:nvSpPr>
        <p:spPr>
          <a:xfrm>
            <a:off x="7132320" y="3209544"/>
            <a:ext cx="640080" cy="237744"/>
          </a:xfrm>
          <a:prstGeom prst="roundRect">
            <a:avLst>
              <a:gd name="adj" fmla="val 50000"/>
            </a:avLst>
          </a:prstGeom>
          <a:solidFill>
            <a:schemeClr val="accent2"/>
          </a:solidFill>
          <a:ln/>
        </p:spPr>
        <p:txBody>
          <a:bodyPr wrap="square" lIns="0" tIns="0" rIns="0" bIns="0" rtlCol="0" anchor="ctr"/>
          <a:lstStyle/>
          <a:p>
            <a:pPr algn="ctr" indent="0" marL="0">
              <a:buNone/>
            </a:pPr>
            <a:r>
              <a:rPr lang="en-US" sz="1000" b="1" dirty="0">
                <a:solidFill>
                  <a:schemeClr val="bg1"/>
                </a:solidFill>
              </a:rPr>
              <a:t>Prévu</a:t>
            </a:r>
            <a:endParaRPr lang="en-US" sz="1000" dirty="0"/>
          </a:p>
        </p:txBody>
      </p:sp>
      <p:sp>
        <p:nvSpPr>
          <p:cNvPr id="34" name="pastille-282"/>
          <p:cNvSpPr/>
          <p:nvPr/>
        </p:nvSpPr>
        <p:spPr>
          <a:xfrm>
            <a:off x="8046720" y="3072384"/>
            <a:ext cx="512064" cy="512064"/>
          </a:xfrm>
          <a:prstGeom prst="ellipse">
            <a:avLst/>
          </a:prstGeom>
          <a:solidFill>
            <a:schemeClr val="accent1"/>
          </a:solidFill>
          <a:ln/>
        </p:spPr>
      </p:sp>
      <p:pic>
        <p:nvPicPr>
          <p:cNvPr id="35" name="icone-283" descr="preencoded.png">    </p:cNvPr>
          <p:cNvPicPr>
            <a:picLocks noChangeAspect="1"/>
          </p:cNvPicPr>
          <p:nvPr/>
        </p:nvPicPr>
        <p:blipFill>
          <a:blip r:embed="rId9"/>
          <a:stretch>
            <a:fillRect/>
          </a:stretch>
        </p:blipFill>
        <p:spPr>
          <a:xfrm>
            <a:off x="8159374" y="3185038"/>
            <a:ext cx="286756" cy="286756"/>
          </a:xfrm>
          <a:prstGeom prst="rect">
            <a:avLst/>
          </a:prstGeom>
        </p:spPr>
      </p:pic>
      <p:sp>
        <p:nvSpPr>
          <p:cNvPr id="36" name="txt-284"/>
          <p:cNvSpPr txBox="1"/>
          <p:nvPr/>
        </p:nvSpPr>
        <p:spPr>
          <a:xfrm>
            <a:off x="8705088" y="3072384"/>
            <a:ext cx="2103120" cy="512064"/>
          </a:xfrm>
          <a:prstGeom prst="rect">
            <a:avLst/>
          </a:prstGeom>
          <a:noFill/>
          <a:ln/>
        </p:spPr>
        <p:txBody>
          <a:bodyPr wrap="square" lIns="0" tIns="0" rIns="0" bIns="0" rtlCol="0" anchor="ctr"/>
          <a:lstStyle/>
          <a:p>
            <a:pPr indent="0" marL="0">
              <a:buNone/>
            </a:pPr>
            <a:r>
              <a:rPr lang="en-US" sz="1500" b="1" dirty="0">
                <a:solidFill>
                  <a:schemeClr val="tx1"/>
                </a:solidFill>
              </a:rPr>
              <a:t>Choix de la voix</a:t>
            </a:r>
            <a:endParaRPr lang="en-US" sz="1500" dirty="0"/>
          </a:p>
        </p:txBody>
      </p:sp>
      <p:sp>
        <p:nvSpPr>
          <p:cNvPr id="37" name="etiquette-285"/>
          <p:cNvSpPr txBox="1"/>
          <p:nvPr/>
        </p:nvSpPr>
        <p:spPr>
          <a:xfrm>
            <a:off x="10789920" y="3209544"/>
            <a:ext cx="640080" cy="237744"/>
          </a:xfrm>
          <a:prstGeom prst="roundRect">
            <a:avLst>
              <a:gd name="adj" fmla="val 50000"/>
            </a:avLst>
          </a:prstGeom>
          <a:solidFill>
            <a:schemeClr val="accent2"/>
          </a:solidFill>
          <a:ln/>
        </p:spPr>
        <p:txBody>
          <a:bodyPr wrap="square" lIns="0" tIns="0" rIns="0" bIns="0" rtlCol="0" anchor="ctr"/>
          <a:lstStyle/>
          <a:p>
            <a:pPr algn="ctr" indent="0" marL="0">
              <a:buNone/>
            </a:pPr>
            <a:r>
              <a:rPr lang="en-US" sz="1000" b="1" dirty="0">
                <a:solidFill>
                  <a:schemeClr val="bg1"/>
                </a:solidFill>
              </a:rPr>
              <a:t>Prévu</a:t>
            </a:r>
            <a:endParaRPr lang="en-US" sz="1000" dirty="0"/>
          </a:p>
        </p:txBody>
      </p:sp>
      <p:sp>
        <p:nvSpPr>
          <p:cNvPr id="38" name="pastille-286"/>
          <p:cNvSpPr/>
          <p:nvPr/>
        </p:nvSpPr>
        <p:spPr>
          <a:xfrm>
            <a:off x="4389120" y="3877056"/>
            <a:ext cx="512064" cy="512064"/>
          </a:xfrm>
          <a:prstGeom prst="ellipse">
            <a:avLst/>
          </a:prstGeom>
          <a:solidFill>
            <a:schemeClr val="accent1"/>
          </a:solidFill>
          <a:ln/>
        </p:spPr>
      </p:sp>
      <p:pic>
        <p:nvPicPr>
          <p:cNvPr id="39" name="icone-287" descr="preencoded.png">    </p:cNvPr>
          <p:cNvPicPr>
            <a:picLocks noChangeAspect="1"/>
          </p:cNvPicPr>
          <p:nvPr/>
        </p:nvPicPr>
        <p:blipFill>
          <a:blip r:embed="rId10"/>
          <a:stretch>
            <a:fillRect/>
          </a:stretch>
        </p:blipFill>
        <p:spPr>
          <a:xfrm>
            <a:off x="4501774" y="3989710"/>
            <a:ext cx="286756" cy="286756"/>
          </a:xfrm>
          <a:prstGeom prst="rect">
            <a:avLst/>
          </a:prstGeom>
        </p:spPr>
      </p:pic>
      <p:sp>
        <p:nvSpPr>
          <p:cNvPr id="40" name="txt-288"/>
          <p:cNvSpPr txBox="1"/>
          <p:nvPr/>
        </p:nvSpPr>
        <p:spPr>
          <a:xfrm>
            <a:off x="5047488" y="3877056"/>
            <a:ext cx="2103120" cy="512064"/>
          </a:xfrm>
          <a:prstGeom prst="rect">
            <a:avLst/>
          </a:prstGeom>
          <a:noFill/>
          <a:ln/>
        </p:spPr>
        <p:txBody>
          <a:bodyPr wrap="square" lIns="0" tIns="0" rIns="0" bIns="0" rtlCol="0" anchor="ctr"/>
          <a:lstStyle/>
          <a:p>
            <a:pPr indent="0" marL="0">
              <a:buNone/>
            </a:pPr>
            <a:r>
              <a:rPr lang="en-US" sz="1500" b="1" dirty="0">
                <a:solidFill>
                  <a:schemeClr val="tx1"/>
                </a:solidFill>
              </a:rPr>
              <a:t>États visuels</a:t>
            </a:r>
            <a:endParaRPr lang="en-US" sz="1500" dirty="0"/>
          </a:p>
        </p:txBody>
      </p:sp>
      <p:sp>
        <p:nvSpPr>
          <p:cNvPr id="41" name="pastille-289"/>
          <p:cNvSpPr/>
          <p:nvPr/>
        </p:nvSpPr>
        <p:spPr>
          <a:xfrm>
            <a:off x="8046720" y="3877056"/>
            <a:ext cx="512064" cy="512064"/>
          </a:xfrm>
          <a:prstGeom prst="ellipse">
            <a:avLst/>
          </a:prstGeom>
          <a:solidFill>
            <a:schemeClr val="accent1"/>
          </a:solidFill>
          <a:ln/>
        </p:spPr>
      </p:sp>
      <p:pic>
        <p:nvPicPr>
          <p:cNvPr id="42" name="icone-290" descr="preencoded.png">    </p:cNvPr>
          <p:cNvPicPr>
            <a:picLocks noChangeAspect="1"/>
          </p:cNvPicPr>
          <p:nvPr/>
        </p:nvPicPr>
        <p:blipFill>
          <a:blip r:embed="rId11"/>
          <a:stretch>
            <a:fillRect/>
          </a:stretch>
        </p:blipFill>
        <p:spPr>
          <a:xfrm>
            <a:off x="8159374" y="3989710"/>
            <a:ext cx="286756" cy="286756"/>
          </a:xfrm>
          <a:prstGeom prst="rect">
            <a:avLst/>
          </a:prstGeom>
        </p:spPr>
      </p:pic>
      <p:sp>
        <p:nvSpPr>
          <p:cNvPr id="43" name="txt-291"/>
          <p:cNvSpPr txBox="1"/>
          <p:nvPr/>
        </p:nvSpPr>
        <p:spPr>
          <a:xfrm>
            <a:off x="8705088" y="3877056"/>
            <a:ext cx="2103120" cy="512064"/>
          </a:xfrm>
          <a:prstGeom prst="rect">
            <a:avLst/>
          </a:prstGeom>
          <a:noFill/>
          <a:ln/>
        </p:spPr>
        <p:txBody>
          <a:bodyPr wrap="square" lIns="0" tIns="0" rIns="0" bIns="0" rtlCol="0" anchor="ctr"/>
          <a:lstStyle/>
          <a:p>
            <a:pPr indent="0" marL="0">
              <a:buNone/>
            </a:pPr>
            <a:r>
              <a:rPr lang="en-US" sz="1500" b="1" dirty="0">
                <a:solidFill>
                  <a:schemeClr val="tx1"/>
                </a:solidFill>
              </a:rPr>
              <a:t>Préférences mémorisées</a:t>
            </a:r>
            <a:endParaRPr lang="en-US" sz="1500" dirty="0"/>
          </a:p>
        </p:txBody>
      </p:sp>
      <p:sp>
        <p:nvSpPr>
          <p:cNvPr id="44" name="etiquette-292"/>
          <p:cNvSpPr txBox="1"/>
          <p:nvPr/>
        </p:nvSpPr>
        <p:spPr>
          <a:xfrm>
            <a:off x="10789920" y="4014216"/>
            <a:ext cx="640080" cy="237744"/>
          </a:xfrm>
          <a:prstGeom prst="roundRect">
            <a:avLst>
              <a:gd name="adj" fmla="val 50000"/>
            </a:avLst>
          </a:prstGeom>
          <a:solidFill>
            <a:schemeClr val="accent2"/>
          </a:solidFill>
          <a:ln/>
        </p:spPr>
        <p:txBody>
          <a:bodyPr wrap="square" lIns="0" tIns="0" rIns="0" bIns="0" rtlCol="0" anchor="ctr"/>
          <a:lstStyle/>
          <a:p>
            <a:pPr algn="ctr" indent="0" marL="0">
              <a:buNone/>
            </a:pPr>
            <a:r>
              <a:rPr lang="en-US" sz="1000" b="1" dirty="0">
                <a:solidFill>
                  <a:schemeClr val="bg1"/>
                </a:solidFill>
              </a:rPr>
              <a:t>Prévu</a:t>
            </a:r>
            <a:endParaRPr lang="en-US" sz="1000" dirty="0"/>
          </a:p>
        </p:txBody>
      </p:sp>
      <p:sp>
        <p:nvSpPr>
          <p:cNvPr id="45" name="txt-293"/>
          <p:cNvSpPr txBox="1"/>
          <p:nvPr/>
        </p:nvSpPr>
        <p:spPr>
          <a:xfrm>
            <a:off x="4389120" y="4800600"/>
            <a:ext cx="7223760" cy="320040"/>
          </a:xfrm>
          <a:prstGeom prst="rect">
            <a:avLst/>
          </a:prstGeom>
          <a:noFill/>
          <a:ln/>
        </p:spPr>
        <p:txBody>
          <a:bodyPr wrap="square" lIns="0" tIns="0" rIns="0" bIns="0" rtlCol="0" anchor="t"/>
          <a:lstStyle/>
          <a:p>
            <a:pPr indent="0" marL="0">
              <a:buNone/>
            </a:pPr>
            <a:r>
              <a:rPr lang="en-US" sz="1300" dirty="0">
                <a:solidFill>
                  <a:schemeClr val="tx2"/>
                </a:solidFill>
              </a:rPr>
              <a:t>États vocaux : idle · listening · processing · speaking · error</a:t>
            </a:r>
            <a:endParaRPr lang="en-US" sz="1300" dirty="0"/>
          </a:p>
        </p:txBody>
      </p:sp>
      <p:sp>
        <p:nvSpPr>
          <p:cNvPr id="46" name="txt-294"/>
          <p:cNvSpPr txBox="1"/>
          <p:nvPr/>
        </p:nvSpPr>
        <p:spPr>
          <a:xfrm>
            <a:off x="4389120" y="5120640"/>
            <a:ext cx="7223760" cy="320040"/>
          </a:xfrm>
          <a:prstGeom prst="rect">
            <a:avLst/>
          </a:prstGeom>
          <a:noFill/>
          <a:ln/>
        </p:spPr>
        <p:txBody>
          <a:bodyPr wrap="square" lIns="0" tIns="0" rIns="0" bIns="0" rtlCol="0" anchor="t"/>
          <a:lstStyle/>
          <a:p>
            <a:pPr indent="0" marL="0">
              <a:buNone/>
            </a:pPr>
            <a:r>
              <a:rPr lang="en-US" sz="1300" dirty="0">
                <a:solidFill>
                  <a:schemeClr val="tx2"/>
                </a:solidFill>
              </a:rPr>
              <a:t>États du chat : idle · sending · waiting · response · error</a:t>
            </a:r>
            <a:endParaRPr lang="en-US" sz="1300" dirty="0"/>
          </a:p>
        </p:txBody>
      </p:sp>
      <p:sp>
        <p:nvSpPr>
          <p:cNvPr id="47" name="txt-295"/>
          <p:cNvSpPr txBox="1"/>
          <p:nvPr/>
        </p:nvSpPr>
        <p:spPr>
          <a:xfrm>
            <a:off x="4389120" y="5577840"/>
            <a:ext cx="7223760" cy="457200"/>
          </a:xfrm>
          <a:prstGeom prst="rect">
            <a:avLst/>
          </a:prstGeom>
          <a:noFill/>
          <a:ln/>
        </p:spPr>
        <p:txBody>
          <a:bodyPr wrap="square" lIns="0" tIns="0" rIns="0" bIns="0" rtlCol="0" anchor="t"/>
          <a:lstStyle/>
          <a:p>
            <a:pPr indent="0" marL="0">
              <a:buNone/>
            </a:pPr>
            <a:r>
              <a:rPr lang="en-US" sz="1300" b="1" dirty="0">
                <a:solidFill>
                  <a:schemeClr val="tx1"/>
                </a:solidFill>
              </a:rPr>
              <a:t>Communication avec le backend uniquement via POST /api/chat ; la voix est traitée dans le navigateur.</a:t>
            </a:r>
            <a:endParaRPr lang="en-US" sz="13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xt-296"/>
          <p:cNvSpPr txBox="1"/>
          <p:nvPr/>
        </p:nvSpPr>
        <p:spPr>
          <a:xfrm>
            <a:off x="731520" y="1097280"/>
            <a:ext cx="3657600" cy="320040"/>
          </a:xfrm>
          <a:prstGeom prst="rect">
            <a:avLst/>
          </a:prstGeom>
          <a:noFill/>
          <a:ln/>
        </p:spPr>
        <p:txBody>
          <a:bodyPr wrap="square" lIns="0" tIns="0" rIns="0" bIns="0" rtlCol="0" anchor="t"/>
          <a:lstStyle/>
          <a:p>
            <a:pPr indent="0" marL="0">
              <a:buNone/>
            </a:pPr>
            <a:r>
              <a:rPr lang="en-US" sz="1400" b="1" spc="200" kern="0" dirty="0">
                <a:solidFill>
                  <a:schemeClr val="accent2"/>
                </a:solidFill>
              </a:rPr>
              <a:t>PARTIE</a:t>
            </a:r>
            <a:endParaRPr lang="en-US" sz="1400" dirty="0"/>
          </a:p>
        </p:txBody>
      </p:sp>
      <p:sp>
        <p:nvSpPr>
          <p:cNvPr id="3" name="txt-297"/>
          <p:cNvSpPr txBox="1"/>
          <p:nvPr/>
        </p:nvSpPr>
        <p:spPr>
          <a:xfrm>
            <a:off x="731520" y="1417320"/>
            <a:ext cx="3657600" cy="1280160"/>
          </a:xfrm>
          <a:prstGeom prst="rect">
            <a:avLst/>
          </a:prstGeom>
          <a:noFill/>
          <a:ln/>
        </p:spPr>
        <p:txBody>
          <a:bodyPr wrap="square" lIns="0" tIns="0" rIns="0" bIns="0" rtlCol="0" anchor="t"/>
          <a:lstStyle/>
          <a:p>
            <a:pPr indent="0" marL="0">
              <a:buNone/>
            </a:pPr>
            <a:r>
              <a:rPr lang="en-US" sz="8800" b="1" dirty="0">
                <a:solidFill>
                  <a:schemeClr val="accent1"/>
                </a:solidFill>
                <a:latin typeface="Arial" pitchFamily="34" charset="0"/>
                <a:ea typeface="Arial" pitchFamily="34" charset="-122"/>
                <a:cs typeface="Arial" pitchFamily="34" charset="-120"/>
              </a:rPr>
              <a:t>III</a:t>
            </a:r>
            <a:endParaRPr lang="en-US" sz="8800" dirty="0"/>
          </a:p>
        </p:txBody>
      </p:sp>
      <p:sp>
        <p:nvSpPr>
          <p:cNvPr id="4" name="txt-298"/>
          <p:cNvSpPr txBox="1"/>
          <p:nvPr/>
        </p:nvSpPr>
        <p:spPr>
          <a:xfrm>
            <a:off x="731520" y="2697480"/>
            <a:ext cx="5486400" cy="1097280"/>
          </a:xfrm>
          <a:prstGeom prst="rect">
            <a:avLst/>
          </a:prstGeom>
          <a:noFill/>
          <a:ln/>
        </p:spPr>
        <p:txBody>
          <a:bodyPr wrap="square" lIns="0" tIns="0" rIns="0" bIns="0" rtlCol="0" anchor="t"/>
          <a:lstStyle/>
          <a:p>
            <a:pPr indent="0" marL="0">
              <a:buNone/>
            </a:pPr>
            <a:r>
              <a:rPr lang="en-US" sz="3000" b="1" dirty="0">
                <a:solidFill>
                  <a:schemeClr val="bg1"/>
                </a:solidFill>
                <a:latin typeface="Arial" pitchFamily="34" charset="0"/>
                <a:ea typeface="Arial" pitchFamily="34" charset="-122"/>
                <a:cs typeface="Arial" pitchFamily="34" charset="-120"/>
              </a:rPr>
              <a:t>L'architecture</a:t>
            </a:r>
            <a:endParaRPr lang="en-US" sz="3000" dirty="0"/>
          </a:p>
        </p:txBody>
      </p:sp>
      <p:sp>
        <p:nvSpPr>
          <p:cNvPr id="5" name="txt-299"/>
          <p:cNvSpPr txBox="1"/>
          <p:nvPr/>
        </p:nvSpPr>
        <p:spPr>
          <a:xfrm>
            <a:off x="731520" y="3931920"/>
            <a:ext cx="5303520" cy="1188720"/>
          </a:xfrm>
          <a:prstGeom prst="rect">
            <a:avLst/>
          </a:prstGeom>
          <a:noFill/>
          <a:ln/>
        </p:spPr>
        <p:txBody>
          <a:bodyPr wrap="square" lIns="0" tIns="0" rIns="0" bIns="0" rtlCol="0" anchor="t"/>
          <a:lstStyle/>
          <a:p>
            <a:pPr indent="0" marL="0">
              <a:buNone/>
            </a:pPr>
            <a:r>
              <a:rPr lang="en-US" sz="1600" dirty="0">
                <a:solidFill>
                  <a:srgbClr val="C9D3D9"/>
                </a:solidFill>
              </a:rPr>
              <a:t>Voir comment le projet est organisé techniquement, couche par couche.</a:t>
            </a:r>
            <a:endParaRPr lang="en-US" sz="1600" dirty="0"/>
          </a:p>
        </p:txBody>
      </p:sp>
      <p:sp>
        <p:nvSpPr>
          <p:cNvPr id="6" name="txt-300"/>
          <p:cNvSpPr txBox="1"/>
          <p:nvPr/>
        </p:nvSpPr>
        <p:spPr>
          <a:xfrm>
            <a:off x="6766560" y="1463040"/>
            <a:ext cx="4846320" cy="365760"/>
          </a:xfrm>
          <a:prstGeom prst="rect">
            <a:avLst/>
          </a:prstGeom>
          <a:noFill/>
          <a:ln/>
        </p:spPr>
        <p:txBody>
          <a:bodyPr wrap="square" lIns="0" tIns="0" rIns="0" bIns="0" rtlCol="0" anchor="t"/>
          <a:lstStyle/>
          <a:p>
            <a:pPr indent="0" marL="0">
              <a:buNone/>
            </a:pPr>
            <a:r>
              <a:rPr lang="en-US" sz="1400" b="1" dirty="0">
                <a:solidFill>
                  <a:schemeClr val="accent2"/>
                </a:solidFill>
              </a:rPr>
              <a:t>Dans cette partie</a:t>
            </a:r>
            <a:endParaRPr lang="en-US" sz="1400" dirty="0"/>
          </a:p>
        </p:txBody>
      </p:sp>
      <p:sp>
        <p:nvSpPr>
          <p:cNvPr id="7" name="Shape 5"/>
          <p:cNvSpPr/>
          <p:nvPr/>
        </p:nvSpPr>
        <p:spPr>
          <a:xfrm>
            <a:off x="6766560" y="1965960"/>
            <a:ext cx="4873752" cy="530352"/>
          </a:xfrm>
          <a:prstGeom prst="roundRect">
            <a:avLst>
              <a:gd name="adj" fmla="val 17241"/>
            </a:avLst>
          </a:prstGeom>
          <a:solidFill>
            <a:srgbClr val="FFFFFF">
              <a:alpha val="8000"/>
            </a:srgbClr>
          </a:solidFill>
          <a:ln/>
        </p:spPr>
      </p:sp>
      <p:sp>
        <p:nvSpPr>
          <p:cNvPr id="8" name="txt-301"/>
          <p:cNvSpPr txBox="1"/>
          <p:nvPr/>
        </p:nvSpPr>
        <p:spPr>
          <a:xfrm>
            <a:off x="6949440" y="1965960"/>
            <a:ext cx="4572000" cy="530352"/>
          </a:xfrm>
          <a:prstGeom prst="rect">
            <a:avLst/>
          </a:prstGeom>
          <a:noFill/>
          <a:ln/>
        </p:spPr>
        <p:txBody>
          <a:bodyPr wrap="square" lIns="0" tIns="0" rIns="0" bIns="0" rtlCol="0" anchor="ctr"/>
          <a:lstStyle/>
          <a:p>
            <a:pPr indent="0" marL="0">
              <a:buNone/>
            </a:pPr>
            <a:r>
              <a:rPr lang="en-US" sz="1500" dirty="0">
                <a:solidFill>
                  <a:schemeClr val="bg1"/>
                </a:solidFill>
              </a:rPr>
              <a:t>a) Les couches du projet</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partie"/>
          <p:cNvSpPr txBox="1"/>
          <p:nvPr/>
        </p:nvSpPr>
        <p:spPr>
          <a:xfrm>
            <a:off x="548640" y="182880"/>
            <a:ext cx="8229600" cy="256032"/>
          </a:xfrm>
          <a:prstGeom prst="rect">
            <a:avLst/>
          </a:prstGeom>
          <a:noFill/>
          <a:ln/>
        </p:spPr>
        <p:txBody>
          <a:bodyPr wrap="square" lIns="0" tIns="0" rIns="0" bIns="0" rtlCol="0" anchor="ctr"/>
          <a:lstStyle/>
          <a:p>
            <a:pPr indent="0" marL="0">
              <a:buNone/>
            </a:pPr>
            <a:r>
              <a:rPr lang="en-US" sz="1100" b="1" spc="150" kern="0" dirty="0">
                <a:solidFill>
                  <a:schemeClr val="accent1"/>
                </a:solidFill>
              </a:rPr>
              <a:t>III. L'ARCHITECTURE</a:t>
            </a:r>
            <a:endParaRPr lang="en-US" sz="1100" dirty="0"/>
          </a:p>
        </p:txBody>
      </p:sp>
      <p:sp>
        <p:nvSpPr>
          <p:cNvPr id="3" name="Text 0"/>
          <p:cNvSpPr/>
          <p:nvPr>
            <p:ph idx="100" type="title" hasCustomPrompt="1"/>
          </p:nvPr>
        </p:nvSpPr>
        <p:spPr>
          <a:xfrm>
            <a:off x="548640" y="438912"/>
            <a:ext cx="11091672" cy="54864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a) Les couches du projet</a:t>
            </a:r>
            <a:endParaRPr lang="en-US" sz="2800" dirty="0"/>
          </a:p>
        </p:txBody>
      </p:sp>
      <p:pic>
        <p:nvPicPr>
          <p:cNvPr id="4" name="icone-objectif" descr="preencoded.png">    </p:cNvPr>
          <p:cNvPicPr>
            <a:picLocks noChangeAspect="1"/>
          </p:cNvPicPr>
          <p:nvPr/>
        </p:nvPicPr>
        <p:blipFill>
          <a:blip r:embed="rId1"/>
          <a:stretch>
            <a:fillRect/>
          </a:stretch>
        </p:blipFill>
        <p:spPr>
          <a:xfrm>
            <a:off x="548640" y="1033272"/>
            <a:ext cx="237744" cy="237744"/>
          </a:xfrm>
          <a:prstGeom prst="rect">
            <a:avLst/>
          </a:prstGeom>
        </p:spPr>
      </p:pic>
      <p:sp>
        <p:nvSpPr>
          <p:cNvPr id="5" name="objectif"/>
          <p:cNvSpPr txBox="1"/>
          <p:nvPr/>
        </p:nvSpPr>
        <p:spPr>
          <a:xfrm>
            <a:off x="868680" y="987552"/>
            <a:ext cx="10771632" cy="329184"/>
          </a:xfrm>
          <a:prstGeom prst="rect">
            <a:avLst/>
          </a:prstGeom>
          <a:noFill/>
          <a:ln/>
        </p:spPr>
        <p:txBody>
          <a:bodyPr wrap="square" lIns="0" tIns="0" rIns="0" bIns="0" rtlCol="0" anchor="ctr"/>
          <a:lstStyle/>
          <a:p>
            <a:pPr indent="0" marL="0">
              <a:buNone/>
            </a:pPr>
            <a:r>
              <a:rPr lang="en-US" sz="1400" b="1" i="1" dirty="0">
                <a:solidFill>
                  <a:schemeClr val="tx2"/>
                </a:solidFill>
              </a:rPr>
              <a:t>Objectif : </a:t>
            </a:r>
            <a:pPr indent="0" marL="0">
              <a:buNone/>
            </a:pPr>
            <a:r>
              <a:rPr lang="en-US" sz="1400" i="1" dirty="0">
                <a:solidFill>
                  <a:schemeClr val="tx2"/>
                </a:solidFill>
              </a:rPr>
              <a:t>Savoir quel composant fait quoi, et à quel moment interviennent Claude et Voyage AI.</a:t>
            </a:r>
            <a:endParaRPr lang="en-US" sz="1400" dirty="0"/>
          </a:p>
        </p:txBody>
      </p:sp>
      <p:sp>
        <p:nvSpPr>
          <p:cNvPr id="6" name="card-302"/>
          <p:cNvSpPr/>
          <p:nvPr/>
        </p:nvSpPr>
        <p:spPr>
          <a:xfrm>
            <a:off x="548640" y="1463040"/>
            <a:ext cx="11091672" cy="941832"/>
          </a:xfrm>
          <a:prstGeom prst="roundRect">
            <a:avLst>
              <a:gd name="adj" fmla="val 11650"/>
            </a:avLst>
          </a:prstGeom>
          <a:solidFill>
            <a:schemeClr val="accent3">
              <a:alpha val="10000"/>
            </a:schemeClr>
          </a:solidFill>
          <a:ln/>
        </p:spPr>
      </p:sp>
      <p:sp>
        <p:nvSpPr>
          <p:cNvPr id="7" name="pastille-303"/>
          <p:cNvSpPr/>
          <p:nvPr/>
        </p:nvSpPr>
        <p:spPr>
          <a:xfrm>
            <a:off x="731520" y="1645920"/>
            <a:ext cx="566928" cy="566928"/>
          </a:xfrm>
          <a:prstGeom prst="ellipse">
            <a:avLst/>
          </a:prstGeom>
          <a:solidFill>
            <a:schemeClr val="accent3"/>
          </a:solidFill>
          <a:ln/>
        </p:spPr>
      </p:sp>
      <p:pic>
        <p:nvPicPr>
          <p:cNvPr id="8" name="icone-304" descr="preencoded.png">    </p:cNvPr>
          <p:cNvPicPr>
            <a:picLocks noChangeAspect="1"/>
          </p:cNvPicPr>
          <p:nvPr/>
        </p:nvPicPr>
        <p:blipFill>
          <a:blip r:embed="rId2"/>
          <a:stretch>
            <a:fillRect/>
          </a:stretch>
        </p:blipFill>
        <p:spPr>
          <a:xfrm>
            <a:off x="856244" y="1770644"/>
            <a:ext cx="317480" cy="317480"/>
          </a:xfrm>
          <a:prstGeom prst="rect">
            <a:avLst/>
          </a:prstGeom>
        </p:spPr>
      </p:pic>
      <p:sp>
        <p:nvSpPr>
          <p:cNvPr id="9" name="txt-305"/>
          <p:cNvSpPr txBox="1"/>
          <p:nvPr/>
        </p:nvSpPr>
        <p:spPr>
          <a:xfrm>
            <a:off x="1463040" y="1618488"/>
            <a:ext cx="2286000" cy="347472"/>
          </a:xfrm>
          <a:prstGeom prst="rect">
            <a:avLst/>
          </a:prstGeom>
          <a:noFill/>
          <a:ln/>
        </p:spPr>
        <p:txBody>
          <a:bodyPr wrap="square" lIns="0" tIns="0" rIns="0" bIns="0" rtlCol="0" anchor="t"/>
          <a:lstStyle/>
          <a:p>
            <a:pPr indent="0" marL="0">
              <a:buNone/>
            </a:pPr>
            <a:r>
              <a:rPr lang="en-US" sz="1500" b="1" dirty="0">
                <a:solidFill>
                  <a:schemeClr val="tx1"/>
                </a:solidFill>
              </a:rPr>
              <a:t>Présentation</a:t>
            </a:r>
            <a:endParaRPr lang="en-US" sz="1500" dirty="0"/>
          </a:p>
        </p:txBody>
      </p:sp>
      <p:sp>
        <p:nvSpPr>
          <p:cNvPr id="10" name="txt-306"/>
          <p:cNvSpPr txBox="1"/>
          <p:nvPr/>
        </p:nvSpPr>
        <p:spPr>
          <a:xfrm>
            <a:off x="1463040" y="1965960"/>
            <a:ext cx="2286000" cy="320040"/>
          </a:xfrm>
          <a:prstGeom prst="rect">
            <a:avLst/>
          </a:prstGeom>
          <a:noFill/>
          <a:ln/>
        </p:spPr>
        <p:txBody>
          <a:bodyPr wrap="square" lIns="0" tIns="0" rIns="0" bIns="0" rtlCol="0" anchor="t"/>
          <a:lstStyle/>
          <a:p>
            <a:pPr indent="0" marL="0">
              <a:buNone/>
            </a:pPr>
            <a:r>
              <a:rPr lang="en-US" sz="1200" dirty="0">
                <a:solidFill>
                  <a:schemeClr val="tx2"/>
                </a:solidFill>
              </a:rPr>
              <a:t>Ce que voit le technicien</a:t>
            </a:r>
            <a:endParaRPr lang="en-US" sz="1200" dirty="0"/>
          </a:p>
        </p:txBody>
      </p:sp>
      <p:sp>
        <p:nvSpPr>
          <p:cNvPr id="11" name="card-307"/>
          <p:cNvSpPr/>
          <p:nvPr/>
        </p:nvSpPr>
        <p:spPr>
          <a:xfrm>
            <a:off x="3931920" y="1581912"/>
            <a:ext cx="3657600" cy="704088"/>
          </a:xfrm>
          <a:prstGeom prst="roundRect">
            <a:avLst>
              <a:gd name="adj" fmla="val 15584"/>
            </a:avLst>
          </a:prstGeom>
          <a:solidFill>
            <a:schemeClr val="bg1"/>
          </a:solidFill>
          <a:ln/>
        </p:spPr>
      </p:sp>
      <p:sp>
        <p:nvSpPr>
          <p:cNvPr id="12" name="txt-308"/>
          <p:cNvSpPr txBox="1"/>
          <p:nvPr/>
        </p:nvSpPr>
        <p:spPr>
          <a:xfrm>
            <a:off x="4114800" y="1618488"/>
            <a:ext cx="3291840" cy="301752"/>
          </a:xfrm>
          <a:prstGeom prst="rect">
            <a:avLst/>
          </a:prstGeom>
          <a:noFill/>
          <a:ln/>
        </p:spPr>
        <p:txBody>
          <a:bodyPr wrap="square" lIns="0" tIns="0" rIns="0" bIns="0" rtlCol="0" anchor="t"/>
          <a:lstStyle/>
          <a:p>
            <a:pPr indent="0" marL="0">
              <a:buNone/>
            </a:pPr>
            <a:r>
              <a:rPr lang="en-US" sz="1400" b="1" dirty="0">
                <a:solidFill>
                  <a:schemeClr val="tx1"/>
                </a:solidFill>
              </a:rPr>
              <a:t>Frontend (navigateur)</a:t>
            </a:r>
            <a:endParaRPr lang="en-US" sz="1400" dirty="0"/>
          </a:p>
        </p:txBody>
      </p:sp>
      <p:sp>
        <p:nvSpPr>
          <p:cNvPr id="13" name="txt-309"/>
          <p:cNvSpPr txBox="1"/>
          <p:nvPr/>
        </p:nvSpPr>
        <p:spPr>
          <a:xfrm>
            <a:off x="4114800" y="1920240"/>
            <a:ext cx="3291840" cy="320040"/>
          </a:xfrm>
          <a:prstGeom prst="rect">
            <a:avLst/>
          </a:prstGeom>
          <a:noFill/>
          <a:ln/>
        </p:spPr>
        <p:txBody>
          <a:bodyPr wrap="square" lIns="0" tIns="0" rIns="0" bIns="0" rtlCol="0" anchor="t"/>
          <a:lstStyle/>
          <a:p>
            <a:pPr indent="0" marL="0">
              <a:buNone/>
            </a:pPr>
            <a:r>
              <a:rPr lang="en-US" sz="1200" dirty="0">
                <a:solidFill>
                  <a:schemeClr val="tx2"/>
                </a:solidFill>
              </a:rPr>
              <a:t>Interface conversationnelle</a:t>
            </a:r>
            <a:endParaRPr lang="en-US" sz="1200" dirty="0"/>
          </a:p>
        </p:txBody>
      </p:sp>
      <p:sp>
        <p:nvSpPr>
          <p:cNvPr id="14" name="card-310"/>
          <p:cNvSpPr/>
          <p:nvPr/>
        </p:nvSpPr>
        <p:spPr>
          <a:xfrm>
            <a:off x="7818120" y="1581912"/>
            <a:ext cx="3657600" cy="704088"/>
          </a:xfrm>
          <a:prstGeom prst="roundRect">
            <a:avLst>
              <a:gd name="adj" fmla="val 15584"/>
            </a:avLst>
          </a:prstGeom>
          <a:solidFill>
            <a:schemeClr val="bg1"/>
          </a:solidFill>
          <a:ln/>
        </p:spPr>
      </p:sp>
      <p:sp>
        <p:nvSpPr>
          <p:cNvPr id="15" name="txt-311"/>
          <p:cNvSpPr txBox="1"/>
          <p:nvPr/>
        </p:nvSpPr>
        <p:spPr>
          <a:xfrm>
            <a:off x="8001000" y="1618488"/>
            <a:ext cx="3291840" cy="301752"/>
          </a:xfrm>
          <a:prstGeom prst="rect">
            <a:avLst/>
          </a:prstGeom>
          <a:noFill/>
          <a:ln/>
        </p:spPr>
        <p:txBody>
          <a:bodyPr wrap="square" lIns="0" tIns="0" rIns="0" bIns="0" rtlCol="0" anchor="t"/>
          <a:lstStyle/>
          <a:p>
            <a:pPr indent="0" marL="0">
              <a:buNone/>
            </a:pPr>
            <a:r>
              <a:rPr lang="en-US" sz="1400" b="1" dirty="0">
                <a:solidFill>
                  <a:schemeClr val="tx1"/>
                </a:solidFill>
              </a:rPr>
              <a:t>Serveur frontend</a:t>
            </a:r>
            <a:endParaRPr lang="en-US" sz="1400" dirty="0"/>
          </a:p>
        </p:txBody>
      </p:sp>
      <p:sp>
        <p:nvSpPr>
          <p:cNvPr id="16" name="txt-312"/>
          <p:cNvSpPr txBox="1"/>
          <p:nvPr/>
        </p:nvSpPr>
        <p:spPr>
          <a:xfrm>
            <a:off x="8001000" y="1920240"/>
            <a:ext cx="3291840" cy="320040"/>
          </a:xfrm>
          <a:prstGeom prst="rect">
            <a:avLst/>
          </a:prstGeom>
          <a:noFill/>
          <a:ln/>
        </p:spPr>
        <p:txBody>
          <a:bodyPr wrap="square" lIns="0" tIns="0" rIns="0" bIns="0" rtlCol="0" anchor="t"/>
          <a:lstStyle/>
          <a:p>
            <a:pPr indent="0" marL="0">
              <a:buNone/>
            </a:pPr>
            <a:r>
              <a:rPr lang="en-US" sz="1200" dirty="0">
                <a:solidFill>
                  <a:schemeClr val="tx2"/>
                </a:solidFill>
              </a:rPr>
              <a:t>Pages + codes d'erreur fréquents</a:t>
            </a:r>
            <a:endParaRPr lang="en-US" sz="1200" dirty="0"/>
          </a:p>
        </p:txBody>
      </p:sp>
      <p:sp>
        <p:nvSpPr>
          <p:cNvPr id="17" name="card-313"/>
          <p:cNvSpPr/>
          <p:nvPr/>
        </p:nvSpPr>
        <p:spPr>
          <a:xfrm>
            <a:off x="548640" y="2542032"/>
            <a:ext cx="11091672" cy="941832"/>
          </a:xfrm>
          <a:prstGeom prst="roundRect">
            <a:avLst>
              <a:gd name="adj" fmla="val 11650"/>
            </a:avLst>
          </a:prstGeom>
          <a:solidFill>
            <a:schemeClr val="accent2">
              <a:alpha val="10000"/>
            </a:schemeClr>
          </a:solidFill>
          <a:ln/>
        </p:spPr>
      </p:sp>
      <p:sp>
        <p:nvSpPr>
          <p:cNvPr id="18" name="pastille-314"/>
          <p:cNvSpPr/>
          <p:nvPr/>
        </p:nvSpPr>
        <p:spPr>
          <a:xfrm>
            <a:off x="731520" y="2724912"/>
            <a:ext cx="566928" cy="566928"/>
          </a:xfrm>
          <a:prstGeom prst="ellipse">
            <a:avLst/>
          </a:prstGeom>
          <a:solidFill>
            <a:schemeClr val="accent2"/>
          </a:solidFill>
          <a:ln/>
        </p:spPr>
      </p:sp>
      <p:pic>
        <p:nvPicPr>
          <p:cNvPr id="19" name="icone-315" descr="preencoded.png">    </p:cNvPr>
          <p:cNvPicPr>
            <a:picLocks noChangeAspect="1"/>
          </p:cNvPicPr>
          <p:nvPr/>
        </p:nvPicPr>
        <p:blipFill>
          <a:blip r:embed="rId3"/>
          <a:stretch>
            <a:fillRect/>
          </a:stretch>
        </p:blipFill>
        <p:spPr>
          <a:xfrm>
            <a:off x="856244" y="2849636"/>
            <a:ext cx="317480" cy="317480"/>
          </a:xfrm>
          <a:prstGeom prst="rect">
            <a:avLst/>
          </a:prstGeom>
        </p:spPr>
      </p:pic>
      <p:sp>
        <p:nvSpPr>
          <p:cNvPr id="20" name="txt-316"/>
          <p:cNvSpPr txBox="1"/>
          <p:nvPr/>
        </p:nvSpPr>
        <p:spPr>
          <a:xfrm>
            <a:off x="1463040" y="2697480"/>
            <a:ext cx="2286000" cy="347472"/>
          </a:xfrm>
          <a:prstGeom prst="rect">
            <a:avLst/>
          </a:prstGeom>
          <a:noFill/>
          <a:ln/>
        </p:spPr>
        <p:txBody>
          <a:bodyPr wrap="square" lIns="0" tIns="0" rIns="0" bIns="0" rtlCol="0" anchor="t"/>
          <a:lstStyle/>
          <a:p>
            <a:pPr indent="0" marL="0">
              <a:buNone/>
            </a:pPr>
            <a:r>
              <a:rPr lang="en-US" sz="1500" b="1" dirty="0">
                <a:solidFill>
                  <a:schemeClr val="tx1"/>
                </a:solidFill>
              </a:rPr>
              <a:t>Application</a:t>
            </a:r>
            <a:endParaRPr lang="en-US" sz="1500" dirty="0"/>
          </a:p>
        </p:txBody>
      </p:sp>
      <p:sp>
        <p:nvSpPr>
          <p:cNvPr id="21" name="txt-317"/>
          <p:cNvSpPr txBox="1"/>
          <p:nvPr/>
        </p:nvSpPr>
        <p:spPr>
          <a:xfrm>
            <a:off x="1463040" y="3044952"/>
            <a:ext cx="2286000" cy="320040"/>
          </a:xfrm>
          <a:prstGeom prst="rect">
            <a:avLst/>
          </a:prstGeom>
          <a:noFill/>
          <a:ln/>
        </p:spPr>
        <p:txBody>
          <a:bodyPr wrap="square" lIns="0" tIns="0" rIns="0" bIns="0" rtlCol="0" anchor="t"/>
          <a:lstStyle/>
          <a:p>
            <a:pPr indent="0" marL="0">
              <a:buNone/>
            </a:pPr>
            <a:r>
              <a:rPr lang="en-US" sz="1200" dirty="0">
                <a:solidFill>
                  <a:schemeClr val="tx2"/>
                </a:solidFill>
              </a:rPr>
              <a:t>Le chef d'orchestre</a:t>
            </a:r>
            <a:endParaRPr lang="en-US" sz="1200" dirty="0"/>
          </a:p>
        </p:txBody>
      </p:sp>
      <p:sp>
        <p:nvSpPr>
          <p:cNvPr id="22" name="card-318"/>
          <p:cNvSpPr/>
          <p:nvPr/>
        </p:nvSpPr>
        <p:spPr>
          <a:xfrm>
            <a:off x="3931920" y="2660904"/>
            <a:ext cx="7543800" cy="704088"/>
          </a:xfrm>
          <a:prstGeom prst="roundRect">
            <a:avLst>
              <a:gd name="adj" fmla="val 15584"/>
            </a:avLst>
          </a:prstGeom>
          <a:solidFill>
            <a:schemeClr val="bg1"/>
          </a:solidFill>
          <a:ln/>
        </p:spPr>
      </p:sp>
      <p:sp>
        <p:nvSpPr>
          <p:cNvPr id="23" name="txt-319"/>
          <p:cNvSpPr txBox="1"/>
          <p:nvPr/>
        </p:nvSpPr>
        <p:spPr>
          <a:xfrm>
            <a:off x="4114800" y="2697480"/>
            <a:ext cx="7178040" cy="301752"/>
          </a:xfrm>
          <a:prstGeom prst="rect">
            <a:avLst/>
          </a:prstGeom>
          <a:noFill/>
          <a:ln/>
        </p:spPr>
        <p:txBody>
          <a:bodyPr wrap="square" lIns="0" tIns="0" rIns="0" bIns="0" rtlCol="0" anchor="t"/>
          <a:lstStyle/>
          <a:p>
            <a:pPr indent="0" marL="0">
              <a:buNone/>
            </a:pPr>
            <a:r>
              <a:rPr lang="en-US" sz="1400" b="1" dirty="0">
                <a:solidFill>
                  <a:schemeClr val="tx1"/>
                </a:solidFill>
              </a:rPr>
              <a:t>Backend FastAPI · POST /api/chat</a:t>
            </a:r>
            <a:endParaRPr lang="en-US" sz="1400" dirty="0"/>
          </a:p>
        </p:txBody>
      </p:sp>
      <p:sp>
        <p:nvSpPr>
          <p:cNvPr id="24" name="txt-320"/>
          <p:cNvSpPr txBox="1"/>
          <p:nvPr/>
        </p:nvSpPr>
        <p:spPr>
          <a:xfrm>
            <a:off x="4114800" y="2999232"/>
            <a:ext cx="7178040" cy="320040"/>
          </a:xfrm>
          <a:prstGeom prst="rect">
            <a:avLst/>
          </a:prstGeom>
          <a:noFill/>
          <a:ln/>
        </p:spPr>
        <p:txBody>
          <a:bodyPr wrap="square" lIns="0" tIns="0" rIns="0" bIns="0" rtlCol="0" anchor="t"/>
          <a:lstStyle/>
          <a:p>
            <a:pPr indent="0" marL="0">
              <a:buNone/>
            </a:pPr>
            <a:r>
              <a:rPr lang="en-US" sz="1200" dirty="0">
                <a:solidFill>
                  <a:schemeClr val="tx2"/>
                </a:solidFill>
              </a:rPr>
              <a:t>Contexte, intention, workflows : décide qui appeler et avec quelles données</a:t>
            </a:r>
            <a:endParaRPr lang="en-US" sz="1200" dirty="0"/>
          </a:p>
        </p:txBody>
      </p:sp>
      <p:sp>
        <p:nvSpPr>
          <p:cNvPr id="25" name="card-321"/>
          <p:cNvSpPr/>
          <p:nvPr/>
        </p:nvSpPr>
        <p:spPr>
          <a:xfrm>
            <a:off x="548640" y="3621024"/>
            <a:ext cx="11091672" cy="941832"/>
          </a:xfrm>
          <a:prstGeom prst="roundRect">
            <a:avLst>
              <a:gd name="adj" fmla="val 11650"/>
            </a:avLst>
          </a:prstGeom>
          <a:solidFill>
            <a:schemeClr val="accent4">
              <a:alpha val="10000"/>
            </a:schemeClr>
          </a:solidFill>
          <a:ln/>
        </p:spPr>
      </p:sp>
      <p:sp>
        <p:nvSpPr>
          <p:cNvPr id="26" name="pastille-322"/>
          <p:cNvSpPr/>
          <p:nvPr/>
        </p:nvSpPr>
        <p:spPr>
          <a:xfrm>
            <a:off x="731520" y="3803904"/>
            <a:ext cx="566928" cy="566928"/>
          </a:xfrm>
          <a:prstGeom prst="ellipse">
            <a:avLst/>
          </a:prstGeom>
          <a:solidFill>
            <a:schemeClr val="accent4"/>
          </a:solidFill>
          <a:ln/>
        </p:spPr>
      </p:sp>
      <p:pic>
        <p:nvPicPr>
          <p:cNvPr id="27" name="icone-323" descr="preencoded.png">    </p:cNvPr>
          <p:cNvPicPr>
            <a:picLocks noChangeAspect="1"/>
          </p:cNvPicPr>
          <p:nvPr/>
        </p:nvPicPr>
        <p:blipFill>
          <a:blip r:embed="rId4"/>
          <a:stretch>
            <a:fillRect/>
          </a:stretch>
        </p:blipFill>
        <p:spPr>
          <a:xfrm>
            <a:off x="856244" y="3928628"/>
            <a:ext cx="317480" cy="317480"/>
          </a:xfrm>
          <a:prstGeom prst="rect">
            <a:avLst/>
          </a:prstGeom>
        </p:spPr>
      </p:pic>
      <p:sp>
        <p:nvSpPr>
          <p:cNvPr id="28" name="txt-324"/>
          <p:cNvSpPr txBox="1"/>
          <p:nvPr/>
        </p:nvSpPr>
        <p:spPr>
          <a:xfrm>
            <a:off x="1463040" y="3776472"/>
            <a:ext cx="2286000" cy="347472"/>
          </a:xfrm>
          <a:prstGeom prst="rect">
            <a:avLst/>
          </a:prstGeom>
          <a:noFill/>
          <a:ln/>
        </p:spPr>
        <p:txBody>
          <a:bodyPr wrap="square" lIns="0" tIns="0" rIns="0" bIns="0" rtlCol="0" anchor="t"/>
          <a:lstStyle/>
          <a:p>
            <a:pPr indent="0" marL="0">
              <a:buNone/>
            </a:pPr>
            <a:r>
              <a:rPr lang="en-US" sz="1500" b="1" dirty="0">
                <a:solidFill>
                  <a:schemeClr val="tx1"/>
                </a:solidFill>
              </a:rPr>
              <a:t>Intelligence artificielle</a:t>
            </a:r>
            <a:endParaRPr lang="en-US" sz="1500" dirty="0"/>
          </a:p>
        </p:txBody>
      </p:sp>
      <p:sp>
        <p:nvSpPr>
          <p:cNvPr id="29" name="txt-325"/>
          <p:cNvSpPr txBox="1"/>
          <p:nvPr/>
        </p:nvSpPr>
        <p:spPr>
          <a:xfrm>
            <a:off x="1463040" y="4123944"/>
            <a:ext cx="2286000" cy="320040"/>
          </a:xfrm>
          <a:prstGeom prst="rect">
            <a:avLst/>
          </a:prstGeom>
          <a:noFill/>
          <a:ln/>
        </p:spPr>
        <p:txBody>
          <a:bodyPr wrap="square" lIns="0" tIns="0" rIns="0" bIns="0" rtlCol="0" anchor="t"/>
          <a:lstStyle/>
          <a:p>
            <a:pPr indent="0" marL="0">
              <a:buNone/>
            </a:pPr>
            <a:r>
              <a:rPr lang="en-US" sz="1200" dirty="0">
                <a:solidFill>
                  <a:schemeClr val="tx2"/>
                </a:solidFill>
              </a:rPr>
              <a:t>Appelée par le backend</a:t>
            </a:r>
            <a:endParaRPr lang="en-US" sz="1200" dirty="0"/>
          </a:p>
        </p:txBody>
      </p:sp>
      <p:sp>
        <p:nvSpPr>
          <p:cNvPr id="30" name="card-326"/>
          <p:cNvSpPr/>
          <p:nvPr/>
        </p:nvSpPr>
        <p:spPr>
          <a:xfrm>
            <a:off x="3931920" y="3739896"/>
            <a:ext cx="3657600" cy="704088"/>
          </a:xfrm>
          <a:prstGeom prst="roundRect">
            <a:avLst>
              <a:gd name="adj" fmla="val 15584"/>
            </a:avLst>
          </a:prstGeom>
          <a:solidFill>
            <a:schemeClr val="bg1"/>
          </a:solidFill>
          <a:ln/>
        </p:spPr>
      </p:sp>
      <p:sp>
        <p:nvSpPr>
          <p:cNvPr id="31" name="txt-327"/>
          <p:cNvSpPr txBox="1"/>
          <p:nvPr/>
        </p:nvSpPr>
        <p:spPr>
          <a:xfrm>
            <a:off x="4114800" y="3776472"/>
            <a:ext cx="3291840" cy="301752"/>
          </a:xfrm>
          <a:prstGeom prst="rect">
            <a:avLst/>
          </a:prstGeom>
          <a:noFill/>
          <a:ln/>
        </p:spPr>
        <p:txBody>
          <a:bodyPr wrap="square" lIns="0" tIns="0" rIns="0" bIns="0" rtlCol="0" anchor="t"/>
          <a:lstStyle/>
          <a:p>
            <a:pPr indent="0" marL="0">
              <a:buNone/>
            </a:pPr>
            <a:r>
              <a:rPr lang="en-US" sz="1400" b="1" dirty="0">
                <a:solidFill>
                  <a:schemeClr val="tx1"/>
                </a:solidFill>
              </a:rPr>
              <a:t>Claude (LLM)</a:t>
            </a:r>
            <a:endParaRPr lang="en-US" sz="1400" dirty="0"/>
          </a:p>
        </p:txBody>
      </p:sp>
      <p:sp>
        <p:nvSpPr>
          <p:cNvPr id="32" name="txt-328"/>
          <p:cNvSpPr txBox="1"/>
          <p:nvPr/>
        </p:nvSpPr>
        <p:spPr>
          <a:xfrm>
            <a:off x="4114800" y="4078224"/>
            <a:ext cx="3291840" cy="320040"/>
          </a:xfrm>
          <a:prstGeom prst="rect">
            <a:avLst/>
          </a:prstGeom>
          <a:noFill/>
          <a:ln/>
        </p:spPr>
        <p:txBody>
          <a:bodyPr wrap="square" lIns="0" tIns="0" rIns="0" bIns="0" rtlCol="0" anchor="t"/>
          <a:lstStyle/>
          <a:p>
            <a:pPr indent="0" marL="0">
              <a:buNone/>
            </a:pPr>
            <a:r>
              <a:rPr lang="en-US" sz="1200" dirty="0">
                <a:solidFill>
                  <a:schemeClr val="tx2"/>
                </a:solidFill>
              </a:rPr>
              <a:t>À chaque message : comprend, puis rédige</a:t>
            </a:r>
            <a:endParaRPr lang="en-US" sz="1200" dirty="0"/>
          </a:p>
        </p:txBody>
      </p:sp>
      <p:sp>
        <p:nvSpPr>
          <p:cNvPr id="33" name="card-329"/>
          <p:cNvSpPr/>
          <p:nvPr/>
        </p:nvSpPr>
        <p:spPr>
          <a:xfrm>
            <a:off x="7818120" y="3739896"/>
            <a:ext cx="3657600" cy="704088"/>
          </a:xfrm>
          <a:prstGeom prst="roundRect">
            <a:avLst>
              <a:gd name="adj" fmla="val 15584"/>
            </a:avLst>
          </a:prstGeom>
          <a:solidFill>
            <a:schemeClr val="bg1"/>
          </a:solidFill>
          <a:ln/>
        </p:spPr>
      </p:sp>
      <p:sp>
        <p:nvSpPr>
          <p:cNvPr id="34" name="txt-330"/>
          <p:cNvSpPr txBox="1"/>
          <p:nvPr/>
        </p:nvSpPr>
        <p:spPr>
          <a:xfrm>
            <a:off x="8001000" y="3776472"/>
            <a:ext cx="3291840" cy="301752"/>
          </a:xfrm>
          <a:prstGeom prst="rect">
            <a:avLst/>
          </a:prstGeom>
          <a:noFill/>
          <a:ln/>
        </p:spPr>
        <p:txBody>
          <a:bodyPr wrap="square" lIns="0" tIns="0" rIns="0" bIns="0" rtlCol="0" anchor="t"/>
          <a:lstStyle/>
          <a:p>
            <a:pPr indent="0" marL="0">
              <a:buNone/>
            </a:pPr>
            <a:r>
              <a:rPr lang="en-US" sz="1400" b="1" dirty="0">
                <a:solidFill>
                  <a:schemeClr val="tx1"/>
                </a:solidFill>
              </a:rPr>
              <a:t>Voyage AI (embedding)</a:t>
            </a:r>
            <a:endParaRPr lang="en-US" sz="1400" dirty="0"/>
          </a:p>
        </p:txBody>
      </p:sp>
      <p:sp>
        <p:nvSpPr>
          <p:cNvPr id="35" name="txt-331"/>
          <p:cNvSpPr txBox="1"/>
          <p:nvPr/>
        </p:nvSpPr>
        <p:spPr>
          <a:xfrm>
            <a:off x="8001000" y="4078224"/>
            <a:ext cx="3291840" cy="320040"/>
          </a:xfrm>
          <a:prstGeom prst="rect">
            <a:avLst/>
          </a:prstGeom>
          <a:noFill/>
          <a:ln/>
        </p:spPr>
        <p:txBody>
          <a:bodyPr wrap="square" lIns="0" tIns="0" rIns="0" bIns="0" rtlCol="0" anchor="t"/>
          <a:lstStyle/>
          <a:p>
            <a:pPr indent="0" marL="0">
              <a:buNone/>
            </a:pPr>
            <a:r>
              <a:rPr lang="en-US" sz="1200" dirty="0">
                <a:solidFill>
                  <a:schemeClr val="tx2"/>
                </a:solidFill>
              </a:rPr>
              <a:t>Lors d'un diagnostic : vectorise le problème</a:t>
            </a:r>
            <a:endParaRPr lang="en-US" sz="1200" dirty="0"/>
          </a:p>
        </p:txBody>
      </p:sp>
      <p:sp>
        <p:nvSpPr>
          <p:cNvPr id="36" name="card-332"/>
          <p:cNvSpPr/>
          <p:nvPr/>
        </p:nvSpPr>
        <p:spPr>
          <a:xfrm>
            <a:off x="548640" y="4700016"/>
            <a:ext cx="11091672" cy="941832"/>
          </a:xfrm>
          <a:prstGeom prst="roundRect">
            <a:avLst>
              <a:gd name="adj" fmla="val 11650"/>
            </a:avLst>
          </a:prstGeom>
          <a:solidFill>
            <a:schemeClr val="accent6">
              <a:alpha val="10000"/>
            </a:schemeClr>
          </a:solidFill>
          <a:ln/>
        </p:spPr>
      </p:sp>
      <p:sp>
        <p:nvSpPr>
          <p:cNvPr id="37" name="pastille-333"/>
          <p:cNvSpPr/>
          <p:nvPr/>
        </p:nvSpPr>
        <p:spPr>
          <a:xfrm>
            <a:off x="731520" y="4882896"/>
            <a:ext cx="566928" cy="566928"/>
          </a:xfrm>
          <a:prstGeom prst="ellipse">
            <a:avLst/>
          </a:prstGeom>
          <a:solidFill>
            <a:schemeClr val="accent6"/>
          </a:solidFill>
          <a:ln/>
        </p:spPr>
      </p:sp>
      <p:pic>
        <p:nvPicPr>
          <p:cNvPr id="38" name="icone-334" descr="preencoded.png">    </p:cNvPr>
          <p:cNvPicPr>
            <a:picLocks noChangeAspect="1"/>
          </p:cNvPicPr>
          <p:nvPr/>
        </p:nvPicPr>
        <p:blipFill>
          <a:blip r:embed="rId5"/>
          <a:stretch>
            <a:fillRect/>
          </a:stretch>
        </p:blipFill>
        <p:spPr>
          <a:xfrm>
            <a:off x="856244" y="5007620"/>
            <a:ext cx="317480" cy="317480"/>
          </a:xfrm>
          <a:prstGeom prst="rect">
            <a:avLst/>
          </a:prstGeom>
        </p:spPr>
      </p:pic>
      <p:sp>
        <p:nvSpPr>
          <p:cNvPr id="39" name="txt-335"/>
          <p:cNvSpPr txBox="1"/>
          <p:nvPr/>
        </p:nvSpPr>
        <p:spPr>
          <a:xfrm>
            <a:off x="1463040" y="4855464"/>
            <a:ext cx="2286000" cy="347472"/>
          </a:xfrm>
          <a:prstGeom prst="rect">
            <a:avLst/>
          </a:prstGeom>
          <a:noFill/>
          <a:ln/>
        </p:spPr>
        <p:txBody>
          <a:bodyPr wrap="square" lIns="0" tIns="0" rIns="0" bIns="0" rtlCol="0" anchor="t"/>
          <a:lstStyle/>
          <a:p>
            <a:pPr indent="0" marL="0">
              <a:buNone/>
            </a:pPr>
            <a:r>
              <a:rPr lang="en-US" sz="1500" b="1" dirty="0">
                <a:solidFill>
                  <a:schemeClr val="tx1"/>
                </a:solidFill>
              </a:rPr>
              <a:t>Données</a:t>
            </a:r>
            <a:endParaRPr lang="en-US" sz="1500" dirty="0"/>
          </a:p>
        </p:txBody>
      </p:sp>
      <p:sp>
        <p:nvSpPr>
          <p:cNvPr id="40" name="txt-336"/>
          <p:cNvSpPr txBox="1"/>
          <p:nvPr/>
        </p:nvSpPr>
        <p:spPr>
          <a:xfrm>
            <a:off x="1463040" y="5202936"/>
            <a:ext cx="2286000" cy="320040"/>
          </a:xfrm>
          <a:prstGeom prst="rect">
            <a:avLst/>
          </a:prstGeom>
          <a:noFill/>
          <a:ln/>
        </p:spPr>
        <p:txBody>
          <a:bodyPr wrap="square" lIns="0" tIns="0" rIns="0" bIns="0" rtlCol="0" anchor="t"/>
          <a:lstStyle/>
          <a:p>
            <a:pPr indent="0" marL="0">
              <a:buNone/>
            </a:pPr>
            <a:r>
              <a:rPr lang="en-US" sz="1200" dirty="0">
                <a:solidFill>
                  <a:schemeClr val="tx2"/>
                </a:solidFill>
              </a:rPr>
              <a:t>La mémoire de l'entreprise</a:t>
            </a:r>
            <a:endParaRPr lang="en-US" sz="1200" dirty="0"/>
          </a:p>
        </p:txBody>
      </p:sp>
      <p:sp>
        <p:nvSpPr>
          <p:cNvPr id="41" name="card-337"/>
          <p:cNvSpPr/>
          <p:nvPr/>
        </p:nvSpPr>
        <p:spPr>
          <a:xfrm>
            <a:off x="3931920" y="4818888"/>
            <a:ext cx="3657600" cy="704088"/>
          </a:xfrm>
          <a:prstGeom prst="roundRect">
            <a:avLst>
              <a:gd name="adj" fmla="val 15584"/>
            </a:avLst>
          </a:prstGeom>
          <a:solidFill>
            <a:schemeClr val="bg1"/>
          </a:solidFill>
          <a:ln/>
        </p:spPr>
      </p:sp>
      <p:sp>
        <p:nvSpPr>
          <p:cNvPr id="42" name="txt-338"/>
          <p:cNvSpPr txBox="1"/>
          <p:nvPr/>
        </p:nvSpPr>
        <p:spPr>
          <a:xfrm>
            <a:off x="4114800" y="4855464"/>
            <a:ext cx="3291840" cy="301752"/>
          </a:xfrm>
          <a:prstGeom prst="rect">
            <a:avLst/>
          </a:prstGeom>
          <a:noFill/>
          <a:ln/>
        </p:spPr>
        <p:txBody>
          <a:bodyPr wrap="square" lIns="0" tIns="0" rIns="0" bIns="0" rtlCol="0" anchor="t"/>
          <a:lstStyle/>
          <a:p>
            <a:pPr indent="0" marL="0">
              <a:buNone/>
            </a:pPr>
            <a:r>
              <a:rPr lang="en-US" sz="1400" b="1" dirty="0">
                <a:solidFill>
                  <a:schemeClr val="tx1"/>
                </a:solidFill>
              </a:rPr>
              <a:t>PostgreSQL</a:t>
            </a:r>
            <a:endParaRPr lang="en-US" sz="1400" dirty="0"/>
          </a:p>
        </p:txBody>
      </p:sp>
      <p:sp>
        <p:nvSpPr>
          <p:cNvPr id="43" name="txt-339"/>
          <p:cNvSpPr txBox="1"/>
          <p:nvPr/>
        </p:nvSpPr>
        <p:spPr>
          <a:xfrm>
            <a:off x="4114800" y="5157216"/>
            <a:ext cx="3291840" cy="320040"/>
          </a:xfrm>
          <a:prstGeom prst="rect">
            <a:avLst/>
          </a:prstGeom>
          <a:noFill/>
          <a:ln/>
        </p:spPr>
        <p:txBody>
          <a:bodyPr wrap="square" lIns="0" tIns="0" rIns="0" bIns="0" rtlCol="0" anchor="t"/>
          <a:lstStyle/>
          <a:p>
            <a:pPr indent="0" marL="0">
              <a:buNone/>
            </a:pPr>
            <a:r>
              <a:rPr lang="en-US" sz="1200" dirty="0">
                <a:solidFill>
                  <a:schemeClr val="tx2"/>
                </a:solidFill>
              </a:rPr>
              <a:t>Interventions, catalogue, statistiques, conversations</a:t>
            </a:r>
            <a:endParaRPr lang="en-US" sz="1200" dirty="0"/>
          </a:p>
        </p:txBody>
      </p:sp>
      <p:sp>
        <p:nvSpPr>
          <p:cNvPr id="44" name="card-340"/>
          <p:cNvSpPr/>
          <p:nvPr/>
        </p:nvSpPr>
        <p:spPr>
          <a:xfrm>
            <a:off x="7818120" y="4818888"/>
            <a:ext cx="3657600" cy="704088"/>
          </a:xfrm>
          <a:prstGeom prst="roundRect">
            <a:avLst>
              <a:gd name="adj" fmla="val 15584"/>
            </a:avLst>
          </a:prstGeom>
          <a:solidFill>
            <a:schemeClr val="bg1"/>
          </a:solidFill>
          <a:ln/>
        </p:spPr>
      </p:sp>
      <p:sp>
        <p:nvSpPr>
          <p:cNvPr id="45" name="txt-341"/>
          <p:cNvSpPr txBox="1"/>
          <p:nvPr/>
        </p:nvSpPr>
        <p:spPr>
          <a:xfrm>
            <a:off x="8001000" y="4855464"/>
            <a:ext cx="3291840" cy="301752"/>
          </a:xfrm>
          <a:prstGeom prst="rect">
            <a:avLst/>
          </a:prstGeom>
          <a:noFill/>
          <a:ln/>
        </p:spPr>
        <p:txBody>
          <a:bodyPr wrap="square" lIns="0" tIns="0" rIns="0" bIns="0" rtlCol="0" anchor="t"/>
          <a:lstStyle/>
          <a:p>
            <a:pPr indent="0" marL="0">
              <a:buNone/>
            </a:pPr>
            <a:r>
              <a:rPr lang="en-US" sz="1400" b="1" dirty="0">
                <a:solidFill>
                  <a:schemeClr val="tx1"/>
                </a:solidFill>
              </a:rPr>
              <a:t>pgvector</a:t>
            </a:r>
            <a:endParaRPr lang="en-US" sz="1400" dirty="0"/>
          </a:p>
        </p:txBody>
      </p:sp>
      <p:sp>
        <p:nvSpPr>
          <p:cNvPr id="46" name="txt-342"/>
          <p:cNvSpPr txBox="1"/>
          <p:nvPr/>
        </p:nvSpPr>
        <p:spPr>
          <a:xfrm>
            <a:off x="8001000" y="5157216"/>
            <a:ext cx="3291840" cy="320040"/>
          </a:xfrm>
          <a:prstGeom prst="rect">
            <a:avLst/>
          </a:prstGeom>
          <a:noFill/>
          <a:ln/>
        </p:spPr>
        <p:txBody>
          <a:bodyPr wrap="square" lIns="0" tIns="0" rIns="0" bIns="0" rtlCol="0" anchor="t"/>
          <a:lstStyle/>
          <a:p>
            <a:pPr indent="0" marL="0">
              <a:buNone/>
            </a:pPr>
            <a:r>
              <a:rPr lang="en-US" sz="1200" dirty="0">
                <a:solidFill>
                  <a:schemeClr val="tx2"/>
                </a:solidFill>
              </a:rPr>
              <a:t>Recherche des cas au sens proche</a:t>
            </a:r>
            <a:endParaRPr lang="en-US" sz="1200" dirty="0"/>
          </a:p>
        </p:txBody>
      </p:sp>
      <p:pic>
        <p:nvPicPr>
          <p:cNvPr id="47" name="Image 5" descr="preencoded.png">    </p:cNvPr>
          <p:cNvPicPr>
            <a:picLocks noChangeAspect="1"/>
          </p:cNvPicPr>
          <p:nvPr/>
        </p:nvPicPr>
        <p:blipFill>
          <a:blip r:embed="rId6"/>
          <a:stretch>
            <a:fillRect/>
          </a:stretch>
        </p:blipFill>
        <p:spPr>
          <a:xfrm>
            <a:off x="594360" y="5833872"/>
            <a:ext cx="292608" cy="292608"/>
          </a:xfrm>
          <a:prstGeom prst="rect">
            <a:avLst/>
          </a:prstGeom>
        </p:spPr>
      </p:pic>
      <p:sp>
        <p:nvSpPr>
          <p:cNvPr id="48" name="txt-343"/>
          <p:cNvSpPr txBox="1"/>
          <p:nvPr/>
        </p:nvSpPr>
        <p:spPr>
          <a:xfrm>
            <a:off x="1005840" y="5788152"/>
            <a:ext cx="10607040" cy="384048"/>
          </a:xfrm>
          <a:prstGeom prst="rect">
            <a:avLst/>
          </a:prstGeom>
          <a:noFill/>
          <a:ln/>
        </p:spPr>
        <p:txBody>
          <a:bodyPr wrap="square" lIns="0" tIns="0" rIns="0" bIns="0" rtlCol="0" anchor="ctr"/>
          <a:lstStyle/>
          <a:p>
            <a:pPr indent="0" marL="0">
              <a:buNone/>
            </a:pPr>
            <a:r>
              <a:rPr lang="en-US" sz="1300" b="1" dirty="0">
                <a:solidFill>
                  <a:schemeClr val="tx1"/>
                </a:solidFill>
              </a:rPr>
              <a:t>Seul le backend parle aux modèles d'IA et à la base : Claude n'accède jamais directement aux données.</a:t>
            </a:r>
            <a:endParaRPr lang="en-US" sz="13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xt-344"/>
          <p:cNvSpPr txBox="1"/>
          <p:nvPr/>
        </p:nvSpPr>
        <p:spPr>
          <a:xfrm>
            <a:off x="731520" y="1097280"/>
            <a:ext cx="3657600" cy="320040"/>
          </a:xfrm>
          <a:prstGeom prst="rect">
            <a:avLst/>
          </a:prstGeom>
          <a:noFill/>
          <a:ln/>
        </p:spPr>
        <p:txBody>
          <a:bodyPr wrap="square" lIns="0" tIns="0" rIns="0" bIns="0" rtlCol="0" anchor="t"/>
          <a:lstStyle/>
          <a:p>
            <a:pPr indent="0" marL="0">
              <a:buNone/>
            </a:pPr>
            <a:r>
              <a:rPr lang="en-US" sz="1400" b="1" spc="200" kern="0" dirty="0">
                <a:solidFill>
                  <a:schemeClr val="accent2"/>
                </a:solidFill>
              </a:rPr>
              <a:t>PARTIE</a:t>
            </a:r>
            <a:endParaRPr lang="en-US" sz="1400" dirty="0"/>
          </a:p>
        </p:txBody>
      </p:sp>
      <p:sp>
        <p:nvSpPr>
          <p:cNvPr id="3" name="txt-345"/>
          <p:cNvSpPr txBox="1"/>
          <p:nvPr/>
        </p:nvSpPr>
        <p:spPr>
          <a:xfrm>
            <a:off x="731520" y="1417320"/>
            <a:ext cx="3657600" cy="1280160"/>
          </a:xfrm>
          <a:prstGeom prst="rect">
            <a:avLst/>
          </a:prstGeom>
          <a:noFill/>
          <a:ln/>
        </p:spPr>
        <p:txBody>
          <a:bodyPr wrap="square" lIns="0" tIns="0" rIns="0" bIns="0" rtlCol="0" anchor="t"/>
          <a:lstStyle/>
          <a:p>
            <a:pPr indent="0" marL="0">
              <a:buNone/>
            </a:pPr>
            <a:r>
              <a:rPr lang="en-US" sz="8800" b="1" dirty="0">
                <a:solidFill>
                  <a:schemeClr val="accent1"/>
                </a:solidFill>
                <a:latin typeface="Arial" pitchFamily="34" charset="0"/>
                <a:ea typeface="Arial" pitchFamily="34" charset="-122"/>
                <a:cs typeface="Arial" pitchFamily="34" charset="-120"/>
              </a:rPr>
              <a:t>IV</a:t>
            </a:r>
            <a:endParaRPr lang="en-US" sz="8800" dirty="0"/>
          </a:p>
        </p:txBody>
      </p:sp>
      <p:sp>
        <p:nvSpPr>
          <p:cNvPr id="4" name="txt-346"/>
          <p:cNvSpPr txBox="1"/>
          <p:nvPr/>
        </p:nvSpPr>
        <p:spPr>
          <a:xfrm>
            <a:off x="731520" y="2697480"/>
            <a:ext cx="5486400" cy="1097280"/>
          </a:xfrm>
          <a:prstGeom prst="rect">
            <a:avLst/>
          </a:prstGeom>
          <a:noFill/>
          <a:ln/>
        </p:spPr>
        <p:txBody>
          <a:bodyPr wrap="square" lIns="0" tIns="0" rIns="0" bIns="0" rtlCol="0" anchor="t"/>
          <a:lstStyle/>
          <a:p>
            <a:pPr indent="0" marL="0">
              <a:buNone/>
            </a:pPr>
            <a:r>
              <a:rPr lang="en-US" sz="3000" b="1" dirty="0">
                <a:solidFill>
                  <a:schemeClr val="bg1"/>
                </a:solidFill>
                <a:latin typeface="Arial" pitchFamily="34" charset="0"/>
                <a:ea typeface="Arial" pitchFamily="34" charset="-122"/>
                <a:cs typeface="Arial" pitchFamily="34" charset="-120"/>
              </a:rPr>
              <a:t>La base de données</a:t>
            </a:r>
            <a:endParaRPr lang="en-US" sz="3000" dirty="0"/>
          </a:p>
        </p:txBody>
      </p:sp>
      <p:sp>
        <p:nvSpPr>
          <p:cNvPr id="5" name="txt-347"/>
          <p:cNvSpPr txBox="1"/>
          <p:nvPr/>
        </p:nvSpPr>
        <p:spPr>
          <a:xfrm>
            <a:off x="731520" y="3931920"/>
            <a:ext cx="5303520" cy="1188720"/>
          </a:xfrm>
          <a:prstGeom prst="rect">
            <a:avLst/>
          </a:prstGeom>
          <a:noFill/>
          <a:ln/>
        </p:spPr>
        <p:txBody>
          <a:bodyPr wrap="square" lIns="0" tIns="0" rIns="0" bIns="0" rtlCol="0" anchor="t"/>
          <a:lstStyle/>
          <a:p>
            <a:pPr indent="0" marL="0">
              <a:buNone/>
            </a:pPr>
            <a:r>
              <a:rPr lang="en-US" sz="1600" dirty="0">
                <a:solidFill>
                  <a:srgbClr val="C9D3D9"/>
                </a:solidFill>
              </a:rPr>
              <a:t>Comprendre quelles tables stockent la connaissance de maintenance, ce que contient chacune et comment elles sont liées.</a:t>
            </a:r>
            <a:endParaRPr lang="en-US" sz="1600" dirty="0"/>
          </a:p>
        </p:txBody>
      </p:sp>
      <p:sp>
        <p:nvSpPr>
          <p:cNvPr id="6" name="txt-348"/>
          <p:cNvSpPr txBox="1"/>
          <p:nvPr/>
        </p:nvSpPr>
        <p:spPr>
          <a:xfrm>
            <a:off x="6766560" y="1463040"/>
            <a:ext cx="4846320" cy="365760"/>
          </a:xfrm>
          <a:prstGeom prst="rect">
            <a:avLst/>
          </a:prstGeom>
          <a:noFill/>
          <a:ln/>
        </p:spPr>
        <p:txBody>
          <a:bodyPr wrap="square" lIns="0" tIns="0" rIns="0" bIns="0" rtlCol="0" anchor="t"/>
          <a:lstStyle/>
          <a:p>
            <a:pPr indent="0" marL="0">
              <a:buNone/>
            </a:pPr>
            <a:r>
              <a:rPr lang="en-US" sz="1400" b="1" dirty="0">
                <a:solidFill>
                  <a:schemeClr val="accent2"/>
                </a:solidFill>
              </a:rPr>
              <a:t>Dans cette partie</a:t>
            </a:r>
            <a:endParaRPr lang="en-US" sz="1400" dirty="0"/>
          </a:p>
        </p:txBody>
      </p:sp>
      <p:sp>
        <p:nvSpPr>
          <p:cNvPr id="7" name="Shape 5"/>
          <p:cNvSpPr/>
          <p:nvPr/>
        </p:nvSpPr>
        <p:spPr>
          <a:xfrm>
            <a:off x="6766560" y="1965960"/>
            <a:ext cx="4873752" cy="517289"/>
          </a:xfrm>
          <a:prstGeom prst="roundRect">
            <a:avLst>
              <a:gd name="adj" fmla="val 17677"/>
            </a:avLst>
          </a:prstGeom>
          <a:solidFill>
            <a:srgbClr val="FFFFFF">
              <a:alpha val="8000"/>
            </a:srgbClr>
          </a:solidFill>
          <a:ln/>
        </p:spPr>
      </p:sp>
      <p:sp>
        <p:nvSpPr>
          <p:cNvPr id="8" name="txt-349"/>
          <p:cNvSpPr txBox="1"/>
          <p:nvPr/>
        </p:nvSpPr>
        <p:spPr>
          <a:xfrm>
            <a:off x="6949440" y="1965960"/>
            <a:ext cx="4572000" cy="517289"/>
          </a:xfrm>
          <a:prstGeom prst="rect">
            <a:avLst/>
          </a:prstGeom>
          <a:noFill/>
          <a:ln/>
        </p:spPr>
        <p:txBody>
          <a:bodyPr wrap="square" lIns="0" tIns="0" rIns="0" bIns="0" rtlCol="0" anchor="ctr"/>
          <a:lstStyle/>
          <a:p>
            <a:pPr indent="0" marL="0">
              <a:buNone/>
            </a:pPr>
            <a:r>
              <a:rPr lang="en-US" sz="1300" dirty="0">
                <a:solidFill>
                  <a:schemeClr val="bg1"/>
                </a:solidFill>
              </a:rPr>
              <a:t>a) Vue d'ensemble de la base de données</a:t>
            </a:r>
            <a:endParaRPr lang="en-US" sz="1300" dirty="0"/>
          </a:p>
        </p:txBody>
      </p:sp>
      <p:sp>
        <p:nvSpPr>
          <p:cNvPr id="9" name="Shape 7"/>
          <p:cNvSpPr/>
          <p:nvPr/>
        </p:nvSpPr>
        <p:spPr>
          <a:xfrm>
            <a:off x="6766560" y="2592977"/>
            <a:ext cx="4873752" cy="517289"/>
          </a:xfrm>
          <a:prstGeom prst="roundRect">
            <a:avLst>
              <a:gd name="adj" fmla="val 17677"/>
            </a:avLst>
          </a:prstGeom>
          <a:solidFill>
            <a:srgbClr val="FFFFFF">
              <a:alpha val="8000"/>
            </a:srgbClr>
          </a:solidFill>
          <a:ln/>
        </p:spPr>
      </p:sp>
      <p:sp>
        <p:nvSpPr>
          <p:cNvPr id="10" name="txt-350"/>
          <p:cNvSpPr txBox="1"/>
          <p:nvPr/>
        </p:nvSpPr>
        <p:spPr>
          <a:xfrm>
            <a:off x="6949440" y="2592977"/>
            <a:ext cx="4572000" cy="517289"/>
          </a:xfrm>
          <a:prstGeom prst="rect">
            <a:avLst/>
          </a:prstGeom>
          <a:noFill/>
          <a:ln/>
        </p:spPr>
        <p:txBody>
          <a:bodyPr wrap="square" lIns="0" tIns="0" rIns="0" bIns="0" rtlCol="0" anchor="ctr"/>
          <a:lstStyle/>
          <a:p>
            <a:pPr indent="0" marL="0">
              <a:buNone/>
            </a:pPr>
            <a:r>
              <a:rPr lang="en-US" sz="1300" dirty="0">
                <a:solidFill>
                  <a:schemeClr val="bg1"/>
                </a:solidFill>
              </a:rPr>
              <a:t>b) Les tables des équipements</a:t>
            </a:r>
            <a:endParaRPr lang="en-US" sz="1300" dirty="0"/>
          </a:p>
        </p:txBody>
      </p:sp>
      <p:sp>
        <p:nvSpPr>
          <p:cNvPr id="11" name="Shape 9"/>
          <p:cNvSpPr/>
          <p:nvPr/>
        </p:nvSpPr>
        <p:spPr>
          <a:xfrm>
            <a:off x="6766560" y="3219994"/>
            <a:ext cx="4873752" cy="517289"/>
          </a:xfrm>
          <a:prstGeom prst="roundRect">
            <a:avLst>
              <a:gd name="adj" fmla="val 17677"/>
            </a:avLst>
          </a:prstGeom>
          <a:solidFill>
            <a:srgbClr val="FFFFFF">
              <a:alpha val="8000"/>
            </a:srgbClr>
          </a:solidFill>
          <a:ln/>
        </p:spPr>
      </p:sp>
      <p:sp>
        <p:nvSpPr>
          <p:cNvPr id="12" name="txt-351"/>
          <p:cNvSpPr txBox="1"/>
          <p:nvPr/>
        </p:nvSpPr>
        <p:spPr>
          <a:xfrm>
            <a:off x="6949440" y="3219994"/>
            <a:ext cx="4572000" cy="517289"/>
          </a:xfrm>
          <a:prstGeom prst="rect">
            <a:avLst/>
          </a:prstGeom>
          <a:noFill/>
          <a:ln/>
        </p:spPr>
        <p:txBody>
          <a:bodyPr wrap="square" lIns="0" tIns="0" rIns="0" bIns="0" rtlCol="0" anchor="ctr"/>
          <a:lstStyle/>
          <a:p>
            <a:pPr indent="0" marL="0">
              <a:buNone/>
            </a:pPr>
            <a:r>
              <a:rPr lang="en-US" sz="1300" dirty="0">
                <a:solidFill>
                  <a:schemeClr val="bg1"/>
                </a:solidFill>
              </a:rPr>
              <a:t>c) Les tables des interventions et des techniciens</a:t>
            </a:r>
            <a:endParaRPr lang="en-US" sz="1300" dirty="0"/>
          </a:p>
        </p:txBody>
      </p:sp>
      <p:sp>
        <p:nvSpPr>
          <p:cNvPr id="13" name="Shape 11"/>
          <p:cNvSpPr/>
          <p:nvPr/>
        </p:nvSpPr>
        <p:spPr>
          <a:xfrm>
            <a:off x="6766560" y="3847011"/>
            <a:ext cx="4873752" cy="517289"/>
          </a:xfrm>
          <a:prstGeom prst="roundRect">
            <a:avLst>
              <a:gd name="adj" fmla="val 17677"/>
            </a:avLst>
          </a:prstGeom>
          <a:solidFill>
            <a:srgbClr val="FFFFFF">
              <a:alpha val="8000"/>
            </a:srgbClr>
          </a:solidFill>
          <a:ln/>
        </p:spPr>
      </p:sp>
      <p:sp>
        <p:nvSpPr>
          <p:cNvPr id="14" name="txt-352"/>
          <p:cNvSpPr txBox="1"/>
          <p:nvPr/>
        </p:nvSpPr>
        <p:spPr>
          <a:xfrm>
            <a:off x="6949440" y="3847011"/>
            <a:ext cx="4572000" cy="517289"/>
          </a:xfrm>
          <a:prstGeom prst="rect">
            <a:avLst/>
          </a:prstGeom>
          <a:noFill/>
          <a:ln/>
        </p:spPr>
        <p:txBody>
          <a:bodyPr wrap="square" lIns="0" tIns="0" rIns="0" bIns="0" rtlCol="0" anchor="ctr"/>
          <a:lstStyle/>
          <a:p>
            <a:pPr indent="0" marL="0">
              <a:buNone/>
            </a:pPr>
            <a:r>
              <a:rPr lang="en-US" sz="1300" dirty="0">
                <a:solidFill>
                  <a:schemeClr val="bg1"/>
                </a:solidFill>
              </a:rPr>
              <a:t>d) Les tables du diagnostic : le principe</a:t>
            </a:r>
            <a:endParaRPr lang="en-US" sz="1300" dirty="0"/>
          </a:p>
        </p:txBody>
      </p:sp>
      <p:sp>
        <p:nvSpPr>
          <p:cNvPr id="15" name="Shape 13"/>
          <p:cNvSpPr/>
          <p:nvPr/>
        </p:nvSpPr>
        <p:spPr>
          <a:xfrm>
            <a:off x="6766560" y="4474029"/>
            <a:ext cx="4873752" cy="517289"/>
          </a:xfrm>
          <a:prstGeom prst="roundRect">
            <a:avLst>
              <a:gd name="adj" fmla="val 17677"/>
            </a:avLst>
          </a:prstGeom>
          <a:solidFill>
            <a:srgbClr val="FFFFFF">
              <a:alpha val="8000"/>
            </a:srgbClr>
          </a:solidFill>
          <a:ln/>
        </p:spPr>
      </p:sp>
      <p:sp>
        <p:nvSpPr>
          <p:cNvPr id="16" name="txt-353"/>
          <p:cNvSpPr txBox="1"/>
          <p:nvPr/>
        </p:nvSpPr>
        <p:spPr>
          <a:xfrm>
            <a:off x="6949440" y="4474029"/>
            <a:ext cx="4572000" cy="517289"/>
          </a:xfrm>
          <a:prstGeom prst="rect">
            <a:avLst/>
          </a:prstGeom>
          <a:noFill/>
          <a:ln/>
        </p:spPr>
        <p:txBody>
          <a:bodyPr wrap="square" lIns="0" tIns="0" rIns="0" bIns="0" rtlCol="0" anchor="ctr"/>
          <a:lstStyle/>
          <a:p>
            <a:pPr indent="0" marL="0">
              <a:buNone/>
            </a:pPr>
            <a:r>
              <a:rPr lang="en-US" sz="1300" dirty="0">
                <a:solidFill>
                  <a:schemeClr val="bg1"/>
                </a:solidFill>
              </a:rPr>
              <a:t>e) Les tables du diagnostic : les colonnes</a:t>
            </a:r>
            <a:endParaRPr lang="en-US" sz="1300" dirty="0"/>
          </a:p>
        </p:txBody>
      </p:sp>
      <p:sp>
        <p:nvSpPr>
          <p:cNvPr id="17" name="Shape 15"/>
          <p:cNvSpPr/>
          <p:nvPr/>
        </p:nvSpPr>
        <p:spPr>
          <a:xfrm>
            <a:off x="6766560" y="5101046"/>
            <a:ext cx="4873752" cy="517289"/>
          </a:xfrm>
          <a:prstGeom prst="roundRect">
            <a:avLst>
              <a:gd name="adj" fmla="val 17677"/>
            </a:avLst>
          </a:prstGeom>
          <a:solidFill>
            <a:srgbClr val="FFFFFF">
              <a:alpha val="8000"/>
            </a:srgbClr>
          </a:solidFill>
          <a:ln/>
        </p:spPr>
      </p:sp>
      <p:sp>
        <p:nvSpPr>
          <p:cNvPr id="18" name="txt-354"/>
          <p:cNvSpPr txBox="1"/>
          <p:nvPr/>
        </p:nvSpPr>
        <p:spPr>
          <a:xfrm>
            <a:off x="6949440" y="5101046"/>
            <a:ext cx="4572000" cy="517289"/>
          </a:xfrm>
          <a:prstGeom prst="rect">
            <a:avLst/>
          </a:prstGeom>
          <a:noFill/>
          <a:ln/>
        </p:spPr>
        <p:txBody>
          <a:bodyPr wrap="square" lIns="0" tIns="0" rIns="0" bIns="0" rtlCol="0" anchor="ctr"/>
          <a:lstStyle/>
          <a:p>
            <a:pPr indent="0" marL="0">
              <a:buNone/>
            </a:pPr>
            <a:r>
              <a:rPr lang="en-US" sz="1300" dirty="0">
                <a:solidFill>
                  <a:schemeClr val="bg1"/>
                </a:solidFill>
              </a:rPr>
              <a:t>f) Les tables de la recherche et des statistiques</a:t>
            </a:r>
            <a:endParaRPr lang="en-US" sz="1300" dirty="0"/>
          </a:p>
        </p:txBody>
      </p:sp>
      <p:sp>
        <p:nvSpPr>
          <p:cNvPr id="19" name="Shape 17"/>
          <p:cNvSpPr/>
          <p:nvPr/>
        </p:nvSpPr>
        <p:spPr>
          <a:xfrm>
            <a:off x="6766560" y="5728063"/>
            <a:ext cx="4873752" cy="517289"/>
          </a:xfrm>
          <a:prstGeom prst="roundRect">
            <a:avLst>
              <a:gd name="adj" fmla="val 17677"/>
            </a:avLst>
          </a:prstGeom>
          <a:solidFill>
            <a:srgbClr val="FFFFFF">
              <a:alpha val="8000"/>
            </a:srgbClr>
          </a:solidFill>
          <a:ln/>
        </p:spPr>
      </p:sp>
      <p:sp>
        <p:nvSpPr>
          <p:cNvPr id="20" name="txt-355"/>
          <p:cNvSpPr txBox="1"/>
          <p:nvPr/>
        </p:nvSpPr>
        <p:spPr>
          <a:xfrm>
            <a:off x="6949440" y="5728063"/>
            <a:ext cx="4572000" cy="517289"/>
          </a:xfrm>
          <a:prstGeom prst="rect">
            <a:avLst/>
          </a:prstGeom>
          <a:noFill/>
          <a:ln/>
        </p:spPr>
        <p:txBody>
          <a:bodyPr wrap="square" lIns="0" tIns="0" rIns="0" bIns="0" rtlCol="0" anchor="ctr"/>
          <a:lstStyle/>
          <a:p>
            <a:pPr indent="0" marL="0">
              <a:buNone/>
            </a:pPr>
            <a:r>
              <a:rPr lang="en-US" sz="1300" dirty="0">
                <a:solidFill>
                  <a:schemeClr val="bg1"/>
                </a:solidFill>
              </a:rPr>
              <a:t>g) Les tables de la conversation et des codes d'erreur</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partie"/>
          <p:cNvSpPr txBox="1"/>
          <p:nvPr/>
        </p:nvSpPr>
        <p:spPr>
          <a:xfrm>
            <a:off x="548640" y="182880"/>
            <a:ext cx="8229600" cy="256032"/>
          </a:xfrm>
          <a:prstGeom prst="rect">
            <a:avLst/>
          </a:prstGeom>
          <a:noFill/>
          <a:ln/>
        </p:spPr>
        <p:txBody>
          <a:bodyPr wrap="square" lIns="0" tIns="0" rIns="0" bIns="0" rtlCol="0" anchor="ctr"/>
          <a:lstStyle/>
          <a:p>
            <a:pPr indent="0" marL="0">
              <a:buNone/>
            </a:pPr>
            <a:r>
              <a:rPr lang="en-US" sz="1100" b="1" spc="150" kern="0" dirty="0">
                <a:solidFill>
                  <a:schemeClr val="accent1"/>
                </a:solidFill>
              </a:rPr>
              <a:t>IV. LA BASE DE DONNÉES</a:t>
            </a:r>
            <a:endParaRPr lang="en-US" sz="1100" dirty="0"/>
          </a:p>
        </p:txBody>
      </p:sp>
      <p:sp>
        <p:nvSpPr>
          <p:cNvPr id="3" name="Text 0"/>
          <p:cNvSpPr/>
          <p:nvPr>
            <p:ph idx="100" type="title" hasCustomPrompt="1"/>
          </p:nvPr>
        </p:nvSpPr>
        <p:spPr>
          <a:xfrm>
            <a:off x="548640" y="438912"/>
            <a:ext cx="11091672" cy="54864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a) Vue d'ensemble de la base de données</a:t>
            </a:r>
            <a:endParaRPr lang="en-US" sz="2800" dirty="0"/>
          </a:p>
        </p:txBody>
      </p:sp>
      <p:pic>
        <p:nvPicPr>
          <p:cNvPr id="4" name="icone-objectif" descr="preencoded.png">    </p:cNvPr>
          <p:cNvPicPr>
            <a:picLocks noChangeAspect="1"/>
          </p:cNvPicPr>
          <p:nvPr/>
        </p:nvPicPr>
        <p:blipFill>
          <a:blip r:embed="rId1"/>
          <a:stretch>
            <a:fillRect/>
          </a:stretch>
        </p:blipFill>
        <p:spPr>
          <a:xfrm>
            <a:off x="548640" y="1033272"/>
            <a:ext cx="237744" cy="237744"/>
          </a:xfrm>
          <a:prstGeom prst="rect">
            <a:avLst/>
          </a:prstGeom>
        </p:spPr>
      </p:pic>
      <p:sp>
        <p:nvSpPr>
          <p:cNvPr id="5" name="objectif"/>
          <p:cNvSpPr txBox="1"/>
          <p:nvPr/>
        </p:nvSpPr>
        <p:spPr>
          <a:xfrm>
            <a:off x="868680" y="987552"/>
            <a:ext cx="10771632" cy="329184"/>
          </a:xfrm>
          <a:prstGeom prst="rect">
            <a:avLst/>
          </a:prstGeom>
          <a:noFill/>
          <a:ln/>
        </p:spPr>
        <p:txBody>
          <a:bodyPr wrap="square" lIns="0" tIns="0" rIns="0" bIns="0" rtlCol="0" anchor="ctr"/>
          <a:lstStyle/>
          <a:p>
            <a:pPr indent="0" marL="0">
              <a:buNone/>
            </a:pPr>
            <a:r>
              <a:rPr lang="en-US" sz="1400" b="1" i="1" dirty="0">
                <a:solidFill>
                  <a:schemeClr val="tx2"/>
                </a:solidFill>
              </a:rPr>
              <a:t>Objectif : </a:t>
            </a:r>
            <a:pPr indent="0" marL="0">
              <a:buNone/>
            </a:pPr>
            <a:r>
              <a:rPr lang="en-US" sz="1400" i="1" dirty="0">
                <a:solidFill>
                  <a:schemeClr val="tx2"/>
                </a:solidFill>
              </a:rPr>
              <a:t>Voir les 18 tables de la base et les 5 groupes qu'elles forment.</a:t>
            </a:r>
            <a:endParaRPr lang="en-US" sz="1400" dirty="0"/>
          </a:p>
        </p:txBody>
      </p:sp>
      <p:pic>
        <p:nvPicPr>
          <p:cNvPr id="6" name="diagramme-classes" descr="/home/claude/deck/uml_crop.png">    </p:cNvPr>
          <p:cNvPicPr>
            <a:picLocks noChangeAspect="1"/>
          </p:cNvPicPr>
          <p:nvPr/>
        </p:nvPicPr>
        <p:blipFill>
          <a:blip r:embed="rId2"/>
          <a:stretch>
            <a:fillRect/>
          </a:stretch>
        </p:blipFill>
        <p:spPr>
          <a:xfrm>
            <a:off x="548640" y="1463040"/>
            <a:ext cx="7863840" cy="4727448"/>
          </a:xfrm>
          <a:prstGeom prst="rect">
            <a:avLst/>
          </a:prstGeom>
        </p:spPr>
      </p:pic>
      <p:sp>
        <p:nvSpPr>
          <p:cNvPr id="7" name="txt-356"/>
          <p:cNvSpPr txBox="1"/>
          <p:nvPr/>
        </p:nvSpPr>
        <p:spPr>
          <a:xfrm>
            <a:off x="8915400" y="1463040"/>
            <a:ext cx="2743200" cy="411480"/>
          </a:xfrm>
          <a:prstGeom prst="rect">
            <a:avLst/>
          </a:prstGeom>
          <a:noFill/>
          <a:ln/>
        </p:spPr>
        <p:txBody>
          <a:bodyPr wrap="square" lIns="0" tIns="0" rIns="0" bIns="0" rtlCol="0" anchor="t"/>
          <a:lstStyle/>
          <a:p>
            <a:pPr indent="0" marL="0">
              <a:buNone/>
            </a:pPr>
            <a:r>
              <a:rPr lang="en-US" sz="1800" b="1" dirty="0">
                <a:solidFill>
                  <a:schemeClr val="tx1"/>
                </a:solidFill>
              </a:rPr>
              <a:t>18 tables, 5 groupes</a:t>
            </a:r>
            <a:endParaRPr lang="en-US" sz="1800" dirty="0"/>
          </a:p>
        </p:txBody>
      </p:sp>
      <p:sp>
        <p:nvSpPr>
          <p:cNvPr id="8" name="Shape 4"/>
          <p:cNvSpPr/>
          <p:nvPr/>
        </p:nvSpPr>
        <p:spPr>
          <a:xfrm>
            <a:off x="8915400" y="2066544"/>
            <a:ext cx="237744" cy="237744"/>
          </a:xfrm>
          <a:prstGeom prst="ellipse">
            <a:avLst/>
          </a:prstGeom>
          <a:solidFill>
            <a:srgbClr val="185FA5"/>
          </a:solidFill>
          <a:ln/>
        </p:spPr>
      </p:sp>
      <p:sp>
        <p:nvSpPr>
          <p:cNvPr id="9" name="txt-357"/>
          <p:cNvSpPr txBox="1"/>
          <p:nvPr/>
        </p:nvSpPr>
        <p:spPr>
          <a:xfrm>
            <a:off x="9281160" y="2011680"/>
            <a:ext cx="2377440" cy="320040"/>
          </a:xfrm>
          <a:prstGeom prst="rect">
            <a:avLst/>
          </a:prstGeom>
          <a:noFill/>
          <a:ln/>
        </p:spPr>
        <p:txBody>
          <a:bodyPr wrap="square" lIns="0" tIns="0" rIns="0" bIns="0" rtlCol="0" anchor="t"/>
          <a:lstStyle/>
          <a:p>
            <a:pPr indent="0" marL="0">
              <a:buNone/>
            </a:pPr>
            <a:r>
              <a:rPr lang="en-US" sz="1400" b="1" dirty="0">
                <a:solidFill>
                  <a:schemeClr val="tx1"/>
                </a:solidFill>
              </a:rPr>
              <a:t>Équipements et interventions</a:t>
            </a:r>
            <a:endParaRPr lang="en-US" sz="1400" dirty="0"/>
          </a:p>
        </p:txBody>
      </p:sp>
      <p:sp>
        <p:nvSpPr>
          <p:cNvPr id="10" name="txt-358"/>
          <p:cNvSpPr txBox="1"/>
          <p:nvPr/>
        </p:nvSpPr>
        <p:spPr>
          <a:xfrm>
            <a:off x="9281160" y="2313432"/>
            <a:ext cx="2377440" cy="320040"/>
          </a:xfrm>
          <a:prstGeom prst="rect">
            <a:avLst/>
          </a:prstGeom>
          <a:noFill/>
          <a:ln/>
        </p:spPr>
        <p:txBody>
          <a:bodyPr wrap="square" lIns="0" tIns="0" rIns="0" bIns="0" rtlCol="0" anchor="t"/>
          <a:lstStyle/>
          <a:p>
            <a:pPr indent="0" marL="0">
              <a:buNone/>
            </a:pPr>
            <a:r>
              <a:rPr lang="en-US" sz="1200" dirty="0">
                <a:solidFill>
                  <a:schemeClr val="tx2"/>
                </a:solidFill>
              </a:rPr>
              <a:t>Slides b et c</a:t>
            </a:r>
            <a:endParaRPr lang="en-US" sz="1200" dirty="0"/>
          </a:p>
        </p:txBody>
      </p:sp>
      <p:sp>
        <p:nvSpPr>
          <p:cNvPr id="11" name="Shape 7"/>
          <p:cNvSpPr/>
          <p:nvPr/>
        </p:nvSpPr>
        <p:spPr>
          <a:xfrm>
            <a:off x="8915400" y="2798064"/>
            <a:ext cx="237744" cy="237744"/>
          </a:xfrm>
          <a:prstGeom prst="ellipse">
            <a:avLst/>
          </a:prstGeom>
          <a:solidFill>
            <a:srgbClr val="534AB7"/>
          </a:solidFill>
          <a:ln/>
        </p:spPr>
      </p:sp>
      <p:sp>
        <p:nvSpPr>
          <p:cNvPr id="12" name="txt-359"/>
          <p:cNvSpPr txBox="1"/>
          <p:nvPr/>
        </p:nvSpPr>
        <p:spPr>
          <a:xfrm>
            <a:off x="9281160" y="2743200"/>
            <a:ext cx="2377440" cy="320040"/>
          </a:xfrm>
          <a:prstGeom prst="rect">
            <a:avLst/>
          </a:prstGeom>
          <a:noFill/>
          <a:ln/>
        </p:spPr>
        <p:txBody>
          <a:bodyPr wrap="square" lIns="0" tIns="0" rIns="0" bIns="0" rtlCol="0" anchor="t"/>
          <a:lstStyle/>
          <a:p>
            <a:pPr indent="0" marL="0">
              <a:buNone/>
            </a:pPr>
            <a:r>
              <a:rPr lang="en-US" sz="1400" b="1" dirty="0">
                <a:solidFill>
                  <a:schemeClr val="tx1"/>
                </a:solidFill>
              </a:rPr>
              <a:t>Diagnostic</a:t>
            </a:r>
            <a:endParaRPr lang="en-US" sz="1400" dirty="0"/>
          </a:p>
        </p:txBody>
      </p:sp>
      <p:sp>
        <p:nvSpPr>
          <p:cNvPr id="13" name="txt-360"/>
          <p:cNvSpPr txBox="1"/>
          <p:nvPr/>
        </p:nvSpPr>
        <p:spPr>
          <a:xfrm>
            <a:off x="9281160" y="3044952"/>
            <a:ext cx="2377440" cy="320040"/>
          </a:xfrm>
          <a:prstGeom prst="rect">
            <a:avLst/>
          </a:prstGeom>
          <a:noFill/>
          <a:ln/>
        </p:spPr>
        <p:txBody>
          <a:bodyPr wrap="square" lIns="0" tIns="0" rIns="0" bIns="0" rtlCol="0" anchor="t"/>
          <a:lstStyle/>
          <a:p>
            <a:pPr indent="0" marL="0">
              <a:buNone/>
            </a:pPr>
            <a:r>
              <a:rPr lang="en-US" sz="1200" dirty="0">
                <a:solidFill>
                  <a:schemeClr val="tx2"/>
                </a:solidFill>
              </a:rPr>
              <a:t>Slides d et e</a:t>
            </a:r>
            <a:endParaRPr lang="en-US" sz="1200" dirty="0"/>
          </a:p>
        </p:txBody>
      </p:sp>
      <p:sp>
        <p:nvSpPr>
          <p:cNvPr id="14" name="Shape 10"/>
          <p:cNvSpPr/>
          <p:nvPr/>
        </p:nvSpPr>
        <p:spPr>
          <a:xfrm>
            <a:off x="8915400" y="3529584"/>
            <a:ext cx="237744" cy="237744"/>
          </a:xfrm>
          <a:prstGeom prst="ellipse">
            <a:avLst/>
          </a:prstGeom>
          <a:solidFill>
            <a:srgbClr val="993556"/>
          </a:solidFill>
          <a:ln/>
        </p:spPr>
      </p:sp>
      <p:sp>
        <p:nvSpPr>
          <p:cNvPr id="15" name="txt-361"/>
          <p:cNvSpPr txBox="1"/>
          <p:nvPr/>
        </p:nvSpPr>
        <p:spPr>
          <a:xfrm>
            <a:off x="9281160" y="3474720"/>
            <a:ext cx="2377440" cy="320040"/>
          </a:xfrm>
          <a:prstGeom prst="rect">
            <a:avLst/>
          </a:prstGeom>
          <a:noFill/>
          <a:ln/>
        </p:spPr>
        <p:txBody>
          <a:bodyPr wrap="square" lIns="0" tIns="0" rIns="0" bIns="0" rtlCol="0" anchor="t"/>
          <a:lstStyle/>
          <a:p>
            <a:pPr indent="0" marL="0">
              <a:buNone/>
            </a:pPr>
            <a:r>
              <a:rPr lang="en-US" sz="1400" b="1" dirty="0">
                <a:solidFill>
                  <a:schemeClr val="tx1"/>
                </a:solidFill>
              </a:rPr>
              <a:t>Recherche et statistiques</a:t>
            </a:r>
            <a:endParaRPr lang="en-US" sz="1400" dirty="0"/>
          </a:p>
        </p:txBody>
      </p:sp>
      <p:sp>
        <p:nvSpPr>
          <p:cNvPr id="16" name="txt-362"/>
          <p:cNvSpPr txBox="1"/>
          <p:nvPr/>
        </p:nvSpPr>
        <p:spPr>
          <a:xfrm>
            <a:off x="9281160" y="3776472"/>
            <a:ext cx="2377440" cy="320040"/>
          </a:xfrm>
          <a:prstGeom prst="rect">
            <a:avLst/>
          </a:prstGeom>
          <a:noFill/>
          <a:ln/>
        </p:spPr>
        <p:txBody>
          <a:bodyPr wrap="square" lIns="0" tIns="0" rIns="0" bIns="0" rtlCol="0" anchor="t"/>
          <a:lstStyle/>
          <a:p>
            <a:pPr indent="0" marL="0">
              <a:buNone/>
            </a:pPr>
            <a:r>
              <a:rPr lang="en-US" sz="1200" dirty="0">
                <a:solidFill>
                  <a:schemeClr val="tx2"/>
                </a:solidFill>
              </a:rPr>
              <a:t>Slide f</a:t>
            </a:r>
            <a:endParaRPr lang="en-US" sz="1200" dirty="0"/>
          </a:p>
        </p:txBody>
      </p:sp>
      <p:sp>
        <p:nvSpPr>
          <p:cNvPr id="17" name="Shape 13"/>
          <p:cNvSpPr/>
          <p:nvPr/>
        </p:nvSpPr>
        <p:spPr>
          <a:xfrm>
            <a:off x="8915400" y="4261104"/>
            <a:ext cx="237744" cy="237744"/>
          </a:xfrm>
          <a:prstGeom prst="ellipse">
            <a:avLst/>
          </a:prstGeom>
          <a:solidFill>
            <a:srgbClr val="0F6E56"/>
          </a:solidFill>
          <a:ln/>
        </p:spPr>
      </p:sp>
      <p:sp>
        <p:nvSpPr>
          <p:cNvPr id="18" name="txt-363"/>
          <p:cNvSpPr txBox="1"/>
          <p:nvPr/>
        </p:nvSpPr>
        <p:spPr>
          <a:xfrm>
            <a:off x="9281160" y="4206240"/>
            <a:ext cx="2377440" cy="320040"/>
          </a:xfrm>
          <a:prstGeom prst="rect">
            <a:avLst/>
          </a:prstGeom>
          <a:noFill/>
          <a:ln/>
        </p:spPr>
        <p:txBody>
          <a:bodyPr wrap="square" lIns="0" tIns="0" rIns="0" bIns="0" rtlCol="0" anchor="t"/>
          <a:lstStyle/>
          <a:p>
            <a:pPr indent="0" marL="0">
              <a:buNone/>
            </a:pPr>
            <a:r>
              <a:rPr lang="en-US" sz="1400" b="1" dirty="0">
                <a:solidFill>
                  <a:schemeClr val="tx1"/>
                </a:solidFill>
              </a:rPr>
              <a:t>Conversation</a:t>
            </a:r>
            <a:endParaRPr lang="en-US" sz="1400" dirty="0"/>
          </a:p>
        </p:txBody>
      </p:sp>
      <p:sp>
        <p:nvSpPr>
          <p:cNvPr id="19" name="txt-364"/>
          <p:cNvSpPr txBox="1"/>
          <p:nvPr/>
        </p:nvSpPr>
        <p:spPr>
          <a:xfrm>
            <a:off x="9281160" y="4507992"/>
            <a:ext cx="2377440" cy="320040"/>
          </a:xfrm>
          <a:prstGeom prst="rect">
            <a:avLst/>
          </a:prstGeom>
          <a:noFill/>
          <a:ln/>
        </p:spPr>
        <p:txBody>
          <a:bodyPr wrap="square" lIns="0" tIns="0" rIns="0" bIns="0" rtlCol="0" anchor="t"/>
          <a:lstStyle/>
          <a:p>
            <a:pPr indent="0" marL="0">
              <a:buNone/>
            </a:pPr>
            <a:r>
              <a:rPr lang="en-US" sz="1200" dirty="0">
                <a:solidFill>
                  <a:schemeClr val="tx2"/>
                </a:solidFill>
              </a:rPr>
              <a:t>Slide g</a:t>
            </a:r>
            <a:endParaRPr lang="en-US" sz="1200" dirty="0"/>
          </a:p>
        </p:txBody>
      </p:sp>
      <p:sp>
        <p:nvSpPr>
          <p:cNvPr id="20" name="Shape 16"/>
          <p:cNvSpPr/>
          <p:nvPr/>
        </p:nvSpPr>
        <p:spPr>
          <a:xfrm>
            <a:off x="8915400" y="4992624"/>
            <a:ext cx="237744" cy="237744"/>
          </a:xfrm>
          <a:prstGeom prst="ellipse">
            <a:avLst/>
          </a:prstGeom>
          <a:solidFill>
            <a:srgbClr val="854F0B"/>
          </a:solidFill>
          <a:ln/>
        </p:spPr>
      </p:sp>
      <p:sp>
        <p:nvSpPr>
          <p:cNvPr id="21" name="txt-365"/>
          <p:cNvSpPr txBox="1"/>
          <p:nvPr/>
        </p:nvSpPr>
        <p:spPr>
          <a:xfrm>
            <a:off x="9281160" y="4937760"/>
            <a:ext cx="2377440" cy="320040"/>
          </a:xfrm>
          <a:prstGeom prst="rect">
            <a:avLst/>
          </a:prstGeom>
          <a:noFill/>
          <a:ln/>
        </p:spPr>
        <p:txBody>
          <a:bodyPr wrap="square" lIns="0" tIns="0" rIns="0" bIns="0" rtlCol="0" anchor="t"/>
          <a:lstStyle/>
          <a:p>
            <a:pPr indent="0" marL="0">
              <a:buNone/>
            </a:pPr>
            <a:r>
              <a:rPr lang="en-US" sz="1400" b="1" dirty="0">
                <a:solidFill>
                  <a:schemeClr val="tx1"/>
                </a:solidFill>
              </a:rPr>
              <a:t>Codes d'erreur</a:t>
            </a:r>
            <a:endParaRPr lang="en-US" sz="1400" dirty="0"/>
          </a:p>
        </p:txBody>
      </p:sp>
      <p:sp>
        <p:nvSpPr>
          <p:cNvPr id="22" name="txt-366"/>
          <p:cNvSpPr txBox="1"/>
          <p:nvPr/>
        </p:nvSpPr>
        <p:spPr>
          <a:xfrm>
            <a:off x="9281160" y="5239512"/>
            <a:ext cx="2377440" cy="320040"/>
          </a:xfrm>
          <a:prstGeom prst="rect">
            <a:avLst/>
          </a:prstGeom>
          <a:noFill/>
          <a:ln/>
        </p:spPr>
        <p:txBody>
          <a:bodyPr wrap="square" lIns="0" tIns="0" rIns="0" bIns="0" rtlCol="0" anchor="t"/>
          <a:lstStyle/>
          <a:p>
            <a:pPr indent="0" marL="0">
              <a:buNone/>
            </a:pPr>
            <a:r>
              <a:rPr lang="en-US" sz="1200" dirty="0">
                <a:solidFill>
                  <a:schemeClr val="tx2"/>
                </a:solidFill>
              </a:rPr>
              <a:t>Slide g</a:t>
            </a:r>
            <a:endParaRPr lang="en-US" sz="1200" dirty="0"/>
          </a:p>
        </p:txBody>
      </p:sp>
      <p:sp>
        <p:nvSpPr>
          <p:cNvPr id="23" name="txt-367"/>
          <p:cNvSpPr txBox="1"/>
          <p:nvPr/>
        </p:nvSpPr>
        <p:spPr>
          <a:xfrm>
            <a:off x="8915400" y="5669280"/>
            <a:ext cx="2743200" cy="548640"/>
          </a:xfrm>
          <a:prstGeom prst="rect">
            <a:avLst/>
          </a:prstGeom>
          <a:noFill/>
          <a:ln/>
        </p:spPr>
        <p:txBody>
          <a:bodyPr wrap="square" lIns="0" tIns="0" rIns="0" bIns="0" rtlCol="0" anchor="t"/>
          <a:lstStyle/>
          <a:p>
            <a:pPr indent="0" marL="0">
              <a:buNone/>
            </a:pPr>
            <a:r>
              <a:rPr lang="en-US" sz="1100" i="1" dirty="0">
                <a:solidFill>
                  <a:schemeClr val="accent5"/>
                </a:solidFill>
              </a:rPr>
              <a:t>Les slides suivantes détaillent chaque groupe : ses tables, leurs colonnes et leurs liens.</a:t>
            </a:r>
            <a:endParaRPr lang="en-US" sz="11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partie"/>
          <p:cNvSpPr txBox="1"/>
          <p:nvPr/>
        </p:nvSpPr>
        <p:spPr>
          <a:xfrm>
            <a:off x="548640" y="182880"/>
            <a:ext cx="8229600" cy="256032"/>
          </a:xfrm>
          <a:prstGeom prst="rect">
            <a:avLst/>
          </a:prstGeom>
          <a:noFill/>
          <a:ln/>
        </p:spPr>
        <p:txBody>
          <a:bodyPr wrap="square" lIns="0" tIns="0" rIns="0" bIns="0" rtlCol="0" anchor="ctr"/>
          <a:lstStyle/>
          <a:p>
            <a:pPr indent="0" marL="0">
              <a:buNone/>
            </a:pPr>
            <a:r>
              <a:rPr lang="en-US" sz="1100" b="1" spc="150" kern="0" dirty="0">
                <a:solidFill>
                  <a:schemeClr val="accent1"/>
                </a:solidFill>
              </a:rPr>
              <a:t>IV. LA BASE DE DONNÉES</a:t>
            </a:r>
            <a:endParaRPr lang="en-US" sz="1100" dirty="0"/>
          </a:p>
        </p:txBody>
      </p:sp>
      <p:sp>
        <p:nvSpPr>
          <p:cNvPr id="3" name="Text 0"/>
          <p:cNvSpPr/>
          <p:nvPr>
            <p:ph idx="100" type="title" hasCustomPrompt="1"/>
          </p:nvPr>
        </p:nvSpPr>
        <p:spPr>
          <a:xfrm>
            <a:off x="548640" y="438912"/>
            <a:ext cx="11091672" cy="54864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b) Les tables des équipements</a:t>
            </a:r>
            <a:endParaRPr lang="en-US" sz="2800" dirty="0"/>
          </a:p>
        </p:txBody>
      </p:sp>
      <p:pic>
        <p:nvPicPr>
          <p:cNvPr id="4" name="icone-objectif" descr="preencoded.png">    </p:cNvPr>
          <p:cNvPicPr>
            <a:picLocks noChangeAspect="1"/>
          </p:cNvPicPr>
          <p:nvPr/>
        </p:nvPicPr>
        <p:blipFill>
          <a:blip r:embed="rId1"/>
          <a:stretch>
            <a:fillRect/>
          </a:stretch>
        </p:blipFill>
        <p:spPr>
          <a:xfrm>
            <a:off x="548640" y="1033272"/>
            <a:ext cx="237744" cy="237744"/>
          </a:xfrm>
          <a:prstGeom prst="rect">
            <a:avLst/>
          </a:prstGeom>
        </p:spPr>
      </p:pic>
      <p:sp>
        <p:nvSpPr>
          <p:cNvPr id="5" name="objectif"/>
          <p:cNvSpPr txBox="1"/>
          <p:nvPr/>
        </p:nvSpPr>
        <p:spPr>
          <a:xfrm>
            <a:off x="868680" y="987552"/>
            <a:ext cx="10771632" cy="329184"/>
          </a:xfrm>
          <a:prstGeom prst="rect">
            <a:avLst/>
          </a:prstGeom>
          <a:noFill/>
          <a:ln/>
        </p:spPr>
        <p:txBody>
          <a:bodyPr wrap="square" lIns="0" tIns="0" rIns="0" bIns="0" rtlCol="0" anchor="ctr"/>
          <a:lstStyle/>
          <a:p>
            <a:pPr indent="0" marL="0">
              <a:buNone/>
            </a:pPr>
            <a:r>
              <a:rPr lang="en-US" sz="1400" b="1" i="1" dirty="0">
                <a:solidFill>
                  <a:schemeClr val="tx2"/>
                </a:solidFill>
              </a:rPr>
              <a:t>Objectif : </a:t>
            </a:r>
            <a:pPr indent="0" marL="0">
              <a:buNone/>
            </a:pPr>
            <a:r>
              <a:rPr lang="en-US" sz="1400" i="1" dirty="0">
                <a:solidFill>
                  <a:schemeClr val="tx2"/>
                </a:solidFill>
              </a:rPr>
              <a:t>Comprendre comment un distributeur est décrit en base : fabricant, modèle, version, équipement.</a:t>
            </a:r>
            <a:endParaRPr lang="en-US" sz="1400" dirty="0"/>
          </a:p>
        </p:txBody>
      </p:sp>
      <p:sp>
        <p:nvSpPr>
          <p:cNvPr id="6" name="entete-manufacturer"/>
          <p:cNvSpPr/>
          <p:nvPr/>
        </p:nvSpPr>
        <p:spPr>
          <a:xfrm>
            <a:off x="548640" y="1463040"/>
            <a:ext cx="5394960" cy="347472"/>
          </a:xfrm>
          <a:prstGeom prst="roundRect">
            <a:avLst>
              <a:gd name="adj" fmla="val 15789"/>
            </a:avLst>
          </a:prstGeom>
          <a:solidFill>
            <a:srgbClr val="185FA5"/>
          </a:solidFill>
          <a:ln/>
        </p:spPr>
      </p:sp>
      <p:sp>
        <p:nvSpPr>
          <p:cNvPr id="7" name="Text 4"/>
          <p:cNvSpPr txBox="1"/>
          <p:nvPr/>
        </p:nvSpPr>
        <p:spPr>
          <a:xfrm>
            <a:off x="658368" y="1463040"/>
            <a:ext cx="5175504" cy="347472"/>
          </a:xfrm>
          <a:prstGeom prst="rect">
            <a:avLst/>
          </a:prstGeom>
          <a:noFill/>
          <a:ln/>
        </p:spPr>
        <p:txBody>
          <a:bodyPr wrap="square" lIns="0" tIns="0" rIns="0" bIns="0" rtlCol="0" anchor="ctr"/>
          <a:lstStyle/>
          <a:p>
            <a:pPr indent="0" marL="0">
              <a:buNone/>
            </a:pPr>
            <a:r>
              <a:rPr lang="en-US" sz="1200" b="1" dirty="0">
                <a:solidFill>
                  <a:schemeClr val="bg1"/>
                </a:solidFill>
              </a:rPr>
              <a:t>manufacturer</a:t>
            </a:r>
            <a:pPr indent="0" marL="0">
              <a:buNone/>
            </a:pPr>
            <a:r>
              <a:rPr lang="en-US" sz="1200" dirty="0">
                <a:solidFill>
                  <a:schemeClr val="bg1"/>
                </a:solidFill>
              </a:rPr>
              <a:t>  ·  le fabricant</a:t>
            </a:r>
            <a:endParaRPr lang="en-US" sz="1200" dirty="0"/>
          </a:p>
        </p:txBody>
      </p:sp>
      <p:graphicFrame>
        <p:nvGraphicFramePr>
          <p:cNvPr id="17" name="colonnes-manufacturer"/>
          <p:cNvGraphicFramePr>
            <a:graphicFrameLocks noGrp="1"/>
          </p:cNvGraphicFramePr>
          <p:nvPr>
            <p:extLst>
              <p:ext uri="{D42A27DB-BD31-4B8C-83A1-F6EECF244321}">
                <p14:modId xmlns:p14="http://schemas.microsoft.com/office/powerpoint/2010/main" val="1579011935"/>
              </p:ext>
            </p:extLst>
          </p:nvPr>
        </p:nvGraphicFramePr>
        <p:xfrm>
          <a:off x="548640" y="1828800"/>
          <a:ext cx="5394960" cy="914400"/>
        </p:xfrm>
        <a:graphic>
          <a:graphicData uri="http://schemas.openxmlformats.org/drawingml/2006/table">
            <a:tbl>
              <a:tblPr/>
              <a:tblGrid>
                <a:gridCol w="2265883"/>
                <a:gridCol w="3129077"/>
              </a:tblGrid>
              <a:tr h="246888">
                <a:tc>
                  <a:txBody>
                    <a:bodyPr/>
                    <a:lstStyle/>
                    <a:p>
                      <a:pPr indent="0" marL="0">
                        <a:buNone/>
                      </a:pPr>
                      <a:r>
                        <a:rPr lang="en-US" sz="1050" b="1" dirty="0">
                          <a:solidFill>
                            <a:srgbClr val="BA7517"/>
                          </a:solidFill>
                        </a:rPr>
                        <a:t>PK </a:t>
                      </a:r>
                      <a:pPr indent="0" marL="0">
                        <a:buNone/>
                      </a:pPr>
                      <a:r>
                        <a:rPr lang="en-US" sz="1050" b="1" dirty="0">
                          <a:solidFill>
                            <a:srgbClr val="000000"/>
                          </a:solidFill>
                        </a:rPr>
                        <a:t>manufacturer_id</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50" dirty="0">
                          <a:solidFill>
                            <a:schemeClr val="tx2"/>
                          </a:solidFill>
                        </a:rPr>
                        <a:t>identifiant du fabricant</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46888">
                <a:tc>
                  <a:txBody>
                    <a:bodyPr/>
                    <a:lstStyle/>
                    <a:p>
                      <a:pPr indent="0" marL="0">
                        <a:buNone/>
                      </a:pPr>
                      <a:r>
                        <a:rPr lang="en-US" sz="1050" b="1" dirty="0">
                          <a:solidFill>
                            <a:srgbClr val="000000"/>
                          </a:solidFill>
                        </a:rPr>
                        <a:t>name</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50" dirty="0">
                          <a:solidFill>
                            <a:schemeClr val="tx2"/>
                          </a:solidFill>
                        </a:rPr>
                        <a:t>nom : Diebold, NCR, Hyosung…</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bl>
          </a:graphicData>
        </a:graphic>
      </p:graphicFrame>
      <p:sp>
        <p:nvSpPr>
          <p:cNvPr id="9" name="entete-device_model"/>
          <p:cNvSpPr/>
          <p:nvPr/>
        </p:nvSpPr>
        <p:spPr>
          <a:xfrm>
            <a:off x="548640" y="2514600"/>
            <a:ext cx="5394960" cy="347472"/>
          </a:xfrm>
          <a:prstGeom prst="roundRect">
            <a:avLst>
              <a:gd name="adj" fmla="val 15789"/>
            </a:avLst>
          </a:prstGeom>
          <a:solidFill>
            <a:srgbClr val="185FA5"/>
          </a:solidFill>
          <a:ln/>
        </p:spPr>
      </p:sp>
      <p:sp>
        <p:nvSpPr>
          <p:cNvPr id="10" name="Text 6"/>
          <p:cNvSpPr txBox="1"/>
          <p:nvPr/>
        </p:nvSpPr>
        <p:spPr>
          <a:xfrm>
            <a:off x="658368" y="2514600"/>
            <a:ext cx="5175504" cy="347472"/>
          </a:xfrm>
          <a:prstGeom prst="rect">
            <a:avLst/>
          </a:prstGeom>
          <a:noFill/>
          <a:ln/>
        </p:spPr>
        <p:txBody>
          <a:bodyPr wrap="square" lIns="0" tIns="0" rIns="0" bIns="0" rtlCol="0" anchor="ctr"/>
          <a:lstStyle/>
          <a:p>
            <a:pPr indent="0" marL="0">
              <a:buNone/>
            </a:pPr>
            <a:r>
              <a:rPr lang="en-US" sz="1200" b="1" dirty="0">
                <a:solidFill>
                  <a:schemeClr val="bg1"/>
                </a:solidFill>
              </a:rPr>
              <a:t>device_model</a:t>
            </a:r>
            <a:pPr indent="0" marL="0">
              <a:buNone/>
            </a:pPr>
            <a:r>
              <a:rPr lang="en-US" sz="1200" dirty="0">
                <a:solidFill>
                  <a:schemeClr val="bg1"/>
                </a:solidFill>
              </a:rPr>
              <a:t>  ·  le modèle</a:t>
            </a:r>
            <a:endParaRPr lang="en-US" sz="1200" dirty="0"/>
          </a:p>
        </p:txBody>
      </p:sp>
      <p:graphicFrame>
        <p:nvGraphicFramePr>
          <p:cNvPr id="33" name="colonnes-device_model"/>
          <p:cNvGraphicFramePr>
            <a:graphicFrameLocks noGrp="1"/>
          </p:cNvGraphicFramePr>
          <p:nvPr>
            <p:extLst>
              <p:ext uri="{D42A27DB-BD31-4B8C-83A1-F6EECF244321}">
                <p14:modId xmlns:p14="http://schemas.microsoft.com/office/powerpoint/2010/main" val="1579011935"/>
              </p:ext>
            </p:extLst>
          </p:nvPr>
        </p:nvGraphicFramePr>
        <p:xfrm>
          <a:off x="548640" y="2880360"/>
          <a:ext cx="5394960" cy="914400"/>
        </p:xfrm>
        <a:graphic>
          <a:graphicData uri="http://schemas.openxmlformats.org/drawingml/2006/table">
            <a:tbl>
              <a:tblPr/>
              <a:tblGrid>
                <a:gridCol w="2265883"/>
                <a:gridCol w="3129077"/>
              </a:tblGrid>
              <a:tr h="246888">
                <a:tc>
                  <a:txBody>
                    <a:bodyPr/>
                    <a:lstStyle/>
                    <a:p>
                      <a:pPr indent="0" marL="0">
                        <a:buNone/>
                      </a:pPr>
                      <a:r>
                        <a:rPr lang="en-US" sz="1050" b="1" dirty="0">
                          <a:solidFill>
                            <a:srgbClr val="BA7517"/>
                          </a:solidFill>
                        </a:rPr>
                        <a:t>PK </a:t>
                      </a:r>
                      <a:pPr indent="0" marL="0">
                        <a:buNone/>
                      </a:pPr>
                      <a:r>
                        <a:rPr lang="en-US" sz="1050" b="1" dirty="0">
                          <a:solidFill>
                            <a:srgbClr val="000000"/>
                          </a:solidFill>
                        </a:rPr>
                        <a:t>model_id</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50" dirty="0">
                          <a:solidFill>
                            <a:schemeClr val="tx2"/>
                          </a:solidFill>
                        </a:rPr>
                        <a:t>identifiant du modèle</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46888">
                <a:tc>
                  <a:txBody>
                    <a:bodyPr/>
                    <a:lstStyle/>
                    <a:p>
                      <a:pPr indent="0" marL="0">
                        <a:buNone/>
                      </a:pPr>
                      <a:r>
                        <a:rPr lang="en-US" sz="1050" b="1" dirty="0">
                          <a:solidFill>
                            <a:srgbClr val="378ADD"/>
                          </a:solidFill>
                        </a:rPr>
                        <a:t>FK </a:t>
                      </a:r>
                      <a:pPr indent="0" marL="0">
                        <a:buNone/>
                      </a:pPr>
                      <a:r>
                        <a:rPr lang="en-US" sz="1050" b="1" dirty="0">
                          <a:solidFill>
                            <a:srgbClr val="000000"/>
                          </a:solidFill>
                        </a:rPr>
                        <a:t>manufacturer_id</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50" dirty="0">
                          <a:solidFill>
                            <a:schemeClr val="tx2"/>
                          </a:solidFill>
                        </a:rPr>
                        <a:t>fabricant du modèle</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46888">
                <a:tc>
                  <a:txBody>
                    <a:bodyPr/>
                    <a:lstStyle/>
                    <a:p>
                      <a:pPr indent="0" marL="0">
                        <a:buNone/>
                      </a:pPr>
                      <a:r>
                        <a:rPr lang="en-US" sz="1050" b="1" dirty="0">
                          <a:solidFill>
                            <a:srgbClr val="000000"/>
                          </a:solidFill>
                        </a:rPr>
                        <a:t>model_name</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50" dirty="0">
                          <a:solidFill>
                            <a:schemeClr val="tx2"/>
                          </a:solidFill>
                        </a:rPr>
                        <a:t>nom commercial du modèle</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46888">
                <a:tc>
                  <a:txBody>
                    <a:bodyPr/>
                    <a:lstStyle/>
                    <a:p>
                      <a:pPr indent="0" marL="0">
                        <a:buNone/>
                      </a:pPr>
                      <a:r>
                        <a:rPr lang="en-US" sz="1050" b="1" dirty="0">
                          <a:solidFill>
                            <a:srgbClr val="000000"/>
                          </a:solidFill>
                        </a:rPr>
                        <a:t>category</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50" dirty="0">
                          <a:solidFill>
                            <a:schemeClr val="tx2"/>
                          </a:solidFill>
                        </a:rPr>
                        <a:t>catégorie de matériel</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46888">
                <a:tc>
                  <a:txBody>
                    <a:bodyPr/>
                    <a:lstStyle/>
                    <a:p>
                      <a:pPr indent="0" marL="0">
                        <a:buNone/>
                      </a:pPr>
                      <a:r>
                        <a:rPr lang="en-US" sz="1050" b="1" dirty="0">
                          <a:solidFill>
                            <a:srgbClr val="000000"/>
                          </a:solidFill>
                        </a:rPr>
                        <a:t>release_year</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50" dirty="0">
                          <a:solidFill>
                            <a:schemeClr val="tx2"/>
                          </a:solidFill>
                        </a:rPr>
                        <a:t>année de sortie</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bl>
          </a:graphicData>
        </a:graphic>
      </p:graphicFrame>
      <p:sp>
        <p:nvSpPr>
          <p:cNvPr id="12" name="entete-device_model_version"/>
          <p:cNvSpPr/>
          <p:nvPr/>
        </p:nvSpPr>
        <p:spPr>
          <a:xfrm>
            <a:off x="548640" y="4251960"/>
            <a:ext cx="5394960" cy="347472"/>
          </a:xfrm>
          <a:prstGeom prst="roundRect">
            <a:avLst>
              <a:gd name="adj" fmla="val 15789"/>
            </a:avLst>
          </a:prstGeom>
          <a:solidFill>
            <a:srgbClr val="185FA5"/>
          </a:solidFill>
          <a:ln/>
        </p:spPr>
      </p:sp>
      <p:sp>
        <p:nvSpPr>
          <p:cNvPr id="13" name="Text 8"/>
          <p:cNvSpPr txBox="1"/>
          <p:nvPr/>
        </p:nvSpPr>
        <p:spPr>
          <a:xfrm>
            <a:off x="658368" y="4251960"/>
            <a:ext cx="5175504" cy="347472"/>
          </a:xfrm>
          <a:prstGeom prst="rect">
            <a:avLst/>
          </a:prstGeom>
          <a:noFill/>
          <a:ln/>
        </p:spPr>
        <p:txBody>
          <a:bodyPr wrap="square" lIns="0" tIns="0" rIns="0" bIns="0" rtlCol="0" anchor="ctr"/>
          <a:lstStyle/>
          <a:p>
            <a:pPr indent="0" marL="0">
              <a:buNone/>
            </a:pPr>
            <a:r>
              <a:rPr lang="en-US" sz="1200" b="1" dirty="0">
                <a:solidFill>
                  <a:schemeClr val="bg1"/>
                </a:solidFill>
              </a:rPr>
              <a:t>device_model_version</a:t>
            </a:r>
            <a:pPr indent="0" marL="0">
              <a:buNone/>
            </a:pPr>
            <a:r>
              <a:rPr lang="en-US" sz="1200" dirty="0">
                <a:solidFill>
                  <a:schemeClr val="bg1"/>
                </a:solidFill>
              </a:rPr>
              <a:t>  ·  la révision</a:t>
            </a:r>
            <a:endParaRPr lang="en-US" sz="1200" dirty="0"/>
          </a:p>
        </p:txBody>
      </p:sp>
      <p:graphicFrame>
        <p:nvGraphicFramePr>
          <p:cNvPr id="49" name="colonnes-device_model_version"/>
          <p:cNvGraphicFramePr>
            <a:graphicFrameLocks noGrp="1"/>
          </p:cNvGraphicFramePr>
          <p:nvPr>
            <p:extLst>
              <p:ext uri="{D42A27DB-BD31-4B8C-83A1-F6EECF244321}">
                <p14:modId xmlns:p14="http://schemas.microsoft.com/office/powerpoint/2010/main" val="1579011935"/>
              </p:ext>
            </p:extLst>
          </p:nvPr>
        </p:nvGraphicFramePr>
        <p:xfrm>
          <a:off x="548640" y="4617720"/>
          <a:ext cx="5394960" cy="914400"/>
        </p:xfrm>
        <a:graphic>
          <a:graphicData uri="http://schemas.openxmlformats.org/drawingml/2006/table">
            <a:tbl>
              <a:tblPr/>
              <a:tblGrid>
                <a:gridCol w="2265883"/>
                <a:gridCol w="3129077"/>
              </a:tblGrid>
              <a:tr h="246888">
                <a:tc>
                  <a:txBody>
                    <a:bodyPr/>
                    <a:lstStyle/>
                    <a:p>
                      <a:pPr indent="0" marL="0">
                        <a:buNone/>
                      </a:pPr>
                      <a:r>
                        <a:rPr lang="en-US" sz="1050" b="1" dirty="0">
                          <a:solidFill>
                            <a:srgbClr val="BA7517"/>
                          </a:solidFill>
                        </a:rPr>
                        <a:t>PK </a:t>
                      </a:r>
                      <a:pPr indent="0" marL="0">
                        <a:buNone/>
                      </a:pPr>
                      <a:r>
                        <a:rPr lang="en-US" sz="1050" b="1" dirty="0">
                          <a:solidFill>
                            <a:srgbClr val="000000"/>
                          </a:solidFill>
                        </a:rPr>
                        <a:t>version_id</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50" dirty="0">
                          <a:solidFill>
                            <a:schemeClr val="tx2"/>
                          </a:solidFill>
                        </a:rPr>
                        <a:t>identifiant de la révision</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46888">
                <a:tc>
                  <a:txBody>
                    <a:bodyPr/>
                    <a:lstStyle/>
                    <a:p>
                      <a:pPr indent="0" marL="0">
                        <a:buNone/>
                      </a:pPr>
                      <a:r>
                        <a:rPr lang="en-US" sz="1050" b="1" dirty="0">
                          <a:solidFill>
                            <a:srgbClr val="378ADD"/>
                          </a:solidFill>
                        </a:rPr>
                        <a:t>FK </a:t>
                      </a:r>
                      <a:pPr indent="0" marL="0">
                        <a:buNone/>
                      </a:pPr>
                      <a:r>
                        <a:rPr lang="en-US" sz="1050" b="1" dirty="0">
                          <a:solidFill>
                            <a:srgbClr val="000000"/>
                          </a:solidFill>
                        </a:rPr>
                        <a:t>model_id</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50" dirty="0">
                          <a:solidFill>
                            <a:schemeClr val="tx2"/>
                          </a:solidFill>
                        </a:rPr>
                        <a:t>modèle concerné</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46888">
                <a:tc>
                  <a:txBody>
                    <a:bodyPr/>
                    <a:lstStyle/>
                    <a:p>
                      <a:pPr indent="0" marL="0">
                        <a:buNone/>
                      </a:pPr>
                      <a:r>
                        <a:rPr lang="en-US" sz="1050" b="1" dirty="0">
                          <a:solidFill>
                            <a:srgbClr val="000000"/>
                          </a:solidFill>
                        </a:rPr>
                        <a:t>version_label</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50" dirty="0">
                          <a:solidFill>
                            <a:schemeClr val="tx2"/>
                          </a:solidFill>
                        </a:rPr>
                        <a:t>version firmware</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46888">
                <a:tc>
                  <a:txBody>
                    <a:bodyPr/>
                    <a:lstStyle/>
                    <a:p>
                      <a:pPr indent="0" marL="0">
                        <a:buNone/>
                      </a:pPr>
                      <a:r>
                        <a:rPr lang="en-US" sz="1050" b="1" dirty="0">
                          <a:solidFill>
                            <a:srgbClr val="000000"/>
                          </a:solidFill>
                        </a:rPr>
                        <a:t>hardware_rev</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50" dirty="0">
                          <a:solidFill>
                            <a:schemeClr val="tx2"/>
                          </a:solidFill>
                        </a:rPr>
                        <a:t>révision matérielle</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46888">
                <a:tc>
                  <a:txBody>
                    <a:bodyPr/>
                    <a:lstStyle/>
                    <a:p>
                      <a:pPr indent="0" marL="0">
                        <a:buNone/>
                      </a:pPr>
                      <a:r>
                        <a:rPr lang="en-US" sz="1050" b="1" dirty="0">
                          <a:solidFill>
                            <a:srgbClr val="000000"/>
                          </a:solidFill>
                        </a:rPr>
                        <a:t>notes</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50" dirty="0">
                          <a:solidFill>
                            <a:schemeClr val="tx2"/>
                          </a:solidFill>
                        </a:rPr>
                        <a:t>bug connu, procédure différente…</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bl>
          </a:graphicData>
        </a:graphic>
      </p:graphicFrame>
      <p:sp>
        <p:nvSpPr>
          <p:cNvPr id="15" name="entete-device"/>
          <p:cNvSpPr/>
          <p:nvPr/>
        </p:nvSpPr>
        <p:spPr>
          <a:xfrm>
            <a:off x="6245352" y="1463040"/>
            <a:ext cx="5394960" cy="347472"/>
          </a:xfrm>
          <a:prstGeom prst="roundRect">
            <a:avLst>
              <a:gd name="adj" fmla="val 15789"/>
            </a:avLst>
          </a:prstGeom>
          <a:solidFill>
            <a:srgbClr val="185FA5"/>
          </a:solidFill>
          <a:ln/>
        </p:spPr>
      </p:sp>
      <p:sp>
        <p:nvSpPr>
          <p:cNvPr id="16" name="Text 10"/>
          <p:cNvSpPr txBox="1"/>
          <p:nvPr/>
        </p:nvSpPr>
        <p:spPr>
          <a:xfrm>
            <a:off x="6355080" y="1463040"/>
            <a:ext cx="5175504" cy="347472"/>
          </a:xfrm>
          <a:prstGeom prst="rect">
            <a:avLst/>
          </a:prstGeom>
          <a:noFill/>
          <a:ln/>
        </p:spPr>
        <p:txBody>
          <a:bodyPr wrap="square" lIns="0" tIns="0" rIns="0" bIns="0" rtlCol="0" anchor="ctr"/>
          <a:lstStyle/>
          <a:p>
            <a:pPr indent="0" marL="0">
              <a:buNone/>
            </a:pPr>
            <a:r>
              <a:rPr lang="en-US" sz="1200" b="1" dirty="0">
                <a:solidFill>
                  <a:schemeClr val="bg1"/>
                </a:solidFill>
              </a:rPr>
              <a:t>device</a:t>
            </a:r>
            <a:pPr indent="0" marL="0">
              <a:buNone/>
            </a:pPr>
            <a:r>
              <a:rPr lang="en-US" sz="1200" dirty="0">
                <a:solidFill>
                  <a:schemeClr val="bg1"/>
                </a:solidFill>
              </a:rPr>
              <a:t>  ·  l'équipement installé</a:t>
            </a:r>
            <a:endParaRPr lang="en-US" sz="1200" dirty="0"/>
          </a:p>
        </p:txBody>
      </p:sp>
      <p:graphicFrame>
        <p:nvGraphicFramePr>
          <p:cNvPr id="65" name="colonnes-device"/>
          <p:cNvGraphicFramePr>
            <a:graphicFrameLocks noGrp="1"/>
          </p:cNvGraphicFramePr>
          <p:nvPr>
            <p:extLst>
              <p:ext uri="{D42A27DB-BD31-4B8C-83A1-F6EECF244321}">
                <p14:modId xmlns:p14="http://schemas.microsoft.com/office/powerpoint/2010/main" val="1579011935"/>
              </p:ext>
            </p:extLst>
          </p:nvPr>
        </p:nvGraphicFramePr>
        <p:xfrm>
          <a:off x="6245352" y="1828800"/>
          <a:ext cx="5394960" cy="914400"/>
        </p:xfrm>
        <a:graphic>
          <a:graphicData uri="http://schemas.openxmlformats.org/drawingml/2006/table">
            <a:tbl>
              <a:tblPr/>
              <a:tblGrid>
                <a:gridCol w="2265883"/>
                <a:gridCol w="3129077"/>
              </a:tblGrid>
              <a:tr h="246888">
                <a:tc>
                  <a:txBody>
                    <a:bodyPr/>
                    <a:lstStyle/>
                    <a:p>
                      <a:pPr indent="0" marL="0">
                        <a:buNone/>
                      </a:pPr>
                      <a:r>
                        <a:rPr lang="en-US" sz="1050" b="1" dirty="0">
                          <a:solidFill>
                            <a:srgbClr val="BA7517"/>
                          </a:solidFill>
                        </a:rPr>
                        <a:t>PK </a:t>
                      </a:r>
                      <a:pPr indent="0" marL="0">
                        <a:buNone/>
                      </a:pPr>
                      <a:r>
                        <a:rPr lang="en-US" sz="1050" b="1" dirty="0">
                          <a:solidFill>
                            <a:srgbClr val="000000"/>
                          </a:solidFill>
                        </a:rPr>
                        <a:t>device_id</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50" dirty="0">
                          <a:solidFill>
                            <a:schemeClr val="tx2"/>
                          </a:solidFill>
                        </a:rPr>
                        <a:t>identifiant de l'équipement</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46888">
                <a:tc>
                  <a:txBody>
                    <a:bodyPr/>
                    <a:lstStyle/>
                    <a:p>
                      <a:pPr indent="0" marL="0">
                        <a:buNone/>
                      </a:pPr>
                      <a:r>
                        <a:rPr lang="en-US" sz="1050" b="1" dirty="0">
                          <a:solidFill>
                            <a:srgbClr val="000000"/>
                          </a:solidFill>
                        </a:rPr>
                        <a:t>device_type</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50" dirty="0">
                          <a:solidFill>
                            <a:schemeClr val="tx2"/>
                          </a:solidFill>
                        </a:rPr>
                        <a:t>gab ou tpe · obligatoire</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46888">
                <a:tc>
                  <a:txBody>
                    <a:bodyPr/>
                    <a:lstStyle/>
                    <a:p>
                      <a:pPr indent="0" marL="0">
                        <a:buNone/>
                      </a:pPr>
                      <a:r>
                        <a:rPr lang="en-US" sz="1050" b="1" dirty="0">
                          <a:solidFill>
                            <a:srgbClr val="000000"/>
                          </a:solidFill>
                        </a:rPr>
                        <a:t>serial_number</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50" dirty="0">
                          <a:solidFill>
                            <a:schemeClr val="tx2"/>
                          </a:solidFill>
                        </a:rPr>
                        <a:t>numéro de série</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46888">
                <a:tc>
                  <a:txBody>
                    <a:bodyPr/>
                    <a:lstStyle/>
                    <a:p>
                      <a:pPr indent="0" marL="0">
                        <a:buNone/>
                      </a:pPr>
                      <a:r>
                        <a:rPr lang="en-US" sz="1050" b="1" dirty="0">
                          <a:solidFill>
                            <a:srgbClr val="378ADD"/>
                          </a:solidFill>
                        </a:rPr>
                        <a:t>FK </a:t>
                      </a:r>
                      <a:pPr indent="0" marL="0">
                        <a:buNone/>
                      </a:pPr>
                      <a:r>
                        <a:rPr lang="en-US" sz="1050" b="1" dirty="0">
                          <a:solidFill>
                            <a:srgbClr val="000000"/>
                          </a:solidFill>
                        </a:rPr>
                        <a:t>model_id</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50" dirty="0">
                          <a:solidFill>
                            <a:schemeClr val="tx2"/>
                          </a:solidFill>
                        </a:rPr>
                        <a:t>modèle de l'équipement</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46888">
                <a:tc>
                  <a:txBody>
                    <a:bodyPr/>
                    <a:lstStyle/>
                    <a:p>
                      <a:pPr indent="0" marL="0">
                        <a:buNone/>
                      </a:pPr>
                      <a:r>
                        <a:rPr lang="en-US" sz="1050" b="1" dirty="0">
                          <a:solidFill>
                            <a:srgbClr val="000000"/>
                          </a:solidFill>
                        </a:rPr>
                        <a:t>site_name</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50" dirty="0">
                          <a:solidFill>
                            <a:schemeClr val="tx2"/>
                          </a:solidFill>
                        </a:rPr>
                        <a:t>site d'installation</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46888">
                <a:tc>
                  <a:txBody>
                    <a:bodyPr/>
                    <a:lstStyle/>
                    <a:p>
                      <a:pPr indent="0" marL="0">
                        <a:buNone/>
                      </a:pPr>
                      <a:r>
                        <a:rPr lang="en-US" sz="1050" b="1" dirty="0">
                          <a:solidFill>
                            <a:srgbClr val="000000"/>
                          </a:solidFill>
                        </a:rPr>
                        <a:t>address</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50" dirty="0">
                          <a:solidFill>
                            <a:schemeClr val="tx2"/>
                          </a:solidFill>
                        </a:rPr>
                        <a:t>adresse</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46888">
                <a:tc>
                  <a:txBody>
                    <a:bodyPr/>
                    <a:lstStyle/>
                    <a:p>
                      <a:pPr indent="0" marL="0">
                        <a:buNone/>
                      </a:pPr>
                      <a:r>
                        <a:rPr lang="en-US" sz="1050" b="1" dirty="0">
                          <a:solidFill>
                            <a:srgbClr val="000000"/>
                          </a:solidFill>
                        </a:rPr>
                        <a:t>install_date</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50" dirty="0">
                          <a:solidFill>
                            <a:schemeClr val="tx2"/>
                          </a:solidFill>
                        </a:rPr>
                        <a:t>date d'installation</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46888">
                <a:tc>
                  <a:txBody>
                    <a:bodyPr/>
                    <a:lstStyle/>
                    <a:p>
                      <a:pPr indent="0" marL="0">
                        <a:buNone/>
                      </a:pPr>
                      <a:r>
                        <a:rPr lang="en-US" sz="1050" b="1" dirty="0">
                          <a:solidFill>
                            <a:srgbClr val="000000"/>
                          </a:solidFill>
                        </a:rPr>
                        <a:t>status</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50" dirty="0">
                          <a:solidFill>
                            <a:schemeClr val="tx2"/>
                          </a:solidFill>
                        </a:rPr>
                        <a:t>actif, hors service, en réparation</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bl>
          </a:graphicData>
        </a:graphic>
      </p:graphicFrame>
      <p:sp>
        <p:nvSpPr>
          <p:cNvPr id="18" name="card-368"/>
          <p:cNvSpPr/>
          <p:nvPr/>
        </p:nvSpPr>
        <p:spPr>
          <a:xfrm>
            <a:off x="6245352" y="3977640"/>
            <a:ext cx="5394960" cy="2240280"/>
          </a:xfrm>
          <a:prstGeom prst="roundRect">
            <a:avLst>
              <a:gd name="adj" fmla="val 4898"/>
            </a:avLst>
          </a:prstGeom>
          <a:solidFill>
            <a:srgbClr val="185FA5">
              <a:alpha val="10000"/>
            </a:srgbClr>
          </a:solidFill>
          <a:ln/>
        </p:spPr>
      </p:sp>
      <p:sp>
        <p:nvSpPr>
          <p:cNvPr id="19" name="txt-369"/>
          <p:cNvSpPr txBox="1"/>
          <p:nvPr/>
        </p:nvSpPr>
        <p:spPr>
          <a:xfrm>
            <a:off x="6428232" y="4087368"/>
            <a:ext cx="5029200" cy="292608"/>
          </a:xfrm>
          <a:prstGeom prst="rect">
            <a:avLst/>
          </a:prstGeom>
          <a:noFill/>
          <a:ln/>
        </p:spPr>
        <p:txBody>
          <a:bodyPr wrap="square" lIns="0" tIns="0" rIns="0" bIns="0" rtlCol="0" anchor="t"/>
          <a:lstStyle/>
          <a:p>
            <a:pPr indent="0" marL="0">
              <a:buNone/>
            </a:pPr>
            <a:r>
              <a:rPr lang="en-US" sz="1350" b="1" dirty="0">
                <a:solidFill>
                  <a:srgbClr val="185FA5"/>
                </a:solidFill>
              </a:rPr>
              <a:t>Les liens entre ces tables</a:t>
            </a:r>
            <a:endParaRPr lang="en-US" sz="1350" dirty="0"/>
          </a:p>
        </p:txBody>
      </p:sp>
      <p:sp>
        <p:nvSpPr>
          <p:cNvPr id="20" name="txt-370"/>
          <p:cNvSpPr txBox="1"/>
          <p:nvPr/>
        </p:nvSpPr>
        <p:spPr>
          <a:xfrm>
            <a:off x="6428232" y="4434840"/>
            <a:ext cx="5029200" cy="16916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rPr>
              <a:t>Un fabricant produit plusieurs modèles.</a:t>
            </a:r>
            <a:endParaRPr lang="en-US" sz="1200" dirty="0"/>
          </a:p>
          <a:p>
            <a:pPr marL="342900" indent="-342900">
              <a:spcAft>
                <a:spcPts val="500"/>
              </a:spcAft>
              <a:buSzPct val="100000"/>
              <a:buChar char="•"/>
            </a:pPr>
            <a:r>
              <a:rPr lang="en-US" sz="1200" dirty="0">
                <a:solidFill>
                  <a:schemeClr val="tx1"/>
                </a:solidFill>
              </a:rPr>
              <a:t>Un modèle peut avoir plusieurs révisions.</a:t>
            </a:r>
            <a:endParaRPr lang="en-US" sz="1200" dirty="0"/>
          </a:p>
          <a:p>
            <a:pPr marL="342900" indent="-342900">
              <a:spcAft>
                <a:spcPts val="500"/>
              </a:spcAft>
              <a:buSzPct val="100000"/>
              <a:buChar char="•"/>
            </a:pPr>
            <a:r>
              <a:rPr lang="en-US" sz="1200" dirty="0">
                <a:solidFill>
                  <a:schemeClr val="tx1"/>
                </a:solidFill>
              </a:rPr>
              <a:t>Un modèle équipe plusieurs distributeurs installés.</a:t>
            </a:r>
            <a:endParaRPr lang="en-US" sz="1200" dirty="0"/>
          </a:p>
          <a:p>
            <a:pPr marL="342900" indent="-342900">
              <a:spcAft>
                <a:spcPts val="500"/>
              </a:spcAft>
              <a:buSzPct val="100000"/>
              <a:buChar char="•"/>
            </a:pPr>
            <a:r>
              <a:rPr lang="en-US" sz="1200" dirty="0">
                <a:solidFill>
                  <a:schemeClr val="tx1"/>
                </a:solidFill>
              </a:rPr>
              <a:t>Fabricant, modèle, n° de série : facultatifs, car souvent inconnus sur le terrain. Seul le type GAB / TPE est toujours obligatoire.</a:t>
            </a:r>
            <a:endParaRPr lang="en-US" sz="12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partie"/>
          <p:cNvSpPr txBox="1"/>
          <p:nvPr/>
        </p:nvSpPr>
        <p:spPr>
          <a:xfrm>
            <a:off x="548640" y="182880"/>
            <a:ext cx="8229600" cy="256032"/>
          </a:xfrm>
          <a:prstGeom prst="rect">
            <a:avLst/>
          </a:prstGeom>
          <a:noFill/>
          <a:ln/>
        </p:spPr>
        <p:txBody>
          <a:bodyPr wrap="square" lIns="0" tIns="0" rIns="0" bIns="0" rtlCol="0" anchor="ctr"/>
          <a:lstStyle/>
          <a:p>
            <a:pPr indent="0" marL="0">
              <a:buNone/>
            </a:pPr>
            <a:r>
              <a:rPr lang="en-US" sz="1100" b="1" spc="150" kern="0" dirty="0">
                <a:solidFill>
                  <a:schemeClr val="accent1"/>
                </a:solidFill>
              </a:rPr>
              <a:t>IV. LA BASE DE DONNÉES</a:t>
            </a:r>
            <a:endParaRPr lang="en-US" sz="1100" dirty="0"/>
          </a:p>
        </p:txBody>
      </p:sp>
      <p:sp>
        <p:nvSpPr>
          <p:cNvPr id="3" name="Text 0"/>
          <p:cNvSpPr/>
          <p:nvPr>
            <p:ph idx="100" type="title" hasCustomPrompt="1"/>
          </p:nvPr>
        </p:nvSpPr>
        <p:spPr>
          <a:xfrm>
            <a:off x="548640" y="438912"/>
            <a:ext cx="11091672" cy="54864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c) Les tables des interventions et des techniciens</a:t>
            </a:r>
            <a:endParaRPr lang="en-US" sz="2800" dirty="0"/>
          </a:p>
        </p:txBody>
      </p:sp>
      <p:pic>
        <p:nvPicPr>
          <p:cNvPr id="4" name="icone-objectif" descr="preencoded.png">    </p:cNvPr>
          <p:cNvPicPr>
            <a:picLocks noChangeAspect="1"/>
          </p:cNvPicPr>
          <p:nvPr/>
        </p:nvPicPr>
        <p:blipFill>
          <a:blip r:embed="rId1"/>
          <a:stretch>
            <a:fillRect/>
          </a:stretch>
        </p:blipFill>
        <p:spPr>
          <a:xfrm>
            <a:off x="548640" y="1033272"/>
            <a:ext cx="237744" cy="237744"/>
          </a:xfrm>
          <a:prstGeom prst="rect">
            <a:avLst/>
          </a:prstGeom>
        </p:spPr>
      </p:pic>
      <p:sp>
        <p:nvSpPr>
          <p:cNvPr id="5" name="objectif"/>
          <p:cNvSpPr txBox="1"/>
          <p:nvPr/>
        </p:nvSpPr>
        <p:spPr>
          <a:xfrm>
            <a:off x="868680" y="987552"/>
            <a:ext cx="10771632" cy="329184"/>
          </a:xfrm>
          <a:prstGeom prst="rect">
            <a:avLst/>
          </a:prstGeom>
          <a:noFill/>
          <a:ln/>
        </p:spPr>
        <p:txBody>
          <a:bodyPr wrap="square" lIns="0" tIns="0" rIns="0" bIns="0" rtlCol="0" anchor="ctr"/>
          <a:lstStyle/>
          <a:p>
            <a:pPr indent="0" marL="0">
              <a:buNone/>
            </a:pPr>
            <a:r>
              <a:rPr lang="en-US" sz="1400" b="1" i="1" dirty="0">
                <a:solidFill>
                  <a:schemeClr val="tx2"/>
                </a:solidFill>
              </a:rPr>
              <a:t>Objectif : </a:t>
            </a:r>
            <a:pPr indent="0" marL="0">
              <a:buNone/>
            </a:pPr>
            <a:r>
              <a:rPr lang="en-US" sz="1400" i="1" dirty="0">
                <a:solidFill>
                  <a:schemeClr val="tx2"/>
                </a:solidFill>
              </a:rPr>
              <a:t>Comprendre comment est enregistrée une visite : qui intervient, sur quel équipement, quand.</a:t>
            </a:r>
            <a:endParaRPr lang="en-US" sz="1400" dirty="0"/>
          </a:p>
        </p:txBody>
      </p:sp>
      <p:sp>
        <p:nvSpPr>
          <p:cNvPr id="6" name="entete-technician"/>
          <p:cNvSpPr/>
          <p:nvPr/>
        </p:nvSpPr>
        <p:spPr>
          <a:xfrm>
            <a:off x="548640" y="1463040"/>
            <a:ext cx="5394960" cy="347472"/>
          </a:xfrm>
          <a:prstGeom prst="roundRect">
            <a:avLst>
              <a:gd name="adj" fmla="val 15789"/>
            </a:avLst>
          </a:prstGeom>
          <a:solidFill>
            <a:srgbClr val="185FA5"/>
          </a:solidFill>
          <a:ln/>
        </p:spPr>
      </p:sp>
      <p:sp>
        <p:nvSpPr>
          <p:cNvPr id="7" name="Text 4"/>
          <p:cNvSpPr txBox="1"/>
          <p:nvPr/>
        </p:nvSpPr>
        <p:spPr>
          <a:xfrm>
            <a:off x="658368" y="1463040"/>
            <a:ext cx="5175504" cy="347472"/>
          </a:xfrm>
          <a:prstGeom prst="rect">
            <a:avLst/>
          </a:prstGeom>
          <a:noFill/>
          <a:ln/>
        </p:spPr>
        <p:txBody>
          <a:bodyPr wrap="square" lIns="0" tIns="0" rIns="0" bIns="0" rtlCol="0" anchor="ctr"/>
          <a:lstStyle/>
          <a:p>
            <a:pPr indent="0" marL="0">
              <a:buNone/>
            </a:pPr>
            <a:r>
              <a:rPr lang="en-US" sz="1200" b="1" dirty="0">
                <a:solidFill>
                  <a:schemeClr val="bg1"/>
                </a:solidFill>
              </a:rPr>
              <a:t>technician</a:t>
            </a:r>
            <a:pPr indent="0" marL="0">
              <a:buNone/>
            </a:pPr>
            <a:r>
              <a:rPr lang="en-US" sz="1200" dirty="0">
                <a:solidFill>
                  <a:schemeClr val="bg1"/>
                </a:solidFill>
              </a:rPr>
              <a:t>  ·  le technicien</a:t>
            </a:r>
            <a:endParaRPr lang="en-US" sz="1200" dirty="0"/>
          </a:p>
        </p:txBody>
      </p:sp>
      <p:graphicFrame>
        <p:nvGraphicFramePr>
          <p:cNvPr id="18" name="colonnes-technician"/>
          <p:cNvGraphicFramePr>
            <a:graphicFrameLocks noGrp="1"/>
          </p:cNvGraphicFramePr>
          <p:nvPr>
            <p:extLst>
              <p:ext uri="{D42A27DB-BD31-4B8C-83A1-F6EECF244321}">
                <p14:modId xmlns:p14="http://schemas.microsoft.com/office/powerpoint/2010/main" val="1579011935"/>
              </p:ext>
            </p:extLst>
          </p:nvPr>
        </p:nvGraphicFramePr>
        <p:xfrm>
          <a:off x="548640" y="1828800"/>
          <a:ext cx="5394960" cy="914400"/>
        </p:xfrm>
        <a:graphic>
          <a:graphicData uri="http://schemas.openxmlformats.org/drawingml/2006/table">
            <a:tbl>
              <a:tblPr/>
              <a:tblGrid>
                <a:gridCol w="2265883"/>
                <a:gridCol w="3129077"/>
              </a:tblGrid>
              <a:tr h="246888">
                <a:tc>
                  <a:txBody>
                    <a:bodyPr/>
                    <a:lstStyle/>
                    <a:p>
                      <a:pPr indent="0" marL="0">
                        <a:buNone/>
                      </a:pPr>
                      <a:r>
                        <a:rPr lang="en-US" sz="1050" b="1" dirty="0">
                          <a:solidFill>
                            <a:srgbClr val="BA7517"/>
                          </a:solidFill>
                        </a:rPr>
                        <a:t>PK </a:t>
                      </a:r>
                      <a:pPr indent="0" marL="0">
                        <a:buNone/>
                      </a:pPr>
                      <a:r>
                        <a:rPr lang="en-US" sz="1050" b="1" dirty="0">
                          <a:solidFill>
                            <a:srgbClr val="000000"/>
                          </a:solidFill>
                        </a:rPr>
                        <a:t>technician_id</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50" dirty="0">
                          <a:solidFill>
                            <a:schemeClr val="tx2"/>
                          </a:solidFill>
                        </a:rPr>
                        <a:t>identifiant du technicien</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46888">
                <a:tc>
                  <a:txBody>
                    <a:bodyPr/>
                    <a:lstStyle/>
                    <a:p>
                      <a:pPr indent="0" marL="0">
                        <a:buNone/>
                      </a:pPr>
                      <a:r>
                        <a:rPr lang="en-US" sz="1050" b="1" dirty="0">
                          <a:solidFill>
                            <a:srgbClr val="000000"/>
                          </a:solidFill>
                        </a:rPr>
                        <a:t>full_name</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50" dirty="0">
                          <a:solidFill>
                            <a:schemeClr val="tx2"/>
                          </a:solidFill>
                        </a:rPr>
                        <a:t>nom complet · obligatoire</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46888">
                <a:tc>
                  <a:txBody>
                    <a:bodyPr/>
                    <a:lstStyle/>
                    <a:p>
                      <a:pPr indent="0" marL="0">
                        <a:buNone/>
                      </a:pPr>
                      <a:r>
                        <a:rPr lang="en-US" sz="1050" b="1" dirty="0">
                          <a:solidFill>
                            <a:srgbClr val="000000"/>
                          </a:solidFill>
                        </a:rPr>
                        <a:t>employee_code</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50" dirty="0">
                          <a:solidFill>
                            <a:schemeClr val="tx2"/>
                          </a:solidFill>
                        </a:rPr>
                        <a:t>matricule dans l'entreprise</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46888">
                <a:tc>
                  <a:txBody>
                    <a:bodyPr/>
                    <a:lstStyle/>
                    <a:p>
                      <a:pPr indent="0" marL="0">
                        <a:buNone/>
                      </a:pPr>
                      <a:r>
                        <a:rPr lang="en-US" sz="1050" b="1" dirty="0">
                          <a:solidFill>
                            <a:srgbClr val="000000"/>
                          </a:solidFill>
                        </a:rPr>
                        <a:t>email · phone</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50" dirty="0">
                          <a:solidFill>
                            <a:schemeClr val="tx2"/>
                          </a:solidFill>
                        </a:rPr>
                        <a:t>coordonnées</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46888">
                <a:tc>
                  <a:txBody>
                    <a:bodyPr/>
                    <a:lstStyle/>
                    <a:p>
                      <a:pPr indent="0" marL="0">
                        <a:buNone/>
                      </a:pPr>
                      <a:r>
                        <a:rPr lang="en-US" sz="1050" b="1" dirty="0">
                          <a:solidFill>
                            <a:srgbClr val="000000"/>
                          </a:solidFill>
                        </a:rPr>
                        <a:t>region</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50" dirty="0">
                          <a:solidFill>
                            <a:schemeClr val="tx2"/>
                          </a:solidFill>
                        </a:rPr>
                        <a:t>zone d'intervention</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46888">
                <a:tc>
                  <a:txBody>
                    <a:bodyPr/>
                    <a:lstStyle/>
                    <a:p>
                      <a:pPr indent="0" marL="0">
                        <a:buNone/>
                      </a:pPr>
                      <a:r>
                        <a:rPr lang="en-US" sz="1050" b="1" dirty="0">
                          <a:solidFill>
                            <a:srgbClr val="000000"/>
                          </a:solidFill>
                        </a:rPr>
                        <a:t>active</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50" dirty="0">
                          <a:solidFill>
                            <a:schemeClr val="tx2"/>
                          </a:solidFill>
                        </a:rPr>
                        <a:t>encore en poste ou non</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bl>
          </a:graphicData>
        </a:graphic>
      </p:graphicFrame>
      <p:sp>
        <p:nvSpPr>
          <p:cNvPr id="9" name="entete-intervention"/>
          <p:cNvSpPr/>
          <p:nvPr/>
        </p:nvSpPr>
        <p:spPr>
          <a:xfrm>
            <a:off x="6245352" y="1463040"/>
            <a:ext cx="5394960" cy="347472"/>
          </a:xfrm>
          <a:prstGeom prst="roundRect">
            <a:avLst>
              <a:gd name="adj" fmla="val 15789"/>
            </a:avLst>
          </a:prstGeom>
          <a:solidFill>
            <a:srgbClr val="185FA5"/>
          </a:solidFill>
          <a:ln/>
        </p:spPr>
      </p:sp>
      <p:sp>
        <p:nvSpPr>
          <p:cNvPr id="10" name="Text 6"/>
          <p:cNvSpPr txBox="1"/>
          <p:nvPr/>
        </p:nvSpPr>
        <p:spPr>
          <a:xfrm>
            <a:off x="6355080" y="1463040"/>
            <a:ext cx="5175504" cy="347472"/>
          </a:xfrm>
          <a:prstGeom prst="rect">
            <a:avLst/>
          </a:prstGeom>
          <a:noFill/>
          <a:ln/>
        </p:spPr>
        <p:txBody>
          <a:bodyPr wrap="square" lIns="0" tIns="0" rIns="0" bIns="0" rtlCol="0" anchor="ctr"/>
          <a:lstStyle/>
          <a:p>
            <a:pPr indent="0" marL="0">
              <a:buNone/>
            </a:pPr>
            <a:r>
              <a:rPr lang="en-US" sz="1200" b="1" dirty="0">
                <a:solidFill>
                  <a:schemeClr val="bg1"/>
                </a:solidFill>
              </a:rPr>
              <a:t>intervention</a:t>
            </a:r>
            <a:pPr indent="0" marL="0">
              <a:buNone/>
            </a:pPr>
            <a:r>
              <a:rPr lang="en-US" sz="1200" dirty="0">
                <a:solidFill>
                  <a:schemeClr val="bg1"/>
                </a:solidFill>
              </a:rPr>
              <a:t>  ·  la visite (le ticket)</a:t>
            </a:r>
            <a:endParaRPr lang="en-US" sz="1200" dirty="0"/>
          </a:p>
        </p:txBody>
      </p:sp>
      <p:graphicFrame>
        <p:nvGraphicFramePr>
          <p:cNvPr id="35" name="colonnes-intervention"/>
          <p:cNvGraphicFramePr>
            <a:graphicFrameLocks noGrp="1"/>
          </p:cNvGraphicFramePr>
          <p:nvPr>
            <p:extLst>
              <p:ext uri="{D42A27DB-BD31-4B8C-83A1-F6EECF244321}">
                <p14:modId xmlns:p14="http://schemas.microsoft.com/office/powerpoint/2010/main" val="1579011935"/>
              </p:ext>
            </p:extLst>
          </p:nvPr>
        </p:nvGraphicFramePr>
        <p:xfrm>
          <a:off x="6245352" y="1828800"/>
          <a:ext cx="5394960" cy="914400"/>
        </p:xfrm>
        <a:graphic>
          <a:graphicData uri="http://schemas.openxmlformats.org/drawingml/2006/table">
            <a:tbl>
              <a:tblPr/>
              <a:tblGrid>
                <a:gridCol w="2265883"/>
                <a:gridCol w="3129077"/>
              </a:tblGrid>
              <a:tr h="246888">
                <a:tc>
                  <a:txBody>
                    <a:bodyPr/>
                    <a:lstStyle/>
                    <a:p>
                      <a:pPr indent="0" marL="0">
                        <a:buNone/>
                      </a:pPr>
                      <a:r>
                        <a:rPr lang="en-US" sz="1050" b="1" dirty="0">
                          <a:solidFill>
                            <a:srgbClr val="BA7517"/>
                          </a:solidFill>
                        </a:rPr>
                        <a:t>PK </a:t>
                      </a:r>
                      <a:pPr indent="0" marL="0">
                        <a:buNone/>
                      </a:pPr>
                      <a:r>
                        <a:rPr lang="en-US" sz="1050" b="1" dirty="0">
                          <a:solidFill>
                            <a:srgbClr val="000000"/>
                          </a:solidFill>
                        </a:rPr>
                        <a:t>intervention_id</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50" dirty="0">
                          <a:solidFill>
                            <a:schemeClr val="tx2"/>
                          </a:solidFill>
                        </a:rPr>
                        <a:t>identifiant de l'intervention</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46888">
                <a:tc>
                  <a:txBody>
                    <a:bodyPr/>
                    <a:lstStyle/>
                    <a:p>
                      <a:pPr indent="0" marL="0">
                        <a:buNone/>
                      </a:pPr>
                      <a:r>
                        <a:rPr lang="en-US" sz="1050" b="1" dirty="0">
                          <a:solidFill>
                            <a:srgbClr val="378ADD"/>
                          </a:solidFill>
                        </a:rPr>
                        <a:t>FK </a:t>
                      </a:r>
                      <a:pPr indent="0" marL="0">
                        <a:buNone/>
                      </a:pPr>
                      <a:r>
                        <a:rPr lang="en-US" sz="1050" b="1" dirty="0">
                          <a:solidFill>
                            <a:srgbClr val="000000"/>
                          </a:solidFill>
                        </a:rPr>
                        <a:t>device_id</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50" dirty="0">
                          <a:solidFill>
                            <a:schemeClr val="tx2"/>
                          </a:solidFill>
                        </a:rPr>
                        <a:t>équipement réparé · obligatoire</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46888">
                <a:tc>
                  <a:txBody>
                    <a:bodyPr/>
                    <a:lstStyle/>
                    <a:p>
                      <a:pPr indent="0" marL="0">
                        <a:buNone/>
                      </a:pPr>
                      <a:r>
                        <a:rPr lang="en-US" sz="1050" b="1" dirty="0">
                          <a:solidFill>
                            <a:srgbClr val="378ADD"/>
                          </a:solidFill>
                        </a:rPr>
                        <a:t>FK </a:t>
                      </a:r>
                      <a:pPr indent="0" marL="0">
                        <a:buNone/>
                      </a:pPr>
                      <a:r>
                        <a:rPr lang="en-US" sz="1050" b="1" dirty="0">
                          <a:solidFill>
                            <a:srgbClr val="000000"/>
                          </a:solidFill>
                        </a:rPr>
                        <a:t>technician_id</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50" dirty="0">
                          <a:solidFill>
                            <a:schemeClr val="tx2"/>
                          </a:solidFill>
                        </a:rPr>
                        <a:t>technicien · obligatoire</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46888">
                <a:tc>
                  <a:txBody>
                    <a:bodyPr/>
                    <a:lstStyle/>
                    <a:p>
                      <a:pPr indent="0" marL="0">
                        <a:buNone/>
                      </a:pPr>
                      <a:r>
                        <a:rPr lang="en-US" sz="1050" b="1" dirty="0">
                          <a:solidFill>
                            <a:srgbClr val="000000"/>
                          </a:solidFill>
                        </a:rPr>
                        <a:t>ticket_reference</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50" dirty="0">
                          <a:solidFill>
                            <a:schemeClr val="tx2"/>
                          </a:solidFill>
                        </a:rPr>
                        <a:t>n° de ticket de l'entreprise</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46888">
                <a:tc>
                  <a:txBody>
                    <a:bodyPr/>
                    <a:lstStyle/>
                    <a:p>
                      <a:pPr indent="0" marL="0">
                        <a:buNone/>
                      </a:pPr>
                      <a:r>
                        <a:rPr lang="en-US" sz="1050" b="1" dirty="0">
                          <a:solidFill>
                            <a:srgbClr val="000000"/>
                          </a:solidFill>
                        </a:rPr>
                        <a:t>opened_at</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50" dirty="0">
                          <a:solidFill>
                            <a:schemeClr val="tx2"/>
                          </a:solidFill>
                        </a:rPr>
                        <a:t>début · obligatoire</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46888">
                <a:tc>
                  <a:txBody>
                    <a:bodyPr/>
                    <a:lstStyle/>
                    <a:p>
                      <a:pPr indent="0" marL="0">
                        <a:buNone/>
                      </a:pPr>
                      <a:r>
                        <a:rPr lang="en-US" sz="1050" b="1" dirty="0">
                          <a:solidFill>
                            <a:srgbClr val="000000"/>
                          </a:solidFill>
                        </a:rPr>
                        <a:t>closed_at</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50" dirty="0">
                          <a:solidFill>
                            <a:schemeClr val="tx2"/>
                          </a:solidFill>
                        </a:rPr>
                        <a:t>fin de l'intervention</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46888">
                <a:tc>
                  <a:txBody>
                    <a:bodyPr/>
                    <a:lstStyle/>
                    <a:p>
                      <a:pPr indent="0" marL="0">
                        <a:buNone/>
                      </a:pPr>
                      <a:r>
                        <a:rPr lang="en-US" sz="1050" b="1" dirty="0">
                          <a:solidFill>
                            <a:srgbClr val="000000"/>
                          </a:solidFill>
                        </a:rPr>
                        <a:t>final_outcome_status</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50" dirty="0">
                          <a:solidFill>
                            <a:schemeClr val="tx2"/>
                          </a:solidFill>
                        </a:rPr>
                        <a:t>résolu, partiel, non résolu, escaladé</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46888">
                <a:tc>
                  <a:txBody>
                    <a:bodyPr/>
                    <a:lstStyle/>
                    <a:p>
                      <a:pPr indent="0" marL="0">
                        <a:buNone/>
                      </a:pPr>
                      <a:r>
                        <a:rPr lang="en-US" sz="1050" b="1" dirty="0">
                          <a:solidFill>
                            <a:srgbClr val="000000"/>
                          </a:solidFill>
                        </a:rPr>
                        <a:t>summary_text</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50" dirty="0">
                          <a:solidFill>
                            <a:schemeClr val="tx2"/>
                          </a:solidFill>
                        </a:rPr>
                        <a:t>résumé écrit de la visite</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bl>
          </a:graphicData>
        </a:graphic>
      </p:graphicFrame>
      <p:sp>
        <p:nvSpPr>
          <p:cNvPr id="12" name="Text 7"/>
          <p:cNvSpPr txBox="1"/>
          <p:nvPr/>
        </p:nvSpPr>
        <p:spPr>
          <a:xfrm>
            <a:off x="548640" y="4160520"/>
            <a:ext cx="2011680" cy="457200"/>
          </a:xfrm>
          <a:prstGeom prst="roundRect">
            <a:avLst>
              <a:gd name="adj" fmla="val 16000"/>
            </a:avLst>
          </a:prstGeom>
          <a:solidFill>
            <a:srgbClr val="185FA5"/>
          </a:solidFill>
          <a:ln/>
        </p:spPr>
        <p:txBody>
          <a:bodyPr wrap="square" lIns="0" tIns="0" rIns="0" bIns="0" rtlCol="0" anchor="ctr"/>
          <a:lstStyle/>
          <a:p>
            <a:pPr algn="ctr" indent="0" marL="0">
              <a:buNone/>
            </a:pPr>
            <a:r>
              <a:rPr lang="en-US" sz="1300" b="1" dirty="0">
                <a:solidFill>
                  <a:schemeClr val="bg1"/>
                </a:solidFill>
              </a:rPr>
              <a:t>device</a:t>
            </a:r>
            <a:endParaRPr lang="en-US" sz="1300" dirty="0"/>
          </a:p>
        </p:txBody>
      </p:sp>
      <p:sp>
        <p:nvSpPr>
          <p:cNvPr id="13" name="Text 8"/>
          <p:cNvSpPr txBox="1"/>
          <p:nvPr/>
        </p:nvSpPr>
        <p:spPr>
          <a:xfrm>
            <a:off x="4636008" y="4160520"/>
            <a:ext cx="2011680" cy="457200"/>
          </a:xfrm>
          <a:prstGeom prst="roundRect">
            <a:avLst>
              <a:gd name="adj" fmla="val 16000"/>
            </a:avLst>
          </a:prstGeom>
          <a:solidFill>
            <a:srgbClr val="185FA5"/>
          </a:solidFill>
          <a:ln/>
        </p:spPr>
        <p:txBody>
          <a:bodyPr wrap="square" lIns="0" tIns="0" rIns="0" bIns="0" rtlCol="0" anchor="ctr"/>
          <a:lstStyle/>
          <a:p>
            <a:pPr algn="ctr" indent="0" marL="0">
              <a:buNone/>
            </a:pPr>
            <a:r>
              <a:rPr lang="en-US" sz="1300" b="1" dirty="0">
                <a:solidFill>
                  <a:schemeClr val="bg1"/>
                </a:solidFill>
              </a:rPr>
              <a:t>intervention</a:t>
            </a:r>
            <a:endParaRPr lang="en-US" sz="1300" dirty="0"/>
          </a:p>
        </p:txBody>
      </p:sp>
      <p:sp>
        <p:nvSpPr>
          <p:cNvPr id="14" name="Text 9"/>
          <p:cNvSpPr txBox="1"/>
          <p:nvPr/>
        </p:nvSpPr>
        <p:spPr>
          <a:xfrm>
            <a:off x="8714232" y="4160520"/>
            <a:ext cx="2011680" cy="457200"/>
          </a:xfrm>
          <a:prstGeom prst="roundRect">
            <a:avLst>
              <a:gd name="adj" fmla="val 16000"/>
            </a:avLst>
          </a:prstGeom>
          <a:solidFill>
            <a:srgbClr val="185FA5"/>
          </a:solidFill>
          <a:ln/>
        </p:spPr>
        <p:txBody>
          <a:bodyPr wrap="square" lIns="0" tIns="0" rIns="0" bIns="0" rtlCol="0" anchor="ctr"/>
          <a:lstStyle/>
          <a:p>
            <a:pPr algn="ctr" indent="0" marL="0">
              <a:buNone/>
            </a:pPr>
            <a:r>
              <a:rPr lang="en-US" sz="1300" b="1" dirty="0">
                <a:solidFill>
                  <a:schemeClr val="bg1"/>
                </a:solidFill>
              </a:rPr>
              <a:t>technician</a:t>
            </a:r>
            <a:endParaRPr lang="en-US" sz="1300" dirty="0"/>
          </a:p>
        </p:txBody>
      </p:sp>
      <p:sp>
        <p:nvSpPr>
          <p:cNvPr id="15" name="fleche-371"/>
          <p:cNvSpPr/>
          <p:nvPr/>
        </p:nvSpPr>
        <p:spPr>
          <a:xfrm>
            <a:off x="2606040" y="4389120"/>
            <a:ext cx="1984248" cy="914"/>
          </a:xfrm>
          <a:prstGeom prst="line">
            <a:avLst/>
          </a:prstGeom>
          <a:noFill/>
          <a:ln w="22225">
            <a:solidFill>
              <a:schemeClr val="accent5"/>
            </a:solidFill>
            <a:prstDash val="solid"/>
            <a:tailEnd type="triangle"/>
          </a:ln>
        </p:spPr>
      </p:sp>
      <p:sp>
        <p:nvSpPr>
          <p:cNvPr id="16" name="fleche-372"/>
          <p:cNvSpPr/>
          <p:nvPr/>
        </p:nvSpPr>
        <p:spPr>
          <a:xfrm flipH="1">
            <a:off x="6693408" y="4389120"/>
            <a:ext cx="1975104" cy="914"/>
          </a:xfrm>
          <a:prstGeom prst="line">
            <a:avLst/>
          </a:prstGeom>
          <a:noFill/>
          <a:ln w="22225">
            <a:solidFill>
              <a:schemeClr val="accent5"/>
            </a:solidFill>
            <a:prstDash val="solid"/>
            <a:tailEnd type="triangle"/>
          </a:ln>
        </p:spPr>
      </p:sp>
      <p:sp>
        <p:nvSpPr>
          <p:cNvPr id="17" name="txt-373"/>
          <p:cNvSpPr txBox="1"/>
          <p:nvPr/>
        </p:nvSpPr>
        <p:spPr>
          <a:xfrm>
            <a:off x="2606040" y="3931920"/>
            <a:ext cx="2011680" cy="411480"/>
          </a:xfrm>
          <a:prstGeom prst="rect">
            <a:avLst/>
          </a:prstGeom>
          <a:noFill/>
          <a:ln/>
        </p:spPr>
        <p:txBody>
          <a:bodyPr wrap="square" lIns="0" tIns="0" rIns="0" bIns="0" rtlCol="0" anchor="t"/>
          <a:lstStyle/>
          <a:p>
            <a:pPr algn="ctr" indent="0" marL="0">
              <a:buNone/>
            </a:pPr>
            <a:r>
              <a:rPr lang="en-US" sz="1100" dirty="0">
                <a:solidFill>
                  <a:schemeClr val="tx2"/>
                </a:solidFill>
              </a:rPr>
              <a:t>1 équipement → plusieurs interventions</a:t>
            </a:r>
            <a:endParaRPr lang="en-US" sz="1100" dirty="0"/>
          </a:p>
        </p:txBody>
      </p:sp>
      <p:sp>
        <p:nvSpPr>
          <p:cNvPr id="18" name="txt-374"/>
          <p:cNvSpPr txBox="1"/>
          <p:nvPr/>
        </p:nvSpPr>
        <p:spPr>
          <a:xfrm>
            <a:off x="6675120" y="3931920"/>
            <a:ext cx="2011680" cy="411480"/>
          </a:xfrm>
          <a:prstGeom prst="rect">
            <a:avLst/>
          </a:prstGeom>
          <a:noFill/>
          <a:ln/>
        </p:spPr>
        <p:txBody>
          <a:bodyPr wrap="square" lIns="0" tIns="0" rIns="0" bIns="0" rtlCol="0" anchor="t"/>
          <a:lstStyle/>
          <a:p>
            <a:pPr algn="ctr" indent="0" marL="0">
              <a:buNone/>
            </a:pPr>
            <a:r>
              <a:rPr lang="en-US" sz="1100" dirty="0">
                <a:solidFill>
                  <a:schemeClr val="tx2"/>
                </a:solidFill>
              </a:rPr>
              <a:t>1 technicien → plusieurs interventions</a:t>
            </a:r>
            <a:endParaRPr lang="en-US" sz="1100" dirty="0"/>
          </a:p>
        </p:txBody>
      </p:sp>
      <p:sp>
        <p:nvSpPr>
          <p:cNvPr id="19" name="card-375"/>
          <p:cNvSpPr/>
          <p:nvPr/>
        </p:nvSpPr>
        <p:spPr>
          <a:xfrm>
            <a:off x="548640" y="4892040"/>
            <a:ext cx="11091672" cy="1280160"/>
          </a:xfrm>
          <a:prstGeom prst="roundRect">
            <a:avLst>
              <a:gd name="adj" fmla="val 8571"/>
            </a:avLst>
          </a:prstGeom>
          <a:solidFill>
            <a:srgbClr val="185FA5">
              <a:alpha val="10000"/>
            </a:srgbClr>
          </a:solidFill>
          <a:ln/>
        </p:spPr>
      </p:sp>
      <p:sp>
        <p:nvSpPr>
          <p:cNvPr id="20" name="pastille-376"/>
          <p:cNvSpPr/>
          <p:nvPr/>
        </p:nvSpPr>
        <p:spPr>
          <a:xfrm>
            <a:off x="777240" y="5120640"/>
            <a:ext cx="548640" cy="548640"/>
          </a:xfrm>
          <a:prstGeom prst="ellipse">
            <a:avLst/>
          </a:prstGeom>
          <a:solidFill>
            <a:srgbClr val="185FA5"/>
          </a:solidFill>
          <a:ln/>
        </p:spPr>
      </p:sp>
      <p:pic>
        <p:nvPicPr>
          <p:cNvPr id="21" name="icone-377" descr="preencoded.png">    </p:cNvPr>
          <p:cNvPicPr>
            <a:picLocks noChangeAspect="1"/>
          </p:cNvPicPr>
          <p:nvPr/>
        </p:nvPicPr>
        <p:blipFill>
          <a:blip r:embed="rId2"/>
          <a:stretch>
            <a:fillRect/>
          </a:stretch>
        </p:blipFill>
        <p:spPr>
          <a:xfrm>
            <a:off x="897941" y="5241341"/>
            <a:ext cx="307238" cy="307238"/>
          </a:xfrm>
          <a:prstGeom prst="rect">
            <a:avLst/>
          </a:prstGeom>
        </p:spPr>
      </p:pic>
      <p:sp>
        <p:nvSpPr>
          <p:cNvPr id="22" name="txt-378"/>
          <p:cNvSpPr txBox="1"/>
          <p:nvPr/>
        </p:nvSpPr>
        <p:spPr>
          <a:xfrm>
            <a:off x="1508760" y="4937760"/>
            <a:ext cx="9966960" cy="1188720"/>
          </a:xfrm>
          <a:prstGeom prst="rect">
            <a:avLst/>
          </a:prstGeom>
          <a:noFill/>
          <a:ln/>
        </p:spPr>
        <p:txBody>
          <a:bodyPr wrap="square" lIns="0" tIns="0" rIns="0" bIns="0" rtlCol="0" anchor="ctr"/>
          <a:lstStyle/>
          <a:p>
            <a:pPr indent="0" marL="0">
              <a:buNone/>
            </a:pPr>
            <a:r>
              <a:rPr lang="en-US" sz="1350" b="1" dirty="0">
                <a:solidFill>
                  <a:schemeClr val="tx1"/>
                </a:solidFill>
              </a:rPr>
              <a:t>Ici, tout est strict. </a:t>
            </a:r>
            <a:pPr indent="0" marL="0">
              <a:buNone/>
            </a:pPr>
            <a:r>
              <a:rPr lang="en-US" sz="1350" dirty="0">
                <a:solidFill>
                  <a:schemeClr val="tx1"/>
                </a:solidFill>
              </a:rPr>
              <a:t>Une intervention est toujours rattachée à un équipement, à un technicien et à une date de début : ce sont les données du système lui-même, pas des informations déclarées sur du matériel externe.</a:t>
            </a:r>
            <a:endParaRPr lang="en-US" sz="135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partie"/>
          <p:cNvSpPr txBox="1"/>
          <p:nvPr/>
        </p:nvSpPr>
        <p:spPr>
          <a:xfrm>
            <a:off x="548640" y="182880"/>
            <a:ext cx="8229600" cy="256032"/>
          </a:xfrm>
          <a:prstGeom prst="rect">
            <a:avLst/>
          </a:prstGeom>
          <a:noFill/>
          <a:ln/>
        </p:spPr>
        <p:txBody>
          <a:bodyPr wrap="square" lIns="0" tIns="0" rIns="0" bIns="0" rtlCol="0" anchor="ctr"/>
          <a:lstStyle/>
          <a:p>
            <a:pPr indent="0" marL="0">
              <a:buNone/>
            </a:pPr>
            <a:r>
              <a:rPr lang="en-US" sz="1100" b="1" spc="150" kern="0" dirty="0">
                <a:solidFill>
                  <a:schemeClr val="accent1"/>
                </a:solidFill>
              </a:rPr>
              <a:t>IV. LA BASE DE DONNÉES</a:t>
            </a:r>
            <a:endParaRPr lang="en-US" sz="1100" dirty="0"/>
          </a:p>
        </p:txBody>
      </p:sp>
      <p:sp>
        <p:nvSpPr>
          <p:cNvPr id="3" name="Text 0"/>
          <p:cNvSpPr/>
          <p:nvPr>
            <p:ph idx="100" type="title" hasCustomPrompt="1"/>
          </p:nvPr>
        </p:nvSpPr>
        <p:spPr>
          <a:xfrm>
            <a:off x="548640" y="438912"/>
            <a:ext cx="11091672" cy="54864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d) Les tables du diagnostic : le principe</a:t>
            </a:r>
            <a:endParaRPr lang="en-US" sz="2800" dirty="0"/>
          </a:p>
        </p:txBody>
      </p:sp>
      <p:pic>
        <p:nvPicPr>
          <p:cNvPr id="4" name="icone-objectif" descr="preencoded.png">    </p:cNvPr>
          <p:cNvPicPr>
            <a:picLocks noChangeAspect="1"/>
          </p:cNvPicPr>
          <p:nvPr/>
        </p:nvPicPr>
        <p:blipFill>
          <a:blip r:embed="rId1"/>
          <a:stretch>
            <a:fillRect/>
          </a:stretch>
        </p:blipFill>
        <p:spPr>
          <a:xfrm>
            <a:off x="548640" y="1033272"/>
            <a:ext cx="237744" cy="237744"/>
          </a:xfrm>
          <a:prstGeom prst="rect">
            <a:avLst/>
          </a:prstGeom>
        </p:spPr>
      </p:pic>
      <p:sp>
        <p:nvSpPr>
          <p:cNvPr id="5" name="objectif"/>
          <p:cNvSpPr txBox="1"/>
          <p:nvPr/>
        </p:nvSpPr>
        <p:spPr>
          <a:xfrm>
            <a:off x="868680" y="987552"/>
            <a:ext cx="10771632" cy="329184"/>
          </a:xfrm>
          <a:prstGeom prst="rect">
            <a:avLst/>
          </a:prstGeom>
          <a:noFill/>
          <a:ln/>
        </p:spPr>
        <p:txBody>
          <a:bodyPr wrap="square" lIns="0" tIns="0" rIns="0" bIns="0" rtlCol="0" anchor="ctr"/>
          <a:lstStyle/>
          <a:p>
            <a:pPr indent="0" marL="0">
              <a:buNone/>
            </a:pPr>
            <a:r>
              <a:rPr lang="en-US" sz="1400" b="1" i="1" dirty="0">
                <a:solidFill>
                  <a:schemeClr val="tx2"/>
                </a:solidFill>
              </a:rPr>
              <a:t>Objectif : </a:t>
            </a:r>
            <a:pPr indent="0" marL="0">
              <a:buNone/>
            </a:pPr>
            <a:r>
              <a:rPr lang="en-US" sz="1400" i="1" dirty="0">
                <a:solidFill>
                  <a:schemeClr val="tx2"/>
                </a:solidFill>
              </a:rPr>
              <a:t>Comprendre la différence entre ce que le technicien écrit et la liste officielle des pannes.</a:t>
            </a:r>
            <a:endParaRPr lang="en-US" sz="1400" dirty="0"/>
          </a:p>
        </p:txBody>
      </p:sp>
      <p:sp>
        <p:nvSpPr>
          <p:cNvPr id="6" name="card-379"/>
          <p:cNvSpPr/>
          <p:nvPr/>
        </p:nvSpPr>
        <p:spPr>
          <a:xfrm>
            <a:off x="548640" y="1463040"/>
            <a:ext cx="5120640" cy="777240"/>
          </a:xfrm>
          <a:prstGeom prst="roundRect">
            <a:avLst>
              <a:gd name="adj" fmla="val 14118"/>
            </a:avLst>
          </a:prstGeom>
          <a:solidFill>
            <a:srgbClr val="534AB7">
              <a:alpha val="15000"/>
            </a:srgbClr>
          </a:solidFill>
          <a:ln/>
        </p:spPr>
      </p:sp>
      <p:sp>
        <p:nvSpPr>
          <p:cNvPr id="7" name="txt-380"/>
          <p:cNvSpPr txBox="1"/>
          <p:nvPr/>
        </p:nvSpPr>
        <p:spPr>
          <a:xfrm>
            <a:off x="731520" y="1463040"/>
            <a:ext cx="4754880" cy="777240"/>
          </a:xfrm>
          <a:prstGeom prst="rect">
            <a:avLst/>
          </a:prstGeom>
          <a:noFill/>
          <a:ln/>
        </p:spPr>
        <p:txBody>
          <a:bodyPr wrap="square" lIns="0" tIns="0" rIns="0" bIns="0" rtlCol="0" anchor="ctr"/>
          <a:lstStyle/>
          <a:p>
            <a:pPr indent="0" marL="0">
              <a:buNone/>
            </a:pPr>
            <a:r>
              <a:rPr lang="en-US" sz="1300" b="1" dirty="0">
                <a:solidFill>
                  <a:schemeClr val="tx1"/>
                </a:solidFill>
              </a:rPr>
              <a:t>Ce que le technicien a observé</a:t>
            </a:r>
            <a:endParaRPr lang="en-US" sz="1300" dirty="0"/>
          </a:p>
          <a:p>
            <a:pPr indent="0" marL="0">
              <a:buNone/>
            </a:pPr>
            <a:r>
              <a:rPr lang="en-US" sz="1300" dirty="0">
                <a:solidFill>
                  <a:schemeClr val="tx1"/>
                </a:solidFill>
              </a:rPr>
              <a:t>Texte libre, pour une intervention précise</a:t>
            </a:r>
            <a:endParaRPr lang="en-US" sz="1300" dirty="0"/>
          </a:p>
        </p:txBody>
      </p:sp>
      <p:sp>
        <p:nvSpPr>
          <p:cNvPr id="8" name="card-381"/>
          <p:cNvSpPr/>
          <p:nvPr/>
        </p:nvSpPr>
        <p:spPr>
          <a:xfrm>
            <a:off x="6519672" y="1463040"/>
            <a:ext cx="5120640" cy="777240"/>
          </a:xfrm>
          <a:prstGeom prst="roundRect">
            <a:avLst>
              <a:gd name="adj" fmla="val 14118"/>
            </a:avLst>
          </a:prstGeom>
          <a:solidFill>
            <a:srgbClr val="534AB7"/>
          </a:solidFill>
          <a:ln/>
        </p:spPr>
      </p:sp>
      <p:sp>
        <p:nvSpPr>
          <p:cNvPr id="9" name="txt-382"/>
          <p:cNvSpPr txBox="1"/>
          <p:nvPr/>
        </p:nvSpPr>
        <p:spPr>
          <a:xfrm>
            <a:off x="6702552" y="1463040"/>
            <a:ext cx="4754880" cy="777240"/>
          </a:xfrm>
          <a:prstGeom prst="rect">
            <a:avLst/>
          </a:prstGeom>
          <a:noFill/>
          <a:ln/>
        </p:spPr>
        <p:txBody>
          <a:bodyPr wrap="square" lIns="0" tIns="0" rIns="0" bIns="0" rtlCol="0" anchor="ctr"/>
          <a:lstStyle/>
          <a:p>
            <a:pPr indent="0" marL="0">
              <a:buNone/>
            </a:pPr>
            <a:r>
              <a:rPr lang="en-US" sz="1300" b="1" dirty="0">
                <a:solidFill>
                  <a:schemeClr val="bg1"/>
                </a:solidFill>
              </a:rPr>
              <a:t>La liste officielle (le catalogue)</a:t>
            </a:r>
            <a:endParaRPr lang="en-US" sz="1300" dirty="0"/>
          </a:p>
          <a:p>
            <a:pPr indent="0" marL="0">
              <a:buNone/>
            </a:pPr>
            <a:r>
              <a:rPr lang="en-US" sz="1300" dirty="0">
                <a:solidFill>
                  <a:schemeClr val="bg1"/>
                </a:solidFill>
              </a:rPr>
              <a:t>Vocabulaire commun, réutilisé partout</a:t>
            </a:r>
            <a:endParaRPr lang="en-US" sz="1300" dirty="0"/>
          </a:p>
        </p:txBody>
      </p:sp>
      <p:sp>
        <p:nvSpPr>
          <p:cNvPr id="10" name="card-383"/>
          <p:cNvSpPr/>
          <p:nvPr/>
        </p:nvSpPr>
        <p:spPr>
          <a:xfrm>
            <a:off x="548640" y="2423160"/>
            <a:ext cx="5120640" cy="731520"/>
          </a:xfrm>
          <a:prstGeom prst="roundRect">
            <a:avLst>
              <a:gd name="adj" fmla="val 15000"/>
            </a:avLst>
          </a:prstGeom>
          <a:solidFill>
            <a:schemeClr val="bg2"/>
          </a:solidFill>
          <a:ln/>
        </p:spPr>
      </p:sp>
      <p:sp>
        <p:nvSpPr>
          <p:cNvPr id="11" name="txt-384"/>
          <p:cNvSpPr txBox="1"/>
          <p:nvPr/>
        </p:nvSpPr>
        <p:spPr>
          <a:xfrm>
            <a:off x="731520" y="2478024"/>
            <a:ext cx="4754880" cy="274320"/>
          </a:xfrm>
          <a:prstGeom prst="rect">
            <a:avLst/>
          </a:prstGeom>
          <a:noFill/>
          <a:ln/>
        </p:spPr>
        <p:txBody>
          <a:bodyPr wrap="square" lIns="0" tIns="0" rIns="0" bIns="0" rtlCol="0" anchor="t"/>
          <a:lstStyle/>
          <a:p>
            <a:pPr indent="0" marL="0">
              <a:buNone/>
            </a:pPr>
            <a:r>
              <a:rPr lang="en-US" sz="1150" b="1" dirty="0">
                <a:solidFill>
                  <a:srgbClr val="534AB7"/>
                </a:solidFill>
              </a:rPr>
              <a:t>intervention_symptom</a:t>
            </a:r>
            <a:endParaRPr lang="en-US" sz="1150" dirty="0"/>
          </a:p>
        </p:txBody>
      </p:sp>
      <p:sp>
        <p:nvSpPr>
          <p:cNvPr id="12" name="txt-385"/>
          <p:cNvSpPr txBox="1"/>
          <p:nvPr/>
        </p:nvSpPr>
        <p:spPr>
          <a:xfrm>
            <a:off x="731520" y="2752344"/>
            <a:ext cx="4754880" cy="347472"/>
          </a:xfrm>
          <a:prstGeom prst="rect">
            <a:avLst/>
          </a:prstGeom>
          <a:noFill/>
          <a:ln/>
        </p:spPr>
        <p:txBody>
          <a:bodyPr wrap="square" lIns="0" tIns="0" rIns="0" bIns="0" rtlCol="0" anchor="t"/>
          <a:lstStyle/>
          <a:p>
            <a:pPr indent="0" marL="0">
              <a:buNone/>
            </a:pPr>
            <a:r>
              <a:rPr lang="en-US" sz="1300" i="1" dirty="0">
                <a:solidFill>
                  <a:schemeClr val="tx1"/>
                </a:solidFill>
              </a:rPr>
              <a:t>« Le GAB avale pas la carte, écran figé »</a:t>
            </a:r>
            <a:endParaRPr lang="en-US" sz="1300" dirty="0"/>
          </a:p>
        </p:txBody>
      </p:sp>
      <p:sp>
        <p:nvSpPr>
          <p:cNvPr id="13" name="card-386"/>
          <p:cNvSpPr/>
          <p:nvPr/>
        </p:nvSpPr>
        <p:spPr>
          <a:xfrm>
            <a:off x="6519672" y="2423160"/>
            <a:ext cx="5120640" cy="731520"/>
          </a:xfrm>
          <a:prstGeom prst="roundRect">
            <a:avLst>
              <a:gd name="adj" fmla="val 15000"/>
            </a:avLst>
          </a:prstGeom>
          <a:solidFill>
            <a:schemeClr val="bg2"/>
          </a:solidFill>
          <a:ln/>
        </p:spPr>
      </p:sp>
      <p:sp>
        <p:nvSpPr>
          <p:cNvPr id="14" name="txt-387"/>
          <p:cNvSpPr txBox="1"/>
          <p:nvPr/>
        </p:nvSpPr>
        <p:spPr>
          <a:xfrm>
            <a:off x="6702552" y="2478024"/>
            <a:ext cx="4754880" cy="274320"/>
          </a:xfrm>
          <a:prstGeom prst="rect">
            <a:avLst/>
          </a:prstGeom>
          <a:noFill/>
          <a:ln/>
        </p:spPr>
        <p:txBody>
          <a:bodyPr wrap="square" lIns="0" tIns="0" rIns="0" bIns="0" rtlCol="0" anchor="t"/>
          <a:lstStyle/>
          <a:p>
            <a:pPr indent="0" marL="0">
              <a:buNone/>
            </a:pPr>
            <a:r>
              <a:rPr lang="en-US" sz="1150" b="1" dirty="0">
                <a:solidFill>
                  <a:srgbClr val="534AB7"/>
                </a:solidFill>
              </a:rPr>
              <a:t>symptom</a:t>
            </a:r>
            <a:endParaRPr lang="en-US" sz="1150" dirty="0"/>
          </a:p>
        </p:txBody>
      </p:sp>
      <p:sp>
        <p:nvSpPr>
          <p:cNvPr id="15" name="txt-388"/>
          <p:cNvSpPr txBox="1"/>
          <p:nvPr/>
        </p:nvSpPr>
        <p:spPr>
          <a:xfrm>
            <a:off x="6702552" y="2752344"/>
            <a:ext cx="4754880" cy="347472"/>
          </a:xfrm>
          <a:prstGeom prst="rect">
            <a:avLst/>
          </a:prstGeom>
          <a:noFill/>
          <a:ln/>
        </p:spPr>
        <p:txBody>
          <a:bodyPr wrap="square" lIns="0" tIns="0" rIns="0" bIns="0" rtlCol="0" anchor="t"/>
          <a:lstStyle/>
          <a:p>
            <a:pPr indent="0" marL="0">
              <a:buNone/>
            </a:pPr>
            <a:r>
              <a:rPr lang="en-US" sz="1300" i="1" dirty="0">
                <a:solidFill>
                  <a:schemeClr val="tx1"/>
                </a:solidFill>
              </a:rPr>
              <a:t>« Carte refusée »</a:t>
            </a:r>
            <a:endParaRPr lang="en-US" sz="1300" dirty="0"/>
          </a:p>
        </p:txBody>
      </p:sp>
      <p:sp>
        <p:nvSpPr>
          <p:cNvPr id="16" name="fleche-389"/>
          <p:cNvSpPr/>
          <p:nvPr/>
        </p:nvSpPr>
        <p:spPr>
          <a:xfrm>
            <a:off x="5715000" y="2788920"/>
            <a:ext cx="758952" cy="914"/>
          </a:xfrm>
          <a:prstGeom prst="line">
            <a:avLst/>
          </a:prstGeom>
          <a:noFill/>
          <a:ln w="22225">
            <a:solidFill>
              <a:schemeClr val="accent5"/>
            </a:solidFill>
            <a:prstDash val="solid"/>
            <a:tailEnd type="triangle"/>
          </a:ln>
        </p:spPr>
      </p:sp>
      <p:sp>
        <p:nvSpPr>
          <p:cNvPr id="17" name="txt-390"/>
          <p:cNvSpPr txBox="1"/>
          <p:nvPr/>
        </p:nvSpPr>
        <p:spPr>
          <a:xfrm>
            <a:off x="5669280" y="2496312"/>
            <a:ext cx="868680" cy="256032"/>
          </a:xfrm>
          <a:prstGeom prst="rect">
            <a:avLst/>
          </a:prstGeom>
          <a:noFill/>
          <a:ln/>
        </p:spPr>
        <p:txBody>
          <a:bodyPr wrap="square" lIns="0" tIns="0" rIns="0" bIns="0" rtlCol="0" anchor="t"/>
          <a:lstStyle/>
          <a:p>
            <a:pPr algn="ctr" indent="0" marL="0">
              <a:buNone/>
            </a:pPr>
            <a:r>
              <a:rPr lang="en-US" sz="1050" dirty="0">
                <a:solidFill>
                  <a:schemeClr val="accent5"/>
                </a:solidFill>
              </a:rPr>
              <a:t>relié à</a:t>
            </a:r>
            <a:endParaRPr lang="en-US" sz="1050" dirty="0"/>
          </a:p>
        </p:txBody>
      </p:sp>
      <p:sp>
        <p:nvSpPr>
          <p:cNvPr id="18" name="card-391"/>
          <p:cNvSpPr/>
          <p:nvPr/>
        </p:nvSpPr>
        <p:spPr>
          <a:xfrm>
            <a:off x="548640" y="3291840"/>
            <a:ext cx="5120640" cy="731520"/>
          </a:xfrm>
          <a:prstGeom prst="roundRect">
            <a:avLst>
              <a:gd name="adj" fmla="val 15000"/>
            </a:avLst>
          </a:prstGeom>
          <a:solidFill>
            <a:schemeClr val="bg2"/>
          </a:solidFill>
          <a:ln/>
        </p:spPr>
      </p:sp>
      <p:sp>
        <p:nvSpPr>
          <p:cNvPr id="19" name="txt-392"/>
          <p:cNvSpPr txBox="1"/>
          <p:nvPr/>
        </p:nvSpPr>
        <p:spPr>
          <a:xfrm>
            <a:off x="731520" y="3346704"/>
            <a:ext cx="4754880" cy="274320"/>
          </a:xfrm>
          <a:prstGeom prst="rect">
            <a:avLst/>
          </a:prstGeom>
          <a:noFill/>
          <a:ln/>
        </p:spPr>
        <p:txBody>
          <a:bodyPr wrap="square" lIns="0" tIns="0" rIns="0" bIns="0" rtlCol="0" anchor="t"/>
          <a:lstStyle/>
          <a:p>
            <a:pPr indent="0" marL="0">
              <a:buNone/>
            </a:pPr>
            <a:r>
              <a:rPr lang="en-US" sz="1150" b="1" dirty="0">
                <a:solidFill>
                  <a:srgbClr val="534AB7"/>
                </a:solidFill>
              </a:rPr>
              <a:t>intervention_action</a:t>
            </a:r>
            <a:endParaRPr lang="en-US" sz="1150" dirty="0"/>
          </a:p>
        </p:txBody>
      </p:sp>
      <p:sp>
        <p:nvSpPr>
          <p:cNvPr id="20" name="txt-393"/>
          <p:cNvSpPr txBox="1"/>
          <p:nvPr/>
        </p:nvSpPr>
        <p:spPr>
          <a:xfrm>
            <a:off x="731520" y="3621024"/>
            <a:ext cx="4754880" cy="347472"/>
          </a:xfrm>
          <a:prstGeom prst="rect">
            <a:avLst/>
          </a:prstGeom>
          <a:noFill/>
          <a:ln/>
        </p:spPr>
        <p:txBody>
          <a:bodyPr wrap="square" lIns="0" tIns="0" rIns="0" bIns="0" rtlCol="0" anchor="t"/>
          <a:lstStyle/>
          <a:p>
            <a:pPr indent="0" marL="0">
              <a:buNone/>
            </a:pPr>
            <a:r>
              <a:rPr lang="en-US" sz="1300" i="1" dirty="0">
                <a:solidFill>
                  <a:schemeClr val="tx1"/>
                </a:solidFill>
              </a:rPr>
              <a:t>« Nettoyé la tête de lecture » → résolu</a:t>
            </a:r>
            <a:endParaRPr lang="en-US" sz="1300" dirty="0"/>
          </a:p>
        </p:txBody>
      </p:sp>
      <p:sp>
        <p:nvSpPr>
          <p:cNvPr id="21" name="card-394"/>
          <p:cNvSpPr/>
          <p:nvPr/>
        </p:nvSpPr>
        <p:spPr>
          <a:xfrm>
            <a:off x="6519672" y="3291840"/>
            <a:ext cx="5120640" cy="731520"/>
          </a:xfrm>
          <a:prstGeom prst="roundRect">
            <a:avLst>
              <a:gd name="adj" fmla="val 15000"/>
            </a:avLst>
          </a:prstGeom>
          <a:solidFill>
            <a:schemeClr val="bg2"/>
          </a:solidFill>
          <a:ln/>
        </p:spPr>
      </p:sp>
      <p:sp>
        <p:nvSpPr>
          <p:cNvPr id="22" name="txt-395"/>
          <p:cNvSpPr txBox="1"/>
          <p:nvPr/>
        </p:nvSpPr>
        <p:spPr>
          <a:xfrm>
            <a:off x="6702552" y="3346704"/>
            <a:ext cx="4754880" cy="274320"/>
          </a:xfrm>
          <a:prstGeom prst="rect">
            <a:avLst/>
          </a:prstGeom>
          <a:noFill/>
          <a:ln/>
        </p:spPr>
        <p:txBody>
          <a:bodyPr wrap="square" lIns="0" tIns="0" rIns="0" bIns="0" rtlCol="0" anchor="t"/>
          <a:lstStyle/>
          <a:p>
            <a:pPr indent="0" marL="0">
              <a:buNone/>
            </a:pPr>
            <a:r>
              <a:rPr lang="en-US" sz="1150" b="1" dirty="0">
                <a:solidFill>
                  <a:srgbClr val="534AB7"/>
                </a:solidFill>
              </a:rPr>
              <a:t>action</a:t>
            </a:r>
            <a:endParaRPr lang="en-US" sz="1150" dirty="0"/>
          </a:p>
        </p:txBody>
      </p:sp>
      <p:sp>
        <p:nvSpPr>
          <p:cNvPr id="23" name="txt-396"/>
          <p:cNvSpPr txBox="1"/>
          <p:nvPr/>
        </p:nvSpPr>
        <p:spPr>
          <a:xfrm>
            <a:off x="6702552" y="3621024"/>
            <a:ext cx="4754880" cy="347472"/>
          </a:xfrm>
          <a:prstGeom prst="rect">
            <a:avLst/>
          </a:prstGeom>
          <a:noFill/>
          <a:ln/>
        </p:spPr>
        <p:txBody>
          <a:bodyPr wrap="square" lIns="0" tIns="0" rIns="0" bIns="0" rtlCol="0" anchor="t"/>
          <a:lstStyle/>
          <a:p>
            <a:pPr indent="0" marL="0">
              <a:buNone/>
            </a:pPr>
            <a:r>
              <a:rPr lang="en-US" sz="1300" i="1" dirty="0">
                <a:solidFill>
                  <a:schemeClr val="tx1"/>
                </a:solidFill>
              </a:rPr>
              <a:t>« Nettoyer le lecteur de carte »</a:t>
            </a:r>
            <a:endParaRPr lang="en-US" sz="1300" dirty="0"/>
          </a:p>
        </p:txBody>
      </p:sp>
      <p:sp>
        <p:nvSpPr>
          <p:cNvPr id="24" name="fleche-397"/>
          <p:cNvSpPr/>
          <p:nvPr/>
        </p:nvSpPr>
        <p:spPr>
          <a:xfrm>
            <a:off x="5715000" y="3657600"/>
            <a:ext cx="758952" cy="914"/>
          </a:xfrm>
          <a:prstGeom prst="line">
            <a:avLst/>
          </a:prstGeom>
          <a:noFill/>
          <a:ln w="22225">
            <a:solidFill>
              <a:schemeClr val="accent5"/>
            </a:solidFill>
            <a:prstDash val="solid"/>
            <a:tailEnd type="triangle"/>
          </a:ln>
        </p:spPr>
      </p:sp>
      <p:sp>
        <p:nvSpPr>
          <p:cNvPr id="25" name="txt-398"/>
          <p:cNvSpPr txBox="1"/>
          <p:nvPr/>
        </p:nvSpPr>
        <p:spPr>
          <a:xfrm>
            <a:off x="5669280" y="3364992"/>
            <a:ext cx="868680" cy="256032"/>
          </a:xfrm>
          <a:prstGeom prst="rect">
            <a:avLst/>
          </a:prstGeom>
          <a:noFill/>
          <a:ln/>
        </p:spPr>
        <p:txBody>
          <a:bodyPr wrap="square" lIns="0" tIns="0" rIns="0" bIns="0" rtlCol="0" anchor="t"/>
          <a:lstStyle/>
          <a:p>
            <a:pPr algn="ctr" indent="0" marL="0">
              <a:buNone/>
            </a:pPr>
            <a:r>
              <a:rPr lang="en-US" sz="1050" dirty="0">
                <a:solidFill>
                  <a:schemeClr val="accent5"/>
                </a:solidFill>
              </a:rPr>
              <a:t>relié à</a:t>
            </a:r>
            <a:endParaRPr lang="en-US" sz="1050" dirty="0"/>
          </a:p>
        </p:txBody>
      </p:sp>
      <p:sp>
        <p:nvSpPr>
          <p:cNvPr id="26" name="card-399"/>
          <p:cNvSpPr/>
          <p:nvPr/>
        </p:nvSpPr>
        <p:spPr>
          <a:xfrm>
            <a:off x="548640" y="4160520"/>
            <a:ext cx="5120640" cy="731520"/>
          </a:xfrm>
          <a:prstGeom prst="roundRect">
            <a:avLst>
              <a:gd name="adj" fmla="val 15000"/>
            </a:avLst>
          </a:prstGeom>
          <a:solidFill>
            <a:schemeClr val="bg2"/>
          </a:solidFill>
          <a:ln/>
        </p:spPr>
      </p:sp>
      <p:sp>
        <p:nvSpPr>
          <p:cNvPr id="27" name="txt-400"/>
          <p:cNvSpPr txBox="1"/>
          <p:nvPr/>
        </p:nvSpPr>
        <p:spPr>
          <a:xfrm>
            <a:off x="731520" y="4215384"/>
            <a:ext cx="4754880" cy="274320"/>
          </a:xfrm>
          <a:prstGeom prst="rect">
            <a:avLst/>
          </a:prstGeom>
          <a:noFill/>
          <a:ln/>
        </p:spPr>
        <p:txBody>
          <a:bodyPr wrap="square" lIns="0" tIns="0" rIns="0" bIns="0" rtlCol="0" anchor="t"/>
          <a:lstStyle/>
          <a:p>
            <a:pPr indent="0" marL="0">
              <a:buNone/>
            </a:pPr>
            <a:r>
              <a:rPr lang="en-US" sz="1150" b="1" dirty="0">
                <a:solidFill>
                  <a:srgbClr val="534AB7"/>
                </a:solidFill>
              </a:rPr>
              <a:t>diagnosis</a:t>
            </a:r>
            <a:endParaRPr lang="en-US" sz="1150" dirty="0"/>
          </a:p>
        </p:txBody>
      </p:sp>
      <p:sp>
        <p:nvSpPr>
          <p:cNvPr id="28" name="txt-401"/>
          <p:cNvSpPr txBox="1"/>
          <p:nvPr/>
        </p:nvSpPr>
        <p:spPr>
          <a:xfrm>
            <a:off x="731520" y="4489704"/>
            <a:ext cx="4754880" cy="347472"/>
          </a:xfrm>
          <a:prstGeom prst="rect">
            <a:avLst/>
          </a:prstGeom>
          <a:noFill/>
          <a:ln/>
        </p:spPr>
        <p:txBody>
          <a:bodyPr wrap="square" lIns="0" tIns="0" rIns="0" bIns="0" rtlCol="0" anchor="t"/>
          <a:lstStyle/>
          <a:p>
            <a:pPr indent="0" marL="0">
              <a:buNone/>
            </a:pPr>
            <a:r>
              <a:rPr lang="en-US" sz="1300" i="1" dirty="0">
                <a:solidFill>
                  <a:schemeClr val="tx1"/>
                </a:solidFill>
              </a:rPr>
              <a:t>« Tête de lecture encrassée »</a:t>
            </a:r>
            <a:endParaRPr lang="en-US" sz="1300" dirty="0"/>
          </a:p>
        </p:txBody>
      </p:sp>
      <p:sp>
        <p:nvSpPr>
          <p:cNvPr id="29" name="card-402"/>
          <p:cNvSpPr/>
          <p:nvPr/>
        </p:nvSpPr>
        <p:spPr>
          <a:xfrm>
            <a:off x="6519672" y="4160520"/>
            <a:ext cx="5120640" cy="731520"/>
          </a:xfrm>
          <a:prstGeom prst="roundRect">
            <a:avLst>
              <a:gd name="adj" fmla="val 15000"/>
            </a:avLst>
          </a:prstGeom>
          <a:solidFill>
            <a:schemeClr val="bg2"/>
          </a:solidFill>
          <a:ln/>
        </p:spPr>
      </p:sp>
      <p:sp>
        <p:nvSpPr>
          <p:cNvPr id="30" name="txt-403"/>
          <p:cNvSpPr txBox="1"/>
          <p:nvPr/>
        </p:nvSpPr>
        <p:spPr>
          <a:xfrm>
            <a:off x="6702552" y="4215384"/>
            <a:ext cx="4754880" cy="274320"/>
          </a:xfrm>
          <a:prstGeom prst="rect">
            <a:avLst/>
          </a:prstGeom>
          <a:noFill/>
          <a:ln/>
        </p:spPr>
        <p:txBody>
          <a:bodyPr wrap="square" lIns="0" tIns="0" rIns="0" bIns="0" rtlCol="0" anchor="t"/>
          <a:lstStyle/>
          <a:p>
            <a:pPr indent="0" marL="0">
              <a:buNone/>
            </a:pPr>
            <a:r>
              <a:rPr lang="en-US" sz="1150" b="1" dirty="0">
                <a:solidFill>
                  <a:srgbClr val="534AB7"/>
                </a:solidFill>
              </a:rPr>
              <a:t>component</a:t>
            </a:r>
            <a:endParaRPr lang="en-US" sz="1150" dirty="0"/>
          </a:p>
        </p:txBody>
      </p:sp>
      <p:sp>
        <p:nvSpPr>
          <p:cNvPr id="31" name="txt-404"/>
          <p:cNvSpPr txBox="1"/>
          <p:nvPr/>
        </p:nvSpPr>
        <p:spPr>
          <a:xfrm>
            <a:off x="6702552" y="4489704"/>
            <a:ext cx="4754880" cy="347472"/>
          </a:xfrm>
          <a:prstGeom prst="rect">
            <a:avLst/>
          </a:prstGeom>
          <a:noFill/>
          <a:ln/>
        </p:spPr>
        <p:txBody>
          <a:bodyPr wrap="square" lIns="0" tIns="0" rIns="0" bIns="0" rtlCol="0" anchor="t"/>
          <a:lstStyle/>
          <a:p>
            <a:pPr indent="0" marL="0">
              <a:buNone/>
            </a:pPr>
            <a:r>
              <a:rPr lang="en-US" sz="1300" i="1" dirty="0">
                <a:solidFill>
                  <a:schemeClr val="tx1"/>
                </a:solidFill>
              </a:rPr>
              <a:t>« Lecteur de carte » (composant en cause)</a:t>
            </a:r>
            <a:endParaRPr lang="en-US" sz="1300" dirty="0"/>
          </a:p>
        </p:txBody>
      </p:sp>
      <p:sp>
        <p:nvSpPr>
          <p:cNvPr id="32" name="fleche-405"/>
          <p:cNvSpPr/>
          <p:nvPr/>
        </p:nvSpPr>
        <p:spPr>
          <a:xfrm>
            <a:off x="5715000" y="4526280"/>
            <a:ext cx="758952" cy="914"/>
          </a:xfrm>
          <a:prstGeom prst="line">
            <a:avLst/>
          </a:prstGeom>
          <a:noFill/>
          <a:ln w="22225">
            <a:solidFill>
              <a:schemeClr val="accent5"/>
            </a:solidFill>
            <a:prstDash val="solid"/>
            <a:tailEnd type="triangle"/>
          </a:ln>
        </p:spPr>
      </p:sp>
      <p:sp>
        <p:nvSpPr>
          <p:cNvPr id="33" name="txt-406"/>
          <p:cNvSpPr txBox="1"/>
          <p:nvPr/>
        </p:nvSpPr>
        <p:spPr>
          <a:xfrm>
            <a:off x="5669280" y="4233672"/>
            <a:ext cx="868680" cy="256032"/>
          </a:xfrm>
          <a:prstGeom prst="rect">
            <a:avLst/>
          </a:prstGeom>
          <a:noFill/>
          <a:ln/>
        </p:spPr>
        <p:txBody>
          <a:bodyPr wrap="square" lIns="0" tIns="0" rIns="0" bIns="0" rtlCol="0" anchor="t"/>
          <a:lstStyle/>
          <a:p>
            <a:pPr algn="ctr" indent="0" marL="0">
              <a:buNone/>
            </a:pPr>
            <a:r>
              <a:rPr lang="en-US" sz="1050" dirty="0">
                <a:solidFill>
                  <a:schemeClr val="accent5"/>
                </a:solidFill>
              </a:rPr>
              <a:t>relié à</a:t>
            </a:r>
            <a:endParaRPr lang="en-US" sz="1050" dirty="0"/>
          </a:p>
        </p:txBody>
      </p:sp>
      <p:sp>
        <p:nvSpPr>
          <p:cNvPr id="34" name="txt-407"/>
          <p:cNvSpPr txBox="1"/>
          <p:nvPr/>
        </p:nvSpPr>
        <p:spPr>
          <a:xfrm>
            <a:off x="548640" y="5029200"/>
            <a:ext cx="5120640" cy="274320"/>
          </a:xfrm>
          <a:prstGeom prst="rect">
            <a:avLst/>
          </a:prstGeom>
          <a:noFill/>
          <a:ln/>
        </p:spPr>
        <p:txBody>
          <a:bodyPr wrap="square" lIns="0" tIns="0" rIns="0" bIns="0" rtlCol="0" anchor="t"/>
          <a:lstStyle/>
          <a:p>
            <a:pPr indent="0" marL="0">
              <a:buNone/>
            </a:pPr>
            <a:r>
              <a:rPr lang="en-US" sz="1100" i="1" dirty="0">
                <a:solidFill>
                  <a:schemeClr val="accent5"/>
                </a:solidFill>
              </a:rPr>
              <a:t>Exemple illustratif d'une intervention</a:t>
            </a:r>
            <a:endParaRPr lang="en-US" sz="1100" dirty="0"/>
          </a:p>
        </p:txBody>
      </p:sp>
      <p:sp>
        <p:nvSpPr>
          <p:cNvPr id="35" name="card-408"/>
          <p:cNvSpPr/>
          <p:nvPr/>
        </p:nvSpPr>
        <p:spPr>
          <a:xfrm>
            <a:off x="548640" y="5349240"/>
            <a:ext cx="11091672" cy="841248"/>
          </a:xfrm>
          <a:prstGeom prst="roundRect">
            <a:avLst>
              <a:gd name="adj" fmla="val 13043"/>
            </a:avLst>
          </a:prstGeom>
          <a:solidFill>
            <a:schemeClr val="bg2"/>
          </a:solidFill>
          <a:ln/>
        </p:spPr>
      </p:sp>
      <p:sp>
        <p:nvSpPr>
          <p:cNvPr id="36" name="txt-409"/>
          <p:cNvSpPr txBox="1"/>
          <p:nvPr/>
        </p:nvSpPr>
        <p:spPr>
          <a:xfrm>
            <a:off x="777240" y="5349240"/>
            <a:ext cx="10698480" cy="841248"/>
          </a:xfrm>
          <a:prstGeom prst="rect">
            <a:avLst/>
          </a:prstGeom>
          <a:noFill/>
          <a:ln/>
        </p:spPr>
        <p:txBody>
          <a:bodyPr wrap="square" lIns="0" tIns="0" rIns="0" bIns="0" rtlCol="0" anchor="ctr"/>
          <a:lstStyle/>
          <a:p>
            <a:pPr indent="0" marL="0">
              <a:buNone/>
            </a:pPr>
            <a:r>
              <a:rPr lang="en-US" sz="1300" b="1" dirty="0">
                <a:solidFill>
                  <a:schemeClr val="tx1"/>
                </a:solidFill>
              </a:rPr>
              <a:t>Pourquoi deux niveaux ? </a:t>
            </a:r>
            <a:pPr indent="0" marL="0">
              <a:buNone/>
            </a:pPr>
            <a:r>
              <a:rPr lang="en-US" sz="1300" dirty="0">
                <a:solidFill>
                  <a:schemeClr val="tx1"/>
                </a:solidFill>
              </a:rPr>
              <a:t>Le texte libre garde la réalité du terrain et sert à la recherche sémantique. Le catalogue permet de compter : combien de fois telle action a résolu tel symptôme. Le lien est facultatif : une observation peut être classée plus tard.</a:t>
            </a:r>
            <a:endParaRPr lang="en-US" sz="13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partie"/>
          <p:cNvSpPr txBox="1"/>
          <p:nvPr/>
        </p:nvSpPr>
        <p:spPr>
          <a:xfrm>
            <a:off x="548640" y="182880"/>
            <a:ext cx="8229600" cy="256032"/>
          </a:xfrm>
          <a:prstGeom prst="rect">
            <a:avLst/>
          </a:prstGeom>
          <a:noFill/>
          <a:ln/>
        </p:spPr>
        <p:txBody>
          <a:bodyPr wrap="square" lIns="0" tIns="0" rIns="0" bIns="0" rtlCol="0" anchor="ctr"/>
          <a:lstStyle/>
          <a:p>
            <a:pPr indent="0" marL="0">
              <a:buNone/>
            </a:pPr>
            <a:r>
              <a:rPr lang="en-US" sz="1100" b="1" spc="150" kern="0" dirty="0">
                <a:solidFill>
                  <a:schemeClr val="accent1"/>
                </a:solidFill>
              </a:rPr>
              <a:t>IV. LA BASE DE DONNÉES</a:t>
            </a:r>
            <a:endParaRPr lang="en-US" sz="1100" dirty="0"/>
          </a:p>
        </p:txBody>
      </p:sp>
      <p:sp>
        <p:nvSpPr>
          <p:cNvPr id="3" name="Text 0"/>
          <p:cNvSpPr/>
          <p:nvPr>
            <p:ph idx="100" type="title" hasCustomPrompt="1"/>
          </p:nvPr>
        </p:nvSpPr>
        <p:spPr>
          <a:xfrm>
            <a:off x="548640" y="438912"/>
            <a:ext cx="11091672" cy="54864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e) Les tables du diagnostic : les colonnes</a:t>
            </a:r>
            <a:endParaRPr lang="en-US" sz="2800" dirty="0"/>
          </a:p>
        </p:txBody>
      </p:sp>
      <p:pic>
        <p:nvPicPr>
          <p:cNvPr id="4" name="icone-objectif" descr="preencoded.png">    </p:cNvPr>
          <p:cNvPicPr>
            <a:picLocks noChangeAspect="1"/>
          </p:cNvPicPr>
          <p:nvPr/>
        </p:nvPicPr>
        <p:blipFill>
          <a:blip r:embed="rId1"/>
          <a:stretch>
            <a:fillRect/>
          </a:stretch>
        </p:blipFill>
        <p:spPr>
          <a:xfrm>
            <a:off x="548640" y="1033272"/>
            <a:ext cx="237744" cy="237744"/>
          </a:xfrm>
          <a:prstGeom prst="rect">
            <a:avLst/>
          </a:prstGeom>
        </p:spPr>
      </p:pic>
      <p:sp>
        <p:nvSpPr>
          <p:cNvPr id="5" name="objectif"/>
          <p:cNvSpPr txBox="1"/>
          <p:nvPr/>
        </p:nvSpPr>
        <p:spPr>
          <a:xfrm>
            <a:off x="868680" y="987552"/>
            <a:ext cx="10771632" cy="329184"/>
          </a:xfrm>
          <a:prstGeom prst="rect">
            <a:avLst/>
          </a:prstGeom>
          <a:noFill/>
          <a:ln/>
        </p:spPr>
        <p:txBody>
          <a:bodyPr wrap="square" lIns="0" tIns="0" rIns="0" bIns="0" rtlCol="0" anchor="ctr"/>
          <a:lstStyle/>
          <a:p>
            <a:pPr indent="0" marL="0">
              <a:buNone/>
            </a:pPr>
            <a:r>
              <a:rPr lang="en-US" sz="1400" b="1" i="1" dirty="0">
                <a:solidFill>
                  <a:schemeClr val="tx2"/>
                </a:solidFill>
              </a:rPr>
              <a:t>Objectif : </a:t>
            </a:r>
            <a:pPr indent="0" marL="0">
              <a:buNone/>
            </a:pPr>
            <a:r>
              <a:rPr lang="en-US" sz="1400" i="1" dirty="0">
                <a:solidFill>
                  <a:schemeClr val="tx2"/>
                </a:solidFill>
              </a:rPr>
              <a:t>Voir le détail des six tables présentées sur la slide précédente.</a:t>
            </a:r>
            <a:endParaRPr lang="en-US" sz="1400" dirty="0"/>
          </a:p>
        </p:txBody>
      </p:sp>
      <p:sp>
        <p:nvSpPr>
          <p:cNvPr id="6" name="txt-410"/>
          <p:cNvSpPr txBox="1"/>
          <p:nvPr/>
        </p:nvSpPr>
        <p:spPr>
          <a:xfrm>
            <a:off x="548640" y="1417320"/>
            <a:ext cx="3593592" cy="256032"/>
          </a:xfrm>
          <a:prstGeom prst="rect">
            <a:avLst/>
          </a:prstGeom>
          <a:noFill/>
          <a:ln/>
        </p:spPr>
        <p:txBody>
          <a:bodyPr wrap="square" lIns="0" tIns="0" rIns="0" bIns="0" rtlCol="0" anchor="t"/>
          <a:lstStyle/>
          <a:p>
            <a:pPr indent="0" marL="0">
              <a:buNone/>
            </a:pPr>
            <a:r>
              <a:rPr lang="en-US" sz="1100" b="1" spc="100" kern="0" dirty="0">
                <a:solidFill>
                  <a:srgbClr val="534AB7"/>
                </a:solidFill>
              </a:rPr>
              <a:t>OBSERVATIONS (une intervention)</a:t>
            </a:r>
            <a:endParaRPr lang="en-US" sz="1100" dirty="0"/>
          </a:p>
        </p:txBody>
      </p:sp>
      <p:sp>
        <p:nvSpPr>
          <p:cNvPr id="7" name="entete-intervention_symptom"/>
          <p:cNvSpPr/>
          <p:nvPr/>
        </p:nvSpPr>
        <p:spPr>
          <a:xfrm>
            <a:off x="548640" y="1691640"/>
            <a:ext cx="3593592" cy="347472"/>
          </a:xfrm>
          <a:prstGeom prst="roundRect">
            <a:avLst>
              <a:gd name="adj" fmla="val 15789"/>
            </a:avLst>
          </a:prstGeom>
          <a:solidFill>
            <a:srgbClr val="534AB7"/>
          </a:solidFill>
          <a:ln/>
        </p:spPr>
      </p:sp>
      <p:sp>
        <p:nvSpPr>
          <p:cNvPr id="8" name="Text 5"/>
          <p:cNvSpPr txBox="1"/>
          <p:nvPr/>
        </p:nvSpPr>
        <p:spPr>
          <a:xfrm>
            <a:off x="658368" y="1691640"/>
            <a:ext cx="3374136" cy="347472"/>
          </a:xfrm>
          <a:prstGeom prst="rect">
            <a:avLst/>
          </a:prstGeom>
          <a:noFill/>
          <a:ln/>
        </p:spPr>
        <p:txBody>
          <a:bodyPr wrap="square" lIns="0" tIns="0" rIns="0" bIns="0" rtlCol="0" anchor="ctr"/>
          <a:lstStyle/>
          <a:p>
            <a:pPr indent="0" marL="0">
              <a:buNone/>
            </a:pPr>
            <a:r>
              <a:rPr lang="en-US" sz="1200" b="1" dirty="0">
                <a:solidFill>
                  <a:schemeClr val="bg1"/>
                </a:solidFill>
              </a:rPr>
              <a:t>intervention_symptom</a:t>
            </a:r>
            <a:pPr indent="0" marL="0">
              <a:buNone/>
            </a:pPr>
            <a:r>
              <a:rPr lang="en-US" sz="1200" dirty="0">
                <a:solidFill>
                  <a:schemeClr val="bg1"/>
                </a:solidFill>
              </a:rPr>
              <a:t>  ·  symptôme observé</a:t>
            </a:r>
            <a:endParaRPr lang="en-US" sz="1200" dirty="0"/>
          </a:p>
        </p:txBody>
      </p:sp>
      <p:graphicFrame>
        <p:nvGraphicFramePr>
          <p:cNvPr id="20" name="colonnes-intervention_symptom"/>
          <p:cNvGraphicFramePr>
            <a:graphicFrameLocks noGrp="1"/>
          </p:cNvGraphicFramePr>
          <p:nvPr>
            <p:extLst>
              <p:ext uri="{D42A27DB-BD31-4B8C-83A1-F6EECF244321}">
                <p14:modId xmlns:p14="http://schemas.microsoft.com/office/powerpoint/2010/main" val="1579011935"/>
              </p:ext>
            </p:extLst>
          </p:nvPr>
        </p:nvGraphicFramePr>
        <p:xfrm>
          <a:off x="548640" y="2057400"/>
          <a:ext cx="3593592" cy="914400"/>
        </p:xfrm>
        <a:graphic>
          <a:graphicData uri="http://schemas.openxmlformats.org/drawingml/2006/table">
            <a:tbl>
              <a:tblPr/>
              <a:tblGrid>
                <a:gridCol w="1976476"/>
                <a:gridCol w="1617116"/>
              </a:tblGrid>
              <a:tr h="228600">
                <a:tc>
                  <a:txBody>
                    <a:bodyPr/>
                    <a:lstStyle/>
                    <a:p>
                      <a:pPr indent="0" marL="0">
                        <a:buNone/>
                      </a:pPr>
                      <a:r>
                        <a:rPr lang="en-US" sz="1000" b="1" dirty="0">
                          <a:solidFill>
                            <a:srgbClr val="BA7517"/>
                          </a:solidFill>
                        </a:rPr>
                        <a:t>PK </a:t>
                      </a:r>
                      <a:pPr indent="0" marL="0">
                        <a:buNone/>
                      </a:pPr>
                      <a:r>
                        <a:rPr lang="en-US" sz="1000" b="1" dirty="0">
                          <a:solidFill>
                            <a:srgbClr val="000000"/>
                          </a:solidFill>
                        </a:rPr>
                        <a:t>intervention_symptom_id</a:t>
                      </a:r>
                      <a:endParaRPr lang="en-US" sz="100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l'observation</a:t>
                      </a:r>
                      <a:endParaRPr lang="en-US" sz="100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28600">
                <a:tc>
                  <a:txBody>
                    <a:bodyPr/>
                    <a:lstStyle/>
                    <a:p>
                      <a:pPr indent="0" marL="0">
                        <a:buNone/>
                      </a:pPr>
                      <a:r>
                        <a:rPr lang="en-US" sz="1000" b="1" dirty="0">
                          <a:solidFill>
                            <a:srgbClr val="378ADD"/>
                          </a:solidFill>
                        </a:rPr>
                        <a:t>FK </a:t>
                      </a:r>
                      <a:pPr indent="0" marL="0">
                        <a:buNone/>
                      </a:pPr>
                      <a:r>
                        <a:rPr lang="en-US" sz="1000" b="1" dirty="0">
                          <a:solidFill>
                            <a:srgbClr val="000000"/>
                          </a:solidFill>
                        </a:rPr>
                        <a:t>intervention_id</a:t>
                      </a:r>
                      <a:endParaRPr lang="en-US" sz="100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intervention</a:t>
                      </a:r>
                      <a:endParaRPr lang="en-US" sz="100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28600">
                <a:tc>
                  <a:txBody>
                    <a:bodyPr/>
                    <a:lstStyle/>
                    <a:p>
                      <a:pPr indent="0" marL="0">
                        <a:buNone/>
                      </a:pPr>
                      <a:r>
                        <a:rPr lang="en-US" sz="1000" b="1" dirty="0">
                          <a:solidFill>
                            <a:srgbClr val="378ADD"/>
                          </a:solidFill>
                        </a:rPr>
                        <a:t>FK </a:t>
                      </a:r>
                      <a:pPr indent="0" marL="0">
                        <a:buNone/>
                      </a:pPr>
                      <a:r>
                        <a:rPr lang="en-US" sz="1000" b="1" dirty="0">
                          <a:solidFill>
                            <a:srgbClr val="000000"/>
                          </a:solidFill>
                        </a:rPr>
                        <a:t>symptom_id</a:t>
                      </a:r>
                      <a:endParaRPr lang="en-US" sz="100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symptôme officiel</a:t>
                      </a:r>
                      <a:endParaRPr lang="en-US" sz="100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28600">
                <a:tc>
                  <a:txBody>
                    <a:bodyPr/>
                    <a:lstStyle/>
                    <a:p>
                      <a:pPr indent="0" marL="0">
                        <a:buNone/>
                      </a:pPr>
                      <a:r>
                        <a:rPr lang="en-US" sz="1000" b="1" dirty="0">
                          <a:solidFill>
                            <a:srgbClr val="000000"/>
                          </a:solidFill>
                        </a:rPr>
                        <a:t>raw_text</a:t>
                      </a:r>
                      <a:endParaRPr lang="en-US" sz="100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texte du technicien</a:t>
                      </a:r>
                      <a:endParaRPr lang="en-US" sz="100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28600">
                <a:tc>
                  <a:txBody>
                    <a:bodyPr/>
                    <a:lstStyle/>
                    <a:p>
                      <a:pPr indent="0" marL="0">
                        <a:buNone/>
                      </a:pPr>
                      <a:r>
                        <a:rPr lang="en-US" sz="1000" b="1" dirty="0">
                          <a:solidFill>
                            <a:srgbClr val="000000"/>
                          </a:solidFill>
                        </a:rPr>
                        <a:t>severity</a:t>
                      </a:r>
                      <a:endParaRPr lang="en-US" sz="100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gravité</a:t>
                      </a:r>
                      <a:endParaRPr lang="en-US" sz="100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28600">
                <a:tc>
                  <a:txBody>
                    <a:bodyPr/>
                    <a:lstStyle/>
                    <a:p>
                      <a:pPr indent="0" marL="0">
                        <a:buNone/>
                      </a:pPr>
                      <a:r>
                        <a:rPr lang="en-US" sz="1000" b="1" dirty="0">
                          <a:solidFill>
                            <a:srgbClr val="000000"/>
                          </a:solidFill>
                        </a:rPr>
                        <a:t>embedding</a:t>
                      </a:r>
                      <a:endParaRPr lang="en-US" sz="100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vecteur pour la recherche</a:t>
                      </a:r>
                      <a:endParaRPr lang="en-US" sz="100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bl>
          </a:graphicData>
        </a:graphic>
      </p:graphicFrame>
      <p:sp>
        <p:nvSpPr>
          <p:cNvPr id="10" name="entete-intervention_action"/>
          <p:cNvSpPr/>
          <p:nvPr/>
        </p:nvSpPr>
        <p:spPr>
          <a:xfrm>
            <a:off x="548640" y="3538728"/>
            <a:ext cx="3593592" cy="347472"/>
          </a:xfrm>
          <a:prstGeom prst="roundRect">
            <a:avLst>
              <a:gd name="adj" fmla="val 15789"/>
            </a:avLst>
          </a:prstGeom>
          <a:solidFill>
            <a:srgbClr val="534AB7"/>
          </a:solidFill>
          <a:ln/>
        </p:spPr>
      </p:sp>
      <p:sp>
        <p:nvSpPr>
          <p:cNvPr id="11" name="Text 7"/>
          <p:cNvSpPr txBox="1"/>
          <p:nvPr/>
        </p:nvSpPr>
        <p:spPr>
          <a:xfrm>
            <a:off x="658368" y="3538728"/>
            <a:ext cx="3374136" cy="347472"/>
          </a:xfrm>
          <a:prstGeom prst="rect">
            <a:avLst/>
          </a:prstGeom>
          <a:noFill/>
          <a:ln/>
        </p:spPr>
        <p:txBody>
          <a:bodyPr wrap="square" lIns="0" tIns="0" rIns="0" bIns="0" rtlCol="0" anchor="ctr"/>
          <a:lstStyle/>
          <a:p>
            <a:pPr indent="0" marL="0">
              <a:buNone/>
            </a:pPr>
            <a:r>
              <a:rPr lang="en-US" sz="1200" b="1" dirty="0">
                <a:solidFill>
                  <a:schemeClr val="bg1"/>
                </a:solidFill>
              </a:rPr>
              <a:t>intervention_action</a:t>
            </a:r>
            <a:pPr indent="0" marL="0">
              <a:buNone/>
            </a:pPr>
            <a:r>
              <a:rPr lang="en-US" sz="1200" dirty="0">
                <a:solidFill>
                  <a:schemeClr val="bg1"/>
                </a:solidFill>
              </a:rPr>
              <a:t>  ·  action tentée</a:t>
            </a:r>
            <a:endParaRPr lang="en-US" sz="1200" dirty="0"/>
          </a:p>
        </p:txBody>
      </p:sp>
      <p:graphicFrame>
        <p:nvGraphicFramePr>
          <p:cNvPr id="39" name="colonnes-intervention_action"/>
          <p:cNvGraphicFramePr>
            <a:graphicFrameLocks noGrp="1"/>
          </p:cNvGraphicFramePr>
          <p:nvPr>
            <p:extLst>
              <p:ext uri="{D42A27DB-BD31-4B8C-83A1-F6EECF244321}">
                <p14:modId xmlns:p14="http://schemas.microsoft.com/office/powerpoint/2010/main" val="1579011935"/>
              </p:ext>
            </p:extLst>
          </p:nvPr>
        </p:nvGraphicFramePr>
        <p:xfrm>
          <a:off x="548640" y="3904488"/>
          <a:ext cx="3593592" cy="914400"/>
        </p:xfrm>
        <a:graphic>
          <a:graphicData uri="http://schemas.openxmlformats.org/drawingml/2006/table">
            <a:tbl>
              <a:tblPr/>
              <a:tblGrid>
                <a:gridCol w="1976476"/>
                <a:gridCol w="1617116"/>
              </a:tblGrid>
              <a:tr h="228600">
                <a:tc>
                  <a:txBody>
                    <a:bodyPr/>
                    <a:lstStyle/>
                    <a:p>
                      <a:pPr indent="0" marL="0">
                        <a:buNone/>
                      </a:pPr>
                      <a:r>
                        <a:rPr lang="en-US" sz="1000" b="1" dirty="0">
                          <a:solidFill>
                            <a:srgbClr val="BA7517"/>
                          </a:solidFill>
                        </a:rPr>
                        <a:t>PK </a:t>
                      </a:r>
                      <a:pPr indent="0" marL="0">
                        <a:buNone/>
                      </a:pPr>
                      <a:r>
                        <a:rPr lang="en-US" sz="1000" b="1" dirty="0">
                          <a:solidFill>
                            <a:srgbClr val="000000"/>
                          </a:solidFill>
                        </a:rPr>
                        <a:t>intervention_action_id</a:t>
                      </a:r>
                      <a:endParaRPr lang="en-US" sz="100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l'action tentée</a:t>
                      </a:r>
                      <a:endParaRPr lang="en-US" sz="100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28600">
                <a:tc>
                  <a:txBody>
                    <a:bodyPr/>
                    <a:lstStyle/>
                    <a:p>
                      <a:pPr indent="0" marL="0">
                        <a:buNone/>
                      </a:pPr>
                      <a:r>
                        <a:rPr lang="en-US" sz="1000" b="1" dirty="0">
                          <a:solidFill>
                            <a:srgbClr val="378ADD"/>
                          </a:solidFill>
                        </a:rPr>
                        <a:t>FK </a:t>
                      </a:r>
                      <a:pPr indent="0" marL="0">
                        <a:buNone/>
                      </a:pPr>
                      <a:r>
                        <a:rPr lang="en-US" sz="1000" b="1" dirty="0">
                          <a:solidFill>
                            <a:srgbClr val="000000"/>
                          </a:solidFill>
                        </a:rPr>
                        <a:t>intervention_id</a:t>
                      </a:r>
                      <a:endParaRPr lang="en-US" sz="100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intervention</a:t>
                      </a:r>
                      <a:endParaRPr lang="en-US" sz="100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28600">
                <a:tc>
                  <a:txBody>
                    <a:bodyPr/>
                    <a:lstStyle/>
                    <a:p>
                      <a:pPr indent="0" marL="0">
                        <a:buNone/>
                      </a:pPr>
                      <a:r>
                        <a:rPr lang="en-US" sz="1000" b="1" dirty="0">
                          <a:solidFill>
                            <a:srgbClr val="378ADD"/>
                          </a:solidFill>
                        </a:rPr>
                        <a:t>FK </a:t>
                      </a:r>
                      <a:pPr indent="0" marL="0">
                        <a:buNone/>
                      </a:pPr>
                      <a:r>
                        <a:rPr lang="en-US" sz="1000" b="1" dirty="0">
                          <a:solidFill>
                            <a:srgbClr val="000000"/>
                          </a:solidFill>
                        </a:rPr>
                        <a:t>action_id</a:t>
                      </a:r>
                      <a:endParaRPr lang="en-US" sz="100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action officielle</a:t>
                      </a:r>
                      <a:endParaRPr lang="en-US" sz="100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28600">
                <a:tc>
                  <a:txBody>
                    <a:bodyPr/>
                    <a:lstStyle/>
                    <a:p>
                      <a:pPr indent="0" marL="0">
                        <a:buNone/>
                      </a:pPr>
                      <a:r>
                        <a:rPr lang="en-US" sz="1000" b="1" dirty="0">
                          <a:solidFill>
                            <a:srgbClr val="378ADD"/>
                          </a:solidFill>
                        </a:rPr>
                        <a:t>FK </a:t>
                      </a:r>
                      <a:pPr indent="0" marL="0">
                        <a:buNone/>
                      </a:pPr>
                      <a:r>
                        <a:rPr lang="en-US" sz="1000" b="1" dirty="0">
                          <a:solidFill>
                            <a:srgbClr val="000000"/>
                          </a:solidFill>
                        </a:rPr>
                        <a:t>targets_symptom_id</a:t>
                      </a:r>
                      <a:endParaRPr lang="en-US" sz="100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symptôme visé</a:t>
                      </a:r>
                      <a:endParaRPr lang="en-US" sz="100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28600">
                <a:tc>
                  <a:txBody>
                    <a:bodyPr/>
                    <a:lstStyle/>
                    <a:p>
                      <a:pPr indent="0" marL="0">
                        <a:buNone/>
                      </a:pPr>
                      <a:r>
                        <a:rPr lang="en-US" sz="1000" b="1" dirty="0">
                          <a:solidFill>
                            <a:srgbClr val="000000"/>
                          </a:solidFill>
                        </a:rPr>
                        <a:t>raw_text</a:t>
                      </a:r>
                      <a:endParaRPr lang="en-US" sz="100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texte du technicien</a:t>
                      </a:r>
                      <a:endParaRPr lang="en-US" sz="100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28600">
                <a:tc>
                  <a:txBody>
                    <a:bodyPr/>
                    <a:lstStyle/>
                    <a:p>
                      <a:pPr indent="0" marL="0">
                        <a:buNone/>
                      </a:pPr>
                      <a:r>
                        <a:rPr lang="en-US" sz="1000" b="1" dirty="0">
                          <a:solidFill>
                            <a:srgbClr val="000000"/>
                          </a:solidFill>
                        </a:rPr>
                        <a:t>sequence_order</a:t>
                      </a:r>
                      <a:endParaRPr lang="en-US" sz="100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ordre de l'essai</a:t>
                      </a:r>
                      <a:endParaRPr lang="en-US" sz="100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28600">
                <a:tc>
                  <a:txBody>
                    <a:bodyPr/>
                    <a:lstStyle/>
                    <a:p>
                      <a:pPr indent="0" marL="0">
                        <a:buNone/>
                      </a:pPr>
                      <a:r>
                        <a:rPr lang="en-US" sz="1000" b="1" dirty="0">
                          <a:solidFill>
                            <a:srgbClr val="000000"/>
                          </a:solidFill>
                        </a:rPr>
                        <a:t>result_description</a:t>
                      </a:r>
                      <a:endParaRPr lang="en-US" sz="100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ce qui s'est passé</a:t>
                      </a:r>
                      <a:endParaRPr lang="en-US" sz="100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28600">
                <a:tc>
                  <a:txBody>
                    <a:bodyPr/>
                    <a:lstStyle/>
                    <a:p>
                      <a:pPr indent="0" marL="0">
                        <a:buNone/>
                      </a:pPr>
                      <a:r>
                        <a:rPr lang="en-US" sz="1000" b="1" dirty="0">
                          <a:solidFill>
                            <a:srgbClr val="000000"/>
                          </a:solidFill>
                        </a:rPr>
                        <a:t>outcome_status</a:t>
                      </a:r>
                      <a:endParaRPr lang="en-US" sz="100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résolu, partiel, sans effet…</a:t>
                      </a:r>
                      <a:endParaRPr lang="en-US" sz="100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28600">
                <a:tc>
                  <a:txBody>
                    <a:bodyPr/>
                    <a:lstStyle/>
                    <a:p>
                      <a:pPr indent="0" marL="0">
                        <a:buNone/>
                      </a:pPr>
                      <a:r>
                        <a:rPr lang="en-US" sz="1000" b="1" dirty="0">
                          <a:solidFill>
                            <a:srgbClr val="000000"/>
                          </a:solidFill>
                        </a:rPr>
                        <a:t>is_confirmed_solution</a:t>
                      </a:r>
                      <a:endParaRPr lang="en-US" sz="100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solution validée ?</a:t>
                      </a:r>
                      <a:endParaRPr lang="en-US" sz="100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bl>
          </a:graphicData>
        </a:graphic>
      </p:graphicFrame>
      <p:sp>
        <p:nvSpPr>
          <p:cNvPr id="13" name="txt-411"/>
          <p:cNvSpPr txBox="1"/>
          <p:nvPr/>
        </p:nvSpPr>
        <p:spPr>
          <a:xfrm>
            <a:off x="4297680" y="1417320"/>
            <a:ext cx="3593592" cy="256032"/>
          </a:xfrm>
          <a:prstGeom prst="rect">
            <a:avLst/>
          </a:prstGeom>
          <a:noFill/>
          <a:ln/>
        </p:spPr>
        <p:txBody>
          <a:bodyPr wrap="square" lIns="0" tIns="0" rIns="0" bIns="0" rtlCol="0" anchor="t"/>
          <a:lstStyle/>
          <a:p>
            <a:pPr indent="0" marL="0">
              <a:buNone/>
            </a:pPr>
            <a:r>
              <a:rPr lang="en-US" sz="1100" b="1" spc="100" kern="0" dirty="0">
                <a:solidFill>
                  <a:srgbClr val="534AB7"/>
                </a:solidFill>
              </a:rPr>
              <a:t>CATALOGUE (liste officielle)</a:t>
            </a:r>
            <a:endParaRPr lang="en-US" sz="1100" dirty="0"/>
          </a:p>
        </p:txBody>
      </p:sp>
      <p:sp>
        <p:nvSpPr>
          <p:cNvPr id="14" name="entete-symptom"/>
          <p:cNvSpPr/>
          <p:nvPr/>
        </p:nvSpPr>
        <p:spPr>
          <a:xfrm>
            <a:off x="4297680" y="1691640"/>
            <a:ext cx="3593592" cy="347472"/>
          </a:xfrm>
          <a:prstGeom prst="roundRect">
            <a:avLst>
              <a:gd name="adj" fmla="val 15789"/>
            </a:avLst>
          </a:prstGeom>
          <a:solidFill>
            <a:srgbClr val="534AB7"/>
          </a:solidFill>
          <a:ln/>
        </p:spPr>
      </p:sp>
      <p:sp>
        <p:nvSpPr>
          <p:cNvPr id="15" name="Text 10"/>
          <p:cNvSpPr txBox="1"/>
          <p:nvPr/>
        </p:nvSpPr>
        <p:spPr>
          <a:xfrm>
            <a:off x="4407408" y="1691640"/>
            <a:ext cx="3374136" cy="347472"/>
          </a:xfrm>
          <a:prstGeom prst="rect">
            <a:avLst/>
          </a:prstGeom>
          <a:noFill/>
          <a:ln/>
        </p:spPr>
        <p:txBody>
          <a:bodyPr wrap="square" lIns="0" tIns="0" rIns="0" bIns="0" rtlCol="0" anchor="ctr"/>
          <a:lstStyle/>
          <a:p>
            <a:pPr indent="0" marL="0">
              <a:buNone/>
            </a:pPr>
            <a:r>
              <a:rPr lang="en-US" sz="1200" b="1" dirty="0">
                <a:solidFill>
                  <a:schemeClr val="bg1"/>
                </a:solidFill>
              </a:rPr>
              <a:t>symptom</a:t>
            </a:r>
            <a:pPr indent="0" marL="0">
              <a:buNone/>
            </a:pPr>
            <a:r>
              <a:rPr lang="en-US" sz="1200" dirty="0">
                <a:solidFill>
                  <a:schemeClr val="bg1"/>
                </a:solidFill>
              </a:rPr>
              <a:t>  ·  symptôme officiel</a:t>
            </a:r>
            <a:endParaRPr lang="en-US" sz="1200" dirty="0"/>
          </a:p>
        </p:txBody>
      </p:sp>
      <p:graphicFrame>
        <p:nvGraphicFramePr>
          <p:cNvPr id="58" name="colonnes-symptom"/>
          <p:cNvGraphicFramePr>
            <a:graphicFrameLocks noGrp="1"/>
          </p:cNvGraphicFramePr>
          <p:nvPr>
            <p:extLst>
              <p:ext uri="{D42A27DB-BD31-4B8C-83A1-F6EECF244321}">
                <p14:modId xmlns:p14="http://schemas.microsoft.com/office/powerpoint/2010/main" val="1579011935"/>
              </p:ext>
            </p:extLst>
          </p:nvPr>
        </p:nvGraphicFramePr>
        <p:xfrm>
          <a:off x="4297680" y="2057400"/>
          <a:ext cx="3593592" cy="914400"/>
        </p:xfrm>
        <a:graphic>
          <a:graphicData uri="http://schemas.openxmlformats.org/drawingml/2006/table">
            <a:tbl>
              <a:tblPr/>
              <a:tblGrid>
                <a:gridCol w="1617116"/>
                <a:gridCol w="1976476"/>
              </a:tblGrid>
              <a:tr h="228600">
                <a:tc>
                  <a:txBody>
                    <a:bodyPr/>
                    <a:lstStyle/>
                    <a:p>
                      <a:pPr indent="0" marL="0">
                        <a:buNone/>
                      </a:pPr>
                      <a:r>
                        <a:rPr lang="en-US" sz="1000" b="1" dirty="0">
                          <a:solidFill>
                            <a:srgbClr val="BA7517"/>
                          </a:solidFill>
                        </a:rPr>
                        <a:t>PK </a:t>
                      </a:r>
                      <a:pPr indent="0" marL="0">
                        <a:buNone/>
                      </a:pPr>
                      <a:r>
                        <a:rPr lang="en-US" sz="1000" b="1" dirty="0">
                          <a:solidFill>
                            <a:srgbClr val="000000"/>
                          </a:solidFill>
                        </a:rPr>
                        <a:t>symptom_id</a:t>
                      </a:r>
                      <a:endParaRPr lang="en-US" sz="100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le symptôme</a:t>
                      </a:r>
                      <a:endParaRPr lang="en-US" sz="100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28600">
                <a:tc>
                  <a:txBody>
                    <a:bodyPr/>
                    <a:lstStyle/>
                    <a:p>
                      <a:pPr indent="0" marL="0">
                        <a:buNone/>
                      </a:pPr>
                      <a:r>
                        <a:rPr lang="en-US" sz="1000" b="1" dirty="0">
                          <a:solidFill>
                            <a:srgbClr val="000000"/>
                          </a:solidFill>
                        </a:rPr>
                        <a:t>canonical_text</a:t>
                      </a:r>
                      <a:endParaRPr lang="en-US" sz="100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libellé officiel</a:t>
                      </a:r>
                      <a:endParaRPr lang="en-US" sz="100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28600">
                <a:tc>
                  <a:txBody>
                    <a:bodyPr/>
                    <a:lstStyle/>
                    <a:p>
                      <a:pPr indent="0" marL="0">
                        <a:buNone/>
                      </a:pPr>
                      <a:r>
                        <a:rPr lang="en-US" sz="1000" b="1" dirty="0">
                          <a:solidFill>
                            <a:srgbClr val="378ADD"/>
                          </a:solidFill>
                        </a:rPr>
                        <a:t>FK </a:t>
                      </a:r>
                      <a:pPr indent="0" marL="0">
                        <a:buNone/>
                      </a:pPr>
                      <a:r>
                        <a:rPr lang="en-US" sz="1000" b="1" dirty="0">
                          <a:solidFill>
                            <a:srgbClr val="000000"/>
                          </a:solidFill>
                        </a:rPr>
                        <a:t>component_id</a:t>
                      </a:r>
                      <a:endParaRPr lang="en-US" sz="100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composant concerné</a:t>
                      </a:r>
                      <a:endParaRPr lang="en-US" sz="100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bl>
          </a:graphicData>
        </a:graphic>
      </p:graphicFrame>
      <p:sp>
        <p:nvSpPr>
          <p:cNvPr id="17" name="entete-action"/>
          <p:cNvSpPr/>
          <p:nvPr/>
        </p:nvSpPr>
        <p:spPr>
          <a:xfrm>
            <a:off x="4297680" y="2852928"/>
            <a:ext cx="3593592" cy="347472"/>
          </a:xfrm>
          <a:prstGeom prst="roundRect">
            <a:avLst>
              <a:gd name="adj" fmla="val 15789"/>
            </a:avLst>
          </a:prstGeom>
          <a:solidFill>
            <a:srgbClr val="534AB7"/>
          </a:solidFill>
          <a:ln/>
        </p:spPr>
      </p:sp>
      <p:sp>
        <p:nvSpPr>
          <p:cNvPr id="18" name="Text 12"/>
          <p:cNvSpPr txBox="1"/>
          <p:nvPr/>
        </p:nvSpPr>
        <p:spPr>
          <a:xfrm>
            <a:off x="4407408" y="2852928"/>
            <a:ext cx="3374136" cy="347472"/>
          </a:xfrm>
          <a:prstGeom prst="rect">
            <a:avLst/>
          </a:prstGeom>
          <a:noFill/>
          <a:ln/>
        </p:spPr>
        <p:txBody>
          <a:bodyPr wrap="square" lIns="0" tIns="0" rIns="0" bIns="0" rtlCol="0" anchor="ctr"/>
          <a:lstStyle/>
          <a:p>
            <a:pPr indent="0" marL="0">
              <a:buNone/>
            </a:pPr>
            <a:r>
              <a:rPr lang="en-US" sz="1200" b="1" dirty="0">
                <a:solidFill>
                  <a:schemeClr val="bg1"/>
                </a:solidFill>
              </a:rPr>
              <a:t>action</a:t>
            </a:r>
            <a:pPr indent="0" marL="0">
              <a:buNone/>
            </a:pPr>
            <a:r>
              <a:rPr lang="en-US" sz="1200" dirty="0">
                <a:solidFill>
                  <a:schemeClr val="bg1"/>
                </a:solidFill>
              </a:rPr>
              <a:t>  ·  action officielle</a:t>
            </a:r>
            <a:endParaRPr lang="en-US" sz="1200" dirty="0"/>
          </a:p>
        </p:txBody>
      </p:sp>
      <p:graphicFrame>
        <p:nvGraphicFramePr>
          <p:cNvPr id="77" name="colonnes-action"/>
          <p:cNvGraphicFramePr>
            <a:graphicFrameLocks noGrp="1"/>
          </p:cNvGraphicFramePr>
          <p:nvPr>
            <p:extLst>
              <p:ext uri="{D42A27DB-BD31-4B8C-83A1-F6EECF244321}">
                <p14:modId xmlns:p14="http://schemas.microsoft.com/office/powerpoint/2010/main" val="1579011935"/>
              </p:ext>
            </p:extLst>
          </p:nvPr>
        </p:nvGraphicFramePr>
        <p:xfrm>
          <a:off x="4297680" y="3218688"/>
          <a:ext cx="3593592" cy="914400"/>
        </p:xfrm>
        <a:graphic>
          <a:graphicData uri="http://schemas.openxmlformats.org/drawingml/2006/table">
            <a:tbl>
              <a:tblPr/>
              <a:tblGrid>
                <a:gridCol w="1617116"/>
                <a:gridCol w="1976476"/>
              </a:tblGrid>
              <a:tr h="228600">
                <a:tc>
                  <a:txBody>
                    <a:bodyPr/>
                    <a:lstStyle/>
                    <a:p>
                      <a:pPr indent="0" marL="0">
                        <a:buNone/>
                      </a:pPr>
                      <a:r>
                        <a:rPr lang="en-US" sz="1000" b="1" dirty="0">
                          <a:solidFill>
                            <a:srgbClr val="BA7517"/>
                          </a:solidFill>
                        </a:rPr>
                        <a:t>PK </a:t>
                      </a:r>
                      <a:pPr indent="0" marL="0">
                        <a:buNone/>
                      </a:pPr>
                      <a:r>
                        <a:rPr lang="en-US" sz="1000" b="1" dirty="0">
                          <a:solidFill>
                            <a:srgbClr val="000000"/>
                          </a:solidFill>
                        </a:rPr>
                        <a:t>action_id</a:t>
                      </a:r>
                      <a:endParaRPr lang="en-US" sz="100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l'action</a:t>
                      </a:r>
                      <a:endParaRPr lang="en-US" sz="100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28600">
                <a:tc>
                  <a:txBody>
                    <a:bodyPr/>
                    <a:lstStyle/>
                    <a:p>
                      <a:pPr indent="0" marL="0">
                        <a:buNone/>
                      </a:pPr>
                      <a:r>
                        <a:rPr lang="en-US" sz="1000" b="1" dirty="0">
                          <a:solidFill>
                            <a:srgbClr val="000000"/>
                          </a:solidFill>
                        </a:rPr>
                        <a:t>canonical_text</a:t>
                      </a:r>
                      <a:endParaRPr lang="en-US" sz="100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libellé officiel</a:t>
                      </a:r>
                      <a:endParaRPr lang="en-US" sz="100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28600">
                <a:tc>
                  <a:txBody>
                    <a:bodyPr/>
                    <a:lstStyle/>
                    <a:p>
                      <a:pPr indent="0" marL="0">
                        <a:buNone/>
                      </a:pPr>
                      <a:r>
                        <a:rPr lang="en-US" sz="1000" b="1" dirty="0">
                          <a:solidFill>
                            <a:srgbClr val="378ADD"/>
                          </a:solidFill>
                        </a:rPr>
                        <a:t>FK </a:t>
                      </a:r>
                      <a:pPr indent="0" marL="0">
                        <a:buNone/>
                      </a:pPr>
                      <a:r>
                        <a:rPr lang="en-US" sz="1000" b="1" dirty="0">
                          <a:solidFill>
                            <a:srgbClr val="000000"/>
                          </a:solidFill>
                        </a:rPr>
                        <a:t>component_id</a:t>
                      </a:r>
                      <a:endParaRPr lang="en-US" sz="100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composant concerné</a:t>
                      </a:r>
                      <a:endParaRPr lang="en-US" sz="100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bl>
          </a:graphicData>
        </a:graphic>
      </p:graphicFrame>
      <p:sp>
        <p:nvSpPr>
          <p:cNvPr id="20" name="entete-component"/>
          <p:cNvSpPr/>
          <p:nvPr/>
        </p:nvSpPr>
        <p:spPr>
          <a:xfrm>
            <a:off x="4297680" y="4014216"/>
            <a:ext cx="3593592" cy="347472"/>
          </a:xfrm>
          <a:prstGeom prst="roundRect">
            <a:avLst>
              <a:gd name="adj" fmla="val 15789"/>
            </a:avLst>
          </a:prstGeom>
          <a:solidFill>
            <a:srgbClr val="534AB7"/>
          </a:solidFill>
          <a:ln/>
        </p:spPr>
      </p:sp>
      <p:sp>
        <p:nvSpPr>
          <p:cNvPr id="21" name="Text 14"/>
          <p:cNvSpPr txBox="1"/>
          <p:nvPr/>
        </p:nvSpPr>
        <p:spPr>
          <a:xfrm>
            <a:off x="4407408" y="4014216"/>
            <a:ext cx="3374136" cy="347472"/>
          </a:xfrm>
          <a:prstGeom prst="rect">
            <a:avLst/>
          </a:prstGeom>
          <a:noFill/>
          <a:ln/>
        </p:spPr>
        <p:txBody>
          <a:bodyPr wrap="square" lIns="0" tIns="0" rIns="0" bIns="0" rtlCol="0" anchor="ctr"/>
          <a:lstStyle/>
          <a:p>
            <a:pPr indent="0" marL="0">
              <a:buNone/>
            </a:pPr>
            <a:r>
              <a:rPr lang="en-US" sz="1200" b="1" dirty="0">
                <a:solidFill>
                  <a:schemeClr val="bg1"/>
                </a:solidFill>
              </a:rPr>
              <a:t>component</a:t>
            </a:r>
            <a:pPr indent="0" marL="0">
              <a:buNone/>
            </a:pPr>
            <a:r>
              <a:rPr lang="en-US" sz="1200" dirty="0">
                <a:solidFill>
                  <a:schemeClr val="bg1"/>
                </a:solidFill>
              </a:rPr>
              <a:t>  ·  composant</a:t>
            </a:r>
            <a:endParaRPr lang="en-US" sz="1200" dirty="0"/>
          </a:p>
        </p:txBody>
      </p:sp>
      <p:graphicFrame>
        <p:nvGraphicFramePr>
          <p:cNvPr id="96" name="colonnes-component"/>
          <p:cNvGraphicFramePr>
            <a:graphicFrameLocks noGrp="1"/>
          </p:cNvGraphicFramePr>
          <p:nvPr>
            <p:extLst>
              <p:ext uri="{D42A27DB-BD31-4B8C-83A1-F6EECF244321}">
                <p14:modId xmlns:p14="http://schemas.microsoft.com/office/powerpoint/2010/main" val="1579011935"/>
              </p:ext>
            </p:extLst>
          </p:nvPr>
        </p:nvGraphicFramePr>
        <p:xfrm>
          <a:off x="4297680" y="4379976"/>
          <a:ext cx="3593592" cy="914400"/>
        </p:xfrm>
        <a:graphic>
          <a:graphicData uri="http://schemas.openxmlformats.org/drawingml/2006/table">
            <a:tbl>
              <a:tblPr/>
              <a:tblGrid>
                <a:gridCol w="1617116"/>
                <a:gridCol w="1976476"/>
              </a:tblGrid>
              <a:tr h="228600">
                <a:tc>
                  <a:txBody>
                    <a:bodyPr/>
                    <a:lstStyle/>
                    <a:p>
                      <a:pPr indent="0" marL="0">
                        <a:buNone/>
                      </a:pPr>
                      <a:r>
                        <a:rPr lang="en-US" sz="1000" b="1" dirty="0">
                          <a:solidFill>
                            <a:srgbClr val="BA7517"/>
                          </a:solidFill>
                        </a:rPr>
                        <a:t>PK </a:t>
                      </a:r>
                      <a:pPr indent="0" marL="0">
                        <a:buNone/>
                      </a:pPr>
                      <a:r>
                        <a:rPr lang="en-US" sz="1000" b="1" dirty="0">
                          <a:solidFill>
                            <a:srgbClr val="000000"/>
                          </a:solidFill>
                        </a:rPr>
                        <a:t>component_id</a:t>
                      </a:r>
                      <a:endParaRPr lang="en-US" sz="100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le composant</a:t>
                      </a:r>
                      <a:endParaRPr lang="en-US" sz="100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28600">
                <a:tc>
                  <a:txBody>
                    <a:bodyPr/>
                    <a:lstStyle/>
                    <a:p>
                      <a:pPr indent="0" marL="0">
                        <a:buNone/>
                      </a:pPr>
                      <a:r>
                        <a:rPr lang="en-US" sz="1000" b="1" dirty="0">
                          <a:solidFill>
                            <a:srgbClr val="639922"/>
                          </a:solidFill>
                        </a:rPr>
                        <a:t>UK </a:t>
                      </a:r>
                      <a:pPr indent="0" marL="0">
                        <a:buNone/>
                      </a:pPr>
                      <a:r>
                        <a:rPr lang="en-US" sz="1000" b="1" dirty="0">
                          <a:solidFill>
                            <a:srgbClr val="000000"/>
                          </a:solidFill>
                        </a:rPr>
                        <a:t>name</a:t>
                      </a:r>
                      <a:endParaRPr lang="en-US" sz="100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lecteur, imprimante… (unique)</a:t>
                      </a:r>
                      <a:endParaRPr lang="en-US" sz="100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bl>
          </a:graphicData>
        </a:graphic>
      </p:graphicFrame>
      <p:sp>
        <p:nvSpPr>
          <p:cNvPr id="23" name="txt-412"/>
          <p:cNvSpPr txBox="1"/>
          <p:nvPr/>
        </p:nvSpPr>
        <p:spPr>
          <a:xfrm>
            <a:off x="8046720" y="1417320"/>
            <a:ext cx="3593592" cy="256032"/>
          </a:xfrm>
          <a:prstGeom prst="rect">
            <a:avLst/>
          </a:prstGeom>
          <a:noFill/>
          <a:ln/>
        </p:spPr>
        <p:txBody>
          <a:bodyPr wrap="square" lIns="0" tIns="0" rIns="0" bIns="0" rtlCol="0" anchor="t"/>
          <a:lstStyle/>
          <a:p>
            <a:pPr indent="0" marL="0">
              <a:buNone/>
            </a:pPr>
            <a:r>
              <a:rPr lang="en-US" sz="1100" b="1" spc="100" kern="0" dirty="0">
                <a:solidFill>
                  <a:srgbClr val="534AB7"/>
                </a:solidFill>
              </a:rPr>
              <a:t>CAUSE (facultatif)</a:t>
            </a:r>
            <a:endParaRPr lang="en-US" sz="1100" dirty="0"/>
          </a:p>
        </p:txBody>
      </p:sp>
      <p:sp>
        <p:nvSpPr>
          <p:cNvPr id="24" name="entete-diagnosis"/>
          <p:cNvSpPr/>
          <p:nvPr/>
        </p:nvSpPr>
        <p:spPr>
          <a:xfrm>
            <a:off x="8046720" y="1691640"/>
            <a:ext cx="3593592" cy="347472"/>
          </a:xfrm>
          <a:prstGeom prst="roundRect">
            <a:avLst>
              <a:gd name="adj" fmla="val 15789"/>
            </a:avLst>
          </a:prstGeom>
          <a:solidFill>
            <a:srgbClr val="534AB7"/>
          </a:solidFill>
          <a:ln/>
        </p:spPr>
      </p:sp>
      <p:sp>
        <p:nvSpPr>
          <p:cNvPr id="25" name="Text 17"/>
          <p:cNvSpPr txBox="1"/>
          <p:nvPr/>
        </p:nvSpPr>
        <p:spPr>
          <a:xfrm>
            <a:off x="8156448" y="1691640"/>
            <a:ext cx="3374136" cy="347472"/>
          </a:xfrm>
          <a:prstGeom prst="rect">
            <a:avLst/>
          </a:prstGeom>
          <a:noFill/>
          <a:ln/>
        </p:spPr>
        <p:txBody>
          <a:bodyPr wrap="square" lIns="0" tIns="0" rIns="0" bIns="0" rtlCol="0" anchor="ctr"/>
          <a:lstStyle/>
          <a:p>
            <a:pPr indent="0" marL="0">
              <a:buNone/>
            </a:pPr>
            <a:r>
              <a:rPr lang="en-US" sz="1200" b="1" dirty="0">
                <a:solidFill>
                  <a:schemeClr val="bg1"/>
                </a:solidFill>
              </a:rPr>
              <a:t>diagnosis</a:t>
            </a:r>
            <a:pPr indent="0" marL="0">
              <a:buNone/>
            </a:pPr>
            <a:r>
              <a:rPr lang="en-US" sz="1200" dirty="0">
                <a:solidFill>
                  <a:schemeClr val="bg1"/>
                </a:solidFill>
              </a:rPr>
              <a:t>  ·  le pourquoi</a:t>
            </a:r>
            <a:endParaRPr lang="en-US" sz="1200" dirty="0"/>
          </a:p>
        </p:txBody>
      </p:sp>
      <p:graphicFrame>
        <p:nvGraphicFramePr>
          <p:cNvPr id="115" name="colonnes-diagnosis"/>
          <p:cNvGraphicFramePr>
            <a:graphicFrameLocks noGrp="1"/>
          </p:cNvGraphicFramePr>
          <p:nvPr>
            <p:extLst>
              <p:ext uri="{D42A27DB-BD31-4B8C-83A1-F6EECF244321}">
                <p14:modId xmlns:p14="http://schemas.microsoft.com/office/powerpoint/2010/main" val="1579011935"/>
              </p:ext>
            </p:extLst>
          </p:nvPr>
        </p:nvGraphicFramePr>
        <p:xfrm>
          <a:off x="8046720" y="2057400"/>
          <a:ext cx="3593592" cy="914400"/>
        </p:xfrm>
        <a:graphic>
          <a:graphicData uri="http://schemas.openxmlformats.org/drawingml/2006/table">
            <a:tbl>
              <a:tblPr/>
              <a:tblGrid>
                <a:gridCol w="2084283"/>
                <a:gridCol w="1509309"/>
              </a:tblGrid>
              <a:tr h="228600">
                <a:tc>
                  <a:txBody>
                    <a:bodyPr/>
                    <a:lstStyle/>
                    <a:p>
                      <a:pPr indent="0" marL="0">
                        <a:buNone/>
                      </a:pPr>
                      <a:r>
                        <a:rPr lang="en-US" sz="1000" b="1" dirty="0">
                          <a:solidFill>
                            <a:srgbClr val="BA7517"/>
                          </a:solidFill>
                        </a:rPr>
                        <a:t>PK </a:t>
                      </a:r>
                      <a:pPr indent="0" marL="0">
                        <a:buNone/>
                      </a:pPr>
                      <a:r>
                        <a:rPr lang="en-US" sz="1000" b="1" dirty="0">
                          <a:solidFill>
                            <a:srgbClr val="000000"/>
                          </a:solidFill>
                        </a:rPr>
                        <a:t>diagnosis_id</a:t>
                      </a:r>
                      <a:endParaRPr lang="en-US" sz="100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le diagnostic</a:t>
                      </a:r>
                      <a:endParaRPr lang="en-US" sz="100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28600">
                <a:tc>
                  <a:txBody>
                    <a:bodyPr/>
                    <a:lstStyle/>
                    <a:p>
                      <a:pPr indent="0" marL="0">
                        <a:buNone/>
                      </a:pPr>
                      <a:r>
                        <a:rPr lang="en-US" sz="1000" b="1" dirty="0">
                          <a:solidFill>
                            <a:srgbClr val="378ADD"/>
                          </a:solidFill>
                        </a:rPr>
                        <a:t>FK </a:t>
                      </a:r>
                      <a:pPr indent="0" marL="0">
                        <a:buNone/>
                      </a:pPr>
                      <a:r>
                        <a:rPr lang="en-US" sz="1000" b="1" dirty="0">
                          <a:solidFill>
                            <a:srgbClr val="000000"/>
                          </a:solidFill>
                        </a:rPr>
                        <a:t>intervention_id</a:t>
                      </a:r>
                      <a:endParaRPr lang="en-US" sz="100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intervention</a:t>
                      </a:r>
                      <a:endParaRPr lang="en-US" sz="100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28600">
                <a:tc>
                  <a:txBody>
                    <a:bodyPr/>
                    <a:lstStyle/>
                    <a:p>
                      <a:pPr indent="0" marL="0">
                        <a:buNone/>
                      </a:pPr>
                      <a:r>
                        <a:rPr lang="en-US" sz="1000" b="1" dirty="0">
                          <a:solidFill>
                            <a:srgbClr val="000000"/>
                          </a:solidFill>
                        </a:rPr>
                        <a:t>description</a:t>
                      </a:r>
                      <a:endParaRPr lang="en-US" sz="100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cause expliquée</a:t>
                      </a:r>
                      <a:endParaRPr lang="en-US" sz="100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28600">
                <a:tc>
                  <a:txBody>
                    <a:bodyPr/>
                    <a:lstStyle/>
                    <a:p>
                      <a:pPr indent="0" marL="0">
                        <a:buNone/>
                      </a:pPr>
                      <a:r>
                        <a:rPr lang="en-US" sz="1000" b="1" dirty="0">
                          <a:solidFill>
                            <a:srgbClr val="378ADD"/>
                          </a:solidFill>
                        </a:rPr>
                        <a:t>FK </a:t>
                      </a:r>
                      <a:pPr indent="0" marL="0">
                        <a:buNone/>
                      </a:pPr>
                      <a:r>
                        <a:rPr lang="en-US" sz="1000" b="1" dirty="0">
                          <a:solidFill>
                            <a:srgbClr val="000000"/>
                          </a:solidFill>
                        </a:rPr>
                        <a:t>root_cause_component_id</a:t>
                      </a:r>
                      <a:endParaRPr lang="en-US" sz="100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composant en cause</a:t>
                      </a:r>
                      <a:endParaRPr lang="en-US" sz="100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28600">
                <a:tc>
                  <a:txBody>
                    <a:bodyPr/>
                    <a:lstStyle/>
                    <a:p>
                      <a:pPr indent="0" marL="0">
                        <a:buNone/>
                      </a:pPr>
                      <a:r>
                        <a:rPr lang="en-US" sz="1000" b="1" dirty="0">
                          <a:solidFill>
                            <a:srgbClr val="000000"/>
                          </a:solidFill>
                        </a:rPr>
                        <a:t>confirmed</a:t>
                      </a:r>
                      <a:endParaRPr lang="en-US" sz="100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cause confirmée ?</a:t>
                      </a:r>
                      <a:endParaRPr lang="en-US" sz="100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bl>
          </a:graphicData>
        </a:graphic>
      </p:graphicFrame>
      <p:sp>
        <p:nvSpPr>
          <p:cNvPr id="27" name="card-413"/>
          <p:cNvSpPr/>
          <p:nvPr/>
        </p:nvSpPr>
        <p:spPr>
          <a:xfrm>
            <a:off x="8046720" y="3383280"/>
            <a:ext cx="3593592" cy="2788920"/>
          </a:xfrm>
          <a:prstGeom prst="roundRect">
            <a:avLst>
              <a:gd name="adj" fmla="val 3934"/>
            </a:avLst>
          </a:prstGeom>
          <a:solidFill>
            <a:srgbClr val="534AB7">
              <a:alpha val="10000"/>
            </a:srgbClr>
          </a:solidFill>
          <a:ln/>
        </p:spPr>
      </p:sp>
      <p:sp>
        <p:nvSpPr>
          <p:cNvPr id="28" name="txt-414"/>
          <p:cNvSpPr txBox="1"/>
          <p:nvPr/>
        </p:nvSpPr>
        <p:spPr>
          <a:xfrm>
            <a:off x="8229600" y="3493008"/>
            <a:ext cx="3227832" cy="292608"/>
          </a:xfrm>
          <a:prstGeom prst="rect">
            <a:avLst/>
          </a:prstGeom>
          <a:noFill/>
          <a:ln/>
        </p:spPr>
        <p:txBody>
          <a:bodyPr wrap="square" lIns="0" tIns="0" rIns="0" bIns="0" rtlCol="0" anchor="t"/>
          <a:lstStyle/>
          <a:p>
            <a:pPr indent="0" marL="0">
              <a:buNone/>
            </a:pPr>
            <a:r>
              <a:rPr lang="en-US" sz="1350" b="1" dirty="0">
                <a:solidFill>
                  <a:srgbClr val="534AB7"/>
                </a:solidFill>
              </a:rPr>
              <a:t>Les liens</a:t>
            </a:r>
            <a:endParaRPr lang="en-US" sz="1350" dirty="0"/>
          </a:p>
        </p:txBody>
      </p:sp>
      <p:sp>
        <p:nvSpPr>
          <p:cNvPr id="29" name="txt-415"/>
          <p:cNvSpPr txBox="1"/>
          <p:nvPr/>
        </p:nvSpPr>
        <p:spPr>
          <a:xfrm>
            <a:off x="8229600" y="3840480"/>
            <a:ext cx="3227832" cy="224028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rPr>
              <a:t>Une intervention a plusieurs symptômes, actions et diagnostics.</a:t>
            </a:r>
            <a:endParaRPr lang="en-US" sz="1200" dirty="0"/>
          </a:p>
          <a:p>
            <a:pPr marL="342900" indent="-342900">
              <a:spcAft>
                <a:spcPts val="500"/>
              </a:spcAft>
              <a:buSzPct val="100000"/>
              <a:buChar char="•"/>
            </a:pPr>
            <a:r>
              <a:rPr lang="en-US" sz="1200" dirty="0">
                <a:solidFill>
                  <a:schemeClr val="tx1"/>
                </a:solidFill>
              </a:rPr>
              <a:t>Une action peut viser un symptôme précis (targets_symptom_id).</a:t>
            </a:r>
            <a:endParaRPr lang="en-US" sz="1200" dirty="0"/>
          </a:p>
          <a:p>
            <a:pPr marL="342900" indent="-342900">
              <a:spcAft>
                <a:spcPts val="500"/>
              </a:spcAft>
              <a:buSzPct val="100000"/>
              <a:buChar char="•"/>
            </a:pPr>
            <a:r>
              <a:rPr lang="en-US" sz="1200" dirty="0">
                <a:solidFill>
                  <a:schemeClr val="tx1"/>
                </a:solidFill>
              </a:rPr>
              <a:t>symptom_id : le concept officiel. intervention_symptom_id : l'observation précise.</a:t>
            </a:r>
            <a:endParaRPr lang="en-US" sz="12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partie"/>
          <p:cNvSpPr txBox="1"/>
          <p:nvPr/>
        </p:nvSpPr>
        <p:spPr>
          <a:xfrm>
            <a:off x="548640" y="182880"/>
            <a:ext cx="8229600" cy="256032"/>
          </a:xfrm>
          <a:prstGeom prst="rect">
            <a:avLst/>
          </a:prstGeom>
          <a:noFill/>
          <a:ln/>
        </p:spPr>
        <p:txBody>
          <a:bodyPr wrap="square" lIns="0" tIns="0" rIns="0" bIns="0" rtlCol="0" anchor="ctr"/>
          <a:lstStyle/>
          <a:p>
            <a:pPr indent="0" marL="0">
              <a:buNone/>
            </a:pPr>
            <a:r>
              <a:rPr lang="en-US" sz="1100" b="1" spc="150" kern="0" dirty="0">
                <a:solidFill>
                  <a:schemeClr val="accent1"/>
                </a:solidFill>
              </a:rPr>
              <a:t>IV. LA BASE DE DONNÉES</a:t>
            </a:r>
            <a:endParaRPr lang="en-US" sz="1100" dirty="0"/>
          </a:p>
        </p:txBody>
      </p:sp>
      <p:sp>
        <p:nvSpPr>
          <p:cNvPr id="3" name="Text 0"/>
          <p:cNvSpPr/>
          <p:nvPr>
            <p:ph idx="100" type="title" hasCustomPrompt="1"/>
          </p:nvPr>
        </p:nvSpPr>
        <p:spPr>
          <a:xfrm>
            <a:off x="548640" y="438912"/>
            <a:ext cx="11091672" cy="54864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f) Les tables de la recherche et des statistiques</a:t>
            </a:r>
            <a:endParaRPr lang="en-US" sz="2800" dirty="0"/>
          </a:p>
        </p:txBody>
      </p:sp>
      <p:pic>
        <p:nvPicPr>
          <p:cNvPr id="4" name="icone-objectif" descr="preencoded.png">    </p:cNvPr>
          <p:cNvPicPr>
            <a:picLocks noChangeAspect="1"/>
          </p:cNvPicPr>
          <p:nvPr/>
        </p:nvPicPr>
        <p:blipFill>
          <a:blip r:embed="rId1"/>
          <a:stretch>
            <a:fillRect/>
          </a:stretch>
        </p:blipFill>
        <p:spPr>
          <a:xfrm>
            <a:off x="548640" y="1033272"/>
            <a:ext cx="237744" cy="237744"/>
          </a:xfrm>
          <a:prstGeom prst="rect">
            <a:avLst/>
          </a:prstGeom>
        </p:spPr>
      </p:pic>
      <p:sp>
        <p:nvSpPr>
          <p:cNvPr id="5" name="objectif"/>
          <p:cNvSpPr txBox="1"/>
          <p:nvPr/>
        </p:nvSpPr>
        <p:spPr>
          <a:xfrm>
            <a:off x="868680" y="987552"/>
            <a:ext cx="10771632" cy="329184"/>
          </a:xfrm>
          <a:prstGeom prst="rect">
            <a:avLst/>
          </a:prstGeom>
          <a:noFill/>
          <a:ln/>
        </p:spPr>
        <p:txBody>
          <a:bodyPr wrap="square" lIns="0" tIns="0" rIns="0" bIns="0" rtlCol="0" anchor="ctr"/>
          <a:lstStyle/>
          <a:p>
            <a:pPr indent="0" marL="0">
              <a:buNone/>
            </a:pPr>
            <a:r>
              <a:rPr lang="en-US" sz="1400" b="1" i="1" dirty="0">
                <a:solidFill>
                  <a:schemeClr val="tx2"/>
                </a:solidFill>
              </a:rPr>
              <a:t>Objectif : </a:t>
            </a:r>
            <a:pPr indent="0" marL="0">
              <a:buNone/>
            </a:pPr>
            <a:r>
              <a:rPr lang="en-US" sz="1400" i="1" dirty="0">
                <a:solidFill>
                  <a:schemeClr val="tx2"/>
                </a:solidFill>
              </a:rPr>
              <a:t>Voir où sont stockés les vecteurs de recherche et les taux de réussite des actions.</a:t>
            </a:r>
            <a:endParaRPr lang="en-US" sz="1400" dirty="0"/>
          </a:p>
        </p:txBody>
      </p:sp>
      <p:sp>
        <p:nvSpPr>
          <p:cNvPr id="6" name="entete-symptom_action_outcome_stats"/>
          <p:cNvSpPr/>
          <p:nvPr/>
        </p:nvSpPr>
        <p:spPr>
          <a:xfrm>
            <a:off x="548640" y="1463040"/>
            <a:ext cx="5669280" cy="347472"/>
          </a:xfrm>
          <a:prstGeom prst="roundRect">
            <a:avLst>
              <a:gd name="adj" fmla="val 15789"/>
            </a:avLst>
          </a:prstGeom>
          <a:solidFill>
            <a:srgbClr val="993556"/>
          </a:solidFill>
          <a:ln/>
        </p:spPr>
      </p:sp>
      <p:sp>
        <p:nvSpPr>
          <p:cNvPr id="7" name="Text 4"/>
          <p:cNvSpPr txBox="1"/>
          <p:nvPr/>
        </p:nvSpPr>
        <p:spPr>
          <a:xfrm>
            <a:off x="658368" y="1463040"/>
            <a:ext cx="5449824" cy="347472"/>
          </a:xfrm>
          <a:prstGeom prst="rect">
            <a:avLst/>
          </a:prstGeom>
          <a:noFill/>
          <a:ln/>
        </p:spPr>
        <p:txBody>
          <a:bodyPr wrap="square" lIns="0" tIns="0" rIns="0" bIns="0" rtlCol="0" anchor="ctr"/>
          <a:lstStyle/>
          <a:p>
            <a:pPr indent="0" marL="0">
              <a:buNone/>
            </a:pPr>
            <a:r>
              <a:rPr lang="en-US" sz="1200" b="1" dirty="0">
                <a:solidFill>
                  <a:schemeClr val="bg1"/>
                </a:solidFill>
              </a:rPr>
              <a:t>symptom_action_outcome_stats</a:t>
            </a:r>
            <a:pPr indent="0" marL="0">
              <a:buNone/>
            </a:pPr>
            <a:r>
              <a:rPr lang="en-US" sz="1200" dirty="0">
                <a:solidFill>
                  <a:schemeClr val="bg1"/>
                </a:solidFill>
              </a:rPr>
              <a:t>  ·  taux de réussite</a:t>
            </a:r>
            <a:endParaRPr lang="en-US" sz="1200" dirty="0"/>
          </a:p>
        </p:txBody>
      </p:sp>
      <p:graphicFrame>
        <p:nvGraphicFramePr>
          <p:cNvPr id="21" name="colonnes-symptom_action_outcome_stats"/>
          <p:cNvGraphicFramePr>
            <a:graphicFrameLocks noGrp="1"/>
          </p:cNvGraphicFramePr>
          <p:nvPr>
            <p:extLst>
              <p:ext uri="{D42A27DB-BD31-4B8C-83A1-F6EECF244321}">
                <p14:modId xmlns:p14="http://schemas.microsoft.com/office/powerpoint/2010/main" val="1579011935"/>
              </p:ext>
            </p:extLst>
          </p:nvPr>
        </p:nvGraphicFramePr>
        <p:xfrm>
          <a:off x="548640" y="1828800"/>
          <a:ext cx="5669280" cy="914400"/>
        </p:xfrm>
        <a:graphic>
          <a:graphicData uri="http://schemas.openxmlformats.org/drawingml/2006/table">
            <a:tbl>
              <a:tblPr/>
              <a:tblGrid>
                <a:gridCol w="2267712"/>
                <a:gridCol w="3401568"/>
              </a:tblGrid>
              <a:tr h="274320">
                <a:tc>
                  <a:txBody>
                    <a:bodyPr/>
                    <a:lstStyle/>
                    <a:p>
                      <a:pPr indent="0" marL="0">
                        <a:buNone/>
                      </a:pPr>
                      <a:r>
                        <a:rPr lang="en-US" sz="1150" b="1" dirty="0">
                          <a:solidFill>
                            <a:srgbClr val="BA7517"/>
                          </a:solidFill>
                        </a:rPr>
                        <a:t>PK FK </a:t>
                      </a:r>
                      <a:pPr indent="0" marL="0">
                        <a:buNone/>
                      </a:pPr>
                      <a:r>
                        <a:rPr lang="en-US" sz="1150" b="1" dirty="0">
                          <a:solidFill>
                            <a:srgbClr val="000000"/>
                          </a:solidFill>
                        </a:rPr>
                        <a:t>symptom_id</a:t>
                      </a:r>
                      <a:endParaRPr lang="en-US" sz="11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150" dirty="0">
                          <a:solidFill>
                            <a:schemeClr val="tx2"/>
                          </a:solidFill>
                        </a:rPr>
                        <a:t>le symptôme officiel</a:t>
                      </a:r>
                      <a:endParaRPr lang="en-US" sz="11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74320">
                <a:tc>
                  <a:txBody>
                    <a:bodyPr/>
                    <a:lstStyle/>
                    <a:p>
                      <a:pPr indent="0" marL="0">
                        <a:buNone/>
                      </a:pPr>
                      <a:r>
                        <a:rPr lang="en-US" sz="1150" b="1" dirty="0">
                          <a:solidFill>
                            <a:srgbClr val="BA7517"/>
                          </a:solidFill>
                        </a:rPr>
                        <a:t>PK FK </a:t>
                      </a:r>
                      <a:pPr indent="0" marL="0">
                        <a:buNone/>
                      </a:pPr>
                      <a:r>
                        <a:rPr lang="en-US" sz="1150" b="1" dirty="0">
                          <a:solidFill>
                            <a:srgbClr val="000000"/>
                          </a:solidFill>
                        </a:rPr>
                        <a:t>action_id</a:t>
                      </a:r>
                      <a:endParaRPr lang="en-US" sz="11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150" dirty="0">
                          <a:solidFill>
                            <a:schemeClr val="tx2"/>
                          </a:solidFill>
                        </a:rPr>
                        <a:t>l'action officielle</a:t>
                      </a:r>
                      <a:endParaRPr lang="en-US" sz="11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74320">
                <a:tc>
                  <a:txBody>
                    <a:bodyPr/>
                    <a:lstStyle/>
                    <a:p>
                      <a:pPr indent="0" marL="0">
                        <a:buNone/>
                      </a:pPr>
                      <a:r>
                        <a:rPr lang="en-US" sz="1150" b="1" dirty="0">
                          <a:solidFill>
                            <a:srgbClr val="BA7517"/>
                          </a:solidFill>
                        </a:rPr>
                        <a:t>PK </a:t>
                      </a:r>
                      <a:pPr indent="0" marL="0">
                        <a:buNone/>
                      </a:pPr>
                      <a:r>
                        <a:rPr lang="en-US" sz="1150" b="1" dirty="0">
                          <a:solidFill>
                            <a:srgbClr val="000000"/>
                          </a:solidFill>
                        </a:rPr>
                        <a:t>device_type</a:t>
                      </a:r>
                      <a:endParaRPr lang="en-US" sz="11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150" dirty="0">
                          <a:solidFill>
                            <a:schemeClr val="tx2"/>
                          </a:solidFill>
                        </a:rPr>
                        <a:t>gab ou tpe</a:t>
                      </a:r>
                      <a:endParaRPr lang="en-US" sz="11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74320">
                <a:tc>
                  <a:txBody>
                    <a:bodyPr/>
                    <a:lstStyle/>
                    <a:p>
                      <a:pPr indent="0" marL="0">
                        <a:buNone/>
                      </a:pPr>
                      <a:r>
                        <a:rPr lang="en-US" sz="1150" b="1" dirty="0">
                          <a:solidFill>
                            <a:srgbClr val="000000"/>
                          </a:solidFill>
                        </a:rPr>
                        <a:t>attempts</a:t>
                      </a:r>
                      <a:endParaRPr lang="en-US" sz="11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150" dirty="0">
                          <a:solidFill>
                            <a:schemeClr val="tx2"/>
                          </a:solidFill>
                        </a:rPr>
                        <a:t>nombre de fois où l'action a été tentée</a:t>
                      </a:r>
                      <a:endParaRPr lang="en-US" sz="11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74320">
                <a:tc>
                  <a:txBody>
                    <a:bodyPr/>
                    <a:lstStyle/>
                    <a:p>
                      <a:pPr indent="0" marL="0">
                        <a:buNone/>
                      </a:pPr>
                      <a:r>
                        <a:rPr lang="en-US" sz="1150" b="1" dirty="0">
                          <a:solidFill>
                            <a:srgbClr val="000000"/>
                          </a:solidFill>
                        </a:rPr>
                        <a:t>successes</a:t>
                      </a:r>
                      <a:endParaRPr lang="en-US" sz="11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150" dirty="0">
                          <a:solidFill>
                            <a:schemeClr val="tx2"/>
                          </a:solidFill>
                        </a:rPr>
                        <a:t>nombre de fois où elle a résolu la panne</a:t>
                      </a:r>
                      <a:endParaRPr lang="en-US" sz="11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74320">
                <a:tc>
                  <a:txBody>
                    <a:bodyPr/>
                    <a:lstStyle/>
                    <a:p>
                      <a:pPr indent="0" marL="0">
                        <a:buNone/>
                      </a:pPr>
                      <a:r>
                        <a:rPr lang="en-US" sz="1150" b="1" dirty="0">
                          <a:solidFill>
                            <a:srgbClr val="000000"/>
                          </a:solidFill>
                        </a:rPr>
                        <a:t>accuracy_score</a:t>
                      </a:r>
                      <a:endParaRPr lang="en-US" sz="11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150" dirty="0">
                          <a:solidFill>
                            <a:schemeClr val="tx2"/>
                          </a:solidFill>
                        </a:rPr>
                        <a:t>score de réussite (entre 0 et 1)</a:t>
                      </a:r>
                      <a:endParaRPr lang="en-US" sz="11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74320">
                <a:tc>
                  <a:txBody>
                    <a:bodyPr/>
                    <a:lstStyle/>
                    <a:p>
                      <a:pPr indent="0" marL="0">
                        <a:buNone/>
                      </a:pPr>
                      <a:r>
                        <a:rPr lang="en-US" sz="1150" b="1" dirty="0">
                          <a:solidFill>
                            <a:srgbClr val="000000"/>
                          </a:solidFill>
                        </a:rPr>
                        <a:t>last_computed_at</a:t>
                      </a:r>
                      <a:endParaRPr lang="en-US" sz="11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150" dirty="0">
                          <a:solidFill>
                            <a:schemeClr val="tx2"/>
                          </a:solidFill>
                        </a:rPr>
                        <a:t>date du dernier calcul</a:t>
                      </a:r>
                      <a:endParaRPr lang="en-US" sz="11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bl>
          </a:graphicData>
        </a:graphic>
      </p:graphicFrame>
      <p:sp>
        <p:nvSpPr>
          <p:cNvPr id="9" name="card-416"/>
          <p:cNvSpPr/>
          <p:nvPr/>
        </p:nvSpPr>
        <p:spPr>
          <a:xfrm>
            <a:off x="548640" y="4206240"/>
            <a:ext cx="5669280" cy="1965960"/>
          </a:xfrm>
          <a:prstGeom prst="roundRect">
            <a:avLst>
              <a:gd name="adj" fmla="val 5581"/>
            </a:avLst>
          </a:prstGeom>
          <a:solidFill>
            <a:srgbClr val="993556">
              <a:alpha val="10000"/>
            </a:srgbClr>
          </a:solidFill>
          <a:ln/>
        </p:spPr>
      </p:sp>
      <p:sp>
        <p:nvSpPr>
          <p:cNvPr id="10" name="txt-417"/>
          <p:cNvSpPr txBox="1"/>
          <p:nvPr/>
        </p:nvSpPr>
        <p:spPr>
          <a:xfrm>
            <a:off x="731520" y="4315968"/>
            <a:ext cx="5303520" cy="292608"/>
          </a:xfrm>
          <a:prstGeom prst="rect">
            <a:avLst/>
          </a:prstGeom>
          <a:noFill/>
          <a:ln/>
        </p:spPr>
        <p:txBody>
          <a:bodyPr wrap="square" lIns="0" tIns="0" rIns="0" bIns="0" rtlCol="0" anchor="t"/>
          <a:lstStyle/>
          <a:p>
            <a:pPr indent="0" marL="0">
              <a:buNone/>
            </a:pPr>
            <a:r>
              <a:rPr lang="en-US" sz="1350" b="1" dirty="0">
                <a:solidFill>
                  <a:srgbClr val="993556"/>
                </a:solidFill>
              </a:rPr>
              <a:t>Comment lire une ligne</a:t>
            </a:r>
            <a:endParaRPr lang="en-US" sz="1350" dirty="0"/>
          </a:p>
        </p:txBody>
      </p:sp>
      <p:sp>
        <p:nvSpPr>
          <p:cNvPr id="11" name="txt-418"/>
          <p:cNvSpPr txBox="1"/>
          <p:nvPr/>
        </p:nvSpPr>
        <p:spPr>
          <a:xfrm>
            <a:off x="731520" y="4663440"/>
            <a:ext cx="5303520" cy="14173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rPr>
              <a:t>Une ligne = un symptôme × une action × un type d'équipement.</a:t>
            </a:r>
            <a:endParaRPr lang="en-US" sz="1200" dirty="0"/>
          </a:p>
          <a:p>
            <a:pPr marL="342900" indent="-342900">
              <a:spcAft>
                <a:spcPts val="500"/>
              </a:spcAft>
              <a:buSzPct val="100000"/>
              <a:buChar char="•"/>
            </a:pPr>
            <a:r>
              <a:rPr lang="en-US" sz="1200" dirty="0">
                <a:solidFill>
                  <a:schemeClr val="tx1"/>
                </a:solidFill>
              </a:rPr>
              <a:t>Une action peut réussir sur un GAB et échouer sur un TPE : on ne mélange pas les deux.</a:t>
            </a:r>
            <a:endParaRPr lang="en-US" sz="1200" dirty="0"/>
          </a:p>
          <a:p>
            <a:pPr marL="342900" indent="-342900">
              <a:spcAft>
                <a:spcPts val="500"/>
              </a:spcAft>
              <a:buSzPct val="100000"/>
              <a:buChar char="•"/>
            </a:pPr>
            <a:r>
              <a:rPr lang="en-US" sz="1200" dirty="0">
                <a:solidFill>
                  <a:schemeClr val="tx1"/>
                </a:solidFill>
              </a:rPr>
              <a:t>Ces chiffres servent à classer les solutions proposées.</a:t>
            </a:r>
            <a:endParaRPr lang="en-US" sz="1200" dirty="0"/>
          </a:p>
        </p:txBody>
      </p:sp>
      <p:sp>
        <p:nvSpPr>
          <p:cNvPr id="12" name="card-419"/>
          <p:cNvSpPr/>
          <p:nvPr/>
        </p:nvSpPr>
        <p:spPr>
          <a:xfrm>
            <a:off x="6519672" y="1463040"/>
            <a:ext cx="5120640" cy="4709160"/>
          </a:xfrm>
          <a:prstGeom prst="roundRect">
            <a:avLst>
              <a:gd name="adj" fmla="val 2330"/>
            </a:avLst>
          </a:prstGeom>
          <a:solidFill>
            <a:schemeClr val="bg2"/>
          </a:solidFill>
          <a:ln/>
        </p:spPr>
      </p:sp>
      <p:sp>
        <p:nvSpPr>
          <p:cNvPr id="13" name="pastille-420"/>
          <p:cNvSpPr/>
          <p:nvPr/>
        </p:nvSpPr>
        <p:spPr>
          <a:xfrm>
            <a:off x="6748272" y="1645920"/>
            <a:ext cx="548640" cy="548640"/>
          </a:xfrm>
          <a:prstGeom prst="ellipse">
            <a:avLst/>
          </a:prstGeom>
          <a:solidFill>
            <a:srgbClr val="993556"/>
          </a:solidFill>
          <a:ln/>
        </p:spPr>
      </p:sp>
      <p:pic>
        <p:nvPicPr>
          <p:cNvPr id="14" name="icone-421" descr="preencoded.png">    </p:cNvPr>
          <p:cNvPicPr>
            <a:picLocks noChangeAspect="1"/>
          </p:cNvPicPr>
          <p:nvPr/>
        </p:nvPicPr>
        <p:blipFill>
          <a:blip r:embed="rId2"/>
          <a:stretch>
            <a:fillRect/>
          </a:stretch>
        </p:blipFill>
        <p:spPr>
          <a:xfrm>
            <a:off x="6868973" y="1766621"/>
            <a:ext cx="307238" cy="307238"/>
          </a:xfrm>
          <a:prstGeom prst="rect">
            <a:avLst/>
          </a:prstGeom>
        </p:spPr>
      </p:pic>
      <p:sp>
        <p:nvSpPr>
          <p:cNvPr id="15" name="txt-422"/>
          <p:cNvSpPr txBox="1"/>
          <p:nvPr/>
        </p:nvSpPr>
        <p:spPr>
          <a:xfrm>
            <a:off x="7452360" y="1600200"/>
            <a:ext cx="4023360" cy="640080"/>
          </a:xfrm>
          <a:prstGeom prst="rect">
            <a:avLst/>
          </a:prstGeom>
          <a:noFill/>
          <a:ln/>
        </p:spPr>
        <p:txBody>
          <a:bodyPr wrap="square" lIns="0" tIns="0" rIns="0" bIns="0" rtlCol="0" anchor="ctr"/>
          <a:lstStyle/>
          <a:p>
            <a:pPr indent="0" marL="0">
              <a:buNone/>
            </a:pPr>
            <a:r>
              <a:rPr lang="en-US" sz="1400" b="1" dirty="0">
                <a:solidFill>
                  <a:schemeClr val="tx1"/>
                </a:solidFill>
              </a:rPr>
              <a:t>La colonne embedding</a:t>
            </a:r>
            <a:endParaRPr lang="en-US" sz="1400" dirty="0"/>
          </a:p>
          <a:p>
            <a:pPr indent="0" marL="0">
              <a:buNone/>
            </a:pPr>
            <a:r>
              <a:rPr lang="en-US" sz="1400" dirty="0">
                <a:solidFill>
                  <a:schemeClr val="tx2"/>
                </a:solidFill>
              </a:rPr>
              <a:t>table intervention_symptom</a:t>
            </a:r>
            <a:endParaRPr lang="en-US" sz="1400" dirty="0"/>
          </a:p>
        </p:txBody>
      </p:sp>
      <p:sp>
        <p:nvSpPr>
          <p:cNvPr id="16" name="txt-423"/>
          <p:cNvSpPr txBox="1"/>
          <p:nvPr/>
        </p:nvSpPr>
        <p:spPr>
          <a:xfrm>
            <a:off x="6748272" y="2468880"/>
            <a:ext cx="1463040" cy="777240"/>
          </a:xfrm>
          <a:prstGeom prst="rect">
            <a:avLst/>
          </a:prstGeom>
          <a:noFill/>
          <a:ln/>
        </p:spPr>
        <p:txBody>
          <a:bodyPr wrap="square" lIns="0" tIns="0" rIns="0" bIns="0" rtlCol="0" anchor="t"/>
          <a:lstStyle/>
          <a:p>
            <a:pPr indent="0" marL="0">
              <a:buNone/>
            </a:pPr>
            <a:r>
              <a:rPr lang="en-US" sz="1300" b="1" dirty="0">
                <a:solidFill>
                  <a:schemeClr val="tx1"/>
                </a:solidFill>
              </a:rPr>
              <a:t>Type</a:t>
            </a:r>
            <a:endParaRPr lang="en-US" sz="1300" dirty="0"/>
          </a:p>
        </p:txBody>
      </p:sp>
      <p:sp>
        <p:nvSpPr>
          <p:cNvPr id="17" name="txt-424"/>
          <p:cNvSpPr txBox="1"/>
          <p:nvPr/>
        </p:nvSpPr>
        <p:spPr>
          <a:xfrm>
            <a:off x="8229600" y="2468880"/>
            <a:ext cx="3246120" cy="777240"/>
          </a:xfrm>
          <a:prstGeom prst="rect">
            <a:avLst/>
          </a:prstGeom>
          <a:noFill/>
          <a:ln/>
        </p:spPr>
        <p:txBody>
          <a:bodyPr wrap="square" lIns="0" tIns="0" rIns="0" bIns="0" rtlCol="0" anchor="t"/>
          <a:lstStyle/>
          <a:p>
            <a:pPr indent="0" marL="0">
              <a:buNone/>
            </a:pPr>
            <a:r>
              <a:rPr lang="en-US" sz="1300" dirty="0">
                <a:solidFill>
                  <a:schemeClr val="tx2"/>
                </a:solidFill>
              </a:rPr>
              <a:t>vector(1024) : une liste de 1024 nombres</a:t>
            </a:r>
            <a:endParaRPr lang="en-US" sz="1300" dirty="0"/>
          </a:p>
        </p:txBody>
      </p:sp>
      <p:sp>
        <p:nvSpPr>
          <p:cNvPr id="18" name="txt-425"/>
          <p:cNvSpPr txBox="1"/>
          <p:nvPr/>
        </p:nvSpPr>
        <p:spPr>
          <a:xfrm>
            <a:off x="6748272" y="3337560"/>
            <a:ext cx="1463040" cy="777240"/>
          </a:xfrm>
          <a:prstGeom prst="rect">
            <a:avLst/>
          </a:prstGeom>
          <a:noFill/>
          <a:ln/>
        </p:spPr>
        <p:txBody>
          <a:bodyPr wrap="square" lIns="0" tIns="0" rIns="0" bIns="0" rtlCol="0" anchor="t"/>
          <a:lstStyle/>
          <a:p>
            <a:pPr indent="0" marL="0">
              <a:buNone/>
            </a:pPr>
            <a:r>
              <a:rPr lang="en-US" sz="1300" b="1" dirty="0">
                <a:solidFill>
                  <a:schemeClr val="tx1"/>
                </a:solidFill>
              </a:rPr>
              <a:t>Calculée par</a:t>
            </a:r>
            <a:endParaRPr lang="en-US" sz="1300" dirty="0"/>
          </a:p>
        </p:txBody>
      </p:sp>
      <p:sp>
        <p:nvSpPr>
          <p:cNvPr id="19" name="txt-426"/>
          <p:cNvSpPr txBox="1"/>
          <p:nvPr/>
        </p:nvSpPr>
        <p:spPr>
          <a:xfrm>
            <a:off x="8229600" y="3337560"/>
            <a:ext cx="3246120" cy="777240"/>
          </a:xfrm>
          <a:prstGeom prst="rect">
            <a:avLst/>
          </a:prstGeom>
          <a:noFill/>
          <a:ln/>
        </p:spPr>
        <p:txBody>
          <a:bodyPr wrap="square" lIns="0" tIns="0" rIns="0" bIns="0" rtlCol="0" anchor="t"/>
          <a:lstStyle/>
          <a:p>
            <a:pPr indent="0" marL="0">
              <a:buNone/>
            </a:pPr>
            <a:r>
              <a:rPr lang="en-US" sz="1300" dirty="0">
                <a:solidFill>
                  <a:schemeClr val="tx2"/>
                </a:solidFill>
              </a:rPr>
              <a:t>Voyage AI, à partir du texte du technicien (raw_text)</a:t>
            </a:r>
            <a:endParaRPr lang="en-US" sz="1300" dirty="0"/>
          </a:p>
        </p:txBody>
      </p:sp>
      <p:sp>
        <p:nvSpPr>
          <p:cNvPr id="20" name="txt-427"/>
          <p:cNvSpPr txBox="1"/>
          <p:nvPr/>
        </p:nvSpPr>
        <p:spPr>
          <a:xfrm>
            <a:off x="6748272" y="4206240"/>
            <a:ext cx="1463040" cy="777240"/>
          </a:xfrm>
          <a:prstGeom prst="rect">
            <a:avLst/>
          </a:prstGeom>
          <a:noFill/>
          <a:ln/>
        </p:spPr>
        <p:txBody>
          <a:bodyPr wrap="square" lIns="0" tIns="0" rIns="0" bIns="0" rtlCol="0" anchor="t"/>
          <a:lstStyle/>
          <a:p>
            <a:pPr indent="0" marL="0">
              <a:buNone/>
            </a:pPr>
            <a:r>
              <a:rPr lang="en-US" sz="1300" b="1" dirty="0">
                <a:solidFill>
                  <a:schemeClr val="tx1"/>
                </a:solidFill>
              </a:rPr>
              <a:t>Index</a:t>
            </a:r>
            <a:endParaRPr lang="en-US" sz="1300" dirty="0"/>
          </a:p>
        </p:txBody>
      </p:sp>
      <p:sp>
        <p:nvSpPr>
          <p:cNvPr id="21" name="txt-428"/>
          <p:cNvSpPr txBox="1"/>
          <p:nvPr/>
        </p:nvSpPr>
        <p:spPr>
          <a:xfrm>
            <a:off x="8229600" y="4206240"/>
            <a:ext cx="3246120" cy="777240"/>
          </a:xfrm>
          <a:prstGeom prst="rect">
            <a:avLst/>
          </a:prstGeom>
          <a:noFill/>
          <a:ln/>
        </p:spPr>
        <p:txBody>
          <a:bodyPr wrap="square" lIns="0" tIns="0" rIns="0" bIns="0" rtlCol="0" anchor="t"/>
          <a:lstStyle/>
          <a:p>
            <a:pPr indent="0" marL="0">
              <a:buNone/>
            </a:pPr>
            <a:r>
              <a:rPr lang="en-US" sz="1300" dirty="0">
                <a:solidFill>
                  <a:schemeClr val="tx2"/>
                </a:solidFill>
              </a:rPr>
              <a:t>HNSW : recherche rapide, même quand la table grossit</a:t>
            </a:r>
            <a:endParaRPr lang="en-US" sz="1300" dirty="0"/>
          </a:p>
        </p:txBody>
      </p:sp>
      <p:sp>
        <p:nvSpPr>
          <p:cNvPr id="22" name="txt-429"/>
          <p:cNvSpPr txBox="1"/>
          <p:nvPr/>
        </p:nvSpPr>
        <p:spPr>
          <a:xfrm>
            <a:off x="6748272" y="5074920"/>
            <a:ext cx="1463040" cy="777240"/>
          </a:xfrm>
          <a:prstGeom prst="rect">
            <a:avLst/>
          </a:prstGeom>
          <a:noFill/>
          <a:ln/>
        </p:spPr>
        <p:txBody>
          <a:bodyPr wrap="square" lIns="0" tIns="0" rIns="0" bIns="0" rtlCol="0" anchor="t"/>
          <a:lstStyle/>
          <a:p>
            <a:pPr indent="0" marL="0">
              <a:buNone/>
            </a:pPr>
            <a:r>
              <a:rPr lang="en-US" sz="1300" b="1" dirty="0">
                <a:solidFill>
                  <a:schemeClr val="tx1"/>
                </a:solidFill>
              </a:rPr>
              <a:t>Comparaison</a:t>
            </a:r>
            <a:endParaRPr lang="en-US" sz="1300" dirty="0"/>
          </a:p>
        </p:txBody>
      </p:sp>
      <p:sp>
        <p:nvSpPr>
          <p:cNvPr id="23" name="txt-430"/>
          <p:cNvSpPr txBox="1"/>
          <p:nvPr/>
        </p:nvSpPr>
        <p:spPr>
          <a:xfrm>
            <a:off x="8229600" y="5074920"/>
            <a:ext cx="3246120" cy="777240"/>
          </a:xfrm>
          <a:prstGeom prst="rect">
            <a:avLst/>
          </a:prstGeom>
          <a:noFill/>
          <a:ln/>
        </p:spPr>
        <p:txBody>
          <a:bodyPr wrap="square" lIns="0" tIns="0" rIns="0" bIns="0" rtlCol="0" anchor="t"/>
          <a:lstStyle/>
          <a:p>
            <a:pPr indent="0" marL="0">
              <a:buNone/>
            </a:pPr>
            <a:r>
              <a:rPr lang="en-US" sz="1300" dirty="0">
                <a:solidFill>
                  <a:schemeClr val="tx2"/>
                </a:solidFill>
              </a:rPr>
              <a:t>similarité cosinus entre la question et chaque observation</a:t>
            </a:r>
            <a:endParaRPr lang="en-US" sz="13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partie"/>
          <p:cNvSpPr txBox="1"/>
          <p:nvPr/>
        </p:nvSpPr>
        <p:spPr>
          <a:xfrm>
            <a:off x="548640" y="182880"/>
            <a:ext cx="8229600" cy="256032"/>
          </a:xfrm>
          <a:prstGeom prst="rect">
            <a:avLst/>
          </a:prstGeom>
          <a:noFill/>
          <a:ln/>
        </p:spPr>
        <p:txBody>
          <a:bodyPr wrap="square" lIns="0" tIns="0" rIns="0" bIns="0" rtlCol="0" anchor="ctr"/>
          <a:lstStyle/>
          <a:p>
            <a:pPr indent="0" marL="0">
              <a:buNone/>
            </a:pPr>
            <a:r>
              <a:rPr lang="en-US" sz="1100" b="1" spc="150" kern="0" dirty="0">
                <a:solidFill>
                  <a:schemeClr val="accent1"/>
                </a:solidFill>
              </a:rPr>
              <a:t>IV. LA BASE DE DONNÉES</a:t>
            </a:r>
            <a:endParaRPr lang="en-US" sz="1100" dirty="0"/>
          </a:p>
        </p:txBody>
      </p:sp>
      <p:sp>
        <p:nvSpPr>
          <p:cNvPr id="3" name="Text 0"/>
          <p:cNvSpPr/>
          <p:nvPr>
            <p:ph idx="100" type="title" hasCustomPrompt="1"/>
          </p:nvPr>
        </p:nvSpPr>
        <p:spPr>
          <a:xfrm>
            <a:off x="548640" y="438912"/>
            <a:ext cx="11091672" cy="54864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g) Les tables de la conversation et des codes d'erreur</a:t>
            </a:r>
            <a:endParaRPr lang="en-US" sz="2800" dirty="0"/>
          </a:p>
        </p:txBody>
      </p:sp>
      <p:pic>
        <p:nvPicPr>
          <p:cNvPr id="4" name="icone-objectif" descr="preencoded.png">    </p:cNvPr>
          <p:cNvPicPr>
            <a:picLocks noChangeAspect="1"/>
          </p:cNvPicPr>
          <p:nvPr/>
        </p:nvPicPr>
        <p:blipFill>
          <a:blip r:embed="rId1"/>
          <a:stretch>
            <a:fillRect/>
          </a:stretch>
        </p:blipFill>
        <p:spPr>
          <a:xfrm>
            <a:off x="548640" y="1033272"/>
            <a:ext cx="237744" cy="237744"/>
          </a:xfrm>
          <a:prstGeom prst="rect">
            <a:avLst/>
          </a:prstGeom>
        </p:spPr>
      </p:pic>
      <p:sp>
        <p:nvSpPr>
          <p:cNvPr id="5" name="objectif"/>
          <p:cNvSpPr txBox="1"/>
          <p:nvPr/>
        </p:nvSpPr>
        <p:spPr>
          <a:xfrm>
            <a:off x="868680" y="987552"/>
            <a:ext cx="10771632" cy="329184"/>
          </a:xfrm>
          <a:prstGeom prst="rect">
            <a:avLst/>
          </a:prstGeom>
          <a:noFill/>
          <a:ln/>
        </p:spPr>
        <p:txBody>
          <a:bodyPr wrap="square" lIns="0" tIns="0" rIns="0" bIns="0" rtlCol="0" anchor="ctr"/>
          <a:lstStyle/>
          <a:p>
            <a:pPr indent="0" marL="0">
              <a:buNone/>
            </a:pPr>
            <a:r>
              <a:rPr lang="en-US" sz="1400" b="1" i="1" dirty="0">
                <a:solidFill>
                  <a:schemeClr val="tx2"/>
                </a:solidFill>
              </a:rPr>
              <a:t>Objectif : </a:t>
            </a:r>
            <a:pPr indent="0" marL="0">
              <a:buNone/>
            </a:pPr>
            <a:r>
              <a:rPr lang="en-US" sz="1400" i="1" dirty="0">
                <a:solidFill>
                  <a:schemeClr val="tx2"/>
                </a:solidFill>
              </a:rPr>
              <a:t>Voir comment ATM-BOT garde la mémoire d'un échange et range les codes d'erreur.</a:t>
            </a:r>
            <a:endParaRPr lang="en-US" sz="1400" dirty="0"/>
          </a:p>
        </p:txBody>
      </p:sp>
      <p:sp>
        <p:nvSpPr>
          <p:cNvPr id="6" name="txt-431"/>
          <p:cNvSpPr txBox="1"/>
          <p:nvPr/>
        </p:nvSpPr>
        <p:spPr>
          <a:xfrm>
            <a:off x="548640" y="1417320"/>
            <a:ext cx="5669280" cy="256032"/>
          </a:xfrm>
          <a:prstGeom prst="rect">
            <a:avLst/>
          </a:prstGeom>
          <a:noFill/>
          <a:ln/>
        </p:spPr>
        <p:txBody>
          <a:bodyPr wrap="square" lIns="0" tIns="0" rIns="0" bIns="0" rtlCol="0" anchor="t"/>
          <a:lstStyle/>
          <a:p>
            <a:pPr indent="0" marL="0">
              <a:buNone/>
            </a:pPr>
            <a:r>
              <a:rPr lang="en-US" sz="1100" b="1" spc="100" kern="0" dirty="0">
                <a:solidFill>
                  <a:srgbClr val="0F6E56"/>
                </a:solidFill>
              </a:rPr>
              <a:t>MÉMOIRE DE LA CONVERSATION</a:t>
            </a:r>
            <a:endParaRPr lang="en-US" sz="1100" dirty="0"/>
          </a:p>
        </p:txBody>
      </p:sp>
      <p:sp>
        <p:nvSpPr>
          <p:cNvPr id="7" name="entete-conversation"/>
          <p:cNvSpPr/>
          <p:nvPr/>
        </p:nvSpPr>
        <p:spPr>
          <a:xfrm>
            <a:off x="548640" y="1691640"/>
            <a:ext cx="5669280" cy="347472"/>
          </a:xfrm>
          <a:prstGeom prst="roundRect">
            <a:avLst>
              <a:gd name="adj" fmla="val 15789"/>
            </a:avLst>
          </a:prstGeom>
          <a:solidFill>
            <a:srgbClr val="0F6E56"/>
          </a:solidFill>
          <a:ln/>
        </p:spPr>
      </p:sp>
      <p:sp>
        <p:nvSpPr>
          <p:cNvPr id="8" name="Text 5"/>
          <p:cNvSpPr txBox="1"/>
          <p:nvPr/>
        </p:nvSpPr>
        <p:spPr>
          <a:xfrm>
            <a:off x="658368" y="1691640"/>
            <a:ext cx="5449824" cy="347472"/>
          </a:xfrm>
          <a:prstGeom prst="rect">
            <a:avLst/>
          </a:prstGeom>
          <a:noFill/>
          <a:ln/>
        </p:spPr>
        <p:txBody>
          <a:bodyPr wrap="square" lIns="0" tIns="0" rIns="0" bIns="0" rtlCol="0" anchor="ctr"/>
          <a:lstStyle/>
          <a:p>
            <a:pPr indent="0" marL="0">
              <a:buNone/>
            </a:pPr>
            <a:r>
              <a:rPr lang="en-US" sz="1200" b="1" dirty="0">
                <a:solidFill>
                  <a:schemeClr val="bg1"/>
                </a:solidFill>
              </a:rPr>
              <a:t>conversation</a:t>
            </a:r>
            <a:pPr indent="0" marL="0">
              <a:buNone/>
            </a:pPr>
            <a:r>
              <a:rPr lang="en-US" sz="1200" dirty="0">
                <a:solidFill>
                  <a:schemeClr val="bg1"/>
                </a:solidFill>
              </a:rPr>
              <a:t>  ·  un échange</a:t>
            </a:r>
            <a:endParaRPr lang="en-US" sz="1200" dirty="0"/>
          </a:p>
        </p:txBody>
      </p:sp>
      <p:graphicFrame>
        <p:nvGraphicFramePr>
          <p:cNvPr id="22" name="colonnes-conversation"/>
          <p:cNvGraphicFramePr>
            <a:graphicFrameLocks noGrp="1"/>
          </p:cNvGraphicFramePr>
          <p:nvPr>
            <p:extLst>
              <p:ext uri="{D42A27DB-BD31-4B8C-83A1-F6EECF244321}">
                <p14:modId xmlns:p14="http://schemas.microsoft.com/office/powerpoint/2010/main" val="1579011935"/>
              </p:ext>
            </p:extLst>
          </p:nvPr>
        </p:nvGraphicFramePr>
        <p:xfrm>
          <a:off x="548640" y="2057400"/>
          <a:ext cx="5669280" cy="914400"/>
        </p:xfrm>
        <a:graphic>
          <a:graphicData uri="http://schemas.openxmlformats.org/drawingml/2006/table">
            <a:tbl>
              <a:tblPr/>
              <a:tblGrid>
                <a:gridCol w="2381098"/>
                <a:gridCol w="3288182"/>
              </a:tblGrid>
              <a:tr h="237744">
                <a:tc>
                  <a:txBody>
                    <a:bodyPr/>
                    <a:lstStyle/>
                    <a:p>
                      <a:pPr indent="0" marL="0">
                        <a:buNone/>
                      </a:pPr>
                      <a:r>
                        <a:rPr lang="en-US" sz="1050" b="1" dirty="0">
                          <a:solidFill>
                            <a:srgbClr val="BA7517"/>
                          </a:solidFill>
                        </a:rPr>
                        <a:t>PK </a:t>
                      </a:r>
                      <a:pPr indent="0" marL="0">
                        <a:buNone/>
                      </a:pPr>
                      <a:r>
                        <a:rPr lang="en-US" sz="1050" b="1" dirty="0">
                          <a:solidFill>
                            <a:srgbClr val="000000"/>
                          </a:solidFill>
                        </a:rPr>
                        <a:t>conversation_id</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50" dirty="0">
                          <a:solidFill>
                            <a:schemeClr val="tx2"/>
                          </a:solidFill>
                        </a:rPr>
                        <a:t>l'échange</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37744">
                <a:tc>
                  <a:txBody>
                    <a:bodyPr/>
                    <a:lstStyle/>
                    <a:p>
                      <a:pPr indent="0" marL="0">
                        <a:buNone/>
                      </a:pPr>
                      <a:r>
                        <a:rPr lang="en-US" sz="1050" b="1" dirty="0">
                          <a:solidFill>
                            <a:srgbClr val="378ADD"/>
                          </a:solidFill>
                        </a:rPr>
                        <a:t>FK </a:t>
                      </a:r>
                      <a:pPr indent="0" marL="0">
                        <a:buNone/>
                      </a:pPr>
                      <a:r>
                        <a:rPr lang="en-US" sz="1050" b="1" dirty="0">
                          <a:solidFill>
                            <a:srgbClr val="000000"/>
                          </a:solidFill>
                        </a:rPr>
                        <a:t>technician_id</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50" dirty="0">
                          <a:solidFill>
                            <a:schemeClr val="tx2"/>
                          </a:solidFill>
                        </a:rPr>
                        <a:t>technicien concerné</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37744">
                <a:tc>
                  <a:txBody>
                    <a:bodyPr/>
                    <a:lstStyle/>
                    <a:p>
                      <a:pPr indent="0" marL="0">
                        <a:buNone/>
                      </a:pPr>
                      <a:r>
                        <a:rPr lang="en-US" sz="1050" b="1" dirty="0">
                          <a:solidFill>
                            <a:srgbClr val="000000"/>
                          </a:solidFill>
                        </a:rPr>
                        <a:t>created_at · updated_at</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50" dirty="0">
                          <a:solidFill>
                            <a:schemeClr val="tx2"/>
                          </a:solidFill>
                        </a:rPr>
                        <a:t>dates de début et de mise à jour</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bl>
          </a:graphicData>
        </a:graphic>
      </p:graphicFrame>
      <p:sp>
        <p:nvSpPr>
          <p:cNvPr id="10" name="entete-conversation_message"/>
          <p:cNvSpPr/>
          <p:nvPr/>
        </p:nvSpPr>
        <p:spPr>
          <a:xfrm>
            <a:off x="548640" y="2880360"/>
            <a:ext cx="5669280" cy="347472"/>
          </a:xfrm>
          <a:prstGeom prst="roundRect">
            <a:avLst>
              <a:gd name="adj" fmla="val 15789"/>
            </a:avLst>
          </a:prstGeom>
          <a:solidFill>
            <a:srgbClr val="0F6E56"/>
          </a:solidFill>
          <a:ln/>
        </p:spPr>
      </p:sp>
      <p:sp>
        <p:nvSpPr>
          <p:cNvPr id="11" name="Text 7"/>
          <p:cNvSpPr txBox="1"/>
          <p:nvPr/>
        </p:nvSpPr>
        <p:spPr>
          <a:xfrm>
            <a:off x="658368" y="2880360"/>
            <a:ext cx="5449824" cy="347472"/>
          </a:xfrm>
          <a:prstGeom prst="rect">
            <a:avLst/>
          </a:prstGeom>
          <a:noFill/>
          <a:ln/>
        </p:spPr>
        <p:txBody>
          <a:bodyPr wrap="square" lIns="0" tIns="0" rIns="0" bIns="0" rtlCol="0" anchor="ctr"/>
          <a:lstStyle/>
          <a:p>
            <a:pPr indent="0" marL="0">
              <a:buNone/>
            </a:pPr>
            <a:r>
              <a:rPr lang="en-US" sz="1200" b="1" dirty="0">
                <a:solidFill>
                  <a:schemeClr val="bg1"/>
                </a:solidFill>
              </a:rPr>
              <a:t>conversation_message</a:t>
            </a:r>
            <a:pPr indent="0" marL="0">
              <a:buNone/>
            </a:pPr>
            <a:r>
              <a:rPr lang="en-US" sz="1200" dirty="0">
                <a:solidFill>
                  <a:schemeClr val="bg1"/>
                </a:solidFill>
              </a:rPr>
              <a:t>  ·  un message</a:t>
            </a:r>
            <a:endParaRPr lang="en-US" sz="1200" dirty="0"/>
          </a:p>
        </p:txBody>
      </p:sp>
      <p:graphicFrame>
        <p:nvGraphicFramePr>
          <p:cNvPr id="43" name="colonnes-conversation_message"/>
          <p:cNvGraphicFramePr>
            <a:graphicFrameLocks noGrp="1"/>
          </p:cNvGraphicFramePr>
          <p:nvPr>
            <p:extLst>
              <p:ext uri="{D42A27DB-BD31-4B8C-83A1-F6EECF244321}">
                <p14:modId xmlns:p14="http://schemas.microsoft.com/office/powerpoint/2010/main" val="1579011935"/>
              </p:ext>
            </p:extLst>
          </p:nvPr>
        </p:nvGraphicFramePr>
        <p:xfrm>
          <a:off x="548640" y="3246120"/>
          <a:ext cx="5669280" cy="914400"/>
        </p:xfrm>
        <a:graphic>
          <a:graphicData uri="http://schemas.openxmlformats.org/drawingml/2006/table">
            <a:tbl>
              <a:tblPr/>
              <a:tblGrid>
                <a:gridCol w="2381098"/>
                <a:gridCol w="3288182"/>
              </a:tblGrid>
              <a:tr h="237744">
                <a:tc>
                  <a:txBody>
                    <a:bodyPr/>
                    <a:lstStyle/>
                    <a:p>
                      <a:pPr indent="0" marL="0">
                        <a:buNone/>
                      </a:pPr>
                      <a:r>
                        <a:rPr lang="en-US" sz="1050" b="1" dirty="0">
                          <a:solidFill>
                            <a:srgbClr val="BA7517"/>
                          </a:solidFill>
                        </a:rPr>
                        <a:t>PK </a:t>
                      </a:r>
                      <a:pPr indent="0" marL="0">
                        <a:buNone/>
                      </a:pPr>
                      <a:r>
                        <a:rPr lang="en-US" sz="1050" b="1" dirty="0">
                          <a:solidFill>
                            <a:srgbClr val="000000"/>
                          </a:solidFill>
                        </a:rPr>
                        <a:t>message_id</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50" dirty="0">
                          <a:solidFill>
                            <a:schemeClr val="tx2"/>
                          </a:solidFill>
                        </a:rPr>
                        <a:t>le message</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37744">
                <a:tc>
                  <a:txBody>
                    <a:bodyPr/>
                    <a:lstStyle/>
                    <a:p>
                      <a:pPr indent="0" marL="0">
                        <a:buNone/>
                      </a:pPr>
                      <a:r>
                        <a:rPr lang="en-US" sz="1050" b="1" dirty="0">
                          <a:solidFill>
                            <a:srgbClr val="378ADD"/>
                          </a:solidFill>
                        </a:rPr>
                        <a:t>FK </a:t>
                      </a:r>
                      <a:pPr indent="0" marL="0">
                        <a:buNone/>
                      </a:pPr>
                      <a:r>
                        <a:rPr lang="en-US" sz="1050" b="1" dirty="0">
                          <a:solidFill>
                            <a:srgbClr val="000000"/>
                          </a:solidFill>
                        </a:rPr>
                        <a:t>conversation_id</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50" dirty="0">
                          <a:solidFill>
                            <a:schemeClr val="tx2"/>
                          </a:solidFill>
                        </a:rPr>
                        <a:t>échange concerné</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37744">
                <a:tc>
                  <a:txBody>
                    <a:bodyPr/>
                    <a:lstStyle/>
                    <a:p>
                      <a:pPr indent="0" marL="0">
                        <a:buNone/>
                      </a:pPr>
                      <a:r>
                        <a:rPr lang="en-US" sz="1050" b="1" dirty="0">
                          <a:solidFill>
                            <a:srgbClr val="000000"/>
                          </a:solidFill>
                        </a:rPr>
                        <a:t>role</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50" dirty="0">
                          <a:solidFill>
                            <a:schemeClr val="tx2"/>
                          </a:solidFill>
                        </a:rPr>
                        <a:t>user (technicien) ou assistant (ATM-BOT)</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37744">
                <a:tc>
                  <a:txBody>
                    <a:bodyPr/>
                    <a:lstStyle/>
                    <a:p>
                      <a:pPr indent="0" marL="0">
                        <a:buNone/>
                      </a:pPr>
                      <a:r>
                        <a:rPr lang="en-US" sz="1050" b="1" dirty="0">
                          <a:solidFill>
                            <a:srgbClr val="000000"/>
                          </a:solidFill>
                        </a:rPr>
                        <a:t>content</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50" dirty="0">
                          <a:solidFill>
                            <a:schemeClr val="tx2"/>
                          </a:solidFill>
                        </a:rPr>
                        <a:t>texte du message</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bl>
          </a:graphicData>
        </a:graphic>
      </p:graphicFrame>
      <p:sp>
        <p:nvSpPr>
          <p:cNvPr id="13" name="entete-conversation_context"/>
          <p:cNvSpPr/>
          <p:nvPr/>
        </p:nvSpPr>
        <p:spPr>
          <a:xfrm>
            <a:off x="548640" y="4306824"/>
            <a:ext cx="5669280" cy="347472"/>
          </a:xfrm>
          <a:prstGeom prst="roundRect">
            <a:avLst>
              <a:gd name="adj" fmla="val 15789"/>
            </a:avLst>
          </a:prstGeom>
          <a:solidFill>
            <a:srgbClr val="0F6E56"/>
          </a:solidFill>
          <a:ln/>
        </p:spPr>
      </p:sp>
      <p:sp>
        <p:nvSpPr>
          <p:cNvPr id="14" name="Text 9"/>
          <p:cNvSpPr txBox="1"/>
          <p:nvPr/>
        </p:nvSpPr>
        <p:spPr>
          <a:xfrm>
            <a:off x="658368" y="4306824"/>
            <a:ext cx="5449824" cy="347472"/>
          </a:xfrm>
          <a:prstGeom prst="rect">
            <a:avLst/>
          </a:prstGeom>
          <a:noFill/>
          <a:ln/>
        </p:spPr>
        <p:txBody>
          <a:bodyPr wrap="square" lIns="0" tIns="0" rIns="0" bIns="0" rtlCol="0" anchor="ctr"/>
          <a:lstStyle/>
          <a:p>
            <a:pPr indent="0" marL="0">
              <a:buNone/>
            </a:pPr>
            <a:r>
              <a:rPr lang="en-US" sz="1200" b="1" dirty="0">
                <a:solidFill>
                  <a:schemeClr val="bg1"/>
                </a:solidFill>
              </a:rPr>
              <a:t>conversation_context</a:t>
            </a:r>
            <a:pPr indent="0" marL="0">
              <a:buNone/>
            </a:pPr>
            <a:r>
              <a:rPr lang="en-US" sz="1200" dirty="0">
                <a:solidFill>
                  <a:schemeClr val="bg1"/>
                </a:solidFill>
              </a:rPr>
              <a:t>  ·  le contexte actif</a:t>
            </a:r>
            <a:endParaRPr lang="en-US" sz="1200" dirty="0"/>
          </a:p>
        </p:txBody>
      </p:sp>
      <p:graphicFrame>
        <p:nvGraphicFramePr>
          <p:cNvPr id="64" name="colonnes-conversation_context"/>
          <p:cNvGraphicFramePr>
            <a:graphicFrameLocks noGrp="1"/>
          </p:cNvGraphicFramePr>
          <p:nvPr>
            <p:extLst>
              <p:ext uri="{D42A27DB-BD31-4B8C-83A1-F6EECF244321}">
                <p14:modId xmlns:p14="http://schemas.microsoft.com/office/powerpoint/2010/main" val="1579011935"/>
              </p:ext>
            </p:extLst>
          </p:nvPr>
        </p:nvGraphicFramePr>
        <p:xfrm>
          <a:off x="548640" y="4672584"/>
          <a:ext cx="5669280" cy="914400"/>
        </p:xfrm>
        <a:graphic>
          <a:graphicData uri="http://schemas.openxmlformats.org/drawingml/2006/table">
            <a:tbl>
              <a:tblPr/>
              <a:tblGrid>
                <a:gridCol w="2381098"/>
                <a:gridCol w="3288182"/>
              </a:tblGrid>
              <a:tr h="237744">
                <a:tc>
                  <a:txBody>
                    <a:bodyPr/>
                    <a:lstStyle/>
                    <a:p>
                      <a:pPr indent="0" marL="0">
                        <a:buNone/>
                      </a:pPr>
                      <a:r>
                        <a:rPr lang="en-US" sz="1050" b="1" dirty="0">
                          <a:solidFill>
                            <a:srgbClr val="BA7517"/>
                          </a:solidFill>
                        </a:rPr>
                        <a:t>PK FK </a:t>
                      </a:r>
                      <a:pPr indent="0" marL="0">
                        <a:buNone/>
                      </a:pPr>
                      <a:r>
                        <a:rPr lang="en-US" sz="1050" b="1" dirty="0">
                          <a:solidFill>
                            <a:srgbClr val="000000"/>
                          </a:solidFill>
                        </a:rPr>
                        <a:t>conversation_id</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50" dirty="0">
                          <a:solidFill>
                            <a:schemeClr val="tx2"/>
                          </a:solidFill>
                        </a:rPr>
                        <a:t>un contexte par échange</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37744">
                <a:tc>
                  <a:txBody>
                    <a:bodyPr/>
                    <a:lstStyle/>
                    <a:p>
                      <a:pPr indent="0" marL="0">
                        <a:buNone/>
                      </a:pPr>
                      <a:r>
                        <a:rPr lang="en-US" sz="1050" b="1" dirty="0">
                          <a:solidFill>
                            <a:srgbClr val="000000"/>
                          </a:solidFill>
                        </a:rPr>
                        <a:t>context</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50" dirty="0">
                          <a:solidFill>
                            <a:schemeClr val="tx2"/>
                          </a:solidFill>
                        </a:rPr>
                        <a:t>JSON : intention, équipement, dernière recherche…</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37744">
                <a:tc>
                  <a:txBody>
                    <a:bodyPr/>
                    <a:lstStyle/>
                    <a:p>
                      <a:pPr indent="0" marL="0">
                        <a:buNone/>
                      </a:pPr>
                      <a:r>
                        <a:rPr lang="en-US" sz="1050" b="1" dirty="0">
                          <a:solidFill>
                            <a:srgbClr val="000000"/>
                          </a:solidFill>
                        </a:rPr>
                        <a:t>updated_at</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50" dirty="0">
                          <a:solidFill>
                            <a:schemeClr val="tx2"/>
                          </a:solidFill>
                        </a:rPr>
                        <a:t>dernière mise à jour</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bl>
          </a:graphicData>
        </a:graphic>
      </p:graphicFrame>
      <p:sp>
        <p:nvSpPr>
          <p:cNvPr id="16" name="txt-432"/>
          <p:cNvSpPr txBox="1"/>
          <p:nvPr/>
        </p:nvSpPr>
        <p:spPr>
          <a:xfrm>
            <a:off x="6519672" y="1417320"/>
            <a:ext cx="5120640" cy="256032"/>
          </a:xfrm>
          <a:prstGeom prst="rect">
            <a:avLst/>
          </a:prstGeom>
          <a:noFill/>
          <a:ln/>
        </p:spPr>
        <p:txBody>
          <a:bodyPr wrap="square" lIns="0" tIns="0" rIns="0" bIns="0" rtlCol="0" anchor="t"/>
          <a:lstStyle/>
          <a:p>
            <a:pPr indent="0" marL="0">
              <a:buNone/>
            </a:pPr>
            <a:r>
              <a:rPr lang="en-US" sz="1100" b="1" spc="100" kern="0" dirty="0">
                <a:solidFill>
                  <a:srgbClr val="854F0B"/>
                </a:solidFill>
              </a:rPr>
              <a:t>CODES D'ERREUR</a:t>
            </a:r>
            <a:endParaRPr lang="en-US" sz="1100" dirty="0"/>
          </a:p>
        </p:txBody>
      </p:sp>
      <p:sp>
        <p:nvSpPr>
          <p:cNvPr id="17" name="entete-fault"/>
          <p:cNvSpPr/>
          <p:nvPr/>
        </p:nvSpPr>
        <p:spPr>
          <a:xfrm>
            <a:off x="6519672" y="1691640"/>
            <a:ext cx="5120640" cy="347472"/>
          </a:xfrm>
          <a:prstGeom prst="roundRect">
            <a:avLst>
              <a:gd name="adj" fmla="val 15789"/>
            </a:avLst>
          </a:prstGeom>
          <a:solidFill>
            <a:srgbClr val="854F0B"/>
          </a:solidFill>
          <a:ln/>
        </p:spPr>
      </p:sp>
      <p:sp>
        <p:nvSpPr>
          <p:cNvPr id="18" name="Text 12"/>
          <p:cNvSpPr txBox="1"/>
          <p:nvPr/>
        </p:nvSpPr>
        <p:spPr>
          <a:xfrm>
            <a:off x="6629400" y="1691640"/>
            <a:ext cx="4901184" cy="347472"/>
          </a:xfrm>
          <a:prstGeom prst="rect">
            <a:avLst/>
          </a:prstGeom>
          <a:noFill/>
          <a:ln/>
        </p:spPr>
        <p:txBody>
          <a:bodyPr wrap="square" lIns="0" tIns="0" rIns="0" bIns="0" rtlCol="0" anchor="ctr"/>
          <a:lstStyle/>
          <a:p>
            <a:pPr indent="0" marL="0">
              <a:buNone/>
            </a:pPr>
            <a:r>
              <a:rPr lang="en-US" sz="1200" b="1" dirty="0">
                <a:solidFill>
                  <a:schemeClr val="bg1"/>
                </a:solidFill>
              </a:rPr>
              <a:t>fault</a:t>
            </a:r>
            <a:pPr indent="0" marL="0">
              <a:buNone/>
            </a:pPr>
            <a:r>
              <a:rPr lang="en-US" sz="1200" dirty="0">
                <a:solidFill>
                  <a:schemeClr val="bg1"/>
                </a:solidFill>
              </a:rPr>
              <a:t>  ·  la panne</a:t>
            </a:r>
            <a:endParaRPr lang="en-US" sz="1200" dirty="0"/>
          </a:p>
        </p:txBody>
      </p:sp>
      <p:graphicFrame>
        <p:nvGraphicFramePr>
          <p:cNvPr id="85" name="colonnes-fault"/>
          <p:cNvGraphicFramePr>
            <a:graphicFrameLocks noGrp="1"/>
          </p:cNvGraphicFramePr>
          <p:nvPr>
            <p:extLst>
              <p:ext uri="{D42A27DB-BD31-4B8C-83A1-F6EECF244321}">
                <p14:modId xmlns:p14="http://schemas.microsoft.com/office/powerpoint/2010/main" val="1579011935"/>
              </p:ext>
            </p:extLst>
          </p:nvPr>
        </p:nvGraphicFramePr>
        <p:xfrm>
          <a:off x="6519672" y="2057400"/>
          <a:ext cx="5120640" cy="914400"/>
        </p:xfrm>
        <a:graphic>
          <a:graphicData uri="http://schemas.openxmlformats.org/drawingml/2006/table">
            <a:tbl>
              <a:tblPr/>
              <a:tblGrid>
                <a:gridCol w="1945843"/>
                <a:gridCol w="3174797"/>
              </a:tblGrid>
              <a:tr h="237744">
                <a:tc>
                  <a:txBody>
                    <a:bodyPr/>
                    <a:lstStyle/>
                    <a:p>
                      <a:pPr indent="0" marL="0">
                        <a:buNone/>
                      </a:pPr>
                      <a:r>
                        <a:rPr lang="en-US" sz="1050" b="1" dirty="0">
                          <a:solidFill>
                            <a:srgbClr val="BA7517"/>
                          </a:solidFill>
                        </a:rPr>
                        <a:t>PK </a:t>
                      </a:r>
                      <a:pPr indent="0" marL="0">
                        <a:buNone/>
                      </a:pPr>
                      <a:r>
                        <a:rPr lang="en-US" sz="1050" b="1" dirty="0">
                          <a:solidFill>
                            <a:srgbClr val="000000"/>
                          </a:solidFill>
                        </a:rPr>
                        <a:t>fault_id</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50" dirty="0">
                          <a:solidFill>
                            <a:schemeClr val="tx2"/>
                          </a:solidFill>
                        </a:rPr>
                        <a:t>la panne</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37744">
                <a:tc>
                  <a:txBody>
                    <a:bodyPr/>
                    <a:lstStyle/>
                    <a:p>
                      <a:pPr indent="0" marL="0">
                        <a:buNone/>
                      </a:pPr>
                      <a:r>
                        <a:rPr lang="en-US" sz="1050" b="1" dirty="0">
                          <a:solidFill>
                            <a:srgbClr val="000000"/>
                          </a:solidFill>
                        </a:rPr>
                        <a:t>code</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50" dirty="0">
                          <a:solidFill>
                            <a:schemeClr val="tx2"/>
                          </a:solidFill>
                        </a:rPr>
                        <a:t>référence interne (ex. P001)</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37744">
                <a:tc>
                  <a:txBody>
                    <a:bodyPr/>
                    <a:lstStyle/>
                    <a:p>
                      <a:pPr indent="0" marL="0">
                        <a:buNone/>
                      </a:pPr>
                      <a:r>
                        <a:rPr lang="en-US" sz="1050" b="1" dirty="0">
                          <a:solidFill>
                            <a:srgbClr val="000000"/>
                          </a:solidFill>
                        </a:rPr>
                        <a:t>name</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50" dirty="0">
                          <a:solidFill>
                            <a:schemeClr val="tx2"/>
                          </a:solidFill>
                        </a:rPr>
                        <a:t>nom de la panne</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bl>
          </a:graphicData>
        </a:graphic>
      </p:graphicFrame>
      <p:sp>
        <p:nvSpPr>
          <p:cNvPr id="20" name="entete-error_code"/>
          <p:cNvSpPr/>
          <p:nvPr/>
        </p:nvSpPr>
        <p:spPr>
          <a:xfrm>
            <a:off x="6519672" y="2880360"/>
            <a:ext cx="5120640" cy="347472"/>
          </a:xfrm>
          <a:prstGeom prst="roundRect">
            <a:avLst>
              <a:gd name="adj" fmla="val 15789"/>
            </a:avLst>
          </a:prstGeom>
          <a:solidFill>
            <a:srgbClr val="854F0B"/>
          </a:solidFill>
          <a:ln/>
        </p:spPr>
      </p:sp>
      <p:sp>
        <p:nvSpPr>
          <p:cNvPr id="21" name="Text 14"/>
          <p:cNvSpPr txBox="1"/>
          <p:nvPr/>
        </p:nvSpPr>
        <p:spPr>
          <a:xfrm>
            <a:off x="6629400" y="2880360"/>
            <a:ext cx="4901184" cy="347472"/>
          </a:xfrm>
          <a:prstGeom prst="rect">
            <a:avLst/>
          </a:prstGeom>
          <a:noFill/>
          <a:ln/>
        </p:spPr>
        <p:txBody>
          <a:bodyPr wrap="square" lIns="0" tIns="0" rIns="0" bIns="0" rtlCol="0" anchor="ctr"/>
          <a:lstStyle/>
          <a:p>
            <a:pPr indent="0" marL="0">
              <a:buNone/>
            </a:pPr>
            <a:r>
              <a:rPr lang="en-US" sz="1200" b="1" dirty="0">
                <a:solidFill>
                  <a:schemeClr val="bg1"/>
                </a:solidFill>
              </a:rPr>
              <a:t>error_code</a:t>
            </a:r>
            <a:pPr indent="0" marL="0">
              <a:buNone/>
            </a:pPr>
            <a:r>
              <a:rPr lang="en-US" sz="1200" dirty="0">
                <a:solidFill>
                  <a:schemeClr val="bg1"/>
                </a:solidFill>
              </a:rPr>
              <a:t>  ·  le code affiché</a:t>
            </a:r>
            <a:endParaRPr lang="en-US" sz="1200" dirty="0"/>
          </a:p>
        </p:txBody>
      </p:sp>
      <p:graphicFrame>
        <p:nvGraphicFramePr>
          <p:cNvPr id="106" name="colonnes-error_code"/>
          <p:cNvGraphicFramePr>
            <a:graphicFrameLocks noGrp="1"/>
          </p:cNvGraphicFramePr>
          <p:nvPr>
            <p:extLst>
              <p:ext uri="{D42A27DB-BD31-4B8C-83A1-F6EECF244321}">
                <p14:modId xmlns:p14="http://schemas.microsoft.com/office/powerpoint/2010/main" val="1579011935"/>
              </p:ext>
            </p:extLst>
          </p:nvPr>
        </p:nvGraphicFramePr>
        <p:xfrm>
          <a:off x="6519672" y="3246120"/>
          <a:ext cx="5120640" cy="914400"/>
        </p:xfrm>
        <a:graphic>
          <a:graphicData uri="http://schemas.openxmlformats.org/drawingml/2006/table">
            <a:tbl>
              <a:tblPr/>
              <a:tblGrid>
                <a:gridCol w="1945843"/>
                <a:gridCol w="3174797"/>
              </a:tblGrid>
              <a:tr h="237744">
                <a:tc>
                  <a:txBody>
                    <a:bodyPr/>
                    <a:lstStyle/>
                    <a:p>
                      <a:pPr indent="0" marL="0">
                        <a:buNone/>
                      </a:pPr>
                      <a:r>
                        <a:rPr lang="en-US" sz="1050" b="1" dirty="0">
                          <a:solidFill>
                            <a:srgbClr val="BA7517"/>
                          </a:solidFill>
                        </a:rPr>
                        <a:t>PK </a:t>
                      </a:r>
                      <a:pPr indent="0" marL="0">
                        <a:buNone/>
                      </a:pPr>
                      <a:r>
                        <a:rPr lang="en-US" sz="1050" b="1" dirty="0">
                          <a:solidFill>
                            <a:srgbClr val="000000"/>
                          </a:solidFill>
                        </a:rPr>
                        <a:t>error_code_id</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50" dirty="0">
                          <a:solidFill>
                            <a:schemeClr val="tx2"/>
                          </a:solidFill>
                        </a:rPr>
                        <a:t>le code</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37744">
                <a:tc>
                  <a:txBody>
                    <a:bodyPr/>
                    <a:lstStyle/>
                    <a:p>
                      <a:pPr indent="0" marL="0">
                        <a:buNone/>
                      </a:pPr>
                      <a:r>
                        <a:rPr lang="en-US" sz="1050" b="1" dirty="0">
                          <a:solidFill>
                            <a:srgbClr val="639922"/>
                          </a:solidFill>
                        </a:rPr>
                        <a:t>UK </a:t>
                      </a:r>
                      <a:pPr indent="0" marL="0">
                        <a:buNone/>
                      </a:pPr>
                      <a:r>
                        <a:rPr lang="en-US" sz="1050" b="1" dirty="0">
                          <a:solidFill>
                            <a:srgbClr val="000000"/>
                          </a:solidFill>
                        </a:rPr>
                        <a:t>code</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50" dirty="0">
                          <a:solidFill>
                            <a:schemeClr val="tx2"/>
                          </a:solidFill>
                        </a:rPr>
                        <a:t>ex. E42, unique sans tenir compte de la casse</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37744">
                <a:tc>
                  <a:txBody>
                    <a:bodyPr/>
                    <a:lstStyle/>
                    <a:p>
                      <a:pPr indent="0" marL="0">
                        <a:buNone/>
                      </a:pPr>
                      <a:r>
                        <a:rPr lang="en-US" sz="1050" b="1" dirty="0">
                          <a:solidFill>
                            <a:srgbClr val="000000"/>
                          </a:solidFill>
                        </a:rPr>
                        <a:t>description</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50" dirty="0">
                          <a:solidFill>
                            <a:schemeClr val="tx2"/>
                          </a:solidFill>
                        </a:rPr>
                        <a:t>explication du code</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r h="237744">
                <a:tc>
                  <a:txBody>
                    <a:bodyPr/>
                    <a:lstStyle/>
                    <a:p>
                      <a:pPr indent="0" marL="0">
                        <a:buNone/>
                      </a:pPr>
                      <a:r>
                        <a:rPr lang="en-US" sz="1050" b="1" dirty="0">
                          <a:solidFill>
                            <a:srgbClr val="378ADD"/>
                          </a:solidFill>
                        </a:rPr>
                        <a:t>FK </a:t>
                      </a:r>
                      <a:pPr indent="0" marL="0">
                        <a:buNone/>
                      </a:pPr>
                      <a:r>
                        <a:rPr lang="en-US" sz="1050" b="1" dirty="0">
                          <a:solidFill>
                            <a:srgbClr val="000000"/>
                          </a:solidFill>
                        </a:rPr>
                        <a:t>fault_id</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050" dirty="0">
                          <a:solidFill>
                            <a:schemeClr val="tx2"/>
                          </a:solidFill>
                        </a:rPr>
                        <a:t>panne rattachée (facultatif)</a:t>
                      </a:r>
                      <a:endParaRPr lang="en-US" sz="1050" dirty="0"/>
                    </a:p>
                  </a:txBody>
                  <a:tcPr marL="36576" marR="36576" marT="36576" marB="36576" anchor="ctr">
                    <a:lnL w="6350" cap="flat" cmpd="sng" algn="ctr">
                      <a:solidFill>
                        <a:srgbClr val="D5DCE0"/>
                      </a:solidFill>
                      <a:prstDash val="solid"/>
                      <a:round/>
                      <a:headEnd type="none" w="med" len="med"/>
                      <a:tailEnd type="none" w="med" len="med"/>
                    </a:lnL>
                    <a:lnR w="6350" cap="flat" cmpd="sng" algn="ctr">
                      <a:solidFill>
                        <a:srgbClr val="D5DCE0"/>
                      </a:solidFill>
                      <a:prstDash val="solid"/>
                      <a:round/>
                      <a:headEnd type="none" w="med" len="med"/>
                      <a:tailEnd type="none" w="med" len="med"/>
                    </a:lnR>
                    <a:lnT w="6350" cap="flat" cmpd="sng" algn="ctr">
                      <a:solidFill>
                        <a:srgbClr val="D5DCE0"/>
                      </a:solidFill>
                      <a:prstDash val="solid"/>
                      <a:round/>
                      <a:headEnd type="none" w="med" len="med"/>
                      <a:tailEnd type="none" w="med" len="med"/>
                    </a:lnT>
                    <a:lnB w="6350" cap="flat" cmpd="sng" algn="ctr">
                      <a:solidFill>
                        <a:srgbClr val="D5DCE0"/>
                      </a:solidFill>
                      <a:prstDash val="solid"/>
                      <a:round/>
                      <a:headEnd type="none" w="med" len="med"/>
                      <a:tailEnd type="none" w="med" len="med"/>
                    </a:lnB>
                    <a:solidFill>
                      <a:schemeClr val="bg1"/>
                    </a:solidFill>
                  </a:tcPr>
                </a:tc>
              </a:tr>
            </a:tbl>
          </a:graphicData>
        </a:graphic>
      </p:graphicFrame>
      <p:sp>
        <p:nvSpPr>
          <p:cNvPr id="23" name="card-433"/>
          <p:cNvSpPr/>
          <p:nvPr/>
        </p:nvSpPr>
        <p:spPr>
          <a:xfrm>
            <a:off x="6519672" y="4379976"/>
            <a:ext cx="5120640" cy="1792224"/>
          </a:xfrm>
          <a:prstGeom prst="roundRect">
            <a:avLst>
              <a:gd name="adj" fmla="val 6122"/>
            </a:avLst>
          </a:prstGeom>
          <a:solidFill>
            <a:srgbClr val="854F0B">
              <a:alpha val="10000"/>
            </a:srgbClr>
          </a:solidFill>
          <a:ln/>
        </p:spPr>
      </p:sp>
      <p:sp>
        <p:nvSpPr>
          <p:cNvPr id="24" name="txt-434"/>
          <p:cNvSpPr txBox="1"/>
          <p:nvPr/>
        </p:nvSpPr>
        <p:spPr>
          <a:xfrm>
            <a:off x="6702552" y="4489704"/>
            <a:ext cx="4754880" cy="292608"/>
          </a:xfrm>
          <a:prstGeom prst="rect">
            <a:avLst/>
          </a:prstGeom>
          <a:noFill/>
          <a:ln/>
        </p:spPr>
        <p:txBody>
          <a:bodyPr wrap="square" lIns="0" tIns="0" rIns="0" bIns="0" rtlCol="0" anchor="t"/>
          <a:lstStyle/>
          <a:p>
            <a:pPr indent="0" marL="0">
              <a:buNone/>
            </a:pPr>
            <a:r>
              <a:rPr lang="en-US" sz="1350" b="1" dirty="0">
                <a:solidFill>
                  <a:srgbClr val="854F0B"/>
                </a:solidFill>
              </a:rPr>
              <a:t>Les liens</a:t>
            </a:r>
            <a:endParaRPr lang="en-US" sz="1350" dirty="0"/>
          </a:p>
        </p:txBody>
      </p:sp>
      <p:sp>
        <p:nvSpPr>
          <p:cNvPr id="25" name="txt-435"/>
          <p:cNvSpPr txBox="1"/>
          <p:nvPr/>
        </p:nvSpPr>
        <p:spPr>
          <a:xfrm>
            <a:off x="6702552" y="4837176"/>
            <a:ext cx="4754880" cy="1243584"/>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rPr>
              <a:t>Une conversation contient plusieurs messages et un seul contexte actif.</a:t>
            </a:r>
            <a:endParaRPr lang="en-US" sz="1200" dirty="0"/>
          </a:p>
          <a:p>
            <a:pPr marL="342900" indent="-342900">
              <a:spcAft>
                <a:spcPts val="500"/>
              </a:spcAft>
              <a:buSzPct val="100000"/>
              <a:buChar char="•"/>
            </a:pPr>
            <a:r>
              <a:rPr lang="en-US" sz="1200" dirty="0">
                <a:solidFill>
                  <a:schemeClr val="tx1"/>
                </a:solidFill>
              </a:rPr>
              <a:t>Supprimer une conversation supprime ses messages et son contexte.</a:t>
            </a:r>
            <a:endParaRPr lang="en-US" sz="1200" dirty="0"/>
          </a:p>
          <a:p>
            <a:pPr marL="342900" indent="-342900">
              <a:spcAft>
                <a:spcPts val="500"/>
              </a:spcAft>
              <a:buSzPct val="100000"/>
              <a:buChar char="•"/>
            </a:pPr>
            <a:r>
              <a:rPr lang="en-US" sz="1200" dirty="0">
                <a:solidFill>
                  <a:schemeClr val="tx1"/>
                </a:solidFill>
              </a:rPr>
              <a:t>Les codes d'erreur sont cherchés par texte exact, sans embedding.</a:t>
            </a:r>
            <a:endParaRPr lang="en-US" sz="12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xt-436"/>
          <p:cNvSpPr txBox="1"/>
          <p:nvPr/>
        </p:nvSpPr>
        <p:spPr>
          <a:xfrm>
            <a:off x="731520" y="1097280"/>
            <a:ext cx="3657600" cy="320040"/>
          </a:xfrm>
          <a:prstGeom prst="rect">
            <a:avLst/>
          </a:prstGeom>
          <a:noFill/>
          <a:ln/>
        </p:spPr>
        <p:txBody>
          <a:bodyPr wrap="square" lIns="0" tIns="0" rIns="0" bIns="0" rtlCol="0" anchor="t"/>
          <a:lstStyle/>
          <a:p>
            <a:pPr indent="0" marL="0">
              <a:buNone/>
            </a:pPr>
            <a:r>
              <a:rPr lang="en-US" sz="1400" b="1" spc="200" kern="0" dirty="0">
                <a:solidFill>
                  <a:schemeClr val="accent2"/>
                </a:solidFill>
              </a:rPr>
              <a:t>PARTIE</a:t>
            </a:r>
            <a:endParaRPr lang="en-US" sz="1400" dirty="0"/>
          </a:p>
        </p:txBody>
      </p:sp>
      <p:sp>
        <p:nvSpPr>
          <p:cNvPr id="3" name="txt-437"/>
          <p:cNvSpPr txBox="1"/>
          <p:nvPr/>
        </p:nvSpPr>
        <p:spPr>
          <a:xfrm>
            <a:off x="731520" y="1417320"/>
            <a:ext cx="3657600" cy="1280160"/>
          </a:xfrm>
          <a:prstGeom prst="rect">
            <a:avLst/>
          </a:prstGeom>
          <a:noFill/>
          <a:ln/>
        </p:spPr>
        <p:txBody>
          <a:bodyPr wrap="square" lIns="0" tIns="0" rIns="0" bIns="0" rtlCol="0" anchor="t"/>
          <a:lstStyle/>
          <a:p>
            <a:pPr indent="0" marL="0">
              <a:buNone/>
            </a:pPr>
            <a:r>
              <a:rPr lang="en-US" sz="8800" b="1" dirty="0">
                <a:solidFill>
                  <a:schemeClr val="accent1"/>
                </a:solidFill>
                <a:latin typeface="Arial" pitchFamily="34" charset="0"/>
                <a:ea typeface="Arial" pitchFamily="34" charset="-122"/>
                <a:cs typeface="Arial" pitchFamily="34" charset="-120"/>
              </a:rPr>
              <a:t>V</a:t>
            </a:r>
            <a:endParaRPr lang="en-US" sz="8800" dirty="0"/>
          </a:p>
        </p:txBody>
      </p:sp>
      <p:sp>
        <p:nvSpPr>
          <p:cNvPr id="4" name="txt-438"/>
          <p:cNvSpPr txBox="1"/>
          <p:nvPr/>
        </p:nvSpPr>
        <p:spPr>
          <a:xfrm>
            <a:off x="731520" y="2697480"/>
            <a:ext cx="5486400" cy="1097280"/>
          </a:xfrm>
          <a:prstGeom prst="rect">
            <a:avLst/>
          </a:prstGeom>
          <a:noFill/>
          <a:ln/>
        </p:spPr>
        <p:txBody>
          <a:bodyPr wrap="square" lIns="0" tIns="0" rIns="0" bIns="0" rtlCol="0" anchor="t"/>
          <a:lstStyle/>
          <a:p>
            <a:pPr indent="0" marL="0">
              <a:buNone/>
            </a:pPr>
            <a:r>
              <a:rPr lang="en-US" sz="3000" b="1" dirty="0">
                <a:solidFill>
                  <a:schemeClr val="bg1"/>
                </a:solidFill>
                <a:latin typeface="Arial" pitchFamily="34" charset="0"/>
                <a:ea typeface="Arial" pitchFamily="34" charset="-122"/>
                <a:cs typeface="Arial" pitchFamily="34" charset="-120"/>
              </a:rPr>
              <a:t>L'intelligence artificielle</a:t>
            </a:r>
            <a:endParaRPr lang="en-US" sz="3000" dirty="0"/>
          </a:p>
        </p:txBody>
      </p:sp>
      <p:sp>
        <p:nvSpPr>
          <p:cNvPr id="5" name="txt-439"/>
          <p:cNvSpPr txBox="1"/>
          <p:nvPr/>
        </p:nvSpPr>
        <p:spPr>
          <a:xfrm>
            <a:off x="731520" y="3931920"/>
            <a:ext cx="5303520" cy="1188720"/>
          </a:xfrm>
          <a:prstGeom prst="rect">
            <a:avLst/>
          </a:prstGeom>
          <a:noFill/>
          <a:ln/>
        </p:spPr>
        <p:txBody>
          <a:bodyPr wrap="square" lIns="0" tIns="0" rIns="0" bIns="0" rtlCol="0" anchor="t"/>
          <a:lstStyle/>
          <a:p>
            <a:pPr indent="0" marL="0">
              <a:buNone/>
            </a:pPr>
            <a:r>
              <a:rPr lang="en-US" sz="1600" dirty="0">
                <a:solidFill>
                  <a:srgbClr val="C9D3D9"/>
                </a:solidFill>
              </a:rPr>
              <a:t>Comprendre comment ATM-BOT retrouve les bonnes solutions, et pourquoi ces choix techniques.</a:t>
            </a:r>
            <a:endParaRPr lang="en-US" sz="1600" dirty="0"/>
          </a:p>
        </p:txBody>
      </p:sp>
      <p:sp>
        <p:nvSpPr>
          <p:cNvPr id="6" name="txt-440"/>
          <p:cNvSpPr txBox="1"/>
          <p:nvPr/>
        </p:nvSpPr>
        <p:spPr>
          <a:xfrm>
            <a:off x="6766560" y="1463040"/>
            <a:ext cx="4846320" cy="365760"/>
          </a:xfrm>
          <a:prstGeom prst="rect">
            <a:avLst/>
          </a:prstGeom>
          <a:noFill/>
          <a:ln/>
        </p:spPr>
        <p:txBody>
          <a:bodyPr wrap="square" lIns="0" tIns="0" rIns="0" bIns="0" rtlCol="0" anchor="t"/>
          <a:lstStyle/>
          <a:p>
            <a:pPr indent="0" marL="0">
              <a:buNone/>
            </a:pPr>
            <a:r>
              <a:rPr lang="en-US" sz="1400" b="1" dirty="0">
                <a:solidFill>
                  <a:schemeClr val="accent2"/>
                </a:solidFill>
              </a:rPr>
              <a:t>Dans cette partie</a:t>
            </a:r>
            <a:endParaRPr lang="en-US" sz="1400" dirty="0"/>
          </a:p>
        </p:txBody>
      </p:sp>
      <p:sp>
        <p:nvSpPr>
          <p:cNvPr id="7" name="Shape 5"/>
          <p:cNvSpPr/>
          <p:nvPr/>
        </p:nvSpPr>
        <p:spPr>
          <a:xfrm>
            <a:off x="6766560" y="1965960"/>
            <a:ext cx="4873752" cy="329184"/>
          </a:xfrm>
          <a:prstGeom prst="roundRect">
            <a:avLst>
              <a:gd name="adj" fmla="val 27778"/>
            </a:avLst>
          </a:prstGeom>
          <a:solidFill>
            <a:srgbClr val="FFFFFF">
              <a:alpha val="8000"/>
            </a:srgbClr>
          </a:solidFill>
          <a:ln/>
        </p:spPr>
      </p:sp>
      <p:sp>
        <p:nvSpPr>
          <p:cNvPr id="8" name="txt-441"/>
          <p:cNvSpPr txBox="1"/>
          <p:nvPr/>
        </p:nvSpPr>
        <p:spPr>
          <a:xfrm>
            <a:off x="6949440" y="1965960"/>
            <a:ext cx="4572000" cy="329184"/>
          </a:xfrm>
          <a:prstGeom prst="rect">
            <a:avLst/>
          </a:prstGeom>
          <a:noFill/>
          <a:ln/>
        </p:spPr>
        <p:txBody>
          <a:bodyPr wrap="square" lIns="0" tIns="0" rIns="0" bIns="0" rtlCol="0" anchor="ctr"/>
          <a:lstStyle/>
          <a:p>
            <a:pPr indent="0" marL="0">
              <a:buNone/>
            </a:pPr>
            <a:r>
              <a:rPr lang="en-US" sz="1300" dirty="0">
                <a:solidFill>
                  <a:schemeClr val="bg1"/>
                </a:solidFill>
              </a:rPr>
              <a:t>a) Recherche sémantique : objectif et définition</a:t>
            </a:r>
            <a:endParaRPr lang="en-US" sz="1300" dirty="0"/>
          </a:p>
        </p:txBody>
      </p:sp>
      <p:sp>
        <p:nvSpPr>
          <p:cNvPr id="9" name="Shape 7"/>
          <p:cNvSpPr/>
          <p:nvPr/>
        </p:nvSpPr>
        <p:spPr>
          <a:xfrm>
            <a:off x="6766560" y="2404872"/>
            <a:ext cx="4873752" cy="329184"/>
          </a:xfrm>
          <a:prstGeom prst="roundRect">
            <a:avLst>
              <a:gd name="adj" fmla="val 27778"/>
            </a:avLst>
          </a:prstGeom>
          <a:solidFill>
            <a:srgbClr val="FFFFFF">
              <a:alpha val="8000"/>
            </a:srgbClr>
          </a:solidFill>
          <a:ln/>
        </p:spPr>
      </p:sp>
      <p:sp>
        <p:nvSpPr>
          <p:cNvPr id="10" name="txt-442"/>
          <p:cNvSpPr txBox="1"/>
          <p:nvPr/>
        </p:nvSpPr>
        <p:spPr>
          <a:xfrm>
            <a:off x="6949440" y="2404872"/>
            <a:ext cx="4572000" cy="329184"/>
          </a:xfrm>
          <a:prstGeom prst="rect">
            <a:avLst/>
          </a:prstGeom>
          <a:noFill/>
          <a:ln/>
        </p:spPr>
        <p:txBody>
          <a:bodyPr wrap="square" lIns="0" tIns="0" rIns="0" bIns="0" rtlCol="0" anchor="ctr"/>
          <a:lstStyle/>
          <a:p>
            <a:pPr indent="0" marL="0">
              <a:buNone/>
            </a:pPr>
            <a:r>
              <a:rPr lang="en-US" sz="1300" dirty="0">
                <a:solidFill>
                  <a:schemeClr val="bg1"/>
                </a:solidFill>
              </a:rPr>
              <a:t>b) Recherche sémantique : fonctionnement</a:t>
            </a:r>
            <a:endParaRPr lang="en-US" sz="1300" dirty="0"/>
          </a:p>
        </p:txBody>
      </p:sp>
      <p:sp>
        <p:nvSpPr>
          <p:cNvPr id="11" name="Shape 9"/>
          <p:cNvSpPr/>
          <p:nvPr/>
        </p:nvSpPr>
        <p:spPr>
          <a:xfrm>
            <a:off x="6766560" y="2843784"/>
            <a:ext cx="4873752" cy="329184"/>
          </a:xfrm>
          <a:prstGeom prst="roundRect">
            <a:avLst>
              <a:gd name="adj" fmla="val 27778"/>
            </a:avLst>
          </a:prstGeom>
          <a:solidFill>
            <a:srgbClr val="FFFFFF">
              <a:alpha val="8000"/>
            </a:srgbClr>
          </a:solidFill>
          <a:ln/>
        </p:spPr>
      </p:sp>
      <p:sp>
        <p:nvSpPr>
          <p:cNvPr id="12" name="txt-443"/>
          <p:cNvSpPr txBox="1"/>
          <p:nvPr/>
        </p:nvSpPr>
        <p:spPr>
          <a:xfrm>
            <a:off x="6949440" y="2843784"/>
            <a:ext cx="4572000" cy="329184"/>
          </a:xfrm>
          <a:prstGeom prst="rect">
            <a:avLst/>
          </a:prstGeom>
          <a:noFill/>
          <a:ln/>
        </p:spPr>
        <p:txBody>
          <a:bodyPr wrap="square" lIns="0" tIns="0" rIns="0" bIns="0" rtlCol="0" anchor="ctr"/>
          <a:lstStyle/>
          <a:p>
            <a:pPr indent="0" marL="0">
              <a:buNone/>
            </a:pPr>
            <a:r>
              <a:rPr lang="en-US" sz="1300" dirty="0">
                <a:solidFill>
                  <a:schemeClr val="bg1"/>
                </a:solidFill>
              </a:rPr>
              <a:t>c) Voyage AI : ce que c'est et comment ça marche</a:t>
            </a:r>
            <a:endParaRPr lang="en-US" sz="1300" dirty="0"/>
          </a:p>
        </p:txBody>
      </p:sp>
      <p:sp>
        <p:nvSpPr>
          <p:cNvPr id="13" name="Shape 11"/>
          <p:cNvSpPr/>
          <p:nvPr/>
        </p:nvSpPr>
        <p:spPr>
          <a:xfrm>
            <a:off x="6766560" y="3282696"/>
            <a:ext cx="4873752" cy="329184"/>
          </a:xfrm>
          <a:prstGeom prst="roundRect">
            <a:avLst>
              <a:gd name="adj" fmla="val 27778"/>
            </a:avLst>
          </a:prstGeom>
          <a:solidFill>
            <a:srgbClr val="FFFFFF">
              <a:alpha val="8000"/>
            </a:srgbClr>
          </a:solidFill>
          <a:ln/>
        </p:spPr>
      </p:sp>
      <p:sp>
        <p:nvSpPr>
          <p:cNvPr id="14" name="txt-444"/>
          <p:cNvSpPr txBox="1"/>
          <p:nvPr/>
        </p:nvSpPr>
        <p:spPr>
          <a:xfrm>
            <a:off x="6949440" y="3282696"/>
            <a:ext cx="4572000" cy="329184"/>
          </a:xfrm>
          <a:prstGeom prst="rect">
            <a:avLst/>
          </a:prstGeom>
          <a:noFill/>
          <a:ln/>
        </p:spPr>
        <p:txBody>
          <a:bodyPr wrap="square" lIns="0" tIns="0" rIns="0" bIns="0" rtlCol="0" anchor="ctr"/>
          <a:lstStyle/>
          <a:p>
            <a:pPr indent="0" marL="0">
              <a:buNone/>
            </a:pPr>
            <a:r>
              <a:rPr lang="en-US" sz="1300" dirty="0">
                <a:solidFill>
                  <a:schemeClr val="bg1"/>
                </a:solidFill>
              </a:rPr>
              <a:t>d) Voyage AI : pourquoi c'est incontournable</a:t>
            </a:r>
            <a:endParaRPr lang="en-US" sz="1300" dirty="0"/>
          </a:p>
        </p:txBody>
      </p:sp>
      <p:sp>
        <p:nvSpPr>
          <p:cNvPr id="15" name="Shape 13"/>
          <p:cNvSpPr/>
          <p:nvPr/>
        </p:nvSpPr>
        <p:spPr>
          <a:xfrm>
            <a:off x="6766560" y="3721608"/>
            <a:ext cx="4873752" cy="329184"/>
          </a:xfrm>
          <a:prstGeom prst="roundRect">
            <a:avLst>
              <a:gd name="adj" fmla="val 27778"/>
            </a:avLst>
          </a:prstGeom>
          <a:solidFill>
            <a:srgbClr val="FFFFFF">
              <a:alpha val="8000"/>
            </a:srgbClr>
          </a:solidFill>
          <a:ln/>
        </p:spPr>
      </p:sp>
      <p:sp>
        <p:nvSpPr>
          <p:cNvPr id="16" name="txt-445"/>
          <p:cNvSpPr txBox="1"/>
          <p:nvPr/>
        </p:nvSpPr>
        <p:spPr>
          <a:xfrm>
            <a:off x="6949440" y="3721608"/>
            <a:ext cx="4572000" cy="329184"/>
          </a:xfrm>
          <a:prstGeom prst="rect">
            <a:avLst/>
          </a:prstGeom>
          <a:noFill/>
          <a:ln/>
        </p:spPr>
        <p:txBody>
          <a:bodyPr wrap="square" lIns="0" tIns="0" rIns="0" bIns="0" rtlCol="0" anchor="ctr"/>
          <a:lstStyle/>
          <a:p>
            <a:pPr indent="0" marL="0">
              <a:buNone/>
            </a:pPr>
            <a:r>
              <a:rPr lang="en-US" sz="1300" dirty="0">
                <a:solidFill>
                  <a:schemeClr val="bg1"/>
                </a:solidFill>
              </a:rPr>
              <a:t>e) Le rôle de Claude et de Voyage AI</a:t>
            </a:r>
            <a:endParaRPr lang="en-US" sz="1300" dirty="0"/>
          </a:p>
        </p:txBody>
      </p:sp>
      <p:sp>
        <p:nvSpPr>
          <p:cNvPr id="17" name="Shape 15"/>
          <p:cNvSpPr/>
          <p:nvPr/>
        </p:nvSpPr>
        <p:spPr>
          <a:xfrm>
            <a:off x="6766560" y="4160520"/>
            <a:ext cx="4873752" cy="329184"/>
          </a:xfrm>
          <a:prstGeom prst="roundRect">
            <a:avLst>
              <a:gd name="adj" fmla="val 27778"/>
            </a:avLst>
          </a:prstGeom>
          <a:solidFill>
            <a:srgbClr val="FFFFFF">
              <a:alpha val="8000"/>
            </a:srgbClr>
          </a:solidFill>
          <a:ln/>
        </p:spPr>
      </p:sp>
      <p:sp>
        <p:nvSpPr>
          <p:cNvPr id="18" name="txt-446"/>
          <p:cNvSpPr txBox="1"/>
          <p:nvPr/>
        </p:nvSpPr>
        <p:spPr>
          <a:xfrm>
            <a:off x="6949440" y="4160520"/>
            <a:ext cx="4572000" cy="329184"/>
          </a:xfrm>
          <a:prstGeom prst="rect">
            <a:avLst/>
          </a:prstGeom>
          <a:noFill/>
          <a:ln/>
        </p:spPr>
        <p:txBody>
          <a:bodyPr wrap="square" lIns="0" tIns="0" rIns="0" bIns="0" rtlCol="0" anchor="ctr"/>
          <a:lstStyle/>
          <a:p>
            <a:pPr indent="0" marL="0">
              <a:buNone/>
            </a:pPr>
            <a:r>
              <a:rPr lang="en-US" sz="1300" dirty="0">
                <a:solidFill>
                  <a:schemeClr val="bg1"/>
                </a:solidFill>
              </a:rPr>
              <a:t>f) Efficacité : la comparaison</a:t>
            </a:r>
            <a:endParaRPr lang="en-US" sz="1300" dirty="0"/>
          </a:p>
        </p:txBody>
      </p:sp>
      <p:sp>
        <p:nvSpPr>
          <p:cNvPr id="19" name="Shape 17"/>
          <p:cNvSpPr/>
          <p:nvPr/>
        </p:nvSpPr>
        <p:spPr>
          <a:xfrm>
            <a:off x="6766560" y="4599432"/>
            <a:ext cx="4873752" cy="329184"/>
          </a:xfrm>
          <a:prstGeom prst="roundRect">
            <a:avLst>
              <a:gd name="adj" fmla="val 27778"/>
            </a:avLst>
          </a:prstGeom>
          <a:solidFill>
            <a:srgbClr val="FFFFFF">
              <a:alpha val="8000"/>
            </a:srgbClr>
          </a:solidFill>
          <a:ln/>
        </p:spPr>
      </p:sp>
      <p:sp>
        <p:nvSpPr>
          <p:cNvPr id="20" name="txt-447"/>
          <p:cNvSpPr txBox="1"/>
          <p:nvPr/>
        </p:nvSpPr>
        <p:spPr>
          <a:xfrm>
            <a:off x="6949440" y="4599432"/>
            <a:ext cx="4572000" cy="329184"/>
          </a:xfrm>
          <a:prstGeom prst="rect">
            <a:avLst/>
          </a:prstGeom>
          <a:noFill/>
          <a:ln/>
        </p:spPr>
        <p:txBody>
          <a:bodyPr wrap="square" lIns="0" tIns="0" rIns="0" bIns="0" rtlCol="0" anchor="ctr"/>
          <a:lstStyle/>
          <a:p>
            <a:pPr indent="0" marL="0">
              <a:buNone/>
            </a:pPr>
            <a:r>
              <a:rPr lang="en-US" sz="1300" dirty="0">
                <a:solidFill>
                  <a:schemeClr val="bg1"/>
                </a:solidFill>
              </a:rPr>
              <a:t>g) Efficacité : Claude ne produit pas d'embedding</a:t>
            </a:r>
            <a:endParaRPr lang="en-US" sz="1300" dirty="0"/>
          </a:p>
        </p:txBody>
      </p:sp>
      <p:sp>
        <p:nvSpPr>
          <p:cNvPr id="21" name="Shape 19"/>
          <p:cNvSpPr/>
          <p:nvPr/>
        </p:nvSpPr>
        <p:spPr>
          <a:xfrm>
            <a:off x="6766560" y="5038344"/>
            <a:ext cx="4873752" cy="329184"/>
          </a:xfrm>
          <a:prstGeom prst="roundRect">
            <a:avLst>
              <a:gd name="adj" fmla="val 27778"/>
            </a:avLst>
          </a:prstGeom>
          <a:solidFill>
            <a:srgbClr val="FFFFFF">
              <a:alpha val="8000"/>
            </a:srgbClr>
          </a:solidFill>
          <a:ln/>
        </p:spPr>
      </p:sp>
      <p:sp>
        <p:nvSpPr>
          <p:cNvPr id="22" name="txt-448"/>
          <p:cNvSpPr txBox="1"/>
          <p:nvPr/>
        </p:nvSpPr>
        <p:spPr>
          <a:xfrm>
            <a:off x="6949440" y="5038344"/>
            <a:ext cx="4572000" cy="329184"/>
          </a:xfrm>
          <a:prstGeom prst="rect">
            <a:avLst/>
          </a:prstGeom>
          <a:noFill/>
          <a:ln/>
        </p:spPr>
        <p:txBody>
          <a:bodyPr wrap="square" lIns="0" tIns="0" rIns="0" bIns="0" rtlCol="0" anchor="ctr"/>
          <a:lstStyle/>
          <a:p>
            <a:pPr indent="0" marL="0">
              <a:buNone/>
            </a:pPr>
            <a:r>
              <a:rPr lang="en-US" sz="1300" dirty="0">
                <a:solidFill>
                  <a:schemeClr val="bg1"/>
                </a:solidFill>
              </a:rPr>
              <a:t>h) Coûts : comment on calcule</a:t>
            </a:r>
            <a:endParaRPr lang="en-US" sz="1300" dirty="0"/>
          </a:p>
        </p:txBody>
      </p:sp>
      <p:sp>
        <p:nvSpPr>
          <p:cNvPr id="23" name="Shape 21"/>
          <p:cNvSpPr/>
          <p:nvPr/>
        </p:nvSpPr>
        <p:spPr>
          <a:xfrm>
            <a:off x="6766560" y="5477256"/>
            <a:ext cx="4873752" cy="329184"/>
          </a:xfrm>
          <a:prstGeom prst="roundRect">
            <a:avLst>
              <a:gd name="adj" fmla="val 27778"/>
            </a:avLst>
          </a:prstGeom>
          <a:solidFill>
            <a:srgbClr val="FFFFFF">
              <a:alpha val="8000"/>
            </a:srgbClr>
          </a:solidFill>
          <a:ln/>
        </p:spPr>
      </p:sp>
      <p:sp>
        <p:nvSpPr>
          <p:cNvPr id="24" name="txt-449"/>
          <p:cNvSpPr txBox="1"/>
          <p:nvPr/>
        </p:nvSpPr>
        <p:spPr>
          <a:xfrm>
            <a:off x="6949440" y="5477256"/>
            <a:ext cx="4572000" cy="329184"/>
          </a:xfrm>
          <a:prstGeom prst="rect">
            <a:avLst/>
          </a:prstGeom>
          <a:noFill/>
          <a:ln/>
        </p:spPr>
        <p:txBody>
          <a:bodyPr wrap="square" lIns="0" tIns="0" rIns="0" bIns="0" rtlCol="0" anchor="ctr"/>
          <a:lstStyle/>
          <a:p>
            <a:pPr indent="0" marL="0">
              <a:buNone/>
            </a:pPr>
            <a:r>
              <a:rPr lang="en-US" sz="1300" dirty="0">
                <a:solidFill>
                  <a:schemeClr val="bg1"/>
                </a:solidFill>
              </a:rPr>
              <a:t>i) Coûts : selon la taille de la base</a:t>
            </a:r>
            <a:endParaRPr lang="en-US" sz="1300" dirty="0"/>
          </a:p>
        </p:txBody>
      </p:sp>
      <p:sp>
        <p:nvSpPr>
          <p:cNvPr id="25" name="Shape 23"/>
          <p:cNvSpPr/>
          <p:nvPr/>
        </p:nvSpPr>
        <p:spPr>
          <a:xfrm>
            <a:off x="6766560" y="5916168"/>
            <a:ext cx="4873752" cy="329184"/>
          </a:xfrm>
          <a:prstGeom prst="roundRect">
            <a:avLst>
              <a:gd name="adj" fmla="val 27778"/>
            </a:avLst>
          </a:prstGeom>
          <a:solidFill>
            <a:srgbClr val="FFFFFF">
              <a:alpha val="8000"/>
            </a:srgbClr>
          </a:solidFill>
          <a:ln/>
        </p:spPr>
      </p:sp>
      <p:sp>
        <p:nvSpPr>
          <p:cNvPr id="26" name="txt-450"/>
          <p:cNvSpPr txBox="1"/>
          <p:nvPr/>
        </p:nvSpPr>
        <p:spPr>
          <a:xfrm>
            <a:off x="6949440" y="5916168"/>
            <a:ext cx="4572000" cy="329184"/>
          </a:xfrm>
          <a:prstGeom prst="rect">
            <a:avLst/>
          </a:prstGeom>
          <a:noFill/>
          <a:ln/>
        </p:spPr>
        <p:txBody>
          <a:bodyPr wrap="square" lIns="0" tIns="0" rIns="0" bIns="0" rtlCol="0" anchor="ctr"/>
          <a:lstStyle/>
          <a:p>
            <a:pPr indent="0" marL="0">
              <a:buNone/>
            </a:pPr>
            <a:r>
              <a:rPr lang="en-US" sz="1300" dirty="0">
                <a:solidFill>
                  <a:schemeClr val="bg1"/>
                </a:solidFill>
              </a:rPr>
              <a:t>j) Le classement des solutions</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partie"/>
          <p:cNvSpPr txBox="1"/>
          <p:nvPr/>
        </p:nvSpPr>
        <p:spPr>
          <a:xfrm>
            <a:off x="548640" y="182880"/>
            <a:ext cx="8229600" cy="256032"/>
          </a:xfrm>
          <a:prstGeom prst="rect">
            <a:avLst/>
          </a:prstGeom>
          <a:noFill/>
          <a:ln/>
        </p:spPr>
        <p:txBody>
          <a:bodyPr wrap="square" lIns="0" tIns="0" rIns="0" bIns="0" rtlCol="0" anchor="ctr"/>
          <a:lstStyle/>
          <a:p>
            <a:pPr indent="0" marL="0">
              <a:buNone/>
            </a:pPr>
            <a:r>
              <a:rPr lang="en-US" sz="1100" b="1" spc="150" kern="0" dirty="0">
                <a:solidFill>
                  <a:schemeClr val="accent1"/>
                </a:solidFill>
              </a:rPr>
              <a:t>V. L'INTELLIGENCE ARTIFICIELLE</a:t>
            </a:r>
            <a:endParaRPr lang="en-US" sz="1100" dirty="0"/>
          </a:p>
        </p:txBody>
      </p:sp>
      <p:sp>
        <p:nvSpPr>
          <p:cNvPr id="3" name="Text 0"/>
          <p:cNvSpPr/>
          <p:nvPr>
            <p:ph idx="100" type="title" hasCustomPrompt="1"/>
          </p:nvPr>
        </p:nvSpPr>
        <p:spPr>
          <a:xfrm>
            <a:off x="548640" y="438912"/>
            <a:ext cx="11091672" cy="54864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a) Recherche sémantique : objectif et définition</a:t>
            </a:r>
            <a:endParaRPr lang="en-US" sz="2800" dirty="0"/>
          </a:p>
        </p:txBody>
      </p:sp>
      <p:pic>
        <p:nvPicPr>
          <p:cNvPr id="4" name="icone-objectif" descr="preencoded.png">    </p:cNvPr>
          <p:cNvPicPr>
            <a:picLocks noChangeAspect="1"/>
          </p:cNvPicPr>
          <p:nvPr/>
        </p:nvPicPr>
        <p:blipFill>
          <a:blip r:embed="rId1"/>
          <a:stretch>
            <a:fillRect/>
          </a:stretch>
        </p:blipFill>
        <p:spPr>
          <a:xfrm>
            <a:off x="548640" y="1033272"/>
            <a:ext cx="237744" cy="237744"/>
          </a:xfrm>
          <a:prstGeom prst="rect">
            <a:avLst/>
          </a:prstGeom>
        </p:spPr>
      </p:pic>
      <p:sp>
        <p:nvSpPr>
          <p:cNvPr id="5" name="objectif"/>
          <p:cNvSpPr txBox="1"/>
          <p:nvPr/>
        </p:nvSpPr>
        <p:spPr>
          <a:xfrm>
            <a:off x="868680" y="987552"/>
            <a:ext cx="10771632" cy="329184"/>
          </a:xfrm>
          <a:prstGeom prst="rect">
            <a:avLst/>
          </a:prstGeom>
          <a:noFill/>
          <a:ln/>
        </p:spPr>
        <p:txBody>
          <a:bodyPr wrap="square" lIns="0" tIns="0" rIns="0" bIns="0" rtlCol="0" anchor="ctr"/>
          <a:lstStyle/>
          <a:p>
            <a:pPr indent="0" marL="0">
              <a:buNone/>
            </a:pPr>
            <a:r>
              <a:rPr lang="en-US" sz="1400" b="1" i="1" dirty="0">
                <a:solidFill>
                  <a:schemeClr val="tx2"/>
                </a:solidFill>
              </a:rPr>
              <a:t>Objectif : </a:t>
            </a:r>
            <a:pPr indent="0" marL="0">
              <a:buNone/>
            </a:pPr>
            <a:r>
              <a:rPr lang="en-US" sz="1400" i="1" dirty="0">
                <a:solidFill>
                  <a:schemeClr val="tx2"/>
                </a:solidFill>
              </a:rPr>
              <a:t>Comprendre pourquoi une simple recherche par mots-clés ne suffit pas.</a:t>
            </a:r>
            <a:endParaRPr lang="en-US" sz="1400" dirty="0"/>
          </a:p>
        </p:txBody>
      </p:sp>
      <p:sp>
        <p:nvSpPr>
          <p:cNvPr id="6" name="card-451"/>
          <p:cNvSpPr/>
          <p:nvPr/>
        </p:nvSpPr>
        <p:spPr>
          <a:xfrm>
            <a:off x="548640" y="1463040"/>
            <a:ext cx="4937760" cy="2194560"/>
          </a:xfrm>
          <a:prstGeom prst="roundRect">
            <a:avLst>
              <a:gd name="adj" fmla="val 5000"/>
            </a:avLst>
          </a:prstGeom>
          <a:solidFill>
            <a:schemeClr val="bg2"/>
          </a:solidFill>
          <a:ln/>
        </p:spPr>
      </p:sp>
      <p:sp>
        <p:nvSpPr>
          <p:cNvPr id="7" name="pastille-452"/>
          <p:cNvSpPr/>
          <p:nvPr/>
        </p:nvSpPr>
        <p:spPr>
          <a:xfrm>
            <a:off x="777240" y="1691640"/>
            <a:ext cx="548640" cy="548640"/>
          </a:xfrm>
          <a:prstGeom prst="ellipse">
            <a:avLst/>
          </a:prstGeom>
          <a:solidFill>
            <a:schemeClr val="accent1"/>
          </a:solidFill>
          <a:ln/>
        </p:spPr>
      </p:sp>
      <p:pic>
        <p:nvPicPr>
          <p:cNvPr id="8" name="icone-453" descr="preencoded.png">    </p:cNvPr>
          <p:cNvPicPr>
            <a:picLocks noChangeAspect="1"/>
          </p:cNvPicPr>
          <p:nvPr/>
        </p:nvPicPr>
        <p:blipFill>
          <a:blip r:embed="rId2"/>
          <a:stretch>
            <a:fillRect/>
          </a:stretch>
        </p:blipFill>
        <p:spPr>
          <a:xfrm>
            <a:off x="897941" y="1812341"/>
            <a:ext cx="307238" cy="307238"/>
          </a:xfrm>
          <a:prstGeom prst="rect">
            <a:avLst/>
          </a:prstGeom>
        </p:spPr>
      </p:pic>
      <p:sp>
        <p:nvSpPr>
          <p:cNvPr id="9" name="txt-454"/>
          <p:cNvSpPr txBox="1"/>
          <p:nvPr/>
        </p:nvSpPr>
        <p:spPr>
          <a:xfrm>
            <a:off x="1463040" y="1691640"/>
            <a:ext cx="3840480" cy="548640"/>
          </a:xfrm>
          <a:prstGeom prst="rect">
            <a:avLst/>
          </a:prstGeom>
          <a:noFill/>
          <a:ln/>
        </p:spPr>
        <p:txBody>
          <a:bodyPr wrap="square" lIns="0" tIns="0" rIns="0" bIns="0" rtlCol="0" anchor="ctr"/>
          <a:lstStyle/>
          <a:p>
            <a:pPr indent="0" marL="0">
              <a:buNone/>
            </a:pPr>
            <a:r>
              <a:rPr lang="en-US" sz="1700" b="1" dirty="0">
                <a:solidFill>
                  <a:schemeClr val="tx1"/>
                </a:solidFill>
              </a:rPr>
              <a:t>Objectif</a:t>
            </a:r>
            <a:endParaRPr lang="en-US" sz="1700" dirty="0"/>
          </a:p>
        </p:txBody>
      </p:sp>
      <p:sp>
        <p:nvSpPr>
          <p:cNvPr id="10" name="txt-455"/>
          <p:cNvSpPr txBox="1"/>
          <p:nvPr/>
        </p:nvSpPr>
        <p:spPr>
          <a:xfrm>
            <a:off x="777240" y="2377440"/>
            <a:ext cx="4526280" cy="1188720"/>
          </a:xfrm>
          <a:prstGeom prst="rect">
            <a:avLst/>
          </a:prstGeom>
          <a:noFill/>
          <a:ln/>
        </p:spPr>
        <p:txBody>
          <a:bodyPr wrap="square" lIns="0" tIns="0" rIns="0" bIns="0" rtlCol="0" anchor="t"/>
          <a:lstStyle/>
          <a:p>
            <a:pPr indent="0" marL="0">
              <a:buNone/>
            </a:pPr>
            <a:r>
              <a:rPr lang="en-US" sz="1400" dirty="0">
                <a:solidFill>
                  <a:schemeClr val="tx2"/>
                </a:solidFill>
              </a:rPr>
              <a:t>Retrouver les interventions déjà résolues qui ressemblent au problème du technicien, même si elles ont été écrites avec d'autres mots.</a:t>
            </a:r>
            <a:endParaRPr lang="en-US" sz="1400" dirty="0"/>
          </a:p>
        </p:txBody>
      </p:sp>
      <p:sp>
        <p:nvSpPr>
          <p:cNvPr id="11" name="card-456"/>
          <p:cNvSpPr/>
          <p:nvPr/>
        </p:nvSpPr>
        <p:spPr>
          <a:xfrm>
            <a:off x="548640" y="3840480"/>
            <a:ext cx="4937760" cy="2240280"/>
          </a:xfrm>
          <a:prstGeom prst="roundRect">
            <a:avLst>
              <a:gd name="adj" fmla="val 4898"/>
            </a:avLst>
          </a:prstGeom>
          <a:solidFill>
            <a:schemeClr val="bg2"/>
          </a:solidFill>
          <a:ln/>
        </p:spPr>
      </p:sp>
      <p:sp>
        <p:nvSpPr>
          <p:cNvPr id="12" name="pastille-457"/>
          <p:cNvSpPr/>
          <p:nvPr/>
        </p:nvSpPr>
        <p:spPr>
          <a:xfrm>
            <a:off x="777240" y="4069080"/>
            <a:ext cx="548640" cy="548640"/>
          </a:xfrm>
          <a:prstGeom prst="ellipse">
            <a:avLst/>
          </a:prstGeom>
          <a:solidFill>
            <a:schemeClr val="accent3"/>
          </a:solidFill>
          <a:ln/>
        </p:spPr>
      </p:sp>
      <p:pic>
        <p:nvPicPr>
          <p:cNvPr id="13" name="icone-458" descr="preencoded.png">    </p:cNvPr>
          <p:cNvPicPr>
            <a:picLocks noChangeAspect="1"/>
          </p:cNvPicPr>
          <p:nvPr/>
        </p:nvPicPr>
        <p:blipFill>
          <a:blip r:embed="rId3"/>
          <a:stretch>
            <a:fillRect/>
          </a:stretch>
        </p:blipFill>
        <p:spPr>
          <a:xfrm>
            <a:off x="897941" y="4189781"/>
            <a:ext cx="307238" cy="307238"/>
          </a:xfrm>
          <a:prstGeom prst="rect">
            <a:avLst/>
          </a:prstGeom>
        </p:spPr>
      </p:pic>
      <p:sp>
        <p:nvSpPr>
          <p:cNvPr id="14" name="txt-459"/>
          <p:cNvSpPr txBox="1"/>
          <p:nvPr/>
        </p:nvSpPr>
        <p:spPr>
          <a:xfrm>
            <a:off x="1463040" y="4069080"/>
            <a:ext cx="3840480" cy="548640"/>
          </a:xfrm>
          <a:prstGeom prst="rect">
            <a:avLst/>
          </a:prstGeom>
          <a:noFill/>
          <a:ln/>
        </p:spPr>
        <p:txBody>
          <a:bodyPr wrap="square" lIns="0" tIns="0" rIns="0" bIns="0" rtlCol="0" anchor="ctr"/>
          <a:lstStyle/>
          <a:p>
            <a:pPr indent="0" marL="0">
              <a:buNone/>
            </a:pPr>
            <a:r>
              <a:rPr lang="en-US" sz="1700" b="1" dirty="0">
                <a:solidFill>
                  <a:schemeClr val="tx1"/>
                </a:solidFill>
              </a:rPr>
              <a:t>Définition</a:t>
            </a:r>
            <a:endParaRPr lang="en-US" sz="1700" dirty="0"/>
          </a:p>
        </p:txBody>
      </p:sp>
      <p:sp>
        <p:nvSpPr>
          <p:cNvPr id="15" name="txt-460"/>
          <p:cNvSpPr txBox="1"/>
          <p:nvPr/>
        </p:nvSpPr>
        <p:spPr>
          <a:xfrm>
            <a:off x="777240" y="4754880"/>
            <a:ext cx="4526280" cy="1234440"/>
          </a:xfrm>
          <a:prstGeom prst="rect">
            <a:avLst/>
          </a:prstGeom>
          <a:noFill/>
          <a:ln/>
        </p:spPr>
        <p:txBody>
          <a:bodyPr wrap="square" lIns="0" tIns="0" rIns="0" bIns="0" rtlCol="0" anchor="t"/>
          <a:lstStyle/>
          <a:p>
            <a:pPr indent="0" marL="0">
              <a:buNone/>
            </a:pPr>
            <a:r>
              <a:rPr lang="en-US" sz="1400" dirty="0">
                <a:solidFill>
                  <a:schemeClr val="tx2"/>
                </a:solidFill>
              </a:rPr>
              <a:t>La recherche sémantique compare le sens des phrases, pas leurs mots. Chaque texte devient un vecteur : deux textes de sens proche donnent des vecteurs proches.</a:t>
            </a:r>
            <a:endParaRPr lang="en-US" sz="1400" dirty="0"/>
          </a:p>
        </p:txBody>
      </p:sp>
      <p:sp>
        <p:nvSpPr>
          <p:cNvPr id="16" name="card-461"/>
          <p:cNvSpPr/>
          <p:nvPr/>
        </p:nvSpPr>
        <p:spPr>
          <a:xfrm>
            <a:off x="5760720" y="1463040"/>
            <a:ext cx="5879592" cy="4617720"/>
          </a:xfrm>
          <a:prstGeom prst="roundRect">
            <a:avLst>
              <a:gd name="adj" fmla="val 2376"/>
            </a:avLst>
          </a:prstGeom>
          <a:solidFill>
            <a:schemeClr val="accent4">
              <a:alpha val="8000"/>
            </a:schemeClr>
          </a:solidFill>
          <a:ln/>
        </p:spPr>
      </p:sp>
      <p:sp>
        <p:nvSpPr>
          <p:cNvPr id="17" name="pastille-462"/>
          <p:cNvSpPr/>
          <p:nvPr/>
        </p:nvSpPr>
        <p:spPr>
          <a:xfrm>
            <a:off x="5989320" y="1691640"/>
            <a:ext cx="548640" cy="548640"/>
          </a:xfrm>
          <a:prstGeom prst="ellipse">
            <a:avLst/>
          </a:prstGeom>
          <a:solidFill>
            <a:schemeClr val="accent4"/>
          </a:solidFill>
          <a:ln/>
        </p:spPr>
      </p:sp>
      <p:pic>
        <p:nvPicPr>
          <p:cNvPr id="18" name="icone-463" descr="preencoded.png">    </p:cNvPr>
          <p:cNvPicPr>
            <a:picLocks noChangeAspect="1"/>
          </p:cNvPicPr>
          <p:nvPr/>
        </p:nvPicPr>
        <p:blipFill>
          <a:blip r:embed="rId4"/>
          <a:stretch>
            <a:fillRect/>
          </a:stretch>
        </p:blipFill>
        <p:spPr>
          <a:xfrm>
            <a:off x="6110021" y="1812341"/>
            <a:ext cx="307238" cy="307238"/>
          </a:xfrm>
          <a:prstGeom prst="rect">
            <a:avLst/>
          </a:prstGeom>
        </p:spPr>
      </p:pic>
      <p:sp>
        <p:nvSpPr>
          <p:cNvPr id="19" name="txt-464"/>
          <p:cNvSpPr txBox="1"/>
          <p:nvPr/>
        </p:nvSpPr>
        <p:spPr>
          <a:xfrm>
            <a:off x="6675120" y="1691640"/>
            <a:ext cx="4754880" cy="548640"/>
          </a:xfrm>
          <a:prstGeom prst="rect">
            <a:avLst/>
          </a:prstGeom>
          <a:noFill/>
          <a:ln/>
        </p:spPr>
        <p:txBody>
          <a:bodyPr wrap="square" lIns="0" tIns="0" rIns="0" bIns="0" rtlCol="0" anchor="ctr"/>
          <a:lstStyle/>
          <a:p>
            <a:pPr indent="0" marL="0">
              <a:buNone/>
            </a:pPr>
            <a:r>
              <a:rPr lang="en-US" sz="1700" b="1" dirty="0">
                <a:solidFill>
                  <a:schemeClr val="tx1"/>
                </a:solidFill>
              </a:rPr>
              <a:t>Le problème</a:t>
            </a:r>
            <a:endParaRPr lang="en-US" sz="1700" dirty="0"/>
          </a:p>
        </p:txBody>
      </p:sp>
      <p:sp>
        <p:nvSpPr>
          <p:cNvPr id="20" name="txt-465"/>
          <p:cNvSpPr txBox="1"/>
          <p:nvPr/>
        </p:nvSpPr>
        <p:spPr>
          <a:xfrm>
            <a:off x="5989320" y="2377440"/>
            <a:ext cx="5486400" cy="320040"/>
          </a:xfrm>
          <a:prstGeom prst="rect">
            <a:avLst/>
          </a:prstGeom>
          <a:noFill/>
          <a:ln/>
        </p:spPr>
        <p:txBody>
          <a:bodyPr wrap="square" lIns="0" tIns="0" rIns="0" bIns="0" rtlCol="0" anchor="t"/>
          <a:lstStyle/>
          <a:p>
            <a:pPr indent="0" marL="0">
              <a:buNone/>
            </a:pPr>
            <a:r>
              <a:rPr lang="en-US" sz="1400" dirty="0">
                <a:solidFill>
                  <a:schemeClr val="tx1"/>
                </a:solidFill>
              </a:rPr>
              <a:t>En base, une même panne est écrite de plusieurs façons :</a:t>
            </a:r>
            <a:endParaRPr lang="en-US" sz="1400" dirty="0"/>
          </a:p>
        </p:txBody>
      </p:sp>
      <p:sp>
        <p:nvSpPr>
          <p:cNvPr id="21" name="card-466"/>
          <p:cNvSpPr/>
          <p:nvPr/>
        </p:nvSpPr>
        <p:spPr>
          <a:xfrm>
            <a:off x="5989320" y="2788920"/>
            <a:ext cx="5440680" cy="457200"/>
          </a:xfrm>
          <a:prstGeom prst="roundRect">
            <a:avLst>
              <a:gd name="adj" fmla="val 24000"/>
            </a:avLst>
          </a:prstGeom>
          <a:solidFill>
            <a:schemeClr val="bg1"/>
          </a:solidFill>
          <a:ln/>
        </p:spPr>
      </p:sp>
      <p:sp>
        <p:nvSpPr>
          <p:cNvPr id="22" name="txt-467"/>
          <p:cNvSpPr txBox="1"/>
          <p:nvPr/>
        </p:nvSpPr>
        <p:spPr>
          <a:xfrm>
            <a:off x="6172200" y="2788920"/>
            <a:ext cx="3840480" cy="457200"/>
          </a:xfrm>
          <a:prstGeom prst="rect">
            <a:avLst/>
          </a:prstGeom>
          <a:noFill/>
          <a:ln/>
        </p:spPr>
        <p:txBody>
          <a:bodyPr wrap="square" lIns="0" tIns="0" rIns="0" bIns="0" rtlCol="0" anchor="ctr"/>
          <a:lstStyle/>
          <a:p>
            <a:pPr indent="0" marL="0">
              <a:buNone/>
            </a:pPr>
            <a:r>
              <a:rPr lang="en-US" sz="1400" i="1" dirty="0">
                <a:solidFill>
                  <a:schemeClr val="tx1"/>
                </a:solidFill>
              </a:rPr>
              <a:t>« Le GAB ne lit pas la carte »</a:t>
            </a:r>
            <a:endParaRPr lang="en-US" sz="1400" dirty="0"/>
          </a:p>
        </p:txBody>
      </p:sp>
      <p:pic>
        <p:nvPicPr>
          <p:cNvPr id="23" name="Image 4" descr="preencoded.png">    </p:cNvPr>
          <p:cNvPicPr>
            <a:picLocks noChangeAspect="1"/>
          </p:cNvPicPr>
          <p:nvPr/>
        </p:nvPicPr>
        <p:blipFill>
          <a:blip r:embed="rId5"/>
          <a:stretch>
            <a:fillRect/>
          </a:stretch>
        </p:blipFill>
        <p:spPr>
          <a:xfrm>
            <a:off x="10058400" y="2880360"/>
            <a:ext cx="274320" cy="274320"/>
          </a:xfrm>
          <a:prstGeom prst="rect">
            <a:avLst/>
          </a:prstGeom>
        </p:spPr>
      </p:pic>
      <p:sp>
        <p:nvSpPr>
          <p:cNvPr id="24" name="txt-468"/>
          <p:cNvSpPr txBox="1"/>
          <p:nvPr/>
        </p:nvSpPr>
        <p:spPr>
          <a:xfrm>
            <a:off x="10378440" y="2788920"/>
            <a:ext cx="1005840" cy="457200"/>
          </a:xfrm>
          <a:prstGeom prst="rect">
            <a:avLst/>
          </a:prstGeom>
          <a:noFill/>
          <a:ln/>
        </p:spPr>
        <p:txBody>
          <a:bodyPr wrap="square" lIns="0" tIns="0" rIns="0" bIns="0" rtlCol="0" anchor="ctr"/>
          <a:lstStyle/>
          <a:p>
            <a:pPr indent="0" marL="0">
              <a:buNone/>
            </a:pPr>
            <a:r>
              <a:rPr lang="en-US" sz="1200" b="1" dirty="0">
                <a:solidFill>
                  <a:schemeClr val="accent6"/>
                </a:solidFill>
              </a:rPr>
              <a:t>trouvé</a:t>
            </a:r>
            <a:endParaRPr lang="en-US" sz="1200" dirty="0"/>
          </a:p>
        </p:txBody>
      </p:sp>
      <p:sp>
        <p:nvSpPr>
          <p:cNvPr id="25" name="card-469"/>
          <p:cNvSpPr/>
          <p:nvPr/>
        </p:nvSpPr>
        <p:spPr>
          <a:xfrm>
            <a:off x="5989320" y="3355848"/>
            <a:ext cx="5440680" cy="457200"/>
          </a:xfrm>
          <a:prstGeom prst="roundRect">
            <a:avLst>
              <a:gd name="adj" fmla="val 24000"/>
            </a:avLst>
          </a:prstGeom>
          <a:solidFill>
            <a:schemeClr val="bg1"/>
          </a:solidFill>
          <a:ln/>
        </p:spPr>
      </p:sp>
      <p:sp>
        <p:nvSpPr>
          <p:cNvPr id="26" name="txt-470"/>
          <p:cNvSpPr txBox="1"/>
          <p:nvPr/>
        </p:nvSpPr>
        <p:spPr>
          <a:xfrm>
            <a:off x="6172200" y="3355848"/>
            <a:ext cx="3840480" cy="457200"/>
          </a:xfrm>
          <a:prstGeom prst="rect">
            <a:avLst/>
          </a:prstGeom>
          <a:noFill/>
          <a:ln/>
        </p:spPr>
        <p:txBody>
          <a:bodyPr wrap="square" lIns="0" tIns="0" rIns="0" bIns="0" rtlCol="0" anchor="ctr"/>
          <a:lstStyle/>
          <a:p>
            <a:pPr indent="0" marL="0">
              <a:buNone/>
            </a:pPr>
            <a:r>
              <a:rPr lang="en-US" sz="1400" i="1" dirty="0">
                <a:solidFill>
                  <a:schemeClr val="tx1"/>
                </a:solidFill>
              </a:rPr>
              <a:t>« Carte non reconnue par le lecteur »</a:t>
            </a:r>
            <a:endParaRPr lang="en-US" sz="1400" dirty="0"/>
          </a:p>
        </p:txBody>
      </p:sp>
      <p:pic>
        <p:nvPicPr>
          <p:cNvPr id="27" name="Image 5" descr="preencoded.png">    </p:cNvPr>
          <p:cNvPicPr>
            <a:picLocks noChangeAspect="1"/>
          </p:cNvPicPr>
          <p:nvPr/>
        </p:nvPicPr>
        <p:blipFill>
          <a:blip r:embed="rId6"/>
          <a:stretch>
            <a:fillRect/>
          </a:stretch>
        </p:blipFill>
        <p:spPr>
          <a:xfrm>
            <a:off x="10058400" y="3447288"/>
            <a:ext cx="274320" cy="274320"/>
          </a:xfrm>
          <a:prstGeom prst="rect">
            <a:avLst/>
          </a:prstGeom>
        </p:spPr>
      </p:pic>
      <p:sp>
        <p:nvSpPr>
          <p:cNvPr id="28" name="txt-471"/>
          <p:cNvSpPr txBox="1"/>
          <p:nvPr/>
        </p:nvSpPr>
        <p:spPr>
          <a:xfrm>
            <a:off x="10378440" y="3355848"/>
            <a:ext cx="1005840" cy="457200"/>
          </a:xfrm>
          <a:prstGeom prst="rect">
            <a:avLst/>
          </a:prstGeom>
          <a:noFill/>
          <a:ln/>
        </p:spPr>
        <p:txBody>
          <a:bodyPr wrap="square" lIns="0" tIns="0" rIns="0" bIns="0" rtlCol="0" anchor="ctr"/>
          <a:lstStyle/>
          <a:p>
            <a:pPr indent="0" marL="0">
              <a:buNone/>
            </a:pPr>
            <a:r>
              <a:rPr lang="en-US" sz="1200" b="1" dirty="0">
                <a:solidFill>
                  <a:schemeClr val="accent4"/>
                </a:solidFill>
              </a:rPr>
              <a:t>ignoré</a:t>
            </a:r>
            <a:endParaRPr lang="en-US" sz="1200" dirty="0"/>
          </a:p>
        </p:txBody>
      </p:sp>
      <p:sp>
        <p:nvSpPr>
          <p:cNvPr id="29" name="card-472"/>
          <p:cNvSpPr/>
          <p:nvPr/>
        </p:nvSpPr>
        <p:spPr>
          <a:xfrm>
            <a:off x="5989320" y="3922776"/>
            <a:ext cx="5440680" cy="457200"/>
          </a:xfrm>
          <a:prstGeom prst="roundRect">
            <a:avLst>
              <a:gd name="adj" fmla="val 24000"/>
            </a:avLst>
          </a:prstGeom>
          <a:solidFill>
            <a:schemeClr val="bg1"/>
          </a:solidFill>
          <a:ln/>
        </p:spPr>
      </p:sp>
      <p:sp>
        <p:nvSpPr>
          <p:cNvPr id="30" name="txt-473"/>
          <p:cNvSpPr txBox="1"/>
          <p:nvPr/>
        </p:nvSpPr>
        <p:spPr>
          <a:xfrm>
            <a:off x="6172200" y="3922776"/>
            <a:ext cx="3840480" cy="457200"/>
          </a:xfrm>
          <a:prstGeom prst="rect">
            <a:avLst/>
          </a:prstGeom>
          <a:noFill/>
          <a:ln/>
        </p:spPr>
        <p:txBody>
          <a:bodyPr wrap="square" lIns="0" tIns="0" rIns="0" bIns="0" rtlCol="0" anchor="ctr"/>
          <a:lstStyle/>
          <a:p>
            <a:pPr indent="0" marL="0">
              <a:buNone/>
            </a:pPr>
            <a:r>
              <a:rPr lang="en-US" sz="1400" i="1" dirty="0">
                <a:solidFill>
                  <a:schemeClr val="tx1"/>
                </a:solidFill>
              </a:rPr>
              <a:t>« Lecteur HS, carte rejetée »</a:t>
            </a:r>
            <a:endParaRPr lang="en-US" sz="1400" dirty="0"/>
          </a:p>
        </p:txBody>
      </p:sp>
      <p:pic>
        <p:nvPicPr>
          <p:cNvPr id="31" name="Image 6" descr="preencoded.png">    </p:cNvPr>
          <p:cNvPicPr>
            <a:picLocks noChangeAspect="1"/>
          </p:cNvPicPr>
          <p:nvPr/>
        </p:nvPicPr>
        <p:blipFill>
          <a:blip r:embed="rId7"/>
          <a:stretch>
            <a:fillRect/>
          </a:stretch>
        </p:blipFill>
        <p:spPr>
          <a:xfrm>
            <a:off x="10058400" y="4014216"/>
            <a:ext cx="274320" cy="274320"/>
          </a:xfrm>
          <a:prstGeom prst="rect">
            <a:avLst/>
          </a:prstGeom>
        </p:spPr>
      </p:pic>
      <p:sp>
        <p:nvSpPr>
          <p:cNvPr id="32" name="txt-474"/>
          <p:cNvSpPr txBox="1"/>
          <p:nvPr/>
        </p:nvSpPr>
        <p:spPr>
          <a:xfrm>
            <a:off x="10378440" y="3922776"/>
            <a:ext cx="1005840" cy="457200"/>
          </a:xfrm>
          <a:prstGeom prst="rect">
            <a:avLst/>
          </a:prstGeom>
          <a:noFill/>
          <a:ln/>
        </p:spPr>
        <p:txBody>
          <a:bodyPr wrap="square" lIns="0" tIns="0" rIns="0" bIns="0" rtlCol="0" anchor="ctr"/>
          <a:lstStyle/>
          <a:p>
            <a:pPr indent="0" marL="0">
              <a:buNone/>
            </a:pPr>
            <a:r>
              <a:rPr lang="en-US" sz="1200" b="1" dirty="0">
                <a:solidFill>
                  <a:schemeClr val="accent4"/>
                </a:solidFill>
              </a:rPr>
              <a:t>ignoré</a:t>
            </a:r>
            <a:endParaRPr lang="en-US" sz="1200" dirty="0"/>
          </a:p>
        </p:txBody>
      </p:sp>
      <p:sp>
        <p:nvSpPr>
          <p:cNvPr id="33" name="txt-475"/>
          <p:cNvSpPr txBox="1"/>
          <p:nvPr/>
        </p:nvSpPr>
        <p:spPr>
          <a:xfrm>
            <a:off x="5989320" y="4617720"/>
            <a:ext cx="5440680" cy="1280160"/>
          </a:xfrm>
          <a:prstGeom prst="rect">
            <a:avLst/>
          </a:prstGeom>
          <a:noFill/>
          <a:ln/>
        </p:spPr>
        <p:txBody>
          <a:bodyPr wrap="square" lIns="0" tIns="0" rIns="0" bIns="0" rtlCol="0" anchor="t"/>
          <a:lstStyle/>
          <a:p>
            <a:pPr indent="0" marL="0">
              <a:buNone/>
            </a:pPr>
            <a:r>
              <a:rPr lang="en-US" sz="1400" b="1" dirty="0">
                <a:solidFill>
                  <a:schemeClr val="tx1"/>
                </a:solidFill>
              </a:rPr>
              <a:t>Recherche par mots-clés « lit » + « carte » : </a:t>
            </a:r>
            <a:pPr indent="0" marL="0">
              <a:buNone/>
            </a:pPr>
            <a:r>
              <a:rPr lang="en-US" sz="1400" dirty="0">
                <a:solidFill>
                  <a:schemeClr val="tx1"/>
                </a:solidFill>
              </a:rPr>
              <a:t>une seule ligne sur trois est retrouvée. Les deux autres solutions restent invisibles pour le technicien.</a:t>
            </a:r>
            <a:endParaRPr lang="en-US" sz="14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partie"/>
          <p:cNvSpPr txBox="1"/>
          <p:nvPr/>
        </p:nvSpPr>
        <p:spPr>
          <a:xfrm>
            <a:off x="548640" y="182880"/>
            <a:ext cx="8229600" cy="256032"/>
          </a:xfrm>
          <a:prstGeom prst="rect">
            <a:avLst/>
          </a:prstGeom>
          <a:noFill/>
          <a:ln/>
        </p:spPr>
        <p:txBody>
          <a:bodyPr wrap="square" lIns="0" tIns="0" rIns="0" bIns="0" rtlCol="0" anchor="ctr"/>
          <a:lstStyle/>
          <a:p>
            <a:pPr indent="0" marL="0">
              <a:buNone/>
            </a:pPr>
            <a:r>
              <a:rPr lang="en-US" sz="1100" b="1" spc="150" kern="0" dirty="0">
                <a:solidFill>
                  <a:schemeClr val="accent1"/>
                </a:solidFill>
              </a:rPr>
              <a:t>V. L'INTELLIGENCE ARTIFICIELLE</a:t>
            </a:r>
            <a:endParaRPr lang="en-US" sz="1100" dirty="0"/>
          </a:p>
        </p:txBody>
      </p:sp>
      <p:sp>
        <p:nvSpPr>
          <p:cNvPr id="3" name="Text 0"/>
          <p:cNvSpPr/>
          <p:nvPr>
            <p:ph idx="100" type="title" hasCustomPrompt="1"/>
          </p:nvPr>
        </p:nvSpPr>
        <p:spPr>
          <a:xfrm>
            <a:off x="548640" y="438912"/>
            <a:ext cx="11091672" cy="54864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b) Recherche sémantique : fonctionnement</a:t>
            </a:r>
            <a:endParaRPr lang="en-US" sz="2800" dirty="0"/>
          </a:p>
        </p:txBody>
      </p:sp>
      <p:pic>
        <p:nvPicPr>
          <p:cNvPr id="4" name="icone-objectif" descr="preencoded.png">    </p:cNvPr>
          <p:cNvPicPr>
            <a:picLocks noChangeAspect="1"/>
          </p:cNvPicPr>
          <p:nvPr/>
        </p:nvPicPr>
        <p:blipFill>
          <a:blip r:embed="rId1"/>
          <a:stretch>
            <a:fillRect/>
          </a:stretch>
        </p:blipFill>
        <p:spPr>
          <a:xfrm>
            <a:off x="548640" y="1033272"/>
            <a:ext cx="237744" cy="237744"/>
          </a:xfrm>
          <a:prstGeom prst="rect">
            <a:avLst/>
          </a:prstGeom>
        </p:spPr>
      </p:pic>
      <p:sp>
        <p:nvSpPr>
          <p:cNvPr id="5" name="objectif"/>
          <p:cNvSpPr txBox="1"/>
          <p:nvPr/>
        </p:nvSpPr>
        <p:spPr>
          <a:xfrm>
            <a:off x="868680" y="987552"/>
            <a:ext cx="10771632" cy="329184"/>
          </a:xfrm>
          <a:prstGeom prst="rect">
            <a:avLst/>
          </a:prstGeom>
          <a:noFill/>
          <a:ln/>
        </p:spPr>
        <p:txBody>
          <a:bodyPr wrap="square" lIns="0" tIns="0" rIns="0" bIns="0" rtlCol="0" anchor="ctr"/>
          <a:lstStyle/>
          <a:p>
            <a:pPr indent="0" marL="0">
              <a:buNone/>
            </a:pPr>
            <a:r>
              <a:rPr lang="en-US" sz="1400" b="1" i="1" dirty="0">
                <a:solidFill>
                  <a:schemeClr val="tx2"/>
                </a:solidFill>
              </a:rPr>
              <a:t>Objectif : </a:t>
            </a:r>
            <a:pPr indent="0" marL="0">
              <a:buNone/>
            </a:pPr>
            <a:r>
              <a:rPr lang="en-US" sz="1400" i="1" dirty="0">
                <a:solidFill>
                  <a:schemeClr val="tx2"/>
                </a:solidFill>
              </a:rPr>
              <a:t>Suivre le trajet d'une question jusqu'aux cas similaires.</a:t>
            </a:r>
            <a:endParaRPr lang="en-US" sz="1400" dirty="0"/>
          </a:p>
        </p:txBody>
      </p:sp>
      <p:sp>
        <p:nvSpPr>
          <p:cNvPr id="6" name="card-476"/>
          <p:cNvSpPr/>
          <p:nvPr/>
        </p:nvSpPr>
        <p:spPr>
          <a:xfrm>
            <a:off x="548640" y="1463040"/>
            <a:ext cx="1627632" cy="1691640"/>
          </a:xfrm>
          <a:prstGeom prst="roundRect">
            <a:avLst>
              <a:gd name="adj" fmla="val 6742"/>
            </a:avLst>
          </a:prstGeom>
          <a:solidFill>
            <a:schemeClr val="accent1">
              <a:alpha val="10000"/>
            </a:schemeClr>
          </a:solidFill>
          <a:ln/>
        </p:spPr>
      </p:sp>
      <p:sp>
        <p:nvSpPr>
          <p:cNvPr id="7" name="pastille-477"/>
          <p:cNvSpPr/>
          <p:nvPr/>
        </p:nvSpPr>
        <p:spPr>
          <a:xfrm>
            <a:off x="1060704" y="1600200"/>
            <a:ext cx="603504" cy="603504"/>
          </a:xfrm>
          <a:prstGeom prst="ellipse">
            <a:avLst/>
          </a:prstGeom>
          <a:solidFill>
            <a:schemeClr val="accent1"/>
          </a:solidFill>
          <a:ln/>
        </p:spPr>
      </p:sp>
      <p:pic>
        <p:nvPicPr>
          <p:cNvPr id="8" name="icone-478" descr="preencoded.png">    </p:cNvPr>
          <p:cNvPicPr>
            <a:picLocks noChangeAspect="1"/>
          </p:cNvPicPr>
          <p:nvPr/>
        </p:nvPicPr>
        <p:blipFill>
          <a:blip r:embed="rId2"/>
          <a:stretch>
            <a:fillRect/>
          </a:stretch>
        </p:blipFill>
        <p:spPr>
          <a:xfrm>
            <a:off x="1193475" y="1732971"/>
            <a:ext cx="337962" cy="337962"/>
          </a:xfrm>
          <a:prstGeom prst="rect">
            <a:avLst/>
          </a:prstGeom>
        </p:spPr>
      </p:pic>
      <p:sp>
        <p:nvSpPr>
          <p:cNvPr id="9" name="txt-479"/>
          <p:cNvSpPr txBox="1"/>
          <p:nvPr/>
        </p:nvSpPr>
        <p:spPr>
          <a:xfrm>
            <a:off x="621792" y="2286000"/>
            <a:ext cx="1481328" cy="320040"/>
          </a:xfrm>
          <a:prstGeom prst="rect">
            <a:avLst/>
          </a:prstGeom>
          <a:noFill/>
          <a:ln/>
        </p:spPr>
        <p:txBody>
          <a:bodyPr wrap="square" lIns="0" tIns="0" rIns="0" bIns="0" rtlCol="0" anchor="t"/>
          <a:lstStyle/>
          <a:p>
            <a:pPr algn="ctr" indent="0" marL="0">
              <a:buNone/>
            </a:pPr>
            <a:r>
              <a:rPr lang="en-US" sz="1500" b="1" dirty="0">
                <a:solidFill>
                  <a:schemeClr val="tx1"/>
                </a:solidFill>
              </a:rPr>
              <a:t>1. Texte</a:t>
            </a:r>
            <a:endParaRPr lang="en-US" sz="1500" dirty="0"/>
          </a:p>
        </p:txBody>
      </p:sp>
      <p:sp>
        <p:nvSpPr>
          <p:cNvPr id="10" name="txt-480"/>
          <p:cNvSpPr txBox="1"/>
          <p:nvPr/>
        </p:nvSpPr>
        <p:spPr>
          <a:xfrm>
            <a:off x="621792" y="2633472"/>
            <a:ext cx="1481328" cy="457200"/>
          </a:xfrm>
          <a:prstGeom prst="rect">
            <a:avLst/>
          </a:prstGeom>
          <a:noFill/>
          <a:ln/>
        </p:spPr>
        <p:txBody>
          <a:bodyPr wrap="square" lIns="0" tIns="0" rIns="0" bIns="0" rtlCol="0" anchor="t"/>
          <a:lstStyle/>
          <a:p>
            <a:pPr algn="ctr" indent="0" marL="0">
              <a:buNone/>
            </a:pPr>
            <a:r>
              <a:rPr lang="en-US" sz="1200" dirty="0">
                <a:solidFill>
                  <a:schemeClr val="tx2"/>
                </a:solidFill>
              </a:rPr>
              <a:t>question du technicien</a:t>
            </a:r>
            <a:endParaRPr lang="en-US" sz="1200" dirty="0"/>
          </a:p>
        </p:txBody>
      </p:sp>
      <p:sp>
        <p:nvSpPr>
          <p:cNvPr id="11" name="fleche-481"/>
          <p:cNvSpPr/>
          <p:nvPr/>
        </p:nvSpPr>
        <p:spPr>
          <a:xfrm>
            <a:off x="2194560" y="2304288"/>
            <a:ext cx="228600" cy="914"/>
          </a:xfrm>
          <a:prstGeom prst="line">
            <a:avLst/>
          </a:prstGeom>
          <a:noFill/>
          <a:ln w="22225">
            <a:solidFill>
              <a:schemeClr val="accent5"/>
            </a:solidFill>
            <a:prstDash val="solid"/>
            <a:tailEnd type="triangle"/>
          </a:ln>
        </p:spPr>
      </p:sp>
      <p:sp>
        <p:nvSpPr>
          <p:cNvPr id="12" name="card-482"/>
          <p:cNvSpPr/>
          <p:nvPr/>
        </p:nvSpPr>
        <p:spPr>
          <a:xfrm>
            <a:off x="2441448" y="1463040"/>
            <a:ext cx="1627632" cy="1691640"/>
          </a:xfrm>
          <a:prstGeom prst="roundRect">
            <a:avLst>
              <a:gd name="adj" fmla="val 6742"/>
            </a:avLst>
          </a:prstGeom>
          <a:solidFill>
            <a:schemeClr val="accent1">
              <a:alpha val="10000"/>
            </a:schemeClr>
          </a:solidFill>
          <a:ln/>
        </p:spPr>
      </p:sp>
      <p:sp>
        <p:nvSpPr>
          <p:cNvPr id="13" name="pastille-483"/>
          <p:cNvSpPr/>
          <p:nvPr/>
        </p:nvSpPr>
        <p:spPr>
          <a:xfrm>
            <a:off x="2953512" y="1600200"/>
            <a:ext cx="603504" cy="603504"/>
          </a:xfrm>
          <a:prstGeom prst="ellipse">
            <a:avLst/>
          </a:prstGeom>
          <a:solidFill>
            <a:schemeClr val="accent1"/>
          </a:solidFill>
          <a:ln/>
        </p:spPr>
      </p:sp>
      <p:pic>
        <p:nvPicPr>
          <p:cNvPr id="14" name="icone-484" descr="preencoded.png">    </p:cNvPr>
          <p:cNvPicPr>
            <a:picLocks noChangeAspect="1"/>
          </p:cNvPicPr>
          <p:nvPr/>
        </p:nvPicPr>
        <p:blipFill>
          <a:blip r:embed="rId3"/>
          <a:stretch>
            <a:fillRect/>
          </a:stretch>
        </p:blipFill>
        <p:spPr>
          <a:xfrm>
            <a:off x="3086283" y="1732971"/>
            <a:ext cx="337962" cy="337962"/>
          </a:xfrm>
          <a:prstGeom prst="rect">
            <a:avLst/>
          </a:prstGeom>
        </p:spPr>
      </p:pic>
      <p:sp>
        <p:nvSpPr>
          <p:cNvPr id="15" name="txt-485"/>
          <p:cNvSpPr txBox="1"/>
          <p:nvPr/>
        </p:nvSpPr>
        <p:spPr>
          <a:xfrm>
            <a:off x="2514600" y="2286000"/>
            <a:ext cx="1481328" cy="320040"/>
          </a:xfrm>
          <a:prstGeom prst="rect">
            <a:avLst/>
          </a:prstGeom>
          <a:noFill/>
          <a:ln/>
        </p:spPr>
        <p:txBody>
          <a:bodyPr wrap="square" lIns="0" tIns="0" rIns="0" bIns="0" rtlCol="0" anchor="t"/>
          <a:lstStyle/>
          <a:p>
            <a:pPr algn="ctr" indent="0" marL="0">
              <a:buNone/>
            </a:pPr>
            <a:r>
              <a:rPr lang="en-US" sz="1500" b="1" dirty="0">
                <a:solidFill>
                  <a:schemeClr val="tx1"/>
                </a:solidFill>
              </a:rPr>
              <a:t>2. Embedding</a:t>
            </a:r>
            <a:endParaRPr lang="en-US" sz="1500" dirty="0"/>
          </a:p>
        </p:txBody>
      </p:sp>
      <p:sp>
        <p:nvSpPr>
          <p:cNvPr id="16" name="txt-486"/>
          <p:cNvSpPr txBox="1"/>
          <p:nvPr/>
        </p:nvSpPr>
        <p:spPr>
          <a:xfrm>
            <a:off x="2514600" y="2633472"/>
            <a:ext cx="1481328" cy="457200"/>
          </a:xfrm>
          <a:prstGeom prst="rect">
            <a:avLst/>
          </a:prstGeom>
          <a:noFill/>
          <a:ln/>
        </p:spPr>
        <p:txBody>
          <a:bodyPr wrap="square" lIns="0" tIns="0" rIns="0" bIns="0" rtlCol="0" anchor="t"/>
          <a:lstStyle/>
          <a:p>
            <a:pPr algn="ctr" indent="0" marL="0">
              <a:buNone/>
            </a:pPr>
            <a:r>
              <a:rPr lang="en-US" sz="1200" dirty="0">
                <a:solidFill>
                  <a:schemeClr val="tx2"/>
                </a:solidFill>
              </a:rPr>
              <a:t>Voyage AI</a:t>
            </a:r>
            <a:endParaRPr lang="en-US" sz="1200" dirty="0"/>
          </a:p>
        </p:txBody>
      </p:sp>
      <p:sp>
        <p:nvSpPr>
          <p:cNvPr id="17" name="fleche-487"/>
          <p:cNvSpPr/>
          <p:nvPr/>
        </p:nvSpPr>
        <p:spPr>
          <a:xfrm>
            <a:off x="4087368" y="2304288"/>
            <a:ext cx="228600" cy="914"/>
          </a:xfrm>
          <a:prstGeom prst="line">
            <a:avLst/>
          </a:prstGeom>
          <a:noFill/>
          <a:ln w="22225">
            <a:solidFill>
              <a:schemeClr val="accent5"/>
            </a:solidFill>
            <a:prstDash val="solid"/>
            <a:tailEnd type="triangle"/>
          </a:ln>
        </p:spPr>
      </p:sp>
      <p:sp>
        <p:nvSpPr>
          <p:cNvPr id="18" name="card-488"/>
          <p:cNvSpPr/>
          <p:nvPr/>
        </p:nvSpPr>
        <p:spPr>
          <a:xfrm>
            <a:off x="4334256" y="1463040"/>
            <a:ext cx="1627632" cy="1691640"/>
          </a:xfrm>
          <a:prstGeom prst="roundRect">
            <a:avLst>
              <a:gd name="adj" fmla="val 6742"/>
            </a:avLst>
          </a:prstGeom>
          <a:solidFill>
            <a:schemeClr val="accent1">
              <a:alpha val="10000"/>
            </a:schemeClr>
          </a:solidFill>
          <a:ln/>
        </p:spPr>
      </p:sp>
      <p:sp>
        <p:nvSpPr>
          <p:cNvPr id="19" name="pastille-489"/>
          <p:cNvSpPr/>
          <p:nvPr/>
        </p:nvSpPr>
        <p:spPr>
          <a:xfrm>
            <a:off x="4846320" y="1600200"/>
            <a:ext cx="603504" cy="603504"/>
          </a:xfrm>
          <a:prstGeom prst="ellipse">
            <a:avLst/>
          </a:prstGeom>
          <a:solidFill>
            <a:schemeClr val="accent1"/>
          </a:solidFill>
          <a:ln/>
        </p:spPr>
      </p:sp>
      <p:pic>
        <p:nvPicPr>
          <p:cNvPr id="20" name="icone-490" descr="preencoded.png">    </p:cNvPr>
          <p:cNvPicPr>
            <a:picLocks noChangeAspect="1"/>
          </p:cNvPicPr>
          <p:nvPr/>
        </p:nvPicPr>
        <p:blipFill>
          <a:blip r:embed="rId4"/>
          <a:stretch>
            <a:fillRect/>
          </a:stretch>
        </p:blipFill>
        <p:spPr>
          <a:xfrm>
            <a:off x="4979091" y="1732971"/>
            <a:ext cx="337962" cy="337962"/>
          </a:xfrm>
          <a:prstGeom prst="rect">
            <a:avLst/>
          </a:prstGeom>
        </p:spPr>
      </p:pic>
      <p:sp>
        <p:nvSpPr>
          <p:cNvPr id="21" name="txt-491"/>
          <p:cNvSpPr txBox="1"/>
          <p:nvPr/>
        </p:nvSpPr>
        <p:spPr>
          <a:xfrm>
            <a:off x="4407408" y="2286000"/>
            <a:ext cx="1481328" cy="320040"/>
          </a:xfrm>
          <a:prstGeom prst="rect">
            <a:avLst/>
          </a:prstGeom>
          <a:noFill/>
          <a:ln/>
        </p:spPr>
        <p:txBody>
          <a:bodyPr wrap="square" lIns="0" tIns="0" rIns="0" bIns="0" rtlCol="0" anchor="t"/>
          <a:lstStyle/>
          <a:p>
            <a:pPr algn="ctr" indent="0" marL="0">
              <a:buNone/>
            </a:pPr>
            <a:r>
              <a:rPr lang="en-US" sz="1500" b="1" dirty="0">
                <a:solidFill>
                  <a:schemeClr val="tx1"/>
                </a:solidFill>
              </a:rPr>
              <a:t>3. Vecteur</a:t>
            </a:r>
            <a:endParaRPr lang="en-US" sz="1500" dirty="0"/>
          </a:p>
        </p:txBody>
      </p:sp>
      <p:sp>
        <p:nvSpPr>
          <p:cNvPr id="22" name="txt-492"/>
          <p:cNvSpPr txBox="1"/>
          <p:nvPr/>
        </p:nvSpPr>
        <p:spPr>
          <a:xfrm>
            <a:off x="4407408" y="2633472"/>
            <a:ext cx="1481328" cy="457200"/>
          </a:xfrm>
          <a:prstGeom prst="rect">
            <a:avLst/>
          </a:prstGeom>
          <a:noFill/>
          <a:ln/>
        </p:spPr>
        <p:txBody>
          <a:bodyPr wrap="square" lIns="0" tIns="0" rIns="0" bIns="0" rtlCol="0" anchor="t"/>
          <a:lstStyle/>
          <a:p>
            <a:pPr algn="ctr" indent="0" marL="0">
              <a:buNone/>
            </a:pPr>
            <a:r>
              <a:rPr lang="en-US" sz="1200" dirty="0">
                <a:solidFill>
                  <a:schemeClr val="tx2"/>
                </a:solidFill>
              </a:rPr>
              <a:t>1024 nombres</a:t>
            </a:r>
            <a:endParaRPr lang="en-US" sz="1200" dirty="0"/>
          </a:p>
        </p:txBody>
      </p:sp>
      <p:sp>
        <p:nvSpPr>
          <p:cNvPr id="23" name="fleche-493"/>
          <p:cNvSpPr/>
          <p:nvPr/>
        </p:nvSpPr>
        <p:spPr>
          <a:xfrm>
            <a:off x="5980176" y="2304288"/>
            <a:ext cx="228600" cy="914"/>
          </a:xfrm>
          <a:prstGeom prst="line">
            <a:avLst/>
          </a:prstGeom>
          <a:noFill/>
          <a:ln w="22225">
            <a:solidFill>
              <a:schemeClr val="accent5"/>
            </a:solidFill>
            <a:prstDash val="solid"/>
            <a:tailEnd type="triangle"/>
          </a:ln>
        </p:spPr>
      </p:sp>
      <p:sp>
        <p:nvSpPr>
          <p:cNvPr id="24" name="card-494"/>
          <p:cNvSpPr/>
          <p:nvPr/>
        </p:nvSpPr>
        <p:spPr>
          <a:xfrm>
            <a:off x="6227064" y="1463040"/>
            <a:ext cx="1627632" cy="1691640"/>
          </a:xfrm>
          <a:prstGeom prst="roundRect">
            <a:avLst>
              <a:gd name="adj" fmla="val 6742"/>
            </a:avLst>
          </a:prstGeom>
          <a:solidFill>
            <a:schemeClr val="accent1">
              <a:alpha val="10000"/>
            </a:schemeClr>
          </a:solidFill>
          <a:ln/>
        </p:spPr>
      </p:sp>
      <p:sp>
        <p:nvSpPr>
          <p:cNvPr id="25" name="pastille-495"/>
          <p:cNvSpPr/>
          <p:nvPr/>
        </p:nvSpPr>
        <p:spPr>
          <a:xfrm>
            <a:off x="6739128" y="1600200"/>
            <a:ext cx="603504" cy="603504"/>
          </a:xfrm>
          <a:prstGeom prst="ellipse">
            <a:avLst/>
          </a:prstGeom>
          <a:solidFill>
            <a:schemeClr val="accent1"/>
          </a:solidFill>
          <a:ln/>
        </p:spPr>
      </p:sp>
      <p:pic>
        <p:nvPicPr>
          <p:cNvPr id="26" name="icone-496" descr="preencoded.png">    </p:cNvPr>
          <p:cNvPicPr>
            <a:picLocks noChangeAspect="1"/>
          </p:cNvPicPr>
          <p:nvPr/>
        </p:nvPicPr>
        <p:blipFill>
          <a:blip r:embed="rId5"/>
          <a:stretch>
            <a:fillRect/>
          </a:stretch>
        </p:blipFill>
        <p:spPr>
          <a:xfrm>
            <a:off x="6871899" y="1732971"/>
            <a:ext cx="337962" cy="337962"/>
          </a:xfrm>
          <a:prstGeom prst="rect">
            <a:avLst/>
          </a:prstGeom>
        </p:spPr>
      </p:pic>
      <p:sp>
        <p:nvSpPr>
          <p:cNvPr id="27" name="txt-497"/>
          <p:cNvSpPr txBox="1"/>
          <p:nvPr/>
        </p:nvSpPr>
        <p:spPr>
          <a:xfrm>
            <a:off x="6300216" y="2286000"/>
            <a:ext cx="1481328" cy="320040"/>
          </a:xfrm>
          <a:prstGeom prst="rect">
            <a:avLst/>
          </a:prstGeom>
          <a:noFill/>
          <a:ln/>
        </p:spPr>
        <p:txBody>
          <a:bodyPr wrap="square" lIns="0" tIns="0" rIns="0" bIns="0" rtlCol="0" anchor="t"/>
          <a:lstStyle/>
          <a:p>
            <a:pPr algn="ctr" indent="0" marL="0">
              <a:buNone/>
            </a:pPr>
            <a:r>
              <a:rPr lang="en-US" sz="1500" b="1" dirty="0">
                <a:solidFill>
                  <a:schemeClr val="tx1"/>
                </a:solidFill>
              </a:rPr>
              <a:t>4. pgvector</a:t>
            </a:r>
            <a:endParaRPr lang="en-US" sz="1500" dirty="0"/>
          </a:p>
        </p:txBody>
      </p:sp>
      <p:sp>
        <p:nvSpPr>
          <p:cNvPr id="28" name="txt-498"/>
          <p:cNvSpPr txBox="1"/>
          <p:nvPr/>
        </p:nvSpPr>
        <p:spPr>
          <a:xfrm>
            <a:off x="6300216" y="2633472"/>
            <a:ext cx="1481328" cy="457200"/>
          </a:xfrm>
          <a:prstGeom prst="rect">
            <a:avLst/>
          </a:prstGeom>
          <a:noFill/>
          <a:ln/>
        </p:spPr>
        <p:txBody>
          <a:bodyPr wrap="square" lIns="0" tIns="0" rIns="0" bIns="0" rtlCol="0" anchor="t"/>
          <a:lstStyle/>
          <a:p>
            <a:pPr algn="ctr" indent="0" marL="0">
              <a:buNone/>
            </a:pPr>
            <a:r>
              <a:rPr lang="en-US" sz="1200" dirty="0">
                <a:solidFill>
                  <a:schemeClr val="tx2"/>
                </a:solidFill>
              </a:rPr>
              <a:t>compare les vecteurs</a:t>
            </a:r>
            <a:endParaRPr lang="en-US" sz="1200" dirty="0"/>
          </a:p>
        </p:txBody>
      </p:sp>
      <p:sp>
        <p:nvSpPr>
          <p:cNvPr id="29" name="fleche-499"/>
          <p:cNvSpPr/>
          <p:nvPr/>
        </p:nvSpPr>
        <p:spPr>
          <a:xfrm>
            <a:off x="7872984" y="2304288"/>
            <a:ext cx="228600" cy="914"/>
          </a:xfrm>
          <a:prstGeom prst="line">
            <a:avLst/>
          </a:prstGeom>
          <a:noFill/>
          <a:ln w="22225">
            <a:solidFill>
              <a:schemeClr val="accent5"/>
            </a:solidFill>
            <a:prstDash val="solid"/>
            <a:tailEnd type="triangle"/>
          </a:ln>
        </p:spPr>
      </p:sp>
      <p:sp>
        <p:nvSpPr>
          <p:cNvPr id="30" name="card-500"/>
          <p:cNvSpPr/>
          <p:nvPr/>
        </p:nvSpPr>
        <p:spPr>
          <a:xfrm>
            <a:off x="8119872" y="1463040"/>
            <a:ext cx="1627632" cy="1691640"/>
          </a:xfrm>
          <a:prstGeom prst="roundRect">
            <a:avLst>
              <a:gd name="adj" fmla="val 6742"/>
            </a:avLst>
          </a:prstGeom>
          <a:solidFill>
            <a:schemeClr val="accent1">
              <a:alpha val="10000"/>
            </a:schemeClr>
          </a:solidFill>
          <a:ln/>
        </p:spPr>
      </p:sp>
      <p:sp>
        <p:nvSpPr>
          <p:cNvPr id="31" name="pastille-501"/>
          <p:cNvSpPr/>
          <p:nvPr/>
        </p:nvSpPr>
        <p:spPr>
          <a:xfrm>
            <a:off x="8631936" y="1600200"/>
            <a:ext cx="603504" cy="603504"/>
          </a:xfrm>
          <a:prstGeom prst="ellipse">
            <a:avLst/>
          </a:prstGeom>
          <a:solidFill>
            <a:schemeClr val="accent1"/>
          </a:solidFill>
          <a:ln/>
        </p:spPr>
      </p:sp>
      <p:pic>
        <p:nvPicPr>
          <p:cNvPr id="32" name="icone-502" descr="preencoded.png">    </p:cNvPr>
          <p:cNvPicPr>
            <a:picLocks noChangeAspect="1"/>
          </p:cNvPicPr>
          <p:nvPr/>
        </p:nvPicPr>
        <p:blipFill>
          <a:blip r:embed="rId6"/>
          <a:stretch>
            <a:fillRect/>
          </a:stretch>
        </p:blipFill>
        <p:spPr>
          <a:xfrm>
            <a:off x="8764707" y="1732971"/>
            <a:ext cx="337962" cy="337962"/>
          </a:xfrm>
          <a:prstGeom prst="rect">
            <a:avLst/>
          </a:prstGeom>
        </p:spPr>
      </p:pic>
      <p:sp>
        <p:nvSpPr>
          <p:cNvPr id="33" name="txt-503"/>
          <p:cNvSpPr txBox="1"/>
          <p:nvPr/>
        </p:nvSpPr>
        <p:spPr>
          <a:xfrm>
            <a:off x="8193024" y="2286000"/>
            <a:ext cx="1481328" cy="320040"/>
          </a:xfrm>
          <a:prstGeom prst="rect">
            <a:avLst/>
          </a:prstGeom>
          <a:noFill/>
          <a:ln/>
        </p:spPr>
        <p:txBody>
          <a:bodyPr wrap="square" lIns="0" tIns="0" rIns="0" bIns="0" rtlCol="0" anchor="t"/>
          <a:lstStyle/>
          <a:p>
            <a:pPr algn="ctr" indent="0" marL="0">
              <a:buNone/>
            </a:pPr>
            <a:r>
              <a:rPr lang="en-US" sz="1500" b="1" dirty="0">
                <a:solidFill>
                  <a:schemeClr val="tx1"/>
                </a:solidFill>
              </a:rPr>
              <a:t>5. Cas proches</a:t>
            </a:r>
            <a:endParaRPr lang="en-US" sz="1500" dirty="0"/>
          </a:p>
        </p:txBody>
      </p:sp>
      <p:sp>
        <p:nvSpPr>
          <p:cNvPr id="34" name="txt-504"/>
          <p:cNvSpPr txBox="1"/>
          <p:nvPr/>
        </p:nvSpPr>
        <p:spPr>
          <a:xfrm>
            <a:off x="8193024" y="2633472"/>
            <a:ext cx="1481328" cy="457200"/>
          </a:xfrm>
          <a:prstGeom prst="rect">
            <a:avLst/>
          </a:prstGeom>
          <a:noFill/>
          <a:ln/>
        </p:spPr>
        <p:txBody>
          <a:bodyPr wrap="square" lIns="0" tIns="0" rIns="0" bIns="0" rtlCol="0" anchor="t"/>
          <a:lstStyle/>
          <a:p>
            <a:pPr algn="ctr" indent="0" marL="0">
              <a:buNone/>
            </a:pPr>
            <a:r>
              <a:rPr lang="en-US" sz="1200" dirty="0">
                <a:solidFill>
                  <a:schemeClr val="tx2"/>
                </a:solidFill>
              </a:rPr>
              <a:t>symptômes observés</a:t>
            </a:r>
            <a:endParaRPr lang="en-US" sz="1200" dirty="0"/>
          </a:p>
        </p:txBody>
      </p:sp>
      <p:sp>
        <p:nvSpPr>
          <p:cNvPr id="35" name="fleche-505"/>
          <p:cNvSpPr/>
          <p:nvPr/>
        </p:nvSpPr>
        <p:spPr>
          <a:xfrm>
            <a:off x="9765792" y="2304288"/>
            <a:ext cx="228600" cy="914"/>
          </a:xfrm>
          <a:prstGeom prst="line">
            <a:avLst/>
          </a:prstGeom>
          <a:noFill/>
          <a:ln w="22225">
            <a:solidFill>
              <a:schemeClr val="accent5"/>
            </a:solidFill>
            <a:prstDash val="solid"/>
            <a:tailEnd type="triangle"/>
          </a:ln>
        </p:spPr>
      </p:sp>
      <p:sp>
        <p:nvSpPr>
          <p:cNvPr id="36" name="card-506"/>
          <p:cNvSpPr/>
          <p:nvPr/>
        </p:nvSpPr>
        <p:spPr>
          <a:xfrm>
            <a:off x="10012680" y="1463040"/>
            <a:ext cx="1627632" cy="1691640"/>
          </a:xfrm>
          <a:prstGeom prst="roundRect">
            <a:avLst>
              <a:gd name="adj" fmla="val 6742"/>
            </a:avLst>
          </a:prstGeom>
          <a:solidFill>
            <a:schemeClr val="accent1">
              <a:alpha val="10000"/>
            </a:schemeClr>
          </a:solidFill>
          <a:ln/>
        </p:spPr>
      </p:sp>
      <p:sp>
        <p:nvSpPr>
          <p:cNvPr id="37" name="pastille-507"/>
          <p:cNvSpPr/>
          <p:nvPr/>
        </p:nvSpPr>
        <p:spPr>
          <a:xfrm>
            <a:off x="10524744" y="1600200"/>
            <a:ext cx="603504" cy="603504"/>
          </a:xfrm>
          <a:prstGeom prst="ellipse">
            <a:avLst/>
          </a:prstGeom>
          <a:solidFill>
            <a:schemeClr val="accent1"/>
          </a:solidFill>
          <a:ln/>
        </p:spPr>
      </p:sp>
      <p:pic>
        <p:nvPicPr>
          <p:cNvPr id="38" name="icone-508" descr="preencoded.png">    </p:cNvPr>
          <p:cNvPicPr>
            <a:picLocks noChangeAspect="1"/>
          </p:cNvPicPr>
          <p:nvPr/>
        </p:nvPicPr>
        <p:blipFill>
          <a:blip r:embed="rId7"/>
          <a:stretch>
            <a:fillRect/>
          </a:stretch>
        </p:blipFill>
        <p:spPr>
          <a:xfrm>
            <a:off x="10657515" y="1732971"/>
            <a:ext cx="337962" cy="337962"/>
          </a:xfrm>
          <a:prstGeom prst="rect">
            <a:avLst/>
          </a:prstGeom>
        </p:spPr>
      </p:pic>
      <p:sp>
        <p:nvSpPr>
          <p:cNvPr id="39" name="txt-509"/>
          <p:cNvSpPr txBox="1"/>
          <p:nvPr/>
        </p:nvSpPr>
        <p:spPr>
          <a:xfrm>
            <a:off x="10085832" y="2286000"/>
            <a:ext cx="1481328" cy="320040"/>
          </a:xfrm>
          <a:prstGeom prst="rect">
            <a:avLst/>
          </a:prstGeom>
          <a:noFill/>
          <a:ln/>
        </p:spPr>
        <p:txBody>
          <a:bodyPr wrap="square" lIns="0" tIns="0" rIns="0" bIns="0" rtlCol="0" anchor="t"/>
          <a:lstStyle/>
          <a:p>
            <a:pPr algn="ctr" indent="0" marL="0">
              <a:buNone/>
            </a:pPr>
            <a:r>
              <a:rPr lang="en-US" sz="1500" b="1" dirty="0">
                <a:solidFill>
                  <a:schemeClr val="tx1"/>
                </a:solidFill>
              </a:rPr>
              <a:t>6. Solutions</a:t>
            </a:r>
            <a:endParaRPr lang="en-US" sz="1500" dirty="0"/>
          </a:p>
        </p:txBody>
      </p:sp>
      <p:sp>
        <p:nvSpPr>
          <p:cNvPr id="40" name="txt-510"/>
          <p:cNvSpPr txBox="1"/>
          <p:nvPr/>
        </p:nvSpPr>
        <p:spPr>
          <a:xfrm>
            <a:off x="10085832" y="2633472"/>
            <a:ext cx="1481328" cy="457200"/>
          </a:xfrm>
          <a:prstGeom prst="rect">
            <a:avLst/>
          </a:prstGeom>
          <a:noFill/>
          <a:ln/>
        </p:spPr>
        <p:txBody>
          <a:bodyPr wrap="square" lIns="0" tIns="0" rIns="0" bIns="0" rtlCol="0" anchor="t"/>
          <a:lstStyle/>
          <a:p>
            <a:pPr algn="ctr" indent="0" marL="0">
              <a:buNone/>
            </a:pPr>
            <a:r>
              <a:rPr lang="en-US" sz="1200" dirty="0">
                <a:solidFill>
                  <a:schemeClr val="tx2"/>
                </a:solidFill>
              </a:rPr>
              <a:t>actions associées</a:t>
            </a:r>
            <a:endParaRPr lang="en-US" sz="1200" dirty="0"/>
          </a:p>
        </p:txBody>
      </p:sp>
      <p:sp>
        <p:nvSpPr>
          <p:cNvPr id="41" name="txt-511"/>
          <p:cNvSpPr txBox="1"/>
          <p:nvPr/>
        </p:nvSpPr>
        <p:spPr>
          <a:xfrm>
            <a:off x="548640" y="3429000"/>
            <a:ext cx="3657600" cy="365760"/>
          </a:xfrm>
          <a:prstGeom prst="rect">
            <a:avLst/>
          </a:prstGeom>
          <a:noFill/>
          <a:ln/>
        </p:spPr>
        <p:txBody>
          <a:bodyPr wrap="square" lIns="0" tIns="0" rIns="0" bIns="0" rtlCol="0" anchor="t"/>
          <a:lstStyle/>
          <a:p>
            <a:pPr indent="0" marL="0">
              <a:buNone/>
            </a:pPr>
            <a:r>
              <a:rPr lang="en-US" sz="1700" b="1" dirty="0">
                <a:solidFill>
                  <a:schemeClr val="tx1"/>
                </a:solidFill>
              </a:rPr>
              <a:t>Exemple</a:t>
            </a:r>
            <a:endParaRPr lang="en-US" sz="1700" dirty="0"/>
          </a:p>
        </p:txBody>
      </p:sp>
      <p:sp>
        <p:nvSpPr>
          <p:cNvPr id="42" name="card-512"/>
          <p:cNvSpPr/>
          <p:nvPr/>
        </p:nvSpPr>
        <p:spPr>
          <a:xfrm>
            <a:off x="548640" y="3886200"/>
            <a:ext cx="3931920" cy="1280160"/>
          </a:xfrm>
          <a:prstGeom prst="roundRect">
            <a:avLst>
              <a:gd name="adj" fmla="val 8571"/>
            </a:avLst>
          </a:prstGeom>
          <a:solidFill>
            <a:schemeClr val="accent3"/>
          </a:solidFill>
          <a:ln/>
        </p:spPr>
      </p:sp>
      <p:sp>
        <p:nvSpPr>
          <p:cNvPr id="43" name="txt-513"/>
          <p:cNvSpPr txBox="1"/>
          <p:nvPr/>
        </p:nvSpPr>
        <p:spPr>
          <a:xfrm>
            <a:off x="777240" y="4005072"/>
            <a:ext cx="3566160" cy="274320"/>
          </a:xfrm>
          <a:prstGeom prst="rect">
            <a:avLst/>
          </a:prstGeom>
          <a:noFill/>
          <a:ln/>
        </p:spPr>
        <p:txBody>
          <a:bodyPr wrap="square" lIns="0" tIns="0" rIns="0" bIns="0" rtlCol="0" anchor="t"/>
          <a:lstStyle/>
          <a:p>
            <a:pPr indent="0" marL="0">
              <a:buNone/>
            </a:pPr>
            <a:r>
              <a:rPr lang="en-US" sz="1100" b="1" spc="100" kern="0" dirty="0">
                <a:solidFill>
                  <a:schemeClr val="accent2"/>
                </a:solidFill>
              </a:rPr>
              <a:t>LE TECHNICIEN ÉCRIT</a:t>
            </a:r>
            <a:endParaRPr lang="en-US" sz="1100" dirty="0"/>
          </a:p>
        </p:txBody>
      </p:sp>
      <p:sp>
        <p:nvSpPr>
          <p:cNvPr id="44" name="txt-514"/>
          <p:cNvSpPr txBox="1"/>
          <p:nvPr/>
        </p:nvSpPr>
        <p:spPr>
          <a:xfrm>
            <a:off x="777240" y="4315968"/>
            <a:ext cx="3566160" cy="777240"/>
          </a:xfrm>
          <a:prstGeom prst="rect">
            <a:avLst/>
          </a:prstGeom>
          <a:noFill/>
          <a:ln/>
        </p:spPr>
        <p:txBody>
          <a:bodyPr wrap="square" lIns="0" tIns="0" rIns="0" bIns="0" rtlCol="0" anchor="t"/>
          <a:lstStyle/>
          <a:p>
            <a:pPr indent="0" marL="0">
              <a:buNone/>
            </a:pPr>
            <a:r>
              <a:rPr lang="en-US" sz="1600" i="1" dirty="0">
                <a:solidFill>
                  <a:schemeClr val="bg1"/>
                </a:solidFill>
              </a:rPr>
              <a:t>« Le distributeur refuse toutes les cartes »</a:t>
            </a:r>
            <a:endParaRPr lang="en-US" sz="1600" dirty="0"/>
          </a:p>
        </p:txBody>
      </p:sp>
      <p:sp>
        <p:nvSpPr>
          <p:cNvPr id="45" name="fleche-515"/>
          <p:cNvSpPr/>
          <p:nvPr/>
        </p:nvSpPr>
        <p:spPr>
          <a:xfrm>
            <a:off x="4572000" y="4526280"/>
            <a:ext cx="640080" cy="914"/>
          </a:xfrm>
          <a:prstGeom prst="line">
            <a:avLst/>
          </a:prstGeom>
          <a:noFill/>
          <a:ln w="22225">
            <a:solidFill>
              <a:schemeClr val="accent5"/>
            </a:solidFill>
            <a:prstDash val="solid"/>
            <a:tailEnd type="triangle"/>
          </a:ln>
        </p:spPr>
      </p:sp>
      <p:sp>
        <p:nvSpPr>
          <p:cNvPr id="46" name="txt-516"/>
          <p:cNvSpPr txBox="1"/>
          <p:nvPr/>
        </p:nvSpPr>
        <p:spPr>
          <a:xfrm>
            <a:off x="5349240" y="3474720"/>
            <a:ext cx="6309360" cy="320040"/>
          </a:xfrm>
          <a:prstGeom prst="rect">
            <a:avLst/>
          </a:prstGeom>
          <a:noFill/>
          <a:ln/>
        </p:spPr>
        <p:txBody>
          <a:bodyPr wrap="square" lIns="0" tIns="0" rIns="0" bIns="0" rtlCol="0" anchor="t"/>
          <a:lstStyle/>
          <a:p>
            <a:pPr indent="0" marL="0">
              <a:buNone/>
            </a:pPr>
            <a:r>
              <a:rPr lang="en-US" sz="1400" b="1" dirty="0">
                <a:solidFill>
                  <a:schemeClr val="tx1"/>
                </a:solidFill>
              </a:rPr>
              <a:t>ATM-BOT retrouve, du plus proche au moins proche :</a:t>
            </a:r>
            <a:endParaRPr lang="en-US" sz="1400" dirty="0"/>
          </a:p>
        </p:txBody>
      </p:sp>
      <p:sp>
        <p:nvSpPr>
          <p:cNvPr id="47" name="card-517"/>
          <p:cNvSpPr/>
          <p:nvPr/>
        </p:nvSpPr>
        <p:spPr>
          <a:xfrm>
            <a:off x="5349240" y="3886200"/>
            <a:ext cx="6291072" cy="457200"/>
          </a:xfrm>
          <a:prstGeom prst="roundRect">
            <a:avLst>
              <a:gd name="adj" fmla="val 24000"/>
            </a:avLst>
          </a:prstGeom>
          <a:solidFill>
            <a:schemeClr val="bg2"/>
          </a:solidFill>
          <a:ln/>
        </p:spPr>
      </p:sp>
      <p:sp>
        <p:nvSpPr>
          <p:cNvPr id="48" name="Text 39"/>
          <p:cNvSpPr txBox="1"/>
          <p:nvPr/>
        </p:nvSpPr>
        <p:spPr>
          <a:xfrm>
            <a:off x="5486400" y="3959352"/>
            <a:ext cx="310896" cy="310896"/>
          </a:xfrm>
          <a:prstGeom prst="ellipse">
            <a:avLst/>
          </a:prstGeom>
          <a:solidFill>
            <a:schemeClr val="accent1"/>
          </a:solid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49" name="txt-518"/>
          <p:cNvSpPr txBox="1"/>
          <p:nvPr/>
        </p:nvSpPr>
        <p:spPr>
          <a:xfrm>
            <a:off x="5943600" y="3886200"/>
            <a:ext cx="4480560" cy="457200"/>
          </a:xfrm>
          <a:prstGeom prst="rect">
            <a:avLst/>
          </a:prstGeom>
          <a:noFill/>
          <a:ln/>
        </p:spPr>
        <p:txBody>
          <a:bodyPr wrap="square" lIns="0" tIns="0" rIns="0" bIns="0" rtlCol="0" anchor="ctr"/>
          <a:lstStyle/>
          <a:p>
            <a:pPr indent="0" marL="0">
              <a:buNone/>
            </a:pPr>
            <a:r>
              <a:rPr lang="en-US" sz="1400" i="1" dirty="0">
                <a:solidFill>
                  <a:schemeClr val="tx1"/>
                </a:solidFill>
              </a:rPr>
              <a:t>« Carte non reconnue par le lecteur »</a:t>
            </a:r>
            <a:endParaRPr lang="en-US" sz="1400" dirty="0"/>
          </a:p>
        </p:txBody>
      </p:sp>
      <p:pic>
        <p:nvPicPr>
          <p:cNvPr id="50" name="Image 7" descr="preencoded.png">    </p:cNvPr>
          <p:cNvPicPr>
            <a:picLocks noChangeAspect="1"/>
          </p:cNvPicPr>
          <p:nvPr/>
        </p:nvPicPr>
        <p:blipFill>
          <a:blip r:embed="rId8"/>
          <a:stretch>
            <a:fillRect/>
          </a:stretch>
        </p:blipFill>
        <p:spPr>
          <a:xfrm>
            <a:off x="11201400" y="3977640"/>
            <a:ext cx="274320" cy="274320"/>
          </a:xfrm>
          <a:prstGeom prst="rect">
            <a:avLst/>
          </a:prstGeom>
        </p:spPr>
      </p:pic>
      <p:sp>
        <p:nvSpPr>
          <p:cNvPr id="51" name="card-519"/>
          <p:cNvSpPr/>
          <p:nvPr/>
        </p:nvSpPr>
        <p:spPr>
          <a:xfrm>
            <a:off x="5349240" y="4453128"/>
            <a:ext cx="6291072" cy="457200"/>
          </a:xfrm>
          <a:prstGeom prst="roundRect">
            <a:avLst>
              <a:gd name="adj" fmla="val 24000"/>
            </a:avLst>
          </a:prstGeom>
          <a:solidFill>
            <a:schemeClr val="bg2"/>
          </a:solidFill>
          <a:ln/>
        </p:spPr>
      </p:sp>
      <p:sp>
        <p:nvSpPr>
          <p:cNvPr id="52" name="Text 42"/>
          <p:cNvSpPr txBox="1"/>
          <p:nvPr/>
        </p:nvSpPr>
        <p:spPr>
          <a:xfrm>
            <a:off x="5486400" y="4526280"/>
            <a:ext cx="310896" cy="310896"/>
          </a:xfrm>
          <a:prstGeom prst="ellipse">
            <a:avLst/>
          </a:prstGeom>
          <a:solidFill>
            <a:schemeClr val="accent1"/>
          </a:solid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53" name="txt-520"/>
          <p:cNvSpPr txBox="1"/>
          <p:nvPr/>
        </p:nvSpPr>
        <p:spPr>
          <a:xfrm>
            <a:off x="5943600" y="4453128"/>
            <a:ext cx="4480560" cy="457200"/>
          </a:xfrm>
          <a:prstGeom prst="rect">
            <a:avLst/>
          </a:prstGeom>
          <a:noFill/>
          <a:ln/>
        </p:spPr>
        <p:txBody>
          <a:bodyPr wrap="square" lIns="0" tIns="0" rIns="0" bIns="0" rtlCol="0" anchor="ctr"/>
          <a:lstStyle/>
          <a:p>
            <a:pPr indent="0" marL="0">
              <a:buNone/>
            </a:pPr>
            <a:r>
              <a:rPr lang="en-US" sz="1400" i="1" dirty="0">
                <a:solidFill>
                  <a:schemeClr val="tx1"/>
                </a:solidFill>
              </a:rPr>
              <a:t>« Lecteur HS, carte rejetée »</a:t>
            </a:r>
            <a:endParaRPr lang="en-US" sz="1400" dirty="0"/>
          </a:p>
        </p:txBody>
      </p:sp>
      <p:pic>
        <p:nvPicPr>
          <p:cNvPr id="54" name="Image 8" descr="preencoded.png">    </p:cNvPr>
          <p:cNvPicPr>
            <a:picLocks noChangeAspect="1"/>
          </p:cNvPicPr>
          <p:nvPr/>
        </p:nvPicPr>
        <p:blipFill>
          <a:blip r:embed="rId9"/>
          <a:stretch>
            <a:fillRect/>
          </a:stretch>
        </p:blipFill>
        <p:spPr>
          <a:xfrm>
            <a:off x="11201400" y="4544568"/>
            <a:ext cx="274320" cy="274320"/>
          </a:xfrm>
          <a:prstGeom prst="rect">
            <a:avLst/>
          </a:prstGeom>
        </p:spPr>
      </p:pic>
      <p:sp>
        <p:nvSpPr>
          <p:cNvPr id="55" name="card-521"/>
          <p:cNvSpPr/>
          <p:nvPr/>
        </p:nvSpPr>
        <p:spPr>
          <a:xfrm>
            <a:off x="5349240" y="5020056"/>
            <a:ext cx="6291072" cy="457200"/>
          </a:xfrm>
          <a:prstGeom prst="roundRect">
            <a:avLst>
              <a:gd name="adj" fmla="val 24000"/>
            </a:avLst>
          </a:prstGeom>
          <a:solidFill>
            <a:schemeClr val="bg2"/>
          </a:solidFill>
          <a:ln/>
        </p:spPr>
      </p:sp>
      <p:sp>
        <p:nvSpPr>
          <p:cNvPr id="56" name="Text 45"/>
          <p:cNvSpPr txBox="1"/>
          <p:nvPr/>
        </p:nvSpPr>
        <p:spPr>
          <a:xfrm>
            <a:off x="5486400" y="5093208"/>
            <a:ext cx="310896" cy="310896"/>
          </a:xfrm>
          <a:prstGeom prst="ellipse">
            <a:avLst/>
          </a:prstGeom>
          <a:solidFill>
            <a:schemeClr val="accent1"/>
          </a:solid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57" name="txt-522"/>
          <p:cNvSpPr txBox="1"/>
          <p:nvPr/>
        </p:nvSpPr>
        <p:spPr>
          <a:xfrm>
            <a:off x="5943600" y="5020056"/>
            <a:ext cx="4480560" cy="457200"/>
          </a:xfrm>
          <a:prstGeom prst="rect">
            <a:avLst/>
          </a:prstGeom>
          <a:noFill/>
          <a:ln/>
        </p:spPr>
        <p:txBody>
          <a:bodyPr wrap="square" lIns="0" tIns="0" rIns="0" bIns="0" rtlCol="0" anchor="ctr"/>
          <a:lstStyle/>
          <a:p>
            <a:pPr indent="0" marL="0">
              <a:buNone/>
            </a:pPr>
            <a:r>
              <a:rPr lang="en-US" sz="1400" i="1" dirty="0">
                <a:solidFill>
                  <a:schemeClr val="tx1"/>
                </a:solidFill>
              </a:rPr>
              <a:t>« Le GAB ne lit pas la carte »</a:t>
            </a:r>
            <a:endParaRPr lang="en-US" sz="1400" dirty="0"/>
          </a:p>
        </p:txBody>
      </p:sp>
      <p:pic>
        <p:nvPicPr>
          <p:cNvPr id="58" name="Image 9" descr="preencoded.png">    </p:cNvPr>
          <p:cNvPicPr>
            <a:picLocks noChangeAspect="1"/>
          </p:cNvPicPr>
          <p:nvPr/>
        </p:nvPicPr>
        <p:blipFill>
          <a:blip r:embed="rId10"/>
          <a:stretch>
            <a:fillRect/>
          </a:stretch>
        </p:blipFill>
        <p:spPr>
          <a:xfrm>
            <a:off x="11201400" y="5111496"/>
            <a:ext cx="274320" cy="274320"/>
          </a:xfrm>
          <a:prstGeom prst="rect">
            <a:avLst/>
          </a:prstGeom>
        </p:spPr>
      </p:pic>
      <p:sp>
        <p:nvSpPr>
          <p:cNvPr id="59" name="txt-523"/>
          <p:cNvSpPr txBox="1"/>
          <p:nvPr/>
        </p:nvSpPr>
        <p:spPr>
          <a:xfrm>
            <a:off x="548640" y="5623560"/>
            <a:ext cx="11064240" cy="502920"/>
          </a:xfrm>
          <a:prstGeom prst="rect">
            <a:avLst/>
          </a:prstGeom>
          <a:noFill/>
          <a:ln/>
        </p:spPr>
        <p:txBody>
          <a:bodyPr wrap="square" lIns="0" tIns="0" rIns="0" bIns="0" rtlCol="0" anchor="t"/>
          <a:lstStyle/>
          <a:p>
            <a:pPr indent="0" marL="0">
              <a:buNone/>
            </a:pPr>
            <a:r>
              <a:rPr lang="en-US" sz="1300" dirty="0">
                <a:solidFill>
                  <a:schemeClr val="tx2"/>
                </a:solidFill>
              </a:rPr>
              <a:t>Aucune de ces phrases ne contient « refuse » : elles sont retrouvées grâce à leur sens. Chacune mène aux actions déjà tentées et à leur résultat.</a:t>
            </a:r>
            <a:endParaRPr lang="en-US" sz="13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partie"/>
          <p:cNvSpPr txBox="1"/>
          <p:nvPr/>
        </p:nvSpPr>
        <p:spPr>
          <a:xfrm>
            <a:off x="548640" y="182880"/>
            <a:ext cx="8229600" cy="256032"/>
          </a:xfrm>
          <a:prstGeom prst="rect">
            <a:avLst/>
          </a:prstGeom>
          <a:noFill/>
          <a:ln/>
        </p:spPr>
        <p:txBody>
          <a:bodyPr wrap="square" lIns="0" tIns="0" rIns="0" bIns="0" rtlCol="0" anchor="ctr"/>
          <a:lstStyle/>
          <a:p>
            <a:pPr indent="0" marL="0">
              <a:buNone/>
            </a:pPr>
            <a:r>
              <a:rPr lang="en-US" sz="1100" b="1" spc="150" kern="0" dirty="0">
                <a:solidFill>
                  <a:schemeClr val="accent1"/>
                </a:solidFill>
              </a:rPr>
              <a:t>V. L'INTELLIGENCE ARTIFICIELLE</a:t>
            </a:r>
            <a:endParaRPr lang="en-US" sz="1100" dirty="0"/>
          </a:p>
        </p:txBody>
      </p:sp>
      <p:sp>
        <p:nvSpPr>
          <p:cNvPr id="3" name="Text 0"/>
          <p:cNvSpPr/>
          <p:nvPr>
            <p:ph idx="100" type="title" hasCustomPrompt="1"/>
          </p:nvPr>
        </p:nvSpPr>
        <p:spPr>
          <a:xfrm>
            <a:off x="548640" y="438912"/>
            <a:ext cx="11091672" cy="54864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c) Voyage AI : ce que c'est et comment ça marche</a:t>
            </a:r>
            <a:endParaRPr lang="en-US" sz="2800" dirty="0"/>
          </a:p>
        </p:txBody>
      </p:sp>
      <p:pic>
        <p:nvPicPr>
          <p:cNvPr id="4" name="icone-objectif" descr="preencoded.png">    </p:cNvPr>
          <p:cNvPicPr>
            <a:picLocks noChangeAspect="1"/>
          </p:cNvPicPr>
          <p:nvPr/>
        </p:nvPicPr>
        <p:blipFill>
          <a:blip r:embed="rId1"/>
          <a:stretch>
            <a:fillRect/>
          </a:stretch>
        </p:blipFill>
        <p:spPr>
          <a:xfrm>
            <a:off x="548640" y="1033272"/>
            <a:ext cx="237744" cy="237744"/>
          </a:xfrm>
          <a:prstGeom prst="rect">
            <a:avLst/>
          </a:prstGeom>
        </p:spPr>
      </p:pic>
      <p:sp>
        <p:nvSpPr>
          <p:cNvPr id="5" name="objectif"/>
          <p:cNvSpPr txBox="1"/>
          <p:nvPr/>
        </p:nvSpPr>
        <p:spPr>
          <a:xfrm>
            <a:off x="868680" y="987552"/>
            <a:ext cx="10771632" cy="329184"/>
          </a:xfrm>
          <a:prstGeom prst="rect">
            <a:avLst/>
          </a:prstGeom>
          <a:noFill/>
          <a:ln/>
        </p:spPr>
        <p:txBody>
          <a:bodyPr wrap="square" lIns="0" tIns="0" rIns="0" bIns="0" rtlCol="0" anchor="ctr"/>
          <a:lstStyle/>
          <a:p>
            <a:pPr indent="0" marL="0">
              <a:buNone/>
            </a:pPr>
            <a:r>
              <a:rPr lang="en-US" sz="1400" b="1" i="1" dirty="0">
                <a:solidFill>
                  <a:schemeClr val="tx2"/>
                </a:solidFill>
              </a:rPr>
              <a:t>Objectif : </a:t>
            </a:r>
            <a:pPr indent="0" marL="0">
              <a:buNone/>
            </a:pPr>
            <a:r>
              <a:rPr lang="en-US" sz="1400" i="1" dirty="0">
                <a:solidFill>
                  <a:schemeClr val="tx2"/>
                </a:solidFill>
              </a:rPr>
              <a:t>Découvrir le service qui transforme les textes des techniciens en vecteurs.</a:t>
            </a:r>
            <a:endParaRPr lang="en-US" sz="1400" dirty="0"/>
          </a:p>
        </p:txBody>
      </p:sp>
      <p:sp>
        <p:nvSpPr>
          <p:cNvPr id="6" name="card-524"/>
          <p:cNvSpPr/>
          <p:nvPr/>
        </p:nvSpPr>
        <p:spPr>
          <a:xfrm>
            <a:off x="548640" y="1463040"/>
            <a:ext cx="4937760" cy="3611880"/>
          </a:xfrm>
          <a:prstGeom prst="roundRect">
            <a:avLst>
              <a:gd name="adj" fmla="val 3038"/>
            </a:avLst>
          </a:prstGeom>
          <a:solidFill>
            <a:srgbClr val="993556">
              <a:alpha val="8000"/>
            </a:srgbClr>
          </a:solidFill>
          <a:ln/>
        </p:spPr>
      </p:sp>
      <p:sp>
        <p:nvSpPr>
          <p:cNvPr id="7" name="pastille-525"/>
          <p:cNvSpPr/>
          <p:nvPr/>
        </p:nvSpPr>
        <p:spPr>
          <a:xfrm>
            <a:off x="777240" y="1645920"/>
            <a:ext cx="548640" cy="548640"/>
          </a:xfrm>
          <a:prstGeom prst="ellipse">
            <a:avLst/>
          </a:prstGeom>
          <a:solidFill>
            <a:srgbClr val="993556"/>
          </a:solidFill>
          <a:ln/>
        </p:spPr>
      </p:sp>
      <p:pic>
        <p:nvPicPr>
          <p:cNvPr id="8" name="icone-526" descr="preencoded.png">    </p:cNvPr>
          <p:cNvPicPr>
            <a:picLocks noChangeAspect="1"/>
          </p:cNvPicPr>
          <p:nvPr/>
        </p:nvPicPr>
        <p:blipFill>
          <a:blip r:embed="rId2"/>
          <a:stretch>
            <a:fillRect/>
          </a:stretch>
        </p:blipFill>
        <p:spPr>
          <a:xfrm>
            <a:off x="897941" y="1766621"/>
            <a:ext cx="307238" cy="307238"/>
          </a:xfrm>
          <a:prstGeom prst="rect">
            <a:avLst/>
          </a:prstGeom>
        </p:spPr>
      </p:pic>
      <p:sp>
        <p:nvSpPr>
          <p:cNvPr id="9" name="txt-527"/>
          <p:cNvSpPr txBox="1"/>
          <p:nvPr/>
        </p:nvSpPr>
        <p:spPr>
          <a:xfrm>
            <a:off x="1463040" y="1645920"/>
            <a:ext cx="3840480" cy="548640"/>
          </a:xfrm>
          <a:prstGeom prst="rect">
            <a:avLst/>
          </a:prstGeom>
          <a:noFill/>
          <a:ln/>
        </p:spPr>
        <p:txBody>
          <a:bodyPr wrap="square" lIns="0" tIns="0" rIns="0" bIns="0" rtlCol="0" anchor="ctr"/>
          <a:lstStyle/>
          <a:p>
            <a:pPr indent="0" marL="0">
              <a:buNone/>
            </a:pPr>
            <a:r>
              <a:rPr lang="en-US" sz="1700" b="1" dirty="0">
                <a:solidFill>
                  <a:schemeClr val="tx1"/>
                </a:solidFill>
              </a:rPr>
              <a:t>Qu'est-ce que c'est ?</a:t>
            </a:r>
            <a:endParaRPr lang="en-US" sz="1700" dirty="0"/>
          </a:p>
        </p:txBody>
      </p:sp>
      <p:sp>
        <p:nvSpPr>
          <p:cNvPr id="10" name="txt-528"/>
          <p:cNvSpPr txBox="1"/>
          <p:nvPr/>
        </p:nvSpPr>
        <p:spPr>
          <a:xfrm>
            <a:off x="777240" y="2331720"/>
            <a:ext cx="4526280" cy="265176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chemeClr val="tx1"/>
                </a:solidFill>
              </a:rPr>
              <a:t>Une entreprise spécialisée dans les modèles d'embedding : ils transforment un texte en vecteur.</a:t>
            </a:r>
            <a:endParaRPr lang="en-US" sz="1350" dirty="0"/>
          </a:p>
          <a:p>
            <a:pPr marL="342900" indent="-342900">
              <a:spcAft>
                <a:spcPts val="800"/>
              </a:spcAft>
              <a:buSzPct val="100000"/>
              <a:buChar char="•"/>
            </a:pPr>
            <a:r>
              <a:rPr lang="en-US" sz="1350" dirty="0">
                <a:solidFill>
                  <a:schemeClr val="tx1"/>
                </a:solidFill>
              </a:rPr>
              <a:t>Rachetée par MongoDB en février 2025 ; ses modèles restent accessibles par API.</a:t>
            </a:r>
            <a:endParaRPr lang="en-US" sz="1350" dirty="0"/>
          </a:p>
          <a:p>
            <a:pPr marL="342900" indent="-342900">
              <a:spcAft>
                <a:spcPts val="800"/>
              </a:spcAft>
              <a:buSzPct val="100000"/>
              <a:buChar char="•"/>
            </a:pPr>
            <a:r>
              <a:rPr lang="en-US" sz="1350" dirty="0">
                <a:solidFill>
                  <a:schemeClr val="tx1"/>
                </a:solidFill>
              </a:rPr>
              <a:t>Citée par Anthropic, l'éditeur de Claude, comme fournisseur d'embeddings.</a:t>
            </a:r>
            <a:endParaRPr lang="en-US" sz="1350" dirty="0"/>
          </a:p>
          <a:p>
            <a:pPr marL="342900" indent="-342900">
              <a:spcAft>
                <a:spcPts val="800"/>
              </a:spcAft>
              <a:buSzPct val="100000"/>
              <a:buChar char="•"/>
            </a:pPr>
            <a:r>
              <a:rPr lang="en-US" sz="1350" dirty="0">
                <a:solidFill>
                  <a:schemeClr val="tx1"/>
                </a:solidFill>
              </a:rPr>
              <a:t>Dans ATM-BOT : modèle voyage-3-large, vecteurs de 1024 nombres.</a:t>
            </a:r>
            <a:endParaRPr lang="en-US" sz="1350" dirty="0"/>
          </a:p>
        </p:txBody>
      </p:sp>
      <p:sp>
        <p:nvSpPr>
          <p:cNvPr id="11" name="txt-529"/>
          <p:cNvSpPr txBox="1"/>
          <p:nvPr/>
        </p:nvSpPr>
        <p:spPr>
          <a:xfrm>
            <a:off x="5852160" y="1463040"/>
            <a:ext cx="5760720" cy="365760"/>
          </a:xfrm>
          <a:prstGeom prst="rect">
            <a:avLst/>
          </a:prstGeom>
          <a:noFill/>
          <a:ln/>
        </p:spPr>
        <p:txBody>
          <a:bodyPr wrap="square" lIns="0" tIns="0" rIns="0" bIns="0" rtlCol="0" anchor="t"/>
          <a:lstStyle/>
          <a:p>
            <a:pPr indent="0" marL="0">
              <a:buNone/>
            </a:pPr>
            <a:r>
              <a:rPr lang="en-US" sz="1700" b="1" dirty="0">
                <a:solidFill>
                  <a:schemeClr val="tx1"/>
                </a:solidFill>
              </a:rPr>
              <a:t>Comment ça marche</a:t>
            </a:r>
            <a:endParaRPr lang="en-US" sz="1700" dirty="0"/>
          </a:p>
        </p:txBody>
      </p:sp>
      <p:sp>
        <p:nvSpPr>
          <p:cNvPr id="12" name="Text 8"/>
          <p:cNvSpPr txBox="1"/>
          <p:nvPr/>
        </p:nvSpPr>
        <p:spPr>
          <a:xfrm>
            <a:off x="5852160" y="1965960"/>
            <a:ext cx="1783080" cy="868680"/>
          </a:xfrm>
          <a:prstGeom prst="roundRect">
            <a:avLst>
              <a:gd name="adj" fmla="val 10526"/>
            </a:avLst>
          </a:prstGeom>
          <a:solidFill>
            <a:schemeClr val="accent3"/>
          </a:solidFill>
          <a:ln/>
        </p:spPr>
        <p:txBody>
          <a:bodyPr wrap="square" lIns="762" tIns="762" rIns="762" bIns="762" rtlCol="0" anchor="ctr"/>
          <a:lstStyle/>
          <a:p>
            <a:pPr algn="ctr" indent="0" marL="0">
              <a:buNone/>
            </a:pPr>
            <a:r>
              <a:rPr lang="en-US" sz="1250" i="1" dirty="0">
                <a:solidFill>
                  <a:schemeClr val="bg1"/>
                </a:solidFill>
              </a:rPr>
              <a:t>« La carte est avalée »</a:t>
            </a:r>
            <a:endParaRPr lang="en-US" sz="1250" dirty="0"/>
          </a:p>
        </p:txBody>
      </p:sp>
      <p:sp>
        <p:nvSpPr>
          <p:cNvPr id="13" name="fleche-530"/>
          <p:cNvSpPr/>
          <p:nvPr/>
        </p:nvSpPr>
        <p:spPr>
          <a:xfrm>
            <a:off x="7680960" y="2395728"/>
            <a:ext cx="320040" cy="914"/>
          </a:xfrm>
          <a:prstGeom prst="line">
            <a:avLst/>
          </a:prstGeom>
          <a:noFill/>
          <a:ln w="22225">
            <a:solidFill>
              <a:schemeClr val="accent5"/>
            </a:solidFill>
            <a:prstDash val="solid"/>
            <a:tailEnd type="triangle"/>
          </a:ln>
        </p:spPr>
      </p:sp>
      <p:sp>
        <p:nvSpPr>
          <p:cNvPr id="14" name="Text 10"/>
          <p:cNvSpPr txBox="1"/>
          <p:nvPr/>
        </p:nvSpPr>
        <p:spPr>
          <a:xfrm>
            <a:off x="8046720" y="1965960"/>
            <a:ext cx="1463040" cy="868680"/>
          </a:xfrm>
          <a:prstGeom prst="roundRect">
            <a:avLst>
              <a:gd name="adj" fmla="val 10526"/>
            </a:avLst>
          </a:prstGeom>
          <a:solidFill>
            <a:srgbClr val="993556"/>
          </a:solidFill>
          <a:ln/>
        </p:spPr>
        <p:txBody>
          <a:bodyPr wrap="square" lIns="508" tIns="508" rIns="508" bIns="508" rtlCol="0" anchor="ctr"/>
          <a:lstStyle/>
          <a:p>
            <a:pPr algn="ctr" indent="0" marL="0">
              <a:buNone/>
            </a:pPr>
            <a:r>
              <a:rPr lang="en-US" sz="1300" b="1" dirty="0">
                <a:solidFill>
                  <a:schemeClr val="bg1"/>
                </a:solidFill>
              </a:rPr>
              <a:t>API Voyage AI</a:t>
            </a:r>
            <a:endParaRPr lang="en-US" sz="1300" dirty="0"/>
          </a:p>
          <a:p>
            <a:pPr algn="ctr" indent="0" marL="0">
              <a:buNone/>
            </a:pPr>
            <a:r>
              <a:rPr lang="en-US" sz="1100" dirty="0">
                <a:solidFill>
                  <a:schemeClr val="bg1"/>
                </a:solidFill>
              </a:rPr>
              <a:t>voyage-3-large</a:t>
            </a:r>
            <a:endParaRPr lang="en-US" sz="1300" dirty="0"/>
          </a:p>
        </p:txBody>
      </p:sp>
      <p:sp>
        <p:nvSpPr>
          <p:cNvPr id="15" name="fleche-531"/>
          <p:cNvSpPr/>
          <p:nvPr/>
        </p:nvSpPr>
        <p:spPr>
          <a:xfrm>
            <a:off x="9555480" y="2395728"/>
            <a:ext cx="320040" cy="914"/>
          </a:xfrm>
          <a:prstGeom prst="line">
            <a:avLst/>
          </a:prstGeom>
          <a:noFill/>
          <a:ln w="22225">
            <a:solidFill>
              <a:schemeClr val="accent5"/>
            </a:solidFill>
            <a:prstDash val="solid"/>
            <a:tailEnd type="triangle"/>
          </a:ln>
        </p:spPr>
      </p:sp>
      <p:sp>
        <p:nvSpPr>
          <p:cNvPr id="16" name="Text 12"/>
          <p:cNvSpPr txBox="1"/>
          <p:nvPr/>
        </p:nvSpPr>
        <p:spPr>
          <a:xfrm>
            <a:off x="9921240" y="1965960"/>
            <a:ext cx="1719072" cy="868680"/>
          </a:xfrm>
          <a:prstGeom prst="roundRect">
            <a:avLst>
              <a:gd name="adj" fmla="val 10526"/>
            </a:avLst>
          </a:prstGeom>
          <a:solidFill>
            <a:schemeClr val="bg2"/>
          </a:solidFill>
          <a:ln w="12700">
            <a:solidFill>
              <a:srgbClr val="993556"/>
            </a:solidFill>
          </a:ln>
        </p:spPr>
        <p:txBody>
          <a:bodyPr wrap="square" lIns="508" tIns="508" rIns="508" bIns="508" rtlCol="0" anchor="ctr"/>
          <a:lstStyle/>
          <a:p>
            <a:pPr algn="ctr" indent="0" marL="0">
              <a:buNone/>
            </a:pPr>
            <a:r>
              <a:rPr lang="en-US" sz="1100" dirty="0">
                <a:solidFill>
                  <a:schemeClr val="tx1"/>
                </a:solidFill>
                <a:latin typeface="Consolas" pitchFamily="34" charset="0"/>
                <a:ea typeface="Consolas" pitchFamily="34" charset="-122"/>
                <a:cs typeface="Consolas" pitchFamily="34" charset="-120"/>
              </a:rPr>
              <a:t>[0,021 ; −0,113 ; 0,087 ; …]</a:t>
            </a:r>
            <a:endParaRPr lang="en-US" sz="1100" dirty="0"/>
          </a:p>
          <a:p>
            <a:pPr algn="ctr" indent="0" marL="0">
              <a:buNone/>
            </a:pPr>
            <a:r>
              <a:rPr lang="en-US" sz="1100" b="1" dirty="0">
                <a:solidFill>
                  <a:schemeClr val="tx1"/>
                </a:solidFill>
              </a:rPr>
              <a:t>1024 nombres</a:t>
            </a:r>
            <a:endParaRPr lang="en-US" sz="1100" dirty="0"/>
          </a:p>
        </p:txBody>
      </p:sp>
      <p:sp>
        <p:nvSpPr>
          <p:cNvPr id="17" name="txt-532"/>
          <p:cNvSpPr txBox="1"/>
          <p:nvPr/>
        </p:nvSpPr>
        <p:spPr>
          <a:xfrm>
            <a:off x="9921240" y="2852928"/>
            <a:ext cx="1719072" cy="228600"/>
          </a:xfrm>
          <a:prstGeom prst="rect">
            <a:avLst/>
          </a:prstGeom>
          <a:noFill/>
          <a:ln/>
        </p:spPr>
        <p:txBody>
          <a:bodyPr wrap="square" lIns="0" tIns="0" rIns="0" bIns="0" rtlCol="0" anchor="t"/>
          <a:lstStyle/>
          <a:p>
            <a:pPr algn="ctr" indent="0" marL="0">
              <a:buNone/>
            </a:pPr>
            <a:r>
              <a:rPr lang="en-US" sz="950" i="1" dirty="0">
                <a:solidFill>
                  <a:schemeClr val="accent5"/>
                </a:solidFill>
              </a:rPr>
              <a:t>Valeurs illustratives</a:t>
            </a:r>
            <a:endParaRPr lang="en-US" sz="950" dirty="0"/>
          </a:p>
        </p:txBody>
      </p:sp>
      <p:sp>
        <p:nvSpPr>
          <p:cNvPr id="18" name="card-533"/>
          <p:cNvSpPr/>
          <p:nvPr/>
        </p:nvSpPr>
        <p:spPr>
          <a:xfrm>
            <a:off x="5852160" y="3154680"/>
            <a:ext cx="5788152" cy="1920240"/>
          </a:xfrm>
          <a:prstGeom prst="roundRect">
            <a:avLst>
              <a:gd name="adj" fmla="val 5714"/>
            </a:avLst>
          </a:prstGeom>
          <a:solidFill>
            <a:schemeClr val="bg2"/>
          </a:solidFill>
          <a:ln/>
        </p:spPr>
      </p:sp>
      <p:sp>
        <p:nvSpPr>
          <p:cNvPr id="19" name="txt-534"/>
          <p:cNvSpPr txBox="1"/>
          <p:nvPr/>
        </p:nvSpPr>
        <p:spPr>
          <a:xfrm>
            <a:off x="6035040" y="3246120"/>
            <a:ext cx="2926080" cy="292608"/>
          </a:xfrm>
          <a:prstGeom prst="rect">
            <a:avLst/>
          </a:prstGeom>
          <a:noFill/>
          <a:ln/>
        </p:spPr>
        <p:txBody>
          <a:bodyPr wrap="square" lIns="0" tIns="0" rIns="0" bIns="0" rtlCol="0" anchor="t"/>
          <a:lstStyle/>
          <a:p>
            <a:pPr indent="0" marL="0">
              <a:buNone/>
            </a:pPr>
            <a:r>
              <a:rPr lang="en-US" sz="1300" b="1" dirty="0">
                <a:solidFill>
                  <a:schemeClr val="tx1"/>
                </a:solidFill>
              </a:rPr>
              <a:t>Même sens → vecteurs proches</a:t>
            </a:r>
            <a:endParaRPr lang="en-US" sz="1300" dirty="0"/>
          </a:p>
        </p:txBody>
      </p:sp>
      <p:sp>
        <p:nvSpPr>
          <p:cNvPr id="20" name="txt-535"/>
          <p:cNvSpPr txBox="1"/>
          <p:nvPr/>
        </p:nvSpPr>
        <p:spPr>
          <a:xfrm>
            <a:off x="6035040" y="3538728"/>
            <a:ext cx="3017520" cy="457200"/>
          </a:xfrm>
          <a:prstGeom prst="rect">
            <a:avLst/>
          </a:prstGeom>
          <a:noFill/>
          <a:ln/>
        </p:spPr>
        <p:txBody>
          <a:bodyPr wrap="square" lIns="0" tIns="0" rIns="0" bIns="0" rtlCol="0" anchor="t"/>
          <a:lstStyle/>
          <a:p>
            <a:pPr indent="0" marL="0">
              <a:buNone/>
            </a:pPr>
            <a:r>
              <a:rPr lang="en-US" sz="1050" i="1" dirty="0">
                <a:solidFill>
                  <a:schemeClr val="accent5"/>
                </a:solidFill>
              </a:rPr>
              <a:t>Vue simplifiée : 2 dimensions au lieu de 1024</a:t>
            </a:r>
            <a:endParaRPr lang="en-US" sz="1050" dirty="0"/>
          </a:p>
        </p:txBody>
      </p:sp>
      <p:sp>
        <p:nvSpPr>
          <p:cNvPr id="21" name="Shape 17"/>
          <p:cNvSpPr/>
          <p:nvPr/>
        </p:nvSpPr>
        <p:spPr>
          <a:xfrm>
            <a:off x="8915400" y="3337560"/>
            <a:ext cx="2331720" cy="960120"/>
          </a:xfrm>
          <a:prstGeom prst="ellipse">
            <a:avLst/>
          </a:prstGeom>
          <a:solidFill>
            <a:srgbClr val="993556">
              <a:alpha val="12000"/>
            </a:srgbClr>
          </a:solidFill>
          <a:ln w="9525">
            <a:solidFill>
              <a:srgbClr val="993556"/>
            </a:solidFill>
            <a:prstDash val="dash"/>
          </a:ln>
        </p:spPr>
      </p:sp>
      <p:sp>
        <p:nvSpPr>
          <p:cNvPr id="22" name="Shape 18"/>
          <p:cNvSpPr/>
          <p:nvPr/>
        </p:nvSpPr>
        <p:spPr>
          <a:xfrm>
            <a:off x="9098280" y="3520440"/>
            <a:ext cx="182880" cy="182880"/>
          </a:xfrm>
          <a:prstGeom prst="ellipse">
            <a:avLst/>
          </a:prstGeom>
          <a:solidFill>
            <a:srgbClr val="993556"/>
          </a:solidFill>
          <a:ln/>
        </p:spPr>
      </p:sp>
      <p:sp>
        <p:nvSpPr>
          <p:cNvPr id="23" name="txt-536"/>
          <p:cNvSpPr txBox="1"/>
          <p:nvPr/>
        </p:nvSpPr>
        <p:spPr>
          <a:xfrm>
            <a:off x="9354312" y="3474720"/>
            <a:ext cx="2377440" cy="274320"/>
          </a:xfrm>
          <a:prstGeom prst="rect">
            <a:avLst/>
          </a:prstGeom>
          <a:noFill/>
          <a:ln/>
        </p:spPr>
        <p:txBody>
          <a:bodyPr wrap="square" lIns="0" tIns="0" rIns="0" bIns="0" rtlCol="0" anchor="t"/>
          <a:lstStyle/>
          <a:p>
            <a:pPr indent="0" marL="0">
              <a:buNone/>
            </a:pPr>
            <a:r>
              <a:rPr lang="en-US" sz="1150" dirty="0">
                <a:solidFill>
                  <a:schemeClr val="tx1"/>
                </a:solidFill>
              </a:rPr>
              <a:t>« La carte est avalée »</a:t>
            </a:r>
            <a:endParaRPr lang="en-US" sz="1150" dirty="0"/>
          </a:p>
        </p:txBody>
      </p:sp>
      <p:sp>
        <p:nvSpPr>
          <p:cNvPr id="24" name="Shape 20"/>
          <p:cNvSpPr/>
          <p:nvPr/>
        </p:nvSpPr>
        <p:spPr>
          <a:xfrm>
            <a:off x="9189720" y="3931920"/>
            <a:ext cx="182880" cy="182880"/>
          </a:xfrm>
          <a:prstGeom prst="ellipse">
            <a:avLst/>
          </a:prstGeom>
          <a:solidFill>
            <a:srgbClr val="993556"/>
          </a:solidFill>
          <a:ln/>
        </p:spPr>
      </p:sp>
      <p:sp>
        <p:nvSpPr>
          <p:cNvPr id="25" name="txt-537"/>
          <p:cNvSpPr txBox="1"/>
          <p:nvPr/>
        </p:nvSpPr>
        <p:spPr>
          <a:xfrm>
            <a:off x="9445752" y="3886200"/>
            <a:ext cx="2377440" cy="274320"/>
          </a:xfrm>
          <a:prstGeom prst="rect">
            <a:avLst/>
          </a:prstGeom>
          <a:noFill/>
          <a:ln/>
        </p:spPr>
        <p:txBody>
          <a:bodyPr wrap="square" lIns="0" tIns="0" rIns="0" bIns="0" rtlCol="0" anchor="t"/>
          <a:lstStyle/>
          <a:p>
            <a:pPr indent="0" marL="0">
              <a:buNone/>
            </a:pPr>
            <a:r>
              <a:rPr lang="en-US" sz="1150" dirty="0">
                <a:solidFill>
                  <a:schemeClr val="tx1"/>
                </a:solidFill>
              </a:rPr>
              <a:t>« Carte retenue par le GAB »</a:t>
            </a:r>
            <a:endParaRPr lang="en-US" sz="1150" dirty="0"/>
          </a:p>
        </p:txBody>
      </p:sp>
      <p:sp>
        <p:nvSpPr>
          <p:cNvPr id="26" name="Shape 22"/>
          <p:cNvSpPr/>
          <p:nvPr/>
        </p:nvSpPr>
        <p:spPr>
          <a:xfrm>
            <a:off x="6172200" y="4526280"/>
            <a:ext cx="182880" cy="182880"/>
          </a:xfrm>
          <a:prstGeom prst="ellipse">
            <a:avLst/>
          </a:prstGeom>
          <a:solidFill>
            <a:schemeClr val="accent5"/>
          </a:solidFill>
          <a:ln/>
        </p:spPr>
      </p:sp>
      <p:sp>
        <p:nvSpPr>
          <p:cNvPr id="27" name="txt-538"/>
          <p:cNvSpPr txBox="1"/>
          <p:nvPr/>
        </p:nvSpPr>
        <p:spPr>
          <a:xfrm>
            <a:off x="6428232" y="4480560"/>
            <a:ext cx="2377440" cy="274320"/>
          </a:xfrm>
          <a:prstGeom prst="rect">
            <a:avLst/>
          </a:prstGeom>
          <a:noFill/>
          <a:ln/>
        </p:spPr>
        <p:txBody>
          <a:bodyPr wrap="square" lIns="0" tIns="0" rIns="0" bIns="0" rtlCol="0" anchor="t"/>
          <a:lstStyle/>
          <a:p>
            <a:pPr indent="0" marL="0">
              <a:buNone/>
            </a:pPr>
            <a:r>
              <a:rPr lang="en-US" sz="1150" dirty="0">
                <a:solidFill>
                  <a:schemeClr val="tx1"/>
                </a:solidFill>
              </a:rPr>
              <a:t>« Billets bloqués dans le distributeur »</a:t>
            </a:r>
            <a:endParaRPr lang="en-US" sz="1150" dirty="0"/>
          </a:p>
        </p:txBody>
      </p:sp>
      <p:sp>
        <p:nvSpPr>
          <p:cNvPr id="28" name="card-539"/>
          <p:cNvSpPr/>
          <p:nvPr/>
        </p:nvSpPr>
        <p:spPr>
          <a:xfrm>
            <a:off x="548640" y="5257800"/>
            <a:ext cx="11091672" cy="914400"/>
          </a:xfrm>
          <a:prstGeom prst="roundRect">
            <a:avLst>
              <a:gd name="adj" fmla="val 12000"/>
            </a:avLst>
          </a:prstGeom>
          <a:solidFill>
            <a:schemeClr val="accent1">
              <a:alpha val="12000"/>
            </a:schemeClr>
          </a:solidFill>
          <a:ln/>
        </p:spPr>
      </p:sp>
      <p:sp>
        <p:nvSpPr>
          <p:cNvPr id="29" name="txt-540"/>
          <p:cNvSpPr txBox="1"/>
          <p:nvPr/>
        </p:nvSpPr>
        <p:spPr>
          <a:xfrm>
            <a:off x="777240" y="5257800"/>
            <a:ext cx="10698480" cy="914400"/>
          </a:xfrm>
          <a:prstGeom prst="rect">
            <a:avLst/>
          </a:prstGeom>
          <a:noFill/>
          <a:ln/>
        </p:spPr>
        <p:txBody>
          <a:bodyPr wrap="square" lIns="0" tIns="0" rIns="0" bIns="0" rtlCol="0" anchor="ctr"/>
          <a:lstStyle/>
          <a:p>
            <a:pPr indent="0" marL="0">
              <a:buNone/>
            </a:pPr>
            <a:r>
              <a:rPr lang="en-US" sz="1350" b="1" dirty="0">
                <a:solidFill>
                  <a:schemeClr val="tx1"/>
                </a:solidFill>
              </a:rPr>
              <a:t>Utilisé à deux moments : </a:t>
            </a:r>
            <a:pPr indent="0" marL="0">
              <a:buNone/>
            </a:pPr>
            <a:r>
              <a:rPr lang="en-US" sz="1350" dirty="0">
                <a:solidFill>
                  <a:schemeClr val="tx1"/>
                </a:solidFill>
              </a:rPr>
              <a:t>à l'enregistrement d'une intervention, le texte du technicien est vectorisé et stocké en base ; à chaque demande de diagnostic, la question est vectorisée puis comparée aux vecteurs enregistrés.</a:t>
            </a:r>
            <a:endParaRPr lang="en-US" sz="135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partie"/>
          <p:cNvSpPr txBox="1"/>
          <p:nvPr/>
        </p:nvSpPr>
        <p:spPr>
          <a:xfrm>
            <a:off x="548640" y="182880"/>
            <a:ext cx="8229600" cy="256032"/>
          </a:xfrm>
          <a:prstGeom prst="rect">
            <a:avLst/>
          </a:prstGeom>
          <a:noFill/>
          <a:ln/>
        </p:spPr>
        <p:txBody>
          <a:bodyPr wrap="square" lIns="0" tIns="0" rIns="0" bIns="0" rtlCol="0" anchor="ctr"/>
          <a:lstStyle/>
          <a:p>
            <a:pPr indent="0" marL="0">
              <a:buNone/>
            </a:pPr>
            <a:r>
              <a:rPr lang="en-US" sz="1100" b="1" spc="150" kern="0" dirty="0">
                <a:solidFill>
                  <a:schemeClr val="accent1"/>
                </a:solidFill>
              </a:rPr>
              <a:t>V. L'INTELLIGENCE ARTIFICIELLE</a:t>
            </a:r>
            <a:endParaRPr lang="en-US" sz="1100" dirty="0"/>
          </a:p>
        </p:txBody>
      </p:sp>
      <p:sp>
        <p:nvSpPr>
          <p:cNvPr id="3" name="Text 0"/>
          <p:cNvSpPr/>
          <p:nvPr>
            <p:ph idx="100" type="title" hasCustomPrompt="1"/>
          </p:nvPr>
        </p:nvSpPr>
        <p:spPr>
          <a:xfrm>
            <a:off x="548640" y="438912"/>
            <a:ext cx="11091672" cy="54864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d) Voyage AI : pourquoi c'est incontournable</a:t>
            </a:r>
            <a:endParaRPr lang="en-US" sz="2800" dirty="0"/>
          </a:p>
        </p:txBody>
      </p:sp>
      <p:pic>
        <p:nvPicPr>
          <p:cNvPr id="4" name="icone-objectif" descr="preencoded.png">    </p:cNvPr>
          <p:cNvPicPr>
            <a:picLocks noChangeAspect="1"/>
          </p:cNvPicPr>
          <p:nvPr/>
        </p:nvPicPr>
        <p:blipFill>
          <a:blip r:embed="rId1"/>
          <a:stretch>
            <a:fillRect/>
          </a:stretch>
        </p:blipFill>
        <p:spPr>
          <a:xfrm>
            <a:off x="548640" y="1033272"/>
            <a:ext cx="237744" cy="237744"/>
          </a:xfrm>
          <a:prstGeom prst="rect">
            <a:avLst/>
          </a:prstGeom>
        </p:spPr>
      </p:pic>
      <p:sp>
        <p:nvSpPr>
          <p:cNvPr id="5" name="objectif"/>
          <p:cNvSpPr txBox="1"/>
          <p:nvPr/>
        </p:nvSpPr>
        <p:spPr>
          <a:xfrm>
            <a:off x="868680" y="987552"/>
            <a:ext cx="10771632" cy="329184"/>
          </a:xfrm>
          <a:prstGeom prst="rect">
            <a:avLst/>
          </a:prstGeom>
          <a:noFill/>
          <a:ln/>
        </p:spPr>
        <p:txBody>
          <a:bodyPr wrap="square" lIns="0" tIns="0" rIns="0" bIns="0" rtlCol="0" anchor="ctr"/>
          <a:lstStyle/>
          <a:p>
            <a:pPr indent="0" marL="0">
              <a:buNone/>
            </a:pPr>
            <a:r>
              <a:rPr lang="en-US" sz="1400" b="1" i="1" dirty="0">
                <a:solidFill>
                  <a:schemeClr val="tx2"/>
                </a:solidFill>
              </a:rPr>
              <a:t>Objectif : </a:t>
            </a:r>
            <a:pPr indent="0" marL="0">
              <a:buNone/>
            </a:pPr>
            <a:r>
              <a:rPr lang="en-US" sz="1400" i="1" dirty="0">
                <a:solidFill>
                  <a:schemeClr val="tx2"/>
                </a:solidFill>
              </a:rPr>
              <a:t>Comprendre les deux raisons pour lesquelles ATM-BOT ne peut pas s'en passer.</a:t>
            </a:r>
            <a:endParaRPr lang="en-US" sz="1400" dirty="0"/>
          </a:p>
        </p:txBody>
      </p:sp>
      <p:sp>
        <p:nvSpPr>
          <p:cNvPr id="6" name="card-541"/>
          <p:cNvSpPr/>
          <p:nvPr/>
        </p:nvSpPr>
        <p:spPr>
          <a:xfrm>
            <a:off x="548640" y="1463040"/>
            <a:ext cx="5394960" cy="3657600"/>
          </a:xfrm>
          <a:prstGeom prst="roundRect">
            <a:avLst>
              <a:gd name="adj" fmla="val 3000"/>
            </a:avLst>
          </a:prstGeom>
          <a:solidFill>
            <a:schemeClr val="bg2"/>
          </a:solidFill>
          <a:ln/>
        </p:spPr>
      </p:sp>
      <p:sp>
        <p:nvSpPr>
          <p:cNvPr id="7" name="Text 4"/>
          <p:cNvSpPr txBox="1"/>
          <p:nvPr/>
        </p:nvSpPr>
        <p:spPr>
          <a:xfrm>
            <a:off x="822960" y="1691640"/>
            <a:ext cx="685800" cy="685800"/>
          </a:xfrm>
          <a:prstGeom prst="ellipse">
            <a:avLst/>
          </a:prstGeom>
          <a:solidFill>
            <a:srgbClr val="993556"/>
          </a:solid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8" name="pastille-542"/>
          <p:cNvSpPr/>
          <p:nvPr/>
        </p:nvSpPr>
        <p:spPr>
          <a:xfrm>
            <a:off x="5120640" y="1737360"/>
            <a:ext cx="548640" cy="548640"/>
          </a:xfrm>
          <a:prstGeom prst="ellipse">
            <a:avLst/>
          </a:prstGeom>
          <a:solidFill>
            <a:schemeClr val="accent3"/>
          </a:solidFill>
          <a:ln/>
        </p:spPr>
      </p:sp>
      <p:pic>
        <p:nvPicPr>
          <p:cNvPr id="9" name="icone-543" descr="preencoded.png">    </p:cNvPr>
          <p:cNvPicPr>
            <a:picLocks noChangeAspect="1"/>
          </p:cNvPicPr>
          <p:nvPr/>
        </p:nvPicPr>
        <p:blipFill>
          <a:blip r:embed="rId2"/>
          <a:stretch>
            <a:fillRect/>
          </a:stretch>
        </p:blipFill>
        <p:spPr>
          <a:xfrm>
            <a:off x="5241341" y="1858061"/>
            <a:ext cx="307238" cy="307238"/>
          </a:xfrm>
          <a:prstGeom prst="rect">
            <a:avLst/>
          </a:prstGeom>
        </p:spPr>
      </p:pic>
      <p:sp>
        <p:nvSpPr>
          <p:cNvPr id="10" name="txt-544"/>
          <p:cNvSpPr txBox="1"/>
          <p:nvPr/>
        </p:nvSpPr>
        <p:spPr>
          <a:xfrm>
            <a:off x="822960" y="2560320"/>
            <a:ext cx="4846320" cy="685800"/>
          </a:xfrm>
          <a:prstGeom prst="rect">
            <a:avLst/>
          </a:prstGeom>
          <a:noFill/>
          <a:ln/>
        </p:spPr>
        <p:txBody>
          <a:bodyPr wrap="square" lIns="0" tIns="0" rIns="0" bIns="0" rtlCol="0" anchor="t"/>
          <a:lstStyle/>
          <a:p>
            <a:pPr indent="0" marL="0">
              <a:buNone/>
            </a:pPr>
            <a:r>
              <a:rPr lang="en-US" sz="1800" b="1" dirty="0">
                <a:solidFill>
                  <a:schemeClr val="tx1"/>
                </a:solidFill>
              </a:rPr>
              <a:t>Sans embedding, pas de recherche par le sens</a:t>
            </a:r>
            <a:endParaRPr lang="en-US" sz="1800" dirty="0"/>
          </a:p>
        </p:txBody>
      </p:sp>
      <p:sp>
        <p:nvSpPr>
          <p:cNvPr id="11" name="txt-545"/>
          <p:cNvSpPr txBox="1"/>
          <p:nvPr/>
        </p:nvSpPr>
        <p:spPr>
          <a:xfrm>
            <a:off x="822960" y="3291840"/>
            <a:ext cx="4846320" cy="1325880"/>
          </a:xfrm>
          <a:prstGeom prst="rect">
            <a:avLst/>
          </a:prstGeom>
          <a:noFill/>
          <a:ln/>
        </p:spPr>
        <p:txBody>
          <a:bodyPr wrap="square" lIns="0" tIns="0" rIns="0" bIns="0" rtlCol="0" anchor="t"/>
          <a:lstStyle/>
          <a:p>
            <a:pPr indent="0" marL="0">
              <a:buNone/>
            </a:pPr>
            <a:r>
              <a:rPr lang="en-US" sz="1350" dirty="0">
                <a:solidFill>
                  <a:schemeClr val="tx2"/>
                </a:solidFill>
              </a:rPr>
              <a:t>Le cœur d'ATM-BOT est de retrouver des pannes décrites avec d'autres mots. Il faut pour cela transformer les textes en vecteurs : Claude ne sait pas le faire, et Anthropic ne propose pas de modèle d'embedding.</a:t>
            </a:r>
            <a:endParaRPr lang="en-US" sz="1350" dirty="0"/>
          </a:p>
        </p:txBody>
      </p:sp>
      <p:sp>
        <p:nvSpPr>
          <p:cNvPr id="12" name="txt-546"/>
          <p:cNvSpPr txBox="1"/>
          <p:nvPr/>
        </p:nvSpPr>
        <p:spPr>
          <a:xfrm>
            <a:off x="822960" y="4663440"/>
            <a:ext cx="4846320" cy="320040"/>
          </a:xfrm>
          <a:prstGeom prst="rect">
            <a:avLst/>
          </a:prstGeom>
          <a:noFill/>
          <a:ln/>
        </p:spPr>
        <p:txBody>
          <a:bodyPr wrap="square" lIns="0" tIns="0" rIns="0" bIns="0" rtlCol="0" anchor="t"/>
          <a:lstStyle/>
          <a:p>
            <a:pPr indent="0" marL="0">
              <a:buNone/>
            </a:pPr>
            <a:r>
              <a:rPr lang="en-US" sz="1200" b="1" dirty="0">
                <a:solidFill>
                  <a:srgbClr val="993556"/>
                </a:solidFill>
              </a:rPr>
              <a:t>Preuve : slide V.g</a:t>
            </a:r>
            <a:endParaRPr lang="en-US" sz="1200" dirty="0"/>
          </a:p>
        </p:txBody>
      </p:sp>
      <p:sp>
        <p:nvSpPr>
          <p:cNvPr id="13" name="card-547"/>
          <p:cNvSpPr/>
          <p:nvPr/>
        </p:nvSpPr>
        <p:spPr>
          <a:xfrm>
            <a:off x="6245352" y="1463040"/>
            <a:ext cx="5394960" cy="3657600"/>
          </a:xfrm>
          <a:prstGeom prst="roundRect">
            <a:avLst>
              <a:gd name="adj" fmla="val 3000"/>
            </a:avLst>
          </a:prstGeom>
          <a:solidFill>
            <a:schemeClr val="bg2"/>
          </a:solidFill>
          <a:ln/>
        </p:spPr>
      </p:sp>
      <p:sp>
        <p:nvSpPr>
          <p:cNvPr id="14" name="Text 10"/>
          <p:cNvSpPr txBox="1"/>
          <p:nvPr/>
        </p:nvSpPr>
        <p:spPr>
          <a:xfrm>
            <a:off x="6519672" y="1691640"/>
            <a:ext cx="685800" cy="685800"/>
          </a:xfrm>
          <a:prstGeom prst="ellipse">
            <a:avLst/>
          </a:prstGeom>
          <a:solidFill>
            <a:srgbClr val="993556"/>
          </a:solid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15" name="pastille-548"/>
          <p:cNvSpPr/>
          <p:nvPr/>
        </p:nvSpPr>
        <p:spPr>
          <a:xfrm>
            <a:off x="10817352" y="1737360"/>
            <a:ext cx="548640" cy="548640"/>
          </a:xfrm>
          <a:prstGeom prst="ellipse">
            <a:avLst/>
          </a:prstGeom>
          <a:solidFill>
            <a:schemeClr val="accent3"/>
          </a:solidFill>
          <a:ln/>
        </p:spPr>
      </p:sp>
      <p:pic>
        <p:nvPicPr>
          <p:cNvPr id="16" name="icone-549" descr="preencoded.png">    </p:cNvPr>
          <p:cNvPicPr>
            <a:picLocks noChangeAspect="1"/>
          </p:cNvPicPr>
          <p:nvPr/>
        </p:nvPicPr>
        <p:blipFill>
          <a:blip r:embed="rId3"/>
          <a:stretch>
            <a:fillRect/>
          </a:stretch>
        </p:blipFill>
        <p:spPr>
          <a:xfrm>
            <a:off x="10938053" y="1858061"/>
            <a:ext cx="307238" cy="307238"/>
          </a:xfrm>
          <a:prstGeom prst="rect">
            <a:avLst/>
          </a:prstGeom>
        </p:spPr>
      </p:pic>
      <p:sp>
        <p:nvSpPr>
          <p:cNvPr id="17" name="txt-550"/>
          <p:cNvSpPr txBox="1"/>
          <p:nvPr/>
        </p:nvSpPr>
        <p:spPr>
          <a:xfrm>
            <a:off x="6519672" y="2560320"/>
            <a:ext cx="4846320" cy="685800"/>
          </a:xfrm>
          <a:prstGeom prst="rect">
            <a:avLst/>
          </a:prstGeom>
          <a:noFill/>
          <a:ln/>
        </p:spPr>
        <p:txBody>
          <a:bodyPr wrap="square" lIns="0" tIns="0" rIns="0" bIns="0" rtlCol="0" anchor="t"/>
          <a:lstStyle/>
          <a:p>
            <a:pPr indent="0" marL="0">
              <a:buNone/>
            </a:pPr>
            <a:r>
              <a:rPr lang="en-US" sz="1800" b="1" dirty="0">
                <a:solidFill>
                  <a:schemeClr val="tx1"/>
                </a:solidFill>
              </a:rPr>
              <a:t>Un coût qui ne grossit pas avec la base</a:t>
            </a:r>
            <a:endParaRPr lang="en-US" sz="1800" dirty="0"/>
          </a:p>
        </p:txBody>
      </p:sp>
      <p:sp>
        <p:nvSpPr>
          <p:cNvPr id="18" name="txt-551"/>
          <p:cNvSpPr txBox="1"/>
          <p:nvPr/>
        </p:nvSpPr>
        <p:spPr>
          <a:xfrm>
            <a:off x="6519672" y="3291840"/>
            <a:ext cx="4846320" cy="1325880"/>
          </a:xfrm>
          <a:prstGeom prst="rect">
            <a:avLst/>
          </a:prstGeom>
          <a:noFill/>
          <a:ln/>
        </p:spPr>
        <p:txBody>
          <a:bodyPr wrap="square" lIns="0" tIns="0" rIns="0" bIns="0" rtlCol="0" anchor="t"/>
          <a:lstStyle/>
          <a:p>
            <a:pPr indent="0" marL="0">
              <a:buNone/>
            </a:pPr>
            <a:r>
              <a:rPr lang="en-US" sz="1350" dirty="0">
                <a:solidFill>
                  <a:schemeClr val="tx2"/>
                </a:solidFill>
              </a:rPr>
              <a:t>Seule la question est vectorisée, en quelques dizaines de tokens. Claude ne lit ensuite que les cas trouvés, pas toute la base : le coût reste stable à mesure que l'entreprise enrichit ses connaissances.</a:t>
            </a:r>
            <a:endParaRPr lang="en-US" sz="1350" dirty="0"/>
          </a:p>
        </p:txBody>
      </p:sp>
      <p:sp>
        <p:nvSpPr>
          <p:cNvPr id="19" name="txt-552"/>
          <p:cNvSpPr txBox="1"/>
          <p:nvPr/>
        </p:nvSpPr>
        <p:spPr>
          <a:xfrm>
            <a:off x="6519672" y="4663440"/>
            <a:ext cx="4846320" cy="320040"/>
          </a:xfrm>
          <a:prstGeom prst="rect">
            <a:avLst/>
          </a:prstGeom>
          <a:noFill/>
          <a:ln/>
        </p:spPr>
        <p:txBody>
          <a:bodyPr wrap="square" lIns="0" tIns="0" rIns="0" bIns="0" rtlCol="0" anchor="t"/>
          <a:lstStyle/>
          <a:p>
            <a:pPr indent="0" marL="0">
              <a:buNone/>
            </a:pPr>
            <a:r>
              <a:rPr lang="en-US" sz="1200" b="1" dirty="0">
                <a:solidFill>
                  <a:srgbClr val="993556"/>
                </a:solidFill>
              </a:rPr>
              <a:t>Détail : slides V.h et V.i</a:t>
            </a:r>
            <a:endParaRPr lang="en-US" sz="1200" dirty="0"/>
          </a:p>
        </p:txBody>
      </p:sp>
      <p:sp>
        <p:nvSpPr>
          <p:cNvPr id="20" name="card-553"/>
          <p:cNvSpPr/>
          <p:nvPr/>
        </p:nvSpPr>
        <p:spPr>
          <a:xfrm>
            <a:off x="548640" y="5303520"/>
            <a:ext cx="11091672" cy="868680"/>
          </a:xfrm>
          <a:prstGeom prst="roundRect">
            <a:avLst>
              <a:gd name="adj" fmla="val 12632"/>
            </a:avLst>
          </a:prstGeom>
          <a:solidFill>
            <a:schemeClr val="bg2"/>
          </a:solidFill>
          <a:ln/>
        </p:spPr>
      </p:sp>
      <p:sp>
        <p:nvSpPr>
          <p:cNvPr id="21" name="txt-554"/>
          <p:cNvSpPr txBox="1"/>
          <p:nvPr/>
        </p:nvSpPr>
        <p:spPr>
          <a:xfrm>
            <a:off x="777240" y="5303520"/>
            <a:ext cx="10698480" cy="868680"/>
          </a:xfrm>
          <a:prstGeom prst="rect">
            <a:avLst/>
          </a:prstGeom>
          <a:noFill/>
          <a:ln/>
        </p:spPr>
        <p:txBody>
          <a:bodyPr wrap="square" lIns="0" tIns="0" rIns="0" bIns="0" rtlCol="0" anchor="ctr"/>
          <a:lstStyle/>
          <a:p>
            <a:pPr indent="0" marL="0">
              <a:buNone/>
            </a:pPr>
            <a:r>
              <a:rPr lang="en-US" sz="1350" b="1" dirty="0">
                <a:solidFill>
                  <a:schemeClr val="tx1"/>
                </a:solidFill>
              </a:rPr>
              <a:t>Pourquoi Voyage AI plutôt qu'un autre fournisseur ? </a:t>
            </a:r>
            <a:pPr indent="0" marL="0">
              <a:buNone/>
            </a:pPr>
            <a:r>
              <a:rPr lang="en-US" sz="1350" dirty="0">
                <a:solidFill>
                  <a:schemeClr val="tx1"/>
                </a:solidFill>
              </a:rPr>
              <a:t>C'est le fournisseur qu'Anthropic met en avant pour accompagner Claude. D'autres modèles d'embedding restent possibles : l'architecture permet d'en changer.</a:t>
            </a:r>
            <a:endParaRPr lang="en-US" sz="135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partie"/>
          <p:cNvSpPr txBox="1"/>
          <p:nvPr/>
        </p:nvSpPr>
        <p:spPr>
          <a:xfrm>
            <a:off x="548640" y="182880"/>
            <a:ext cx="8229600" cy="256032"/>
          </a:xfrm>
          <a:prstGeom prst="rect">
            <a:avLst/>
          </a:prstGeom>
          <a:noFill/>
          <a:ln/>
        </p:spPr>
        <p:txBody>
          <a:bodyPr wrap="square" lIns="0" tIns="0" rIns="0" bIns="0" rtlCol="0" anchor="ctr"/>
          <a:lstStyle/>
          <a:p>
            <a:pPr indent="0" marL="0">
              <a:buNone/>
            </a:pPr>
            <a:r>
              <a:rPr lang="en-US" sz="1100" b="1" spc="150" kern="0" dirty="0">
                <a:solidFill>
                  <a:schemeClr val="accent1"/>
                </a:solidFill>
              </a:rPr>
              <a:t>V. L'INTELLIGENCE ARTIFICIELLE</a:t>
            </a:r>
            <a:endParaRPr lang="en-US" sz="1100" dirty="0"/>
          </a:p>
        </p:txBody>
      </p:sp>
      <p:sp>
        <p:nvSpPr>
          <p:cNvPr id="3" name="Text 0"/>
          <p:cNvSpPr/>
          <p:nvPr>
            <p:ph idx="100" type="title" hasCustomPrompt="1"/>
          </p:nvPr>
        </p:nvSpPr>
        <p:spPr>
          <a:xfrm>
            <a:off x="548640" y="438912"/>
            <a:ext cx="11091672" cy="54864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e) Le rôle de Claude et de Voyage AI</a:t>
            </a:r>
            <a:endParaRPr lang="en-US" sz="2800" dirty="0"/>
          </a:p>
        </p:txBody>
      </p:sp>
      <p:pic>
        <p:nvPicPr>
          <p:cNvPr id="4" name="icone-objectif" descr="preencoded.png">    </p:cNvPr>
          <p:cNvPicPr>
            <a:picLocks noChangeAspect="1"/>
          </p:cNvPicPr>
          <p:nvPr/>
        </p:nvPicPr>
        <p:blipFill>
          <a:blip r:embed="rId1"/>
          <a:stretch>
            <a:fillRect/>
          </a:stretch>
        </p:blipFill>
        <p:spPr>
          <a:xfrm>
            <a:off x="548640" y="1033272"/>
            <a:ext cx="237744" cy="237744"/>
          </a:xfrm>
          <a:prstGeom prst="rect">
            <a:avLst/>
          </a:prstGeom>
        </p:spPr>
      </p:pic>
      <p:sp>
        <p:nvSpPr>
          <p:cNvPr id="5" name="objectif"/>
          <p:cNvSpPr txBox="1"/>
          <p:nvPr/>
        </p:nvSpPr>
        <p:spPr>
          <a:xfrm>
            <a:off x="868680" y="987552"/>
            <a:ext cx="10771632" cy="329184"/>
          </a:xfrm>
          <a:prstGeom prst="rect">
            <a:avLst/>
          </a:prstGeom>
          <a:noFill/>
          <a:ln/>
        </p:spPr>
        <p:txBody>
          <a:bodyPr wrap="square" lIns="0" tIns="0" rIns="0" bIns="0" rtlCol="0" anchor="ctr"/>
          <a:lstStyle/>
          <a:p>
            <a:pPr indent="0" marL="0">
              <a:buNone/>
            </a:pPr>
            <a:r>
              <a:rPr lang="en-US" sz="1400" b="1" i="1" dirty="0">
                <a:solidFill>
                  <a:schemeClr val="tx2"/>
                </a:solidFill>
              </a:rPr>
              <a:t>Objectif : </a:t>
            </a:r>
            <a:pPr indent="0" marL="0">
              <a:buNone/>
            </a:pPr>
            <a:r>
              <a:rPr lang="en-US" sz="1400" i="1" dirty="0">
                <a:solidFill>
                  <a:schemeClr val="tx2"/>
                </a:solidFill>
              </a:rPr>
              <a:t>Voir qui échange avec qui, avec et sans appel à Voyage AI.</a:t>
            </a:r>
            <a:endParaRPr lang="en-US" sz="1400" dirty="0"/>
          </a:p>
        </p:txBody>
      </p:sp>
      <p:sp>
        <p:nvSpPr>
          <p:cNvPr id="6" name="card-555"/>
          <p:cNvSpPr/>
          <p:nvPr/>
        </p:nvSpPr>
        <p:spPr>
          <a:xfrm>
            <a:off x="548640" y="1417320"/>
            <a:ext cx="4160520" cy="4846320"/>
          </a:xfrm>
          <a:prstGeom prst="roundRect">
            <a:avLst>
              <a:gd name="adj" fmla="val 2637"/>
            </a:avLst>
          </a:prstGeom>
          <a:solidFill>
            <a:schemeClr val="bg2"/>
          </a:solidFill>
          <a:ln/>
        </p:spPr>
      </p:sp>
      <p:sp>
        <p:nvSpPr>
          <p:cNvPr id="7" name="txt-556"/>
          <p:cNvSpPr txBox="1"/>
          <p:nvPr/>
        </p:nvSpPr>
        <p:spPr>
          <a:xfrm>
            <a:off x="777240" y="1527048"/>
            <a:ext cx="3703320" cy="310896"/>
          </a:xfrm>
          <a:prstGeom prst="rect">
            <a:avLst/>
          </a:prstGeom>
          <a:noFill/>
          <a:ln/>
        </p:spPr>
        <p:txBody>
          <a:bodyPr wrap="square" lIns="0" tIns="0" rIns="0" bIns="0" rtlCol="0" anchor="t"/>
          <a:lstStyle/>
          <a:p>
            <a:pPr indent="0" marL="0">
              <a:buNone/>
            </a:pPr>
            <a:r>
              <a:rPr lang="en-US" sz="1400" b="1" dirty="0">
                <a:solidFill>
                  <a:schemeClr val="tx1"/>
                </a:solidFill>
              </a:rPr>
              <a:t>Cas 1 · Message simple ou suivi</a:t>
            </a:r>
            <a:endParaRPr lang="en-US" sz="1400" dirty="0"/>
          </a:p>
        </p:txBody>
      </p:sp>
      <p:sp>
        <p:nvSpPr>
          <p:cNvPr id="8" name="txt-557"/>
          <p:cNvSpPr txBox="1"/>
          <p:nvPr/>
        </p:nvSpPr>
        <p:spPr>
          <a:xfrm>
            <a:off x="777240" y="1828800"/>
            <a:ext cx="3703320" cy="256032"/>
          </a:xfrm>
          <a:prstGeom prst="rect">
            <a:avLst/>
          </a:prstGeom>
          <a:noFill/>
          <a:ln/>
        </p:spPr>
        <p:txBody>
          <a:bodyPr wrap="square" lIns="0" tIns="0" rIns="0" bIns="0" rtlCol="0" anchor="t"/>
          <a:lstStyle/>
          <a:p>
            <a:pPr indent="0" marL="0">
              <a:buNone/>
            </a:pPr>
            <a:r>
              <a:rPr lang="en-US" sz="1100" i="1" dirty="0">
                <a:solidFill>
                  <a:schemeClr val="tx2"/>
                </a:solidFill>
              </a:rPr>
              <a:t>« Bonjour », « Détaille la solution 2 »</a:t>
            </a:r>
            <a:endParaRPr lang="en-US" sz="1100" dirty="0"/>
          </a:p>
        </p:txBody>
      </p:sp>
      <p:sp>
        <p:nvSpPr>
          <p:cNvPr id="9" name="Shape 6"/>
          <p:cNvSpPr/>
          <p:nvPr/>
        </p:nvSpPr>
        <p:spPr>
          <a:xfrm>
            <a:off x="1394460" y="2807208"/>
            <a:ext cx="914" cy="2889504"/>
          </a:xfrm>
          <a:prstGeom prst="line">
            <a:avLst/>
          </a:prstGeom>
          <a:noFill/>
          <a:ln w="12700">
            <a:solidFill>
              <a:schemeClr val="accent3">
                <a:alpha val="60000"/>
              </a:schemeClr>
            </a:solidFill>
            <a:prstDash val="dash"/>
          </a:ln>
        </p:spPr>
      </p:sp>
      <p:sp>
        <p:nvSpPr>
          <p:cNvPr id="10" name="pastille-558"/>
          <p:cNvSpPr/>
          <p:nvPr/>
        </p:nvSpPr>
        <p:spPr>
          <a:xfrm>
            <a:off x="1202436" y="2167128"/>
            <a:ext cx="384048" cy="384048"/>
          </a:xfrm>
          <a:prstGeom prst="ellipse">
            <a:avLst/>
          </a:prstGeom>
          <a:solidFill>
            <a:schemeClr val="accent3"/>
          </a:solidFill>
          <a:ln/>
        </p:spPr>
      </p:sp>
      <p:pic>
        <p:nvPicPr>
          <p:cNvPr id="11" name="icone-559" descr="preencoded.png">    </p:cNvPr>
          <p:cNvPicPr>
            <a:picLocks noChangeAspect="1"/>
          </p:cNvPicPr>
          <p:nvPr/>
        </p:nvPicPr>
        <p:blipFill>
          <a:blip r:embed="rId2"/>
          <a:stretch>
            <a:fillRect/>
          </a:stretch>
        </p:blipFill>
        <p:spPr>
          <a:xfrm>
            <a:off x="1286927" y="2251619"/>
            <a:ext cx="215067" cy="215067"/>
          </a:xfrm>
          <a:prstGeom prst="rect">
            <a:avLst/>
          </a:prstGeom>
        </p:spPr>
      </p:pic>
      <p:sp>
        <p:nvSpPr>
          <p:cNvPr id="12" name="txt-560"/>
          <p:cNvSpPr txBox="1"/>
          <p:nvPr/>
        </p:nvSpPr>
        <p:spPr>
          <a:xfrm>
            <a:off x="708660" y="2569464"/>
            <a:ext cx="1371600" cy="219456"/>
          </a:xfrm>
          <a:prstGeom prst="rect">
            <a:avLst/>
          </a:prstGeom>
          <a:noFill/>
          <a:ln/>
        </p:spPr>
        <p:txBody>
          <a:bodyPr wrap="square" lIns="0" tIns="0" rIns="0" bIns="0" rtlCol="0" anchor="t"/>
          <a:lstStyle/>
          <a:p>
            <a:pPr algn="ctr" indent="0" marL="0">
              <a:buNone/>
            </a:pPr>
            <a:r>
              <a:rPr lang="en-US" sz="1100" b="1" dirty="0">
                <a:solidFill>
                  <a:schemeClr val="accent3"/>
                </a:solidFill>
              </a:rPr>
              <a:t>Technicien</a:t>
            </a:r>
            <a:endParaRPr lang="en-US" sz="1100" dirty="0"/>
          </a:p>
        </p:txBody>
      </p:sp>
      <p:sp>
        <p:nvSpPr>
          <p:cNvPr id="13" name="Shape 9"/>
          <p:cNvSpPr/>
          <p:nvPr/>
        </p:nvSpPr>
        <p:spPr>
          <a:xfrm>
            <a:off x="2628900" y="2807208"/>
            <a:ext cx="914" cy="2889504"/>
          </a:xfrm>
          <a:prstGeom prst="line">
            <a:avLst/>
          </a:prstGeom>
          <a:noFill/>
          <a:ln w="12700">
            <a:solidFill>
              <a:schemeClr val="accent2">
                <a:alpha val="60000"/>
              </a:schemeClr>
            </a:solidFill>
            <a:prstDash val="dash"/>
          </a:ln>
        </p:spPr>
      </p:sp>
      <p:sp>
        <p:nvSpPr>
          <p:cNvPr id="14" name="pastille-561"/>
          <p:cNvSpPr/>
          <p:nvPr/>
        </p:nvSpPr>
        <p:spPr>
          <a:xfrm>
            <a:off x="2436876" y="2167128"/>
            <a:ext cx="384048" cy="384048"/>
          </a:xfrm>
          <a:prstGeom prst="ellipse">
            <a:avLst/>
          </a:prstGeom>
          <a:solidFill>
            <a:schemeClr val="accent2"/>
          </a:solidFill>
          <a:ln/>
        </p:spPr>
      </p:sp>
      <p:pic>
        <p:nvPicPr>
          <p:cNvPr id="15" name="icone-562" descr="preencoded.png">    </p:cNvPr>
          <p:cNvPicPr>
            <a:picLocks noChangeAspect="1"/>
          </p:cNvPicPr>
          <p:nvPr/>
        </p:nvPicPr>
        <p:blipFill>
          <a:blip r:embed="rId3"/>
          <a:stretch>
            <a:fillRect/>
          </a:stretch>
        </p:blipFill>
        <p:spPr>
          <a:xfrm>
            <a:off x="2521367" y="2251619"/>
            <a:ext cx="215067" cy="215067"/>
          </a:xfrm>
          <a:prstGeom prst="rect">
            <a:avLst/>
          </a:prstGeom>
        </p:spPr>
      </p:pic>
      <p:sp>
        <p:nvSpPr>
          <p:cNvPr id="16" name="txt-563"/>
          <p:cNvSpPr txBox="1"/>
          <p:nvPr/>
        </p:nvSpPr>
        <p:spPr>
          <a:xfrm>
            <a:off x="1943100" y="2569464"/>
            <a:ext cx="1371600" cy="219456"/>
          </a:xfrm>
          <a:prstGeom prst="rect">
            <a:avLst/>
          </a:prstGeom>
          <a:noFill/>
          <a:ln/>
        </p:spPr>
        <p:txBody>
          <a:bodyPr wrap="square" lIns="0" tIns="0" rIns="0" bIns="0" rtlCol="0" anchor="t"/>
          <a:lstStyle/>
          <a:p>
            <a:pPr algn="ctr" indent="0" marL="0">
              <a:buNone/>
            </a:pPr>
            <a:r>
              <a:rPr lang="en-US" sz="1100" b="1" dirty="0">
                <a:solidFill>
                  <a:schemeClr val="accent2"/>
                </a:solidFill>
              </a:rPr>
              <a:t>Backend</a:t>
            </a:r>
            <a:endParaRPr lang="en-US" sz="1100" dirty="0"/>
          </a:p>
        </p:txBody>
      </p:sp>
      <p:sp>
        <p:nvSpPr>
          <p:cNvPr id="17" name="Shape 12"/>
          <p:cNvSpPr/>
          <p:nvPr/>
        </p:nvSpPr>
        <p:spPr>
          <a:xfrm>
            <a:off x="3863340" y="2807208"/>
            <a:ext cx="914" cy="2889504"/>
          </a:xfrm>
          <a:prstGeom prst="line">
            <a:avLst/>
          </a:prstGeom>
          <a:noFill/>
          <a:ln w="12700">
            <a:solidFill>
              <a:schemeClr val="accent4">
                <a:alpha val="60000"/>
              </a:schemeClr>
            </a:solidFill>
            <a:prstDash val="dash"/>
          </a:ln>
        </p:spPr>
      </p:sp>
      <p:sp>
        <p:nvSpPr>
          <p:cNvPr id="18" name="pastille-564"/>
          <p:cNvSpPr/>
          <p:nvPr/>
        </p:nvSpPr>
        <p:spPr>
          <a:xfrm>
            <a:off x="3671316" y="2167128"/>
            <a:ext cx="384048" cy="384048"/>
          </a:xfrm>
          <a:prstGeom prst="ellipse">
            <a:avLst/>
          </a:prstGeom>
          <a:solidFill>
            <a:schemeClr val="accent4"/>
          </a:solidFill>
          <a:ln/>
        </p:spPr>
      </p:sp>
      <p:pic>
        <p:nvPicPr>
          <p:cNvPr id="19" name="icone-565" descr="preencoded.png">    </p:cNvPr>
          <p:cNvPicPr>
            <a:picLocks noChangeAspect="1"/>
          </p:cNvPicPr>
          <p:nvPr/>
        </p:nvPicPr>
        <p:blipFill>
          <a:blip r:embed="rId4"/>
          <a:stretch>
            <a:fillRect/>
          </a:stretch>
        </p:blipFill>
        <p:spPr>
          <a:xfrm>
            <a:off x="3755807" y="2251619"/>
            <a:ext cx="215067" cy="215067"/>
          </a:xfrm>
          <a:prstGeom prst="rect">
            <a:avLst/>
          </a:prstGeom>
        </p:spPr>
      </p:pic>
      <p:sp>
        <p:nvSpPr>
          <p:cNvPr id="20" name="txt-566"/>
          <p:cNvSpPr txBox="1"/>
          <p:nvPr/>
        </p:nvSpPr>
        <p:spPr>
          <a:xfrm>
            <a:off x="3177540" y="2569464"/>
            <a:ext cx="1371600" cy="219456"/>
          </a:xfrm>
          <a:prstGeom prst="rect">
            <a:avLst/>
          </a:prstGeom>
          <a:noFill/>
          <a:ln/>
        </p:spPr>
        <p:txBody>
          <a:bodyPr wrap="square" lIns="0" tIns="0" rIns="0" bIns="0" rtlCol="0" anchor="t"/>
          <a:lstStyle/>
          <a:p>
            <a:pPr algn="ctr" indent="0" marL="0">
              <a:buNone/>
            </a:pPr>
            <a:r>
              <a:rPr lang="en-US" sz="1100" b="1" dirty="0">
                <a:solidFill>
                  <a:schemeClr val="accent4"/>
                </a:solidFill>
              </a:rPr>
              <a:t>Claude</a:t>
            </a:r>
            <a:endParaRPr lang="en-US" sz="1100" dirty="0"/>
          </a:p>
        </p:txBody>
      </p:sp>
      <p:sp>
        <p:nvSpPr>
          <p:cNvPr id="21" name="fleche-567"/>
          <p:cNvSpPr/>
          <p:nvPr/>
        </p:nvSpPr>
        <p:spPr>
          <a:xfrm>
            <a:off x="1431036" y="3480664"/>
            <a:ext cx="1161288" cy="914"/>
          </a:xfrm>
          <a:prstGeom prst="line">
            <a:avLst/>
          </a:prstGeom>
          <a:noFill/>
          <a:ln w="19050">
            <a:solidFill>
              <a:schemeClr val="accent3"/>
            </a:solidFill>
            <a:prstDash val="solid"/>
            <a:tailEnd type="triangle"/>
          </a:ln>
        </p:spPr>
      </p:sp>
      <p:sp>
        <p:nvSpPr>
          <p:cNvPr id="22" name="echange"/>
          <p:cNvSpPr txBox="1"/>
          <p:nvPr/>
        </p:nvSpPr>
        <p:spPr>
          <a:xfrm>
            <a:off x="960120" y="3252064"/>
            <a:ext cx="2103120" cy="201168"/>
          </a:xfrm>
          <a:prstGeom prst="rect">
            <a:avLst/>
          </a:prstGeom>
          <a:solidFill>
            <a:schemeClr val="bg2"/>
          </a:solidFill>
          <a:ln/>
        </p:spPr>
        <p:txBody>
          <a:bodyPr wrap="square" lIns="0" tIns="0" rIns="0" bIns="0" rtlCol="0" anchor="b"/>
          <a:lstStyle/>
          <a:p>
            <a:pPr algn="ctr" indent="0" marL="0">
              <a:buNone/>
            </a:pPr>
            <a:r>
              <a:rPr lang="en-US" sz="1050" dirty="0">
                <a:solidFill>
                  <a:schemeClr val="tx1"/>
                </a:solidFill>
              </a:rPr>
              <a:t>1. Message</a:t>
            </a:r>
            <a:endParaRPr lang="en-US" sz="1050" dirty="0"/>
          </a:p>
        </p:txBody>
      </p:sp>
      <p:sp>
        <p:nvSpPr>
          <p:cNvPr id="23" name="fleche-568"/>
          <p:cNvSpPr/>
          <p:nvPr/>
        </p:nvSpPr>
        <p:spPr>
          <a:xfrm>
            <a:off x="2665476" y="4145890"/>
            <a:ext cx="1161288" cy="914"/>
          </a:xfrm>
          <a:prstGeom prst="line">
            <a:avLst/>
          </a:prstGeom>
          <a:noFill/>
          <a:ln w="19050">
            <a:solidFill>
              <a:schemeClr val="accent2"/>
            </a:solidFill>
            <a:prstDash val="solid"/>
            <a:tailEnd type="triangle"/>
          </a:ln>
        </p:spPr>
      </p:sp>
      <p:sp>
        <p:nvSpPr>
          <p:cNvPr id="24" name="echange"/>
          <p:cNvSpPr txBox="1"/>
          <p:nvPr/>
        </p:nvSpPr>
        <p:spPr>
          <a:xfrm>
            <a:off x="2194560" y="3917290"/>
            <a:ext cx="2103120" cy="201168"/>
          </a:xfrm>
          <a:prstGeom prst="rect">
            <a:avLst/>
          </a:prstGeom>
          <a:solidFill>
            <a:schemeClr val="bg2"/>
          </a:solidFill>
          <a:ln/>
        </p:spPr>
        <p:txBody>
          <a:bodyPr wrap="square" lIns="0" tIns="0" rIns="0" bIns="0" rtlCol="0" anchor="b"/>
          <a:lstStyle/>
          <a:p>
            <a:pPr algn="ctr" indent="0" marL="0">
              <a:buNone/>
            </a:pPr>
            <a:r>
              <a:rPr lang="en-US" sz="1050" dirty="0">
                <a:solidFill>
                  <a:schemeClr val="tx1"/>
                </a:solidFill>
              </a:rPr>
              <a:t>2. Message + historique</a:t>
            </a:r>
            <a:endParaRPr lang="en-US" sz="1050" dirty="0"/>
          </a:p>
        </p:txBody>
      </p:sp>
      <p:sp>
        <p:nvSpPr>
          <p:cNvPr id="25" name="fleche-569"/>
          <p:cNvSpPr/>
          <p:nvPr/>
        </p:nvSpPr>
        <p:spPr>
          <a:xfrm flipH="1">
            <a:off x="2665476" y="4811116"/>
            <a:ext cx="1161288" cy="914"/>
          </a:xfrm>
          <a:prstGeom prst="line">
            <a:avLst/>
          </a:prstGeom>
          <a:noFill/>
          <a:ln w="19050">
            <a:solidFill>
              <a:schemeClr val="accent4"/>
            </a:solidFill>
            <a:prstDash val="dash"/>
            <a:tailEnd type="triangle"/>
          </a:ln>
        </p:spPr>
      </p:sp>
      <p:sp>
        <p:nvSpPr>
          <p:cNvPr id="26" name="echange"/>
          <p:cNvSpPr txBox="1"/>
          <p:nvPr/>
        </p:nvSpPr>
        <p:spPr>
          <a:xfrm>
            <a:off x="2194560" y="4582516"/>
            <a:ext cx="2103120" cy="201168"/>
          </a:xfrm>
          <a:prstGeom prst="rect">
            <a:avLst/>
          </a:prstGeom>
          <a:solidFill>
            <a:schemeClr val="bg2"/>
          </a:solidFill>
          <a:ln/>
        </p:spPr>
        <p:txBody>
          <a:bodyPr wrap="square" lIns="0" tIns="0" rIns="0" bIns="0" rtlCol="0" anchor="b"/>
          <a:lstStyle/>
          <a:p>
            <a:pPr algn="ctr" indent="0" marL="0">
              <a:buNone/>
            </a:pPr>
            <a:r>
              <a:rPr lang="en-US" sz="1050" dirty="0">
                <a:solidFill>
                  <a:schemeClr val="tx1"/>
                </a:solidFill>
              </a:rPr>
              <a:t>3. Intention + réponse</a:t>
            </a:r>
            <a:endParaRPr lang="en-US" sz="1050" dirty="0"/>
          </a:p>
        </p:txBody>
      </p:sp>
      <p:sp>
        <p:nvSpPr>
          <p:cNvPr id="27" name="fleche-570"/>
          <p:cNvSpPr/>
          <p:nvPr/>
        </p:nvSpPr>
        <p:spPr>
          <a:xfrm flipH="1">
            <a:off x="1431036" y="5476342"/>
            <a:ext cx="1161288" cy="914"/>
          </a:xfrm>
          <a:prstGeom prst="line">
            <a:avLst/>
          </a:prstGeom>
          <a:noFill/>
          <a:ln w="19050">
            <a:solidFill>
              <a:schemeClr val="accent2"/>
            </a:solidFill>
            <a:prstDash val="dash"/>
            <a:tailEnd type="triangle"/>
          </a:ln>
        </p:spPr>
      </p:sp>
      <p:sp>
        <p:nvSpPr>
          <p:cNvPr id="28" name="echange"/>
          <p:cNvSpPr txBox="1"/>
          <p:nvPr/>
        </p:nvSpPr>
        <p:spPr>
          <a:xfrm>
            <a:off x="960120" y="5247742"/>
            <a:ext cx="2103120" cy="201168"/>
          </a:xfrm>
          <a:prstGeom prst="rect">
            <a:avLst/>
          </a:prstGeom>
          <a:solidFill>
            <a:schemeClr val="bg2"/>
          </a:solidFill>
          <a:ln/>
        </p:spPr>
        <p:txBody>
          <a:bodyPr wrap="square" lIns="0" tIns="0" rIns="0" bIns="0" rtlCol="0" anchor="b"/>
          <a:lstStyle/>
          <a:p>
            <a:pPr algn="ctr" indent="0" marL="0">
              <a:buNone/>
            </a:pPr>
            <a:r>
              <a:rPr lang="en-US" sz="1050" dirty="0">
                <a:solidFill>
                  <a:schemeClr val="tx1"/>
                </a:solidFill>
              </a:rPr>
              <a:t>4. Réponse</a:t>
            </a:r>
            <a:endParaRPr lang="en-US" sz="1050" dirty="0"/>
          </a:p>
        </p:txBody>
      </p:sp>
      <p:sp>
        <p:nvSpPr>
          <p:cNvPr id="29" name="note-cas"/>
          <p:cNvSpPr txBox="1"/>
          <p:nvPr/>
        </p:nvSpPr>
        <p:spPr>
          <a:xfrm>
            <a:off x="777240" y="5788152"/>
            <a:ext cx="3703320" cy="347472"/>
          </a:xfrm>
          <a:prstGeom prst="roundRect">
            <a:avLst>
              <a:gd name="adj" fmla="val 21053"/>
            </a:avLst>
          </a:prstGeom>
          <a:solidFill>
            <a:schemeClr val="accent5">
              <a:alpha val="15000"/>
            </a:schemeClr>
          </a:solidFill>
          <a:ln w="9525">
            <a:solidFill>
              <a:schemeClr val="accent5"/>
            </a:solidFill>
          </a:ln>
        </p:spPr>
        <p:txBody>
          <a:bodyPr wrap="square" lIns="0" tIns="0" rIns="0" bIns="0" rtlCol="0" anchor="ctr"/>
          <a:lstStyle/>
          <a:p>
            <a:pPr algn="ctr" indent="0" marL="0">
              <a:buNone/>
            </a:pPr>
            <a:r>
              <a:rPr lang="en-US" sz="1150" b="1" dirty="0">
                <a:solidFill>
                  <a:schemeClr val="tx1"/>
                </a:solidFill>
              </a:rPr>
              <a:t>Pas d'embedding : Voyage AI n'est pas appelé</a:t>
            </a:r>
            <a:endParaRPr lang="en-US" sz="1150" dirty="0"/>
          </a:p>
        </p:txBody>
      </p:sp>
      <p:sp>
        <p:nvSpPr>
          <p:cNvPr id="30" name="card-571"/>
          <p:cNvSpPr/>
          <p:nvPr/>
        </p:nvSpPr>
        <p:spPr>
          <a:xfrm>
            <a:off x="4937760" y="1417320"/>
            <a:ext cx="6702552" cy="4846320"/>
          </a:xfrm>
          <a:prstGeom prst="roundRect">
            <a:avLst>
              <a:gd name="adj" fmla="val 2264"/>
            </a:avLst>
          </a:prstGeom>
          <a:solidFill>
            <a:schemeClr val="bg2"/>
          </a:solidFill>
          <a:ln/>
        </p:spPr>
      </p:sp>
      <p:sp>
        <p:nvSpPr>
          <p:cNvPr id="31" name="txt-572"/>
          <p:cNvSpPr txBox="1"/>
          <p:nvPr/>
        </p:nvSpPr>
        <p:spPr>
          <a:xfrm>
            <a:off x="5166360" y="1527048"/>
            <a:ext cx="6245352" cy="310896"/>
          </a:xfrm>
          <a:prstGeom prst="rect">
            <a:avLst/>
          </a:prstGeom>
          <a:noFill/>
          <a:ln/>
        </p:spPr>
        <p:txBody>
          <a:bodyPr wrap="square" lIns="0" tIns="0" rIns="0" bIns="0" rtlCol="0" anchor="t"/>
          <a:lstStyle/>
          <a:p>
            <a:pPr indent="0" marL="0">
              <a:buNone/>
            </a:pPr>
            <a:r>
              <a:rPr lang="en-US" sz="1400" b="1" dirty="0">
                <a:solidFill>
                  <a:schemeClr val="tx1"/>
                </a:solidFill>
              </a:rPr>
              <a:t>Cas 2 · Le technicien demande de l'aide sur une panne</a:t>
            </a:r>
            <a:endParaRPr lang="en-US" sz="1400" dirty="0"/>
          </a:p>
        </p:txBody>
      </p:sp>
      <p:sp>
        <p:nvSpPr>
          <p:cNvPr id="32" name="txt-573"/>
          <p:cNvSpPr txBox="1"/>
          <p:nvPr/>
        </p:nvSpPr>
        <p:spPr>
          <a:xfrm>
            <a:off x="5166360" y="1828800"/>
            <a:ext cx="6245352" cy="256032"/>
          </a:xfrm>
          <a:prstGeom prst="rect">
            <a:avLst/>
          </a:prstGeom>
          <a:noFill/>
          <a:ln/>
        </p:spPr>
        <p:txBody>
          <a:bodyPr wrap="square" lIns="0" tIns="0" rIns="0" bIns="0" rtlCol="0" anchor="t"/>
          <a:lstStyle/>
          <a:p>
            <a:pPr indent="0" marL="0">
              <a:buNone/>
            </a:pPr>
            <a:r>
              <a:rPr lang="en-US" sz="1100" i="1" dirty="0">
                <a:solidFill>
                  <a:schemeClr val="tx2"/>
                </a:solidFill>
              </a:rPr>
              <a:t>« Le GAB ne lit plus les cartes »</a:t>
            </a:r>
            <a:endParaRPr lang="en-US" sz="1100" dirty="0"/>
          </a:p>
        </p:txBody>
      </p:sp>
      <p:sp>
        <p:nvSpPr>
          <p:cNvPr id="33" name="Shape 27"/>
          <p:cNvSpPr/>
          <p:nvPr/>
        </p:nvSpPr>
        <p:spPr>
          <a:xfrm>
            <a:off x="5790895" y="2807208"/>
            <a:ext cx="914" cy="2889504"/>
          </a:xfrm>
          <a:prstGeom prst="line">
            <a:avLst/>
          </a:prstGeom>
          <a:noFill/>
          <a:ln w="12700">
            <a:solidFill>
              <a:schemeClr val="accent3">
                <a:alpha val="60000"/>
              </a:schemeClr>
            </a:solidFill>
            <a:prstDash val="dash"/>
          </a:ln>
        </p:spPr>
      </p:sp>
      <p:sp>
        <p:nvSpPr>
          <p:cNvPr id="34" name="pastille-574"/>
          <p:cNvSpPr/>
          <p:nvPr/>
        </p:nvSpPr>
        <p:spPr>
          <a:xfrm>
            <a:off x="5598871" y="2167128"/>
            <a:ext cx="384048" cy="384048"/>
          </a:xfrm>
          <a:prstGeom prst="ellipse">
            <a:avLst/>
          </a:prstGeom>
          <a:solidFill>
            <a:schemeClr val="accent3"/>
          </a:solidFill>
          <a:ln/>
        </p:spPr>
      </p:sp>
      <p:pic>
        <p:nvPicPr>
          <p:cNvPr id="35" name="icone-575" descr="preencoded.png">    </p:cNvPr>
          <p:cNvPicPr>
            <a:picLocks noChangeAspect="1"/>
          </p:cNvPicPr>
          <p:nvPr/>
        </p:nvPicPr>
        <p:blipFill>
          <a:blip r:embed="rId5"/>
          <a:stretch>
            <a:fillRect/>
          </a:stretch>
        </p:blipFill>
        <p:spPr>
          <a:xfrm>
            <a:off x="5683362" y="2251619"/>
            <a:ext cx="215067" cy="215067"/>
          </a:xfrm>
          <a:prstGeom prst="rect">
            <a:avLst/>
          </a:prstGeom>
        </p:spPr>
      </p:pic>
      <p:sp>
        <p:nvSpPr>
          <p:cNvPr id="36" name="txt-576"/>
          <p:cNvSpPr txBox="1"/>
          <p:nvPr/>
        </p:nvSpPr>
        <p:spPr>
          <a:xfrm>
            <a:off x="5105095" y="2569464"/>
            <a:ext cx="1371600" cy="219456"/>
          </a:xfrm>
          <a:prstGeom prst="rect">
            <a:avLst/>
          </a:prstGeom>
          <a:noFill/>
          <a:ln/>
        </p:spPr>
        <p:txBody>
          <a:bodyPr wrap="square" lIns="0" tIns="0" rIns="0" bIns="0" rtlCol="0" anchor="t"/>
          <a:lstStyle/>
          <a:p>
            <a:pPr algn="ctr" indent="0" marL="0">
              <a:buNone/>
            </a:pPr>
            <a:r>
              <a:rPr lang="en-US" sz="1100" b="1" dirty="0">
                <a:solidFill>
                  <a:schemeClr val="accent3"/>
                </a:solidFill>
              </a:rPr>
              <a:t>Technicien</a:t>
            </a:r>
            <a:endParaRPr lang="en-US" sz="1100" dirty="0"/>
          </a:p>
        </p:txBody>
      </p:sp>
      <p:sp>
        <p:nvSpPr>
          <p:cNvPr id="37" name="Shape 30"/>
          <p:cNvSpPr/>
          <p:nvPr/>
        </p:nvSpPr>
        <p:spPr>
          <a:xfrm>
            <a:off x="7039966" y="2807208"/>
            <a:ext cx="914" cy="2889504"/>
          </a:xfrm>
          <a:prstGeom prst="line">
            <a:avLst/>
          </a:prstGeom>
          <a:noFill/>
          <a:ln w="12700">
            <a:solidFill>
              <a:schemeClr val="accent2">
                <a:alpha val="60000"/>
              </a:schemeClr>
            </a:solidFill>
            <a:prstDash val="dash"/>
          </a:ln>
        </p:spPr>
      </p:sp>
      <p:sp>
        <p:nvSpPr>
          <p:cNvPr id="38" name="pastille-577"/>
          <p:cNvSpPr/>
          <p:nvPr/>
        </p:nvSpPr>
        <p:spPr>
          <a:xfrm>
            <a:off x="6847942" y="2167128"/>
            <a:ext cx="384048" cy="384048"/>
          </a:xfrm>
          <a:prstGeom prst="ellipse">
            <a:avLst/>
          </a:prstGeom>
          <a:solidFill>
            <a:schemeClr val="accent2"/>
          </a:solidFill>
          <a:ln/>
        </p:spPr>
      </p:sp>
      <p:pic>
        <p:nvPicPr>
          <p:cNvPr id="39" name="icone-578" descr="preencoded.png">    </p:cNvPr>
          <p:cNvPicPr>
            <a:picLocks noChangeAspect="1"/>
          </p:cNvPicPr>
          <p:nvPr/>
        </p:nvPicPr>
        <p:blipFill>
          <a:blip r:embed="rId6"/>
          <a:stretch>
            <a:fillRect/>
          </a:stretch>
        </p:blipFill>
        <p:spPr>
          <a:xfrm>
            <a:off x="6932432" y="2251619"/>
            <a:ext cx="215067" cy="215067"/>
          </a:xfrm>
          <a:prstGeom prst="rect">
            <a:avLst/>
          </a:prstGeom>
        </p:spPr>
      </p:pic>
      <p:sp>
        <p:nvSpPr>
          <p:cNvPr id="40" name="txt-579"/>
          <p:cNvSpPr txBox="1"/>
          <p:nvPr/>
        </p:nvSpPr>
        <p:spPr>
          <a:xfrm>
            <a:off x="6354166" y="2569464"/>
            <a:ext cx="1371600" cy="219456"/>
          </a:xfrm>
          <a:prstGeom prst="rect">
            <a:avLst/>
          </a:prstGeom>
          <a:noFill/>
          <a:ln/>
        </p:spPr>
        <p:txBody>
          <a:bodyPr wrap="square" lIns="0" tIns="0" rIns="0" bIns="0" rtlCol="0" anchor="t"/>
          <a:lstStyle/>
          <a:p>
            <a:pPr algn="ctr" indent="0" marL="0">
              <a:buNone/>
            </a:pPr>
            <a:r>
              <a:rPr lang="en-US" sz="1100" b="1" dirty="0">
                <a:solidFill>
                  <a:schemeClr val="accent2"/>
                </a:solidFill>
              </a:rPr>
              <a:t>Backend</a:t>
            </a:r>
            <a:endParaRPr lang="en-US" sz="1100" dirty="0"/>
          </a:p>
        </p:txBody>
      </p:sp>
      <p:sp>
        <p:nvSpPr>
          <p:cNvPr id="41" name="Shape 33"/>
          <p:cNvSpPr/>
          <p:nvPr/>
        </p:nvSpPr>
        <p:spPr>
          <a:xfrm>
            <a:off x="8289036" y="2807208"/>
            <a:ext cx="914" cy="2889504"/>
          </a:xfrm>
          <a:prstGeom prst="line">
            <a:avLst/>
          </a:prstGeom>
          <a:noFill/>
          <a:ln w="12700">
            <a:solidFill>
              <a:schemeClr val="accent4">
                <a:alpha val="60000"/>
              </a:schemeClr>
            </a:solidFill>
            <a:prstDash val="dash"/>
          </a:ln>
        </p:spPr>
      </p:sp>
      <p:sp>
        <p:nvSpPr>
          <p:cNvPr id="42" name="pastille-580"/>
          <p:cNvSpPr/>
          <p:nvPr/>
        </p:nvSpPr>
        <p:spPr>
          <a:xfrm>
            <a:off x="8097012" y="2167128"/>
            <a:ext cx="384048" cy="384048"/>
          </a:xfrm>
          <a:prstGeom prst="ellipse">
            <a:avLst/>
          </a:prstGeom>
          <a:solidFill>
            <a:schemeClr val="accent4"/>
          </a:solidFill>
          <a:ln/>
        </p:spPr>
      </p:sp>
      <p:pic>
        <p:nvPicPr>
          <p:cNvPr id="43" name="icone-581" descr="preencoded.png">    </p:cNvPr>
          <p:cNvPicPr>
            <a:picLocks noChangeAspect="1"/>
          </p:cNvPicPr>
          <p:nvPr/>
        </p:nvPicPr>
        <p:blipFill>
          <a:blip r:embed="rId7"/>
          <a:stretch>
            <a:fillRect/>
          </a:stretch>
        </p:blipFill>
        <p:spPr>
          <a:xfrm>
            <a:off x="8181503" y="2251619"/>
            <a:ext cx="215067" cy="215067"/>
          </a:xfrm>
          <a:prstGeom prst="rect">
            <a:avLst/>
          </a:prstGeom>
        </p:spPr>
      </p:pic>
      <p:sp>
        <p:nvSpPr>
          <p:cNvPr id="44" name="txt-582"/>
          <p:cNvSpPr txBox="1"/>
          <p:nvPr/>
        </p:nvSpPr>
        <p:spPr>
          <a:xfrm>
            <a:off x="7603236" y="2569464"/>
            <a:ext cx="1371600" cy="219456"/>
          </a:xfrm>
          <a:prstGeom prst="rect">
            <a:avLst/>
          </a:prstGeom>
          <a:noFill/>
          <a:ln/>
        </p:spPr>
        <p:txBody>
          <a:bodyPr wrap="square" lIns="0" tIns="0" rIns="0" bIns="0" rtlCol="0" anchor="t"/>
          <a:lstStyle/>
          <a:p>
            <a:pPr algn="ctr" indent="0" marL="0">
              <a:buNone/>
            </a:pPr>
            <a:r>
              <a:rPr lang="en-US" sz="1100" b="1" dirty="0">
                <a:solidFill>
                  <a:schemeClr val="accent4"/>
                </a:solidFill>
              </a:rPr>
              <a:t>Claude</a:t>
            </a:r>
            <a:endParaRPr lang="en-US" sz="1100" dirty="0"/>
          </a:p>
        </p:txBody>
      </p:sp>
      <p:sp>
        <p:nvSpPr>
          <p:cNvPr id="45" name="Shape 36"/>
          <p:cNvSpPr/>
          <p:nvPr/>
        </p:nvSpPr>
        <p:spPr>
          <a:xfrm>
            <a:off x="9538106" y="2807208"/>
            <a:ext cx="914" cy="2889504"/>
          </a:xfrm>
          <a:prstGeom prst="line">
            <a:avLst/>
          </a:prstGeom>
          <a:noFill/>
          <a:ln w="12700">
            <a:solidFill>
              <a:srgbClr val="993556">
                <a:alpha val="60000"/>
              </a:srgbClr>
            </a:solidFill>
            <a:prstDash val="dash"/>
          </a:ln>
        </p:spPr>
      </p:sp>
      <p:sp>
        <p:nvSpPr>
          <p:cNvPr id="46" name="pastille-583"/>
          <p:cNvSpPr/>
          <p:nvPr/>
        </p:nvSpPr>
        <p:spPr>
          <a:xfrm>
            <a:off x="9346082" y="2167128"/>
            <a:ext cx="384048" cy="384048"/>
          </a:xfrm>
          <a:prstGeom prst="ellipse">
            <a:avLst/>
          </a:prstGeom>
          <a:solidFill>
            <a:srgbClr val="993556"/>
          </a:solidFill>
          <a:ln/>
        </p:spPr>
      </p:sp>
      <p:pic>
        <p:nvPicPr>
          <p:cNvPr id="47" name="icone-584" descr="preencoded.png">    </p:cNvPr>
          <p:cNvPicPr>
            <a:picLocks noChangeAspect="1"/>
          </p:cNvPicPr>
          <p:nvPr/>
        </p:nvPicPr>
        <p:blipFill>
          <a:blip r:embed="rId8"/>
          <a:stretch>
            <a:fillRect/>
          </a:stretch>
        </p:blipFill>
        <p:spPr>
          <a:xfrm>
            <a:off x="9430573" y="2251619"/>
            <a:ext cx="215067" cy="215067"/>
          </a:xfrm>
          <a:prstGeom prst="rect">
            <a:avLst/>
          </a:prstGeom>
        </p:spPr>
      </p:pic>
      <p:sp>
        <p:nvSpPr>
          <p:cNvPr id="48" name="txt-585"/>
          <p:cNvSpPr txBox="1"/>
          <p:nvPr/>
        </p:nvSpPr>
        <p:spPr>
          <a:xfrm>
            <a:off x="8852306" y="2569464"/>
            <a:ext cx="1371600" cy="219456"/>
          </a:xfrm>
          <a:prstGeom prst="rect">
            <a:avLst/>
          </a:prstGeom>
          <a:noFill/>
          <a:ln/>
        </p:spPr>
        <p:txBody>
          <a:bodyPr wrap="square" lIns="0" tIns="0" rIns="0" bIns="0" rtlCol="0" anchor="t"/>
          <a:lstStyle/>
          <a:p>
            <a:pPr algn="ctr" indent="0" marL="0">
              <a:buNone/>
            </a:pPr>
            <a:r>
              <a:rPr lang="en-US" sz="1100" b="1" dirty="0">
                <a:solidFill>
                  <a:srgbClr val="993556"/>
                </a:solidFill>
              </a:rPr>
              <a:t>Voyage AI</a:t>
            </a:r>
            <a:endParaRPr lang="en-US" sz="1100" dirty="0"/>
          </a:p>
        </p:txBody>
      </p:sp>
      <p:sp>
        <p:nvSpPr>
          <p:cNvPr id="49" name="Shape 39"/>
          <p:cNvSpPr/>
          <p:nvPr/>
        </p:nvSpPr>
        <p:spPr>
          <a:xfrm>
            <a:off x="10787177" y="2807208"/>
            <a:ext cx="914" cy="2889504"/>
          </a:xfrm>
          <a:prstGeom prst="line">
            <a:avLst/>
          </a:prstGeom>
          <a:noFill/>
          <a:ln w="12700">
            <a:solidFill>
              <a:schemeClr val="accent6">
                <a:alpha val="60000"/>
              </a:schemeClr>
            </a:solidFill>
            <a:prstDash val="dash"/>
          </a:ln>
        </p:spPr>
      </p:sp>
      <p:sp>
        <p:nvSpPr>
          <p:cNvPr id="50" name="pastille-586"/>
          <p:cNvSpPr/>
          <p:nvPr/>
        </p:nvSpPr>
        <p:spPr>
          <a:xfrm>
            <a:off x="10595153" y="2167128"/>
            <a:ext cx="384048" cy="384048"/>
          </a:xfrm>
          <a:prstGeom prst="ellipse">
            <a:avLst/>
          </a:prstGeom>
          <a:solidFill>
            <a:schemeClr val="accent6"/>
          </a:solidFill>
          <a:ln/>
        </p:spPr>
      </p:sp>
      <p:pic>
        <p:nvPicPr>
          <p:cNvPr id="51" name="icone-587" descr="preencoded.png">    </p:cNvPr>
          <p:cNvPicPr>
            <a:picLocks noChangeAspect="1"/>
          </p:cNvPicPr>
          <p:nvPr/>
        </p:nvPicPr>
        <p:blipFill>
          <a:blip r:embed="rId9"/>
          <a:stretch>
            <a:fillRect/>
          </a:stretch>
        </p:blipFill>
        <p:spPr>
          <a:xfrm>
            <a:off x="10679643" y="2251619"/>
            <a:ext cx="215067" cy="215067"/>
          </a:xfrm>
          <a:prstGeom prst="rect">
            <a:avLst/>
          </a:prstGeom>
        </p:spPr>
      </p:pic>
      <p:sp>
        <p:nvSpPr>
          <p:cNvPr id="52" name="txt-588"/>
          <p:cNvSpPr txBox="1"/>
          <p:nvPr/>
        </p:nvSpPr>
        <p:spPr>
          <a:xfrm>
            <a:off x="10101377" y="2569464"/>
            <a:ext cx="1371600" cy="219456"/>
          </a:xfrm>
          <a:prstGeom prst="rect">
            <a:avLst/>
          </a:prstGeom>
          <a:noFill/>
          <a:ln/>
        </p:spPr>
        <p:txBody>
          <a:bodyPr wrap="square" lIns="0" tIns="0" rIns="0" bIns="0" rtlCol="0" anchor="t"/>
          <a:lstStyle/>
          <a:p>
            <a:pPr algn="ctr" indent="0" marL="0">
              <a:buNone/>
            </a:pPr>
            <a:r>
              <a:rPr lang="en-US" sz="1100" b="1" dirty="0">
                <a:solidFill>
                  <a:schemeClr val="accent6"/>
                </a:solidFill>
              </a:rPr>
              <a:t>pgvector</a:t>
            </a:r>
            <a:endParaRPr lang="en-US" sz="1100" dirty="0"/>
          </a:p>
        </p:txBody>
      </p:sp>
      <p:sp>
        <p:nvSpPr>
          <p:cNvPr id="53" name="fleche-589"/>
          <p:cNvSpPr/>
          <p:nvPr/>
        </p:nvSpPr>
        <p:spPr>
          <a:xfrm>
            <a:off x="5827471" y="3241182"/>
            <a:ext cx="1175918" cy="914"/>
          </a:xfrm>
          <a:prstGeom prst="line">
            <a:avLst/>
          </a:prstGeom>
          <a:noFill/>
          <a:ln w="19050">
            <a:solidFill>
              <a:schemeClr val="accent3"/>
            </a:solidFill>
            <a:prstDash val="solid"/>
            <a:tailEnd type="triangle"/>
          </a:ln>
        </p:spPr>
      </p:sp>
      <p:sp>
        <p:nvSpPr>
          <p:cNvPr id="54" name="echange"/>
          <p:cNvSpPr txBox="1"/>
          <p:nvPr/>
        </p:nvSpPr>
        <p:spPr>
          <a:xfrm>
            <a:off x="5363870" y="3012582"/>
            <a:ext cx="2103120" cy="201168"/>
          </a:xfrm>
          <a:prstGeom prst="rect">
            <a:avLst/>
          </a:prstGeom>
          <a:solidFill>
            <a:schemeClr val="bg2"/>
          </a:solidFill>
          <a:ln/>
        </p:spPr>
        <p:txBody>
          <a:bodyPr wrap="square" lIns="0" tIns="0" rIns="0" bIns="0" rtlCol="0" anchor="b"/>
          <a:lstStyle/>
          <a:p>
            <a:pPr algn="ctr" indent="0" marL="0">
              <a:buNone/>
            </a:pPr>
            <a:r>
              <a:rPr lang="en-US" sz="1050" dirty="0">
                <a:solidFill>
                  <a:schemeClr val="tx1"/>
                </a:solidFill>
              </a:rPr>
              <a:t>1. Décrit la panne</a:t>
            </a:r>
            <a:endParaRPr lang="en-US" sz="1050" dirty="0"/>
          </a:p>
        </p:txBody>
      </p:sp>
      <p:sp>
        <p:nvSpPr>
          <p:cNvPr id="55" name="fleche-590"/>
          <p:cNvSpPr/>
          <p:nvPr/>
        </p:nvSpPr>
        <p:spPr>
          <a:xfrm>
            <a:off x="7076542" y="3507273"/>
            <a:ext cx="1175918" cy="914"/>
          </a:xfrm>
          <a:prstGeom prst="line">
            <a:avLst/>
          </a:prstGeom>
          <a:noFill/>
          <a:ln w="19050">
            <a:solidFill>
              <a:schemeClr val="accent2"/>
            </a:solidFill>
            <a:prstDash val="solid"/>
            <a:tailEnd type="triangle"/>
          </a:ln>
        </p:spPr>
      </p:sp>
      <p:sp>
        <p:nvSpPr>
          <p:cNvPr id="56" name="echange"/>
          <p:cNvSpPr txBox="1"/>
          <p:nvPr/>
        </p:nvSpPr>
        <p:spPr>
          <a:xfrm>
            <a:off x="6612941" y="3278673"/>
            <a:ext cx="2103120" cy="201168"/>
          </a:xfrm>
          <a:prstGeom prst="rect">
            <a:avLst/>
          </a:prstGeom>
          <a:solidFill>
            <a:schemeClr val="bg2"/>
          </a:solidFill>
          <a:ln/>
        </p:spPr>
        <p:txBody>
          <a:bodyPr wrap="square" lIns="0" tIns="0" rIns="0" bIns="0" rtlCol="0" anchor="b"/>
          <a:lstStyle/>
          <a:p>
            <a:pPr algn="ctr" indent="0" marL="0">
              <a:buNone/>
            </a:pPr>
            <a:r>
              <a:rPr lang="en-US" sz="1050" dirty="0">
                <a:solidFill>
                  <a:schemeClr val="tx1"/>
                </a:solidFill>
              </a:rPr>
              <a:t>2. Quelle demande ?</a:t>
            </a:r>
            <a:endParaRPr lang="en-US" sz="1050" dirty="0"/>
          </a:p>
        </p:txBody>
      </p:sp>
      <p:sp>
        <p:nvSpPr>
          <p:cNvPr id="57" name="fleche-591"/>
          <p:cNvSpPr/>
          <p:nvPr/>
        </p:nvSpPr>
        <p:spPr>
          <a:xfrm flipH="1">
            <a:off x="7076542" y="3773363"/>
            <a:ext cx="1175918" cy="914"/>
          </a:xfrm>
          <a:prstGeom prst="line">
            <a:avLst/>
          </a:prstGeom>
          <a:noFill/>
          <a:ln w="19050">
            <a:solidFill>
              <a:schemeClr val="accent4"/>
            </a:solidFill>
            <a:prstDash val="dash"/>
            <a:tailEnd type="triangle"/>
          </a:ln>
        </p:spPr>
      </p:sp>
      <p:sp>
        <p:nvSpPr>
          <p:cNvPr id="58" name="echange"/>
          <p:cNvSpPr txBox="1"/>
          <p:nvPr/>
        </p:nvSpPr>
        <p:spPr>
          <a:xfrm>
            <a:off x="6612941" y="3544763"/>
            <a:ext cx="2103120" cy="201168"/>
          </a:xfrm>
          <a:prstGeom prst="rect">
            <a:avLst/>
          </a:prstGeom>
          <a:solidFill>
            <a:schemeClr val="bg2"/>
          </a:solidFill>
          <a:ln/>
        </p:spPr>
        <p:txBody>
          <a:bodyPr wrap="square" lIns="0" tIns="0" rIns="0" bIns="0" rtlCol="0" anchor="b"/>
          <a:lstStyle/>
          <a:p>
            <a:pPr algn="ctr" indent="0" marL="0">
              <a:buNone/>
            </a:pPr>
            <a:r>
              <a:rPr lang="en-US" sz="1050" dirty="0">
                <a:solidFill>
                  <a:schemeClr val="tx1"/>
                </a:solidFill>
              </a:rPr>
              <a:t>3. Diagnostic + problème</a:t>
            </a:r>
            <a:endParaRPr lang="en-US" sz="1050" dirty="0"/>
          </a:p>
        </p:txBody>
      </p:sp>
      <p:sp>
        <p:nvSpPr>
          <p:cNvPr id="59" name="fleche-592"/>
          <p:cNvSpPr/>
          <p:nvPr/>
        </p:nvSpPr>
        <p:spPr>
          <a:xfrm>
            <a:off x="7076542" y="4039453"/>
            <a:ext cx="2424989" cy="914"/>
          </a:xfrm>
          <a:prstGeom prst="line">
            <a:avLst/>
          </a:prstGeom>
          <a:noFill/>
          <a:ln w="19050">
            <a:solidFill>
              <a:schemeClr val="accent2"/>
            </a:solidFill>
            <a:prstDash val="solid"/>
            <a:tailEnd type="triangle"/>
          </a:ln>
        </p:spPr>
      </p:sp>
      <p:sp>
        <p:nvSpPr>
          <p:cNvPr id="60" name="echange"/>
          <p:cNvSpPr txBox="1"/>
          <p:nvPr/>
        </p:nvSpPr>
        <p:spPr>
          <a:xfrm>
            <a:off x="7094830" y="3810853"/>
            <a:ext cx="2388413" cy="201168"/>
          </a:xfrm>
          <a:prstGeom prst="rect">
            <a:avLst/>
          </a:prstGeom>
          <a:solidFill>
            <a:schemeClr val="bg2"/>
          </a:solidFill>
          <a:ln/>
        </p:spPr>
        <p:txBody>
          <a:bodyPr wrap="square" lIns="0" tIns="0" rIns="0" bIns="0" rtlCol="0" anchor="b"/>
          <a:lstStyle/>
          <a:p>
            <a:pPr algn="ctr" indent="0" marL="0">
              <a:buNone/>
            </a:pPr>
            <a:r>
              <a:rPr lang="en-US" sz="1050" dirty="0">
                <a:solidFill>
                  <a:schemeClr val="tx1"/>
                </a:solidFill>
              </a:rPr>
              <a:t>4. Texte du problème</a:t>
            </a:r>
            <a:endParaRPr lang="en-US" sz="1050" dirty="0"/>
          </a:p>
        </p:txBody>
      </p:sp>
      <p:sp>
        <p:nvSpPr>
          <p:cNvPr id="61" name="fleche-593"/>
          <p:cNvSpPr/>
          <p:nvPr/>
        </p:nvSpPr>
        <p:spPr>
          <a:xfrm flipH="1">
            <a:off x="7076542" y="4305544"/>
            <a:ext cx="2424989" cy="914"/>
          </a:xfrm>
          <a:prstGeom prst="line">
            <a:avLst/>
          </a:prstGeom>
          <a:noFill/>
          <a:ln w="19050">
            <a:solidFill>
              <a:srgbClr val="993556"/>
            </a:solidFill>
            <a:prstDash val="dash"/>
            <a:tailEnd type="triangle"/>
          </a:ln>
        </p:spPr>
      </p:sp>
      <p:sp>
        <p:nvSpPr>
          <p:cNvPr id="62" name="echange"/>
          <p:cNvSpPr txBox="1"/>
          <p:nvPr/>
        </p:nvSpPr>
        <p:spPr>
          <a:xfrm>
            <a:off x="7094830" y="4076944"/>
            <a:ext cx="2388413" cy="201168"/>
          </a:xfrm>
          <a:prstGeom prst="rect">
            <a:avLst/>
          </a:prstGeom>
          <a:solidFill>
            <a:schemeClr val="bg2"/>
          </a:solidFill>
          <a:ln/>
        </p:spPr>
        <p:txBody>
          <a:bodyPr wrap="square" lIns="0" tIns="0" rIns="0" bIns="0" rtlCol="0" anchor="b"/>
          <a:lstStyle/>
          <a:p>
            <a:pPr algn="ctr" indent="0" marL="0">
              <a:buNone/>
            </a:pPr>
            <a:r>
              <a:rPr lang="en-US" sz="1050" dirty="0">
                <a:solidFill>
                  <a:schemeClr val="tx1"/>
                </a:solidFill>
              </a:rPr>
              <a:t>5. Vecteur (1024 nombres)</a:t>
            </a:r>
            <a:endParaRPr lang="en-US" sz="1050" dirty="0"/>
          </a:p>
        </p:txBody>
      </p:sp>
      <p:sp>
        <p:nvSpPr>
          <p:cNvPr id="63" name="fleche-594"/>
          <p:cNvSpPr/>
          <p:nvPr/>
        </p:nvSpPr>
        <p:spPr>
          <a:xfrm>
            <a:off x="7076542" y="4571634"/>
            <a:ext cx="3674059" cy="914"/>
          </a:xfrm>
          <a:prstGeom prst="line">
            <a:avLst/>
          </a:prstGeom>
          <a:noFill/>
          <a:ln w="19050">
            <a:solidFill>
              <a:schemeClr val="accent2"/>
            </a:solidFill>
            <a:prstDash val="solid"/>
            <a:tailEnd type="triangle"/>
          </a:ln>
        </p:spPr>
      </p:sp>
      <p:sp>
        <p:nvSpPr>
          <p:cNvPr id="64" name="echange"/>
          <p:cNvSpPr txBox="1"/>
          <p:nvPr/>
        </p:nvSpPr>
        <p:spPr>
          <a:xfrm>
            <a:off x="7094830" y="4343034"/>
            <a:ext cx="3637483" cy="201168"/>
          </a:xfrm>
          <a:prstGeom prst="rect">
            <a:avLst/>
          </a:prstGeom>
          <a:solidFill>
            <a:schemeClr val="bg2"/>
          </a:solidFill>
          <a:ln/>
        </p:spPr>
        <p:txBody>
          <a:bodyPr wrap="square" lIns="0" tIns="0" rIns="0" bIns="0" rtlCol="0" anchor="b"/>
          <a:lstStyle/>
          <a:p>
            <a:pPr algn="ctr" indent="0" marL="0">
              <a:buNone/>
            </a:pPr>
            <a:r>
              <a:rPr lang="en-US" sz="1050" dirty="0">
                <a:solidFill>
                  <a:schemeClr val="tx1"/>
                </a:solidFill>
              </a:rPr>
              <a:t>6. Cherche les cas proches</a:t>
            </a:r>
            <a:endParaRPr lang="en-US" sz="1050" dirty="0"/>
          </a:p>
        </p:txBody>
      </p:sp>
      <p:sp>
        <p:nvSpPr>
          <p:cNvPr id="65" name="fleche-595"/>
          <p:cNvSpPr/>
          <p:nvPr/>
        </p:nvSpPr>
        <p:spPr>
          <a:xfrm flipH="1">
            <a:off x="7076542" y="4837725"/>
            <a:ext cx="3674059" cy="914"/>
          </a:xfrm>
          <a:prstGeom prst="line">
            <a:avLst/>
          </a:prstGeom>
          <a:noFill/>
          <a:ln w="19050">
            <a:solidFill>
              <a:schemeClr val="accent6"/>
            </a:solidFill>
            <a:prstDash val="dash"/>
            <a:tailEnd type="triangle"/>
          </a:ln>
        </p:spPr>
      </p:sp>
      <p:sp>
        <p:nvSpPr>
          <p:cNvPr id="66" name="echange"/>
          <p:cNvSpPr txBox="1"/>
          <p:nvPr/>
        </p:nvSpPr>
        <p:spPr>
          <a:xfrm>
            <a:off x="7094830" y="4609125"/>
            <a:ext cx="3637483" cy="201168"/>
          </a:xfrm>
          <a:prstGeom prst="rect">
            <a:avLst/>
          </a:prstGeom>
          <a:solidFill>
            <a:schemeClr val="bg2"/>
          </a:solidFill>
          <a:ln/>
        </p:spPr>
        <p:txBody>
          <a:bodyPr wrap="square" lIns="0" tIns="0" rIns="0" bIns="0" rtlCol="0" anchor="b"/>
          <a:lstStyle/>
          <a:p>
            <a:pPr algn="ctr" indent="0" marL="0">
              <a:buNone/>
            </a:pPr>
            <a:r>
              <a:rPr lang="en-US" sz="1050" dirty="0">
                <a:solidFill>
                  <a:schemeClr val="tx1"/>
                </a:solidFill>
              </a:rPr>
              <a:t>7. Cas similaires + solutions</a:t>
            </a:r>
            <a:endParaRPr lang="en-US" sz="1050" dirty="0"/>
          </a:p>
        </p:txBody>
      </p:sp>
      <p:sp>
        <p:nvSpPr>
          <p:cNvPr id="67" name="fleche-596"/>
          <p:cNvSpPr/>
          <p:nvPr/>
        </p:nvSpPr>
        <p:spPr>
          <a:xfrm>
            <a:off x="7076542" y="5103815"/>
            <a:ext cx="1175918" cy="914"/>
          </a:xfrm>
          <a:prstGeom prst="line">
            <a:avLst/>
          </a:prstGeom>
          <a:noFill/>
          <a:ln w="19050">
            <a:solidFill>
              <a:schemeClr val="accent2"/>
            </a:solidFill>
            <a:prstDash val="solid"/>
            <a:tailEnd type="triangle"/>
          </a:ln>
        </p:spPr>
      </p:sp>
      <p:sp>
        <p:nvSpPr>
          <p:cNvPr id="68" name="echange"/>
          <p:cNvSpPr txBox="1"/>
          <p:nvPr/>
        </p:nvSpPr>
        <p:spPr>
          <a:xfrm>
            <a:off x="6612941" y="4875215"/>
            <a:ext cx="2103120" cy="201168"/>
          </a:xfrm>
          <a:prstGeom prst="rect">
            <a:avLst/>
          </a:prstGeom>
          <a:solidFill>
            <a:schemeClr val="bg2"/>
          </a:solidFill>
          <a:ln/>
        </p:spPr>
        <p:txBody>
          <a:bodyPr wrap="square" lIns="0" tIns="0" rIns="0" bIns="0" rtlCol="0" anchor="b"/>
          <a:lstStyle/>
          <a:p>
            <a:pPr algn="ctr" indent="0" marL="0">
              <a:buNone/>
            </a:pPr>
            <a:r>
              <a:rPr lang="en-US" sz="1050" dirty="0">
                <a:solidFill>
                  <a:schemeClr val="tx1"/>
                </a:solidFill>
              </a:rPr>
              <a:t>8. Cas trouvés</a:t>
            </a:r>
            <a:endParaRPr lang="en-US" sz="1050" dirty="0"/>
          </a:p>
        </p:txBody>
      </p:sp>
      <p:sp>
        <p:nvSpPr>
          <p:cNvPr id="69" name="fleche-597"/>
          <p:cNvSpPr/>
          <p:nvPr/>
        </p:nvSpPr>
        <p:spPr>
          <a:xfrm flipH="1">
            <a:off x="7076542" y="5369905"/>
            <a:ext cx="1175918" cy="914"/>
          </a:xfrm>
          <a:prstGeom prst="line">
            <a:avLst/>
          </a:prstGeom>
          <a:noFill/>
          <a:ln w="19050">
            <a:solidFill>
              <a:schemeClr val="accent4"/>
            </a:solidFill>
            <a:prstDash val="dash"/>
            <a:tailEnd type="triangle"/>
          </a:ln>
        </p:spPr>
      </p:sp>
      <p:sp>
        <p:nvSpPr>
          <p:cNvPr id="70" name="echange"/>
          <p:cNvSpPr txBox="1"/>
          <p:nvPr/>
        </p:nvSpPr>
        <p:spPr>
          <a:xfrm>
            <a:off x="6612941" y="5141305"/>
            <a:ext cx="2103120" cy="201168"/>
          </a:xfrm>
          <a:prstGeom prst="rect">
            <a:avLst/>
          </a:prstGeom>
          <a:solidFill>
            <a:schemeClr val="bg2"/>
          </a:solidFill>
          <a:ln/>
        </p:spPr>
        <p:txBody>
          <a:bodyPr wrap="square" lIns="0" tIns="0" rIns="0" bIns="0" rtlCol="0" anchor="b"/>
          <a:lstStyle/>
          <a:p>
            <a:pPr algn="ctr" indent="0" marL="0">
              <a:buNone/>
            </a:pPr>
            <a:r>
              <a:rPr lang="en-US" sz="1050" dirty="0">
                <a:solidFill>
                  <a:schemeClr val="tx1"/>
                </a:solidFill>
              </a:rPr>
              <a:t>9. Réponse rédigée</a:t>
            </a:r>
            <a:endParaRPr lang="en-US" sz="1050" dirty="0"/>
          </a:p>
        </p:txBody>
      </p:sp>
      <p:sp>
        <p:nvSpPr>
          <p:cNvPr id="71" name="fleche-598"/>
          <p:cNvSpPr/>
          <p:nvPr/>
        </p:nvSpPr>
        <p:spPr>
          <a:xfrm flipH="1">
            <a:off x="5827471" y="5635996"/>
            <a:ext cx="1175918" cy="914"/>
          </a:xfrm>
          <a:prstGeom prst="line">
            <a:avLst/>
          </a:prstGeom>
          <a:noFill/>
          <a:ln w="19050">
            <a:solidFill>
              <a:schemeClr val="accent2"/>
            </a:solidFill>
            <a:prstDash val="dash"/>
            <a:tailEnd type="triangle"/>
          </a:ln>
        </p:spPr>
      </p:sp>
      <p:sp>
        <p:nvSpPr>
          <p:cNvPr id="72" name="echange"/>
          <p:cNvSpPr txBox="1"/>
          <p:nvPr/>
        </p:nvSpPr>
        <p:spPr>
          <a:xfrm>
            <a:off x="5363870" y="5407396"/>
            <a:ext cx="2103120" cy="201168"/>
          </a:xfrm>
          <a:prstGeom prst="rect">
            <a:avLst/>
          </a:prstGeom>
          <a:solidFill>
            <a:schemeClr val="bg2"/>
          </a:solidFill>
          <a:ln/>
        </p:spPr>
        <p:txBody>
          <a:bodyPr wrap="square" lIns="0" tIns="0" rIns="0" bIns="0" rtlCol="0" anchor="b"/>
          <a:lstStyle/>
          <a:p>
            <a:pPr algn="ctr" indent="0" marL="0">
              <a:buNone/>
            </a:pPr>
            <a:r>
              <a:rPr lang="en-US" sz="1050" dirty="0">
                <a:solidFill>
                  <a:schemeClr val="tx1"/>
                </a:solidFill>
              </a:rPr>
              <a:t>10. Solutions</a:t>
            </a:r>
            <a:endParaRPr lang="en-US" sz="1050" dirty="0"/>
          </a:p>
        </p:txBody>
      </p:sp>
      <p:sp>
        <p:nvSpPr>
          <p:cNvPr id="73" name="note-cas"/>
          <p:cNvSpPr txBox="1"/>
          <p:nvPr/>
        </p:nvSpPr>
        <p:spPr>
          <a:xfrm>
            <a:off x="5166360" y="5788152"/>
            <a:ext cx="6245352" cy="347472"/>
          </a:xfrm>
          <a:prstGeom prst="roundRect">
            <a:avLst>
              <a:gd name="adj" fmla="val 21053"/>
            </a:avLst>
          </a:prstGeom>
          <a:solidFill>
            <a:srgbClr val="993556">
              <a:alpha val="15000"/>
            </a:srgbClr>
          </a:solidFill>
          <a:ln w="9525">
            <a:solidFill>
              <a:srgbClr val="993556"/>
            </a:solidFill>
          </a:ln>
        </p:spPr>
        <p:txBody>
          <a:bodyPr wrap="square" lIns="0" tIns="0" rIns="0" bIns="0" rtlCol="0" anchor="ctr"/>
          <a:lstStyle/>
          <a:p>
            <a:pPr algn="ctr" indent="0" marL="0">
              <a:buNone/>
            </a:pPr>
            <a:r>
              <a:rPr lang="en-US" sz="1150" b="1" dirty="0">
                <a:solidFill>
                  <a:schemeClr val="tx1"/>
                </a:solidFill>
              </a:rPr>
              <a:t>Voyage AI intervient une seule fois : au moment de la recherche en base</a:t>
            </a:r>
            <a:endParaRPr lang="en-US" sz="115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partie"/>
          <p:cNvSpPr txBox="1"/>
          <p:nvPr/>
        </p:nvSpPr>
        <p:spPr>
          <a:xfrm>
            <a:off x="548640" y="182880"/>
            <a:ext cx="8229600" cy="256032"/>
          </a:xfrm>
          <a:prstGeom prst="rect">
            <a:avLst/>
          </a:prstGeom>
          <a:noFill/>
          <a:ln/>
        </p:spPr>
        <p:txBody>
          <a:bodyPr wrap="square" lIns="0" tIns="0" rIns="0" bIns="0" rtlCol="0" anchor="ctr"/>
          <a:lstStyle/>
          <a:p>
            <a:pPr indent="0" marL="0">
              <a:buNone/>
            </a:pPr>
            <a:r>
              <a:rPr lang="en-US" sz="1100" b="1" spc="150" kern="0" dirty="0">
                <a:solidFill>
                  <a:schemeClr val="accent1"/>
                </a:solidFill>
              </a:rPr>
              <a:t>V. L'INTELLIGENCE ARTIFICIELLE</a:t>
            </a:r>
            <a:endParaRPr lang="en-US" sz="1100" dirty="0"/>
          </a:p>
        </p:txBody>
      </p:sp>
      <p:sp>
        <p:nvSpPr>
          <p:cNvPr id="3" name="Text 0"/>
          <p:cNvSpPr/>
          <p:nvPr>
            <p:ph idx="100" type="title" hasCustomPrompt="1"/>
          </p:nvPr>
        </p:nvSpPr>
        <p:spPr>
          <a:xfrm>
            <a:off x="548640" y="438912"/>
            <a:ext cx="11091672" cy="54864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f) Efficacité : la comparaison</a:t>
            </a:r>
            <a:endParaRPr lang="en-US" sz="2800" dirty="0"/>
          </a:p>
        </p:txBody>
      </p:sp>
      <p:pic>
        <p:nvPicPr>
          <p:cNvPr id="4" name="icone-objectif" descr="preencoded.png">    </p:cNvPr>
          <p:cNvPicPr>
            <a:picLocks noChangeAspect="1"/>
          </p:cNvPicPr>
          <p:nvPr/>
        </p:nvPicPr>
        <p:blipFill>
          <a:blip r:embed="rId1"/>
          <a:stretch>
            <a:fillRect/>
          </a:stretch>
        </p:blipFill>
        <p:spPr>
          <a:xfrm>
            <a:off x="548640" y="1033272"/>
            <a:ext cx="237744" cy="237744"/>
          </a:xfrm>
          <a:prstGeom prst="rect">
            <a:avLst/>
          </a:prstGeom>
        </p:spPr>
      </p:pic>
      <p:sp>
        <p:nvSpPr>
          <p:cNvPr id="5" name="objectif"/>
          <p:cNvSpPr txBox="1"/>
          <p:nvPr/>
        </p:nvSpPr>
        <p:spPr>
          <a:xfrm>
            <a:off x="868680" y="987552"/>
            <a:ext cx="10771632" cy="329184"/>
          </a:xfrm>
          <a:prstGeom prst="rect">
            <a:avLst/>
          </a:prstGeom>
          <a:noFill/>
          <a:ln/>
        </p:spPr>
        <p:txBody>
          <a:bodyPr wrap="square" lIns="0" tIns="0" rIns="0" bIns="0" rtlCol="0" anchor="ctr"/>
          <a:lstStyle/>
          <a:p>
            <a:pPr indent="0" marL="0">
              <a:buNone/>
            </a:pPr>
            <a:r>
              <a:rPr lang="en-US" sz="1400" b="1" i="1" dirty="0">
                <a:solidFill>
                  <a:schemeClr val="tx2"/>
                </a:solidFill>
              </a:rPr>
              <a:t>Objectif : </a:t>
            </a:r>
            <a:pPr indent="0" marL="0">
              <a:buNone/>
            </a:pPr>
            <a:r>
              <a:rPr lang="en-US" sz="1400" i="1" dirty="0">
                <a:solidFill>
                  <a:schemeClr val="tx2"/>
                </a:solidFill>
              </a:rPr>
              <a:t>Comparer les deux options sur la qualité et la performance de la recherche.</a:t>
            </a:r>
            <a:endParaRPr lang="en-US" sz="1400" dirty="0"/>
          </a:p>
        </p:txBody>
      </p:sp>
      <p:sp>
        <p:nvSpPr>
          <p:cNvPr id="6" name="card-599"/>
          <p:cNvSpPr/>
          <p:nvPr/>
        </p:nvSpPr>
        <p:spPr>
          <a:xfrm>
            <a:off x="548640" y="1463040"/>
            <a:ext cx="11091672" cy="685800"/>
          </a:xfrm>
          <a:prstGeom prst="roundRect">
            <a:avLst>
              <a:gd name="adj" fmla="val 16000"/>
            </a:avLst>
          </a:prstGeom>
          <a:solidFill>
            <a:schemeClr val="bg2"/>
          </a:solidFill>
          <a:ln/>
        </p:spPr>
      </p:sp>
      <p:sp>
        <p:nvSpPr>
          <p:cNvPr id="7" name="txt-600"/>
          <p:cNvSpPr txBox="1"/>
          <p:nvPr/>
        </p:nvSpPr>
        <p:spPr>
          <a:xfrm>
            <a:off x="777240" y="1463040"/>
            <a:ext cx="10698480" cy="685800"/>
          </a:xfrm>
          <a:prstGeom prst="rect">
            <a:avLst/>
          </a:prstGeom>
          <a:noFill/>
          <a:ln/>
        </p:spPr>
        <p:txBody>
          <a:bodyPr wrap="square" lIns="0" tIns="0" rIns="0" bIns="0" rtlCol="0" anchor="ctr"/>
          <a:lstStyle/>
          <a:p>
            <a:pPr indent="0" marL="0">
              <a:buNone/>
            </a:pPr>
            <a:r>
              <a:rPr lang="en-US" sz="1400" b="1" dirty="0">
                <a:solidFill>
                  <a:schemeClr val="tx1"/>
                </a:solidFill>
              </a:rPr>
              <a:t>Point de départ : </a:t>
            </a:r>
            <a:pPr indent="0" marL="0">
              <a:buNone/>
            </a:pPr>
            <a:r>
              <a:rPr lang="en-US" sz="1400" dirty="0">
                <a:solidFill>
                  <a:schemeClr val="tx1"/>
                </a:solidFill>
              </a:rPr>
              <a:t>Claude ne sait pas créer de vecteurs. Sans modèle d'embedding, il doit relire toute la base à chaque question.</a:t>
            </a:r>
            <a:endParaRPr lang="en-US" sz="1400" dirty="0"/>
          </a:p>
        </p:txBody>
      </p:sp>
      <p:graphicFrame>
        <p:nvGraphicFramePr>
          <p:cNvPr id="29" name="tableau-efficacite"/>
          <p:cNvGraphicFramePr>
            <a:graphicFrameLocks noGrp="1"/>
          </p:cNvGraphicFramePr>
          <p:nvPr>
            <p:extLst>
              <p:ext uri="{D42A27DB-BD31-4B8C-83A1-F6EECF244321}">
                <p14:modId xmlns:p14="http://schemas.microsoft.com/office/powerpoint/2010/main" val="1579011935"/>
              </p:ext>
            </p:extLst>
          </p:nvPr>
        </p:nvGraphicFramePr>
        <p:xfrm>
          <a:off x="548640" y="2331720"/>
          <a:ext cx="11091672" cy="914400"/>
        </p:xfrm>
        <a:graphic>
          <a:graphicData uri="http://schemas.openxmlformats.org/drawingml/2006/table">
            <a:tbl>
              <a:tblPr/>
              <a:tblGrid>
                <a:gridCol w="2834640"/>
                <a:gridCol w="4114800"/>
                <a:gridCol w="4142232"/>
              </a:tblGrid>
              <a:tr h="457200">
                <a:tc>
                  <a:txBody>
                    <a:bodyPr/>
                    <a:lstStyle/>
                    <a:p>
                      <a:pPr indent="0" marL="0">
                        <a:buNone/>
                      </a:pPr>
                      <a:endParaRPr lang="en-US" sz="1200" dirty="0"/>
                    </a:p>
                  </a:txBody>
                  <a:tcPr marL="109728" marR="109728" marT="109728" marB="109728">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bg1"/>
                          </a:solidFill>
                        </a:rPr>
                        <a:t>Claude seul</a:t>
                      </a:r>
                      <a:endParaRPr lang="en-US" sz="1500" dirty="0"/>
                    </a:p>
                  </a:txBody>
                  <a:tcPr marL="109728" marR="109728" marT="109728" marB="109728"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chemeClr val="accent5"/>
                    </a:solidFill>
                  </a:tcPr>
                </a:tc>
                <a:tc>
                  <a:txBody>
                    <a:bodyPr/>
                    <a:lstStyle/>
                    <a:p>
                      <a:pPr algn="ctr" indent="0" marL="0">
                        <a:buNone/>
                      </a:pPr>
                      <a:r>
                        <a:rPr lang="en-US" sz="1500" b="1" dirty="0">
                          <a:solidFill>
                            <a:schemeClr val="bg1"/>
                          </a:solidFill>
                        </a:rPr>
                        <a:t>Claude + Voyage AI (retenu)</a:t>
                      </a:r>
                      <a:endParaRPr lang="en-US" sz="1500" dirty="0"/>
                    </a:p>
                  </a:txBody>
                  <a:tcPr marL="109728" marR="109728" marT="109728" marB="109728"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chemeClr val="accent1"/>
                    </a:solidFill>
                  </a:tcPr>
                </a:tc>
              </a:tr>
              <a:tr h="640080">
                <a:tc>
                  <a:txBody>
                    <a:bodyPr/>
                    <a:lstStyle/>
                    <a:p>
                      <a:pPr indent="0" marL="0">
                        <a:buNone/>
                      </a:pPr>
                      <a:r>
                        <a:rPr lang="en-US" sz="1400" b="1" dirty="0">
                          <a:solidFill>
                            <a:srgbClr val="000000"/>
                          </a:solidFill>
                        </a:rPr>
                        <a:t>Comment il cherche</a:t>
                      </a:r>
                      <a:endParaRPr lang="en-US" sz="1400" dirty="0"/>
                    </a:p>
                  </a:txBody>
                  <a:tcPr marL="109728" marR="109728" marT="109728" marB="109728"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chemeClr val="bg2"/>
                    </a:solidFill>
                  </a:tcPr>
                </a:tc>
                <a:tc>
                  <a:txBody>
                    <a:bodyPr/>
                    <a:lstStyle/>
                    <a:p>
                      <a:pPr indent="0" marL="0">
                        <a:buNone/>
                      </a:pPr>
                      <a:r>
                        <a:rPr lang="en-US" sz="1400" dirty="0">
                          <a:solidFill>
                            <a:srgbClr val="000000"/>
                          </a:solidFill>
                        </a:rPr>
                        <a:t>Relit toute la base à chaque question</a:t>
                      </a:r>
                      <a:endParaRPr lang="en-US" sz="1400" dirty="0"/>
                    </a:p>
                  </a:txBody>
                  <a:tcPr marL="109728" marR="109728" marT="109728" marB="109728"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400" dirty="0">
                          <a:solidFill>
                            <a:srgbClr val="000000"/>
                          </a:solidFill>
                        </a:rPr>
                        <a:t>Ne lit que les cas proches, trouvés par pgvector</a:t>
                      </a:r>
                      <a:endParaRPr lang="en-US" sz="1400" dirty="0"/>
                    </a:p>
                  </a:txBody>
                  <a:tcPr marL="109728" marR="109728" marT="109728" marB="109728"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chemeClr val="accent1">
                        <a:alpha val="12000"/>
                      </a:schemeClr>
                    </a:solidFill>
                  </a:tcPr>
                </a:tc>
              </a:tr>
              <a:tr h="502920">
                <a:tc>
                  <a:txBody>
                    <a:bodyPr/>
                    <a:lstStyle/>
                    <a:p>
                      <a:pPr indent="0" marL="0">
                        <a:buNone/>
                      </a:pPr>
                      <a:r>
                        <a:rPr lang="en-US" sz="1400" b="1" dirty="0">
                          <a:solidFill>
                            <a:srgbClr val="000000"/>
                          </a:solidFill>
                        </a:rPr>
                        <a:t>Trouve une panne écrite autrement</a:t>
                      </a:r>
                      <a:endParaRPr lang="en-US" sz="1400" dirty="0"/>
                    </a:p>
                  </a:txBody>
                  <a:tcPr marL="109728" marR="109728" marT="109728" marB="109728"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chemeClr val="bg2"/>
                    </a:solidFill>
                  </a:tcPr>
                </a:tc>
                <a:tc>
                  <a:txBody>
                    <a:bodyPr/>
                    <a:lstStyle/>
                    <a:p>
                      <a:pPr indent="0" marL="0">
                        <a:buNone/>
                      </a:pPr>
                      <a:r>
                        <a:rPr lang="en-US" sz="1400" dirty="0">
                          <a:solidFill>
                            <a:srgbClr val="000000"/>
                          </a:solidFill>
                        </a:rPr>
                        <a:t>Oui</a:t>
                      </a:r>
                      <a:endParaRPr lang="en-US" sz="1400" dirty="0"/>
                    </a:p>
                  </a:txBody>
                  <a:tcPr marL="109728" marR="109728" marT="109728" marB="109728"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400" dirty="0">
                          <a:solidFill>
                            <a:srgbClr val="000000"/>
                          </a:solidFill>
                        </a:rPr>
                        <a:t>Oui</a:t>
                      </a:r>
                      <a:endParaRPr lang="en-US" sz="1400" dirty="0"/>
                    </a:p>
                  </a:txBody>
                  <a:tcPr marL="109728" marR="109728" marT="109728" marB="109728"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chemeClr val="accent1">
                        <a:alpha val="12000"/>
                      </a:schemeClr>
                    </a:solidFill>
                  </a:tcPr>
                </a:tc>
              </a:tr>
              <a:tr h="777240">
                <a:tc>
                  <a:txBody>
                    <a:bodyPr/>
                    <a:lstStyle/>
                    <a:p>
                      <a:pPr indent="0" marL="0">
                        <a:buNone/>
                      </a:pPr>
                      <a:r>
                        <a:rPr lang="en-US" sz="1400" b="1" dirty="0">
                          <a:solidFill>
                            <a:srgbClr val="000000"/>
                          </a:solidFill>
                        </a:rPr>
                        <a:t>Quand la base grossit</a:t>
                      </a:r>
                      <a:endParaRPr lang="en-US" sz="1400" dirty="0"/>
                    </a:p>
                  </a:txBody>
                  <a:tcPr marL="109728" marR="109728" marT="109728" marB="109728"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chemeClr val="bg2"/>
                    </a:solidFill>
                  </a:tcPr>
                </a:tc>
                <a:tc>
                  <a:txBody>
                    <a:bodyPr/>
                    <a:lstStyle/>
                    <a:p>
                      <a:pPr indent="0" marL="0">
                        <a:buNone/>
                      </a:pPr>
                      <a:r>
                        <a:rPr lang="en-US" sz="1400" dirty="0">
                          <a:solidFill>
                            <a:srgbClr val="000000"/>
                          </a:solidFill>
                        </a:rPr>
                        <a:t>De plus en plus lent, puis impossible : la base dépasse ce que Claude peut lire en une fois</a:t>
                      </a:r>
                      <a:endParaRPr lang="en-US" sz="1400" dirty="0"/>
                    </a:p>
                  </a:txBody>
                  <a:tcPr marL="109728" marR="109728" marT="109728" marB="109728"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400" dirty="0">
                          <a:solidFill>
                            <a:srgbClr val="000000"/>
                          </a:solidFill>
                        </a:rPr>
                        <a:t>Reste rapide grâce à l'index de recherche</a:t>
                      </a:r>
                      <a:endParaRPr lang="en-US" sz="1400" dirty="0"/>
                    </a:p>
                  </a:txBody>
                  <a:tcPr marL="109728" marR="109728" marT="109728" marB="109728"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chemeClr val="accent1">
                        <a:alpha val="12000"/>
                      </a:schemeClr>
                    </a:solidFill>
                  </a:tcPr>
                </a:tc>
              </a:tr>
              <a:tr h="548640">
                <a:tc>
                  <a:txBody>
                    <a:bodyPr/>
                    <a:lstStyle/>
                    <a:p>
                      <a:pPr indent="0" marL="0">
                        <a:buNone/>
                      </a:pPr>
                      <a:r>
                        <a:rPr lang="en-US" sz="1400" b="1" dirty="0">
                          <a:solidFill>
                            <a:srgbClr val="000000"/>
                          </a:solidFill>
                        </a:rPr>
                        <a:t>Adapté à ATM-BOT</a:t>
                      </a:r>
                      <a:endParaRPr lang="en-US" sz="1400" dirty="0"/>
                    </a:p>
                  </a:txBody>
                  <a:tcPr marL="109728" marR="109728" marT="109728" marB="109728"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chemeClr val="bg2"/>
                    </a:solidFill>
                  </a:tcPr>
                </a:tc>
                <a:tc>
                  <a:txBody>
                    <a:bodyPr/>
                    <a:lstStyle/>
                    <a:p>
                      <a:pPr indent="0" marL="0">
                        <a:buNone/>
                      </a:pPr>
                      <a:r>
                        <a:rPr lang="en-US" sz="1400" dirty="0">
                          <a:solidFill>
                            <a:srgbClr val="000000"/>
                          </a:solidFill>
                        </a:rPr>
                        <a:t>Seulement pour une petite base</a:t>
                      </a:r>
                      <a:endParaRPr lang="en-US" sz="1400" dirty="0"/>
                    </a:p>
                  </a:txBody>
                  <a:tcPr marL="109728" marR="109728" marT="109728" marB="109728"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chemeClr val="bg1"/>
                    </a:solidFill>
                  </a:tcPr>
                </a:tc>
                <a:tc>
                  <a:txBody>
                    <a:bodyPr/>
                    <a:lstStyle/>
                    <a:p>
                      <a:pPr indent="0" marL="0">
                        <a:buNone/>
                      </a:pPr>
                      <a:r>
                        <a:rPr lang="en-US" sz="1400" dirty="0">
                          <a:solidFill>
                            <a:srgbClr val="000000"/>
                          </a:solidFill>
                        </a:rPr>
                        <a:t>Oui, quelle que soit la taille de la base</a:t>
                      </a:r>
                      <a:endParaRPr lang="en-US" sz="1400" dirty="0"/>
                    </a:p>
                  </a:txBody>
                  <a:tcPr marL="109728" marR="109728" marT="109728" marB="109728"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chemeClr val="accent1">
                        <a:alpha val="12000"/>
                      </a:schemeClr>
                    </a:solidFill>
                  </a:tcPr>
                </a:tc>
              </a:tr>
            </a:tbl>
          </a:graphicData>
        </a:graphic>
      </p:graphicFrame>
      <p:sp>
        <p:nvSpPr>
          <p:cNvPr id="9" name="txt-601"/>
          <p:cNvSpPr txBox="1"/>
          <p:nvPr/>
        </p:nvSpPr>
        <p:spPr>
          <a:xfrm>
            <a:off x="548640" y="5852160"/>
            <a:ext cx="11064240" cy="365760"/>
          </a:xfrm>
          <a:prstGeom prst="rect">
            <a:avLst/>
          </a:prstGeom>
          <a:noFill/>
          <a:ln/>
        </p:spPr>
        <p:txBody>
          <a:bodyPr wrap="square" lIns="0" tIns="0" rIns="0" bIns="0" rtlCol="0" anchor="t"/>
          <a:lstStyle/>
          <a:p>
            <a:pPr indent="0" marL="0">
              <a:buNone/>
            </a:pPr>
            <a:r>
              <a:rPr lang="en-US" sz="1300" i="1" dirty="0">
                <a:solidFill>
                  <a:schemeClr val="tx2"/>
                </a:solidFill>
              </a:rPr>
              <a:t>Les deux options trouvent les formulations différentes ; seule la seconde tient dans la durée, à mesure que l'entreprise enrichit sa base.</a:t>
            </a:r>
            <a:endParaRPr lang="en-US" sz="13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partie"/>
          <p:cNvSpPr txBox="1"/>
          <p:nvPr/>
        </p:nvSpPr>
        <p:spPr>
          <a:xfrm>
            <a:off x="548640" y="182880"/>
            <a:ext cx="8229600" cy="256032"/>
          </a:xfrm>
          <a:prstGeom prst="rect">
            <a:avLst/>
          </a:prstGeom>
          <a:noFill/>
          <a:ln/>
        </p:spPr>
        <p:txBody>
          <a:bodyPr wrap="square" lIns="0" tIns="0" rIns="0" bIns="0" rtlCol="0" anchor="ctr"/>
          <a:lstStyle/>
          <a:p>
            <a:pPr indent="0" marL="0">
              <a:buNone/>
            </a:pPr>
            <a:r>
              <a:rPr lang="en-US" sz="1100" b="1" spc="150" kern="0" dirty="0">
                <a:solidFill>
                  <a:schemeClr val="accent1"/>
                </a:solidFill>
              </a:rPr>
              <a:t>V. L'INTELLIGENCE ARTIFICIELLE</a:t>
            </a:r>
            <a:endParaRPr lang="en-US" sz="1100" dirty="0"/>
          </a:p>
        </p:txBody>
      </p:sp>
      <p:sp>
        <p:nvSpPr>
          <p:cNvPr id="3" name="Text 0"/>
          <p:cNvSpPr/>
          <p:nvPr>
            <p:ph idx="100" type="title" hasCustomPrompt="1"/>
          </p:nvPr>
        </p:nvSpPr>
        <p:spPr>
          <a:xfrm>
            <a:off x="548640" y="438912"/>
            <a:ext cx="11091672" cy="54864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g) Efficacité : Claude ne produit pas d'embedding</a:t>
            </a:r>
            <a:endParaRPr lang="en-US" sz="2800" dirty="0"/>
          </a:p>
        </p:txBody>
      </p:sp>
      <p:pic>
        <p:nvPicPr>
          <p:cNvPr id="4" name="icone-objectif" descr="preencoded.png">    </p:cNvPr>
          <p:cNvPicPr>
            <a:picLocks noChangeAspect="1"/>
          </p:cNvPicPr>
          <p:nvPr/>
        </p:nvPicPr>
        <p:blipFill>
          <a:blip r:embed="rId1"/>
          <a:stretch>
            <a:fillRect/>
          </a:stretch>
        </p:blipFill>
        <p:spPr>
          <a:xfrm>
            <a:off x="548640" y="1033272"/>
            <a:ext cx="237744" cy="237744"/>
          </a:xfrm>
          <a:prstGeom prst="rect">
            <a:avLst/>
          </a:prstGeom>
        </p:spPr>
      </p:pic>
      <p:sp>
        <p:nvSpPr>
          <p:cNvPr id="5" name="objectif"/>
          <p:cNvSpPr txBox="1"/>
          <p:nvPr/>
        </p:nvSpPr>
        <p:spPr>
          <a:xfrm>
            <a:off x="868680" y="987552"/>
            <a:ext cx="10771632" cy="329184"/>
          </a:xfrm>
          <a:prstGeom prst="rect">
            <a:avLst/>
          </a:prstGeom>
          <a:noFill/>
          <a:ln/>
        </p:spPr>
        <p:txBody>
          <a:bodyPr wrap="square" lIns="0" tIns="0" rIns="0" bIns="0" rtlCol="0" anchor="ctr"/>
          <a:lstStyle/>
          <a:p>
            <a:pPr indent="0" marL="0">
              <a:buNone/>
            </a:pPr>
            <a:r>
              <a:rPr lang="en-US" sz="1400" b="1" i="1" dirty="0">
                <a:solidFill>
                  <a:schemeClr val="tx2"/>
                </a:solidFill>
              </a:rPr>
              <a:t>Objectif : </a:t>
            </a:r>
            <a:pPr indent="0" marL="0">
              <a:buNone/>
            </a:pPr>
            <a:r>
              <a:rPr lang="en-US" sz="1400" i="1" dirty="0">
                <a:solidFill>
                  <a:schemeClr val="tx2"/>
                </a:solidFill>
              </a:rPr>
              <a:t>Montrer, par un essai réel, que Claude ne peut pas remplacer un modèle d'embedding.</a:t>
            </a:r>
            <a:endParaRPr lang="en-US" sz="1400" dirty="0"/>
          </a:p>
        </p:txBody>
      </p:sp>
      <p:sp>
        <p:nvSpPr>
          <p:cNvPr id="6" name="card-602"/>
          <p:cNvSpPr/>
          <p:nvPr/>
        </p:nvSpPr>
        <p:spPr>
          <a:xfrm>
            <a:off x="548640" y="1463040"/>
            <a:ext cx="6675120" cy="4709160"/>
          </a:xfrm>
          <a:prstGeom prst="roundRect">
            <a:avLst>
              <a:gd name="adj" fmla="val 2330"/>
            </a:avLst>
          </a:prstGeom>
          <a:solidFill>
            <a:schemeClr val="bg2"/>
          </a:solidFill>
          <a:ln/>
        </p:spPr>
      </p:sp>
      <p:pic>
        <p:nvPicPr>
          <p:cNvPr id="7" name="capture-claude" descr="/home/claude/deck/preuve_claude.png">    </p:cNvPr>
          <p:cNvPicPr>
            <a:picLocks noChangeAspect="1"/>
          </p:cNvPicPr>
          <p:nvPr/>
        </p:nvPicPr>
        <p:blipFill>
          <a:blip r:embed="rId2"/>
          <a:stretch>
            <a:fillRect/>
          </a:stretch>
        </p:blipFill>
        <p:spPr>
          <a:xfrm>
            <a:off x="731520" y="1645920"/>
            <a:ext cx="6309360" cy="4471416"/>
          </a:xfrm>
          <a:prstGeom prst="rect">
            <a:avLst/>
          </a:prstGeom>
        </p:spPr>
      </p:pic>
      <p:sp>
        <p:nvSpPr>
          <p:cNvPr id="8" name="pastille-603"/>
          <p:cNvSpPr/>
          <p:nvPr/>
        </p:nvSpPr>
        <p:spPr>
          <a:xfrm>
            <a:off x="7498080" y="1508760"/>
            <a:ext cx="502920" cy="502920"/>
          </a:xfrm>
          <a:prstGeom prst="ellipse">
            <a:avLst/>
          </a:prstGeom>
          <a:solidFill>
            <a:schemeClr val="accent3"/>
          </a:solidFill>
          <a:ln/>
        </p:spPr>
      </p:sp>
      <p:pic>
        <p:nvPicPr>
          <p:cNvPr id="9" name="icone-604" descr="preencoded.png">    </p:cNvPr>
          <p:cNvPicPr>
            <a:picLocks noChangeAspect="1"/>
          </p:cNvPicPr>
          <p:nvPr/>
        </p:nvPicPr>
        <p:blipFill>
          <a:blip r:embed="rId3"/>
          <a:stretch>
            <a:fillRect/>
          </a:stretch>
        </p:blipFill>
        <p:spPr>
          <a:xfrm>
            <a:off x="7608722" y="1619402"/>
            <a:ext cx="281635" cy="281635"/>
          </a:xfrm>
          <a:prstGeom prst="rect">
            <a:avLst/>
          </a:prstGeom>
        </p:spPr>
      </p:pic>
      <p:sp>
        <p:nvSpPr>
          <p:cNvPr id="10" name="txt-605"/>
          <p:cNvSpPr txBox="1"/>
          <p:nvPr/>
        </p:nvSpPr>
        <p:spPr>
          <a:xfrm>
            <a:off x="8138160" y="1508760"/>
            <a:ext cx="3474720" cy="502920"/>
          </a:xfrm>
          <a:prstGeom prst="rect">
            <a:avLst/>
          </a:prstGeom>
          <a:noFill/>
          <a:ln/>
        </p:spPr>
        <p:txBody>
          <a:bodyPr wrap="square" lIns="0" tIns="0" rIns="0" bIns="0" rtlCol="0" anchor="ctr"/>
          <a:lstStyle/>
          <a:p>
            <a:pPr indent="0" marL="0">
              <a:buNone/>
            </a:pPr>
            <a:r>
              <a:rPr lang="en-US" sz="1500" b="1" dirty="0">
                <a:solidFill>
                  <a:schemeClr val="tx1"/>
                </a:solidFill>
              </a:rPr>
              <a:t>L'essai</a:t>
            </a:r>
            <a:endParaRPr lang="en-US" sz="1500" dirty="0"/>
          </a:p>
        </p:txBody>
      </p:sp>
      <p:sp>
        <p:nvSpPr>
          <p:cNvPr id="11" name="txt-606"/>
          <p:cNvSpPr txBox="1"/>
          <p:nvPr/>
        </p:nvSpPr>
        <p:spPr>
          <a:xfrm>
            <a:off x="8138160" y="2011680"/>
            <a:ext cx="3474720" cy="914400"/>
          </a:xfrm>
          <a:prstGeom prst="rect">
            <a:avLst/>
          </a:prstGeom>
          <a:noFill/>
          <a:ln/>
        </p:spPr>
        <p:txBody>
          <a:bodyPr wrap="square" lIns="0" tIns="0" rIns="0" bIns="0" rtlCol="0" anchor="t"/>
          <a:lstStyle/>
          <a:p>
            <a:pPr indent="0" marL="0">
              <a:buNone/>
            </a:pPr>
            <a:r>
              <a:rPr lang="en-US" sz="1300" dirty="0">
                <a:solidFill>
                  <a:schemeClr val="tx2"/>
                </a:solidFill>
              </a:rPr>
              <a:t>On demande à Claude l'embedding de la phrase « Le GAB est hors service ».</a:t>
            </a:r>
            <a:endParaRPr lang="en-US" sz="1300" dirty="0"/>
          </a:p>
        </p:txBody>
      </p:sp>
      <p:sp>
        <p:nvSpPr>
          <p:cNvPr id="12" name="pastille-607"/>
          <p:cNvSpPr/>
          <p:nvPr/>
        </p:nvSpPr>
        <p:spPr>
          <a:xfrm>
            <a:off x="7498080" y="2971800"/>
            <a:ext cx="502920" cy="502920"/>
          </a:xfrm>
          <a:prstGeom prst="ellipse">
            <a:avLst/>
          </a:prstGeom>
          <a:solidFill>
            <a:schemeClr val="accent4"/>
          </a:solidFill>
          <a:ln/>
        </p:spPr>
      </p:sp>
      <p:pic>
        <p:nvPicPr>
          <p:cNvPr id="13" name="icone-608" descr="preencoded.png">    </p:cNvPr>
          <p:cNvPicPr>
            <a:picLocks noChangeAspect="1"/>
          </p:cNvPicPr>
          <p:nvPr/>
        </p:nvPicPr>
        <p:blipFill>
          <a:blip r:embed="rId4"/>
          <a:stretch>
            <a:fillRect/>
          </a:stretch>
        </p:blipFill>
        <p:spPr>
          <a:xfrm>
            <a:off x="7608722" y="3082442"/>
            <a:ext cx="281635" cy="281635"/>
          </a:xfrm>
          <a:prstGeom prst="rect">
            <a:avLst/>
          </a:prstGeom>
        </p:spPr>
      </p:pic>
      <p:sp>
        <p:nvSpPr>
          <p:cNvPr id="14" name="txt-609"/>
          <p:cNvSpPr txBox="1"/>
          <p:nvPr/>
        </p:nvSpPr>
        <p:spPr>
          <a:xfrm>
            <a:off x="8138160" y="2971800"/>
            <a:ext cx="3474720" cy="502920"/>
          </a:xfrm>
          <a:prstGeom prst="rect">
            <a:avLst/>
          </a:prstGeom>
          <a:noFill/>
          <a:ln/>
        </p:spPr>
        <p:txBody>
          <a:bodyPr wrap="square" lIns="0" tIns="0" rIns="0" bIns="0" rtlCol="0" anchor="ctr"/>
          <a:lstStyle/>
          <a:p>
            <a:pPr indent="0" marL="0">
              <a:buNone/>
            </a:pPr>
            <a:r>
              <a:rPr lang="en-US" sz="1500" b="1" dirty="0">
                <a:solidFill>
                  <a:schemeClr val="tx1"/>
                </a:solidFill>
              </a:rPr>
              <a:t>La réponse</a:t>
            </a:r>
            <a:endParaRPr lang="en-US" sz="1500" dirty="0"/>
          </a:p>
        </p:txBody>
      </p:sp>
      <p:sp>
        <p:nvSpPr>
          <p:cNvPr id="15" name="txt-610"/>
          <p:cNvSpPr txBox="1"/>
          <p:nvPr/>
        </p:nvSpPr>
        <p:spPr>
          <a:xfrm>
            <a:off x="8138160" y="3474720"/>
            <a:ext cx="3474720" cy="914400"/>
          </a:xfrm>
          <a:prstGeom prst="rect">
            <a:avLst/>
          </a:prstGeom>
          <a:noFill/>
          <a:ln/>
        </p:spPr>
        <p:txBody>
          <a:bodyPr wrap="square" lIns="0" tIns="0" rIns="0" bIns="0" rtlCol="0" anchor="t"/>
          <a:lstStyle/>
          <a:p>
            <a:pPr indent="0" marL="0">
              <a:buNone/>
            </a:pPr>
            <a:r>
              <a:rPr lang="en-US" sz="1300" dirty="0">
                <a:solidFill>
                  <a:schemeClr val="tx2"/>
                </a:solidFill>
              </a:rPr>
              <a:t>Claude indique qu'il ne peut pas générer le vecteur, et refuse d'inventer des nombres qui seraient faux et inutilisables.</a:t>
            </a:r>
            <a:endParaRPr lang="en-US" sz="1300" dirty="0"/>
          </a:p>
        </p:txBody>
      </p:sp>
      <p:sp>
        <p:nvSpPr>
          <p:cNvPr id="16" name="card-611"/>
          <p:cNvSpPr/>
          <p:nvPr/>
        </p:nvSpPr>
        <p:spPr>
          <a:xfrm>
            <a:off x="7498080" y="4572000"/>
            <a:ext cx="4142232" cy="1600200"/>
          </a:xfrm>
          <a:prstGeom prst="roundRect">
            <a:avLst>
              <a:gd name="adj" fmla="val 6857"/>
            </a:avLst>
          </a:prstGeom>
          <a:solidFill>
            <a:schemeClr val="accent1">
              <a:alpha val="15000"/>
            </a:schemeClr>
          </a:solidFill>
          <a:ln/>
        </p:spPr>
      </p:sp>
      <p:sp>
        <p:nvSpPr>
          <p:cNvPr id="17" name="txt-612"/>
          <p:cNvSpPr txBox="1"/>
          <p:nvPr/>
        </p:nvSpPr>
        <p:spPr>
          <a:xfrm>
            <a:off x="7680960" y="4617720"/>
            <a:ext cx="3794760" cy="1508760"/>
          </a:xfrm>
          <a:prstGeom prst="rect">
            <a:avLst/>
          </a:prstGeom>
          <a:noFill/>
          <a:ln/>
        </p:spPr>
        <p:txBody>
          <a:bodyPr wrap="square" lIns="0" tIns="0" rIns="0" bIns="0" rtlCol="0" anchor="ctr"/>
          <a:lstStyle/>
          <a:p>
            <a:pPr indent="0" marL="0">
              <a:buNone/>
            </a:pPr>
            <a:r>
              <a:rPr lang="en-US" sz="1300" b="1" dirty="0">
                <a:solidFill>
                  <a:schemeClr val="tx1"/>
                </a:solidFill>
              </a:rPr>
              <a:t>Ce que ça confirme</a:t>
            </a:r>
            <a:endParaRPr lang="en-US" sz="1300" dirty="0"/>
          </a:p>
          <a:p>
            <a:pPr indent="0" marL="0">
              <a:buNone/>
            </a:pPr>
            <a:r>
              <a:rPr lang="en-US" sz="1300" dirty="0">
                <a:solidFill>
                  <a:schemeClr val="tx1"/>
                </a:solidFill>
              </a:rPr>
              <a:t>Claude est un modèle de langage, pas un modèle d'embedding. La recherche sémantique a besoin d'un service dédié : Voyage AI dans ATM-BOT.</a:t>
            </a:r>
            <a:endParaRPr lang="en-US" sz="13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partie"/>
          <p:cNvSpPr txBox="1"/>
          <p:nvPr/>
        </p:nvSpPr>
        <p:spPr>
          <a:xfrm>
            <a:off x="548640" y="182880"/>
            <a:ext cx="8229600" cy="256032"/>
          </a:xfrm>
          <a:prstGeom prst="rect">
            <a:avLst/>
          </a:prstGeom>
          <a:noFill/>
          <a:ln/>
        </p:spPr>
        <p:txBody>
          <a:bodyPr wrap="square" lIns="0" tIns="0" rIns="0" bIns="0" rtlCol="0" anchor="ctr"/>
          <a:lstStyle/>
          <a:p>
            <a:pPr indent="0" marL="0">
              <a:buNone/>
            </a:pPr>
            <a:r>
              <a:rPr lang="en-US" sz="1100" b="1" spc="150" kern="0" dirty="0">
                <a:solidFill>
                  <a:schemeClr val="accent1"/>
                </a:solidFill>
              </a:rPr>
              <a:t>V. L'INTELLIGENCE ARTIFICIELLE</a:t>
            </a:r>
            <a:endParaRPr lang="en-US" sz="1100" dirty="0"/>
          </a:p>
        </p:txBody>
      </p:sp>
      <p:sp>
        <p:nvSpPr>
          <p:cNvPr id="3" name="Text 0"/>
          <p:cNvSpPr/>
          <p:nvPr>
            <p:ph idx="100" type="title" hasCustomPrompt="1"/>
          </p:nvPr>
        </p:nvSpPr>
        <p:spPr>
          <a:xfrm>
            <a:off x="548640" y="438912"/>
            <a:ext cx="11091672" cy="54864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h) Coûts : comment on calcule</a:t>
            </a:r>
            <a:endParaRPr lang="en-US" sz="2800" dirty="0"/>
          </a:p>
        </p:txBody>
      </p:sp>
      <p:pic>
        <p:nvPicPr>
          <p:cNvPr id="4" name="icone-objectif" descr="preencoded.png">    </p:cNvPr>
          <p:cNvPicPr>
            <a:picLocks noChangeAspect="1"/>
          </p:cNvPicPr>
          <p:nvPr/>
        </p:nvPicPr>
        <p:blipFill>
          <a:blip r:embed="rId1"/>
          <a:stretch>
            <a:fillRect/>
          </a:stretch>
        </p:blipFill>
        <p:spPr>
          <a:xfrm>
            <a:off x="548640" y="1033272"/>
            <a:ext cx="237744" cy="237744"/>
          </a:xfrm>
          <a:prstGeom prst="rect">
            <a:avLst/>
          </a:prstGeom>
        </p:spPr>
      </p:pic>
      <p:sp>
        <p:nvSpPr>
          <p:cNvPr id="5" name="objectif"/>
          <p:cNvSpPr txBox="1"/>
          <p:nvPr/>
        </p:nvSpPr>
        <p:spPr>
          <a:xfrm>
            <a:off x="868680" y="987552"/>
            <a:ext cx="10771632" cy="329184"/>
          </a:xfrm>
          <a:prstGeom prst="rect">
            <a:avLst/>
          </a:prstGeom>
          <a:noFill/>
          <a:ln/>
        </p:spPr>
        <p:txBody>
          <a:bodyPr wrap="square" lIns="0" tIns="0" rIns="0" bIns="0" rtlCol="0" anchor="ctr"/>
          <a:lstStyle/>
          <a:p>
            <a:pPr indent="0" marL="0">
              <a:buNone/>
            </a:pPr>
            <a:r>
              <a:rPr lang="en-US" sz="1400" b="1" i="1" dirty="0">
                <a:solidFill>
                  <a:schemeClr val="tx2"/>
                </a:solidFill>
              </a:rPr>
              <a:t>Objectif : </a:t>
            </a:r>
            <a:pPr indent="0" marL="0">
              <a:buNone/>
            </a:pPr>
            <a:r>
              <a:rPr lang="en-US" sz="1400" i="1" dirty="0">
                <a:solidFill>
                  <a:schemeClr val="tx2"/>
                </a:solidFill>
              </a:rPr>
              <a:t>Comprendre d'où vient le coût d'une question, ligne par ligne.</a:t>
            </a:r>
            <a:endParaRPr lang="en-US" sz="1400" dirty="0"/>
          </a:p>
        </p:txBody>
      </p:sp>
      <p:sp>
        <p:nvSpPr>
          <p:cNvPr id="6" name="card-613"/>
          <p:cNvSpPr/>
          <p:nvPr/>
        </p:nvSpPr>
        <p:spPr>
          <a:xfrm>
            <a:off x="548640" y="1463040"/>
            <a:ext cx="11091672" cy="960120"/>
          </a:xfrm>
          <a:prstGeom prst="roundRect">
            <a:avLst>
              <a:gd name="adj" fmla="val 11429"/>
            </a:avLst>
          </a:prstGeom>
          <a:solidFill>
            <a:schemeClr val="bg2"/>
          </a:solidFill>
          <a:ln/>
        </p:spPr>
      </p:sp>
      <p:sp>
        <p:nvSpPr>
          <p:cNvPr id="7" name="txt-614"/>
          <p:cNvSpPr txBox="1"/>
          <p:nvPr/>
        </p:nvSpPr>
        <p:spPr>
          <a:xfrm>
            <a:off x="777240" y="1463040"/>
            <a:ext cx="10698480" cy="960120"/>
          </a:xfrm>
          <a:prstGeom prst="rect">
            <a:avLst/>
          </a:prstGeom>
          <a:noFill/>
          <a:ln/>
        </p:spPr>
        <p:txBody>
          <a:bodyPr wrap="square" lIns="0" tIns="0" rIns="0" bIns="0" rtlCol="0" anchor="ctr"/>
          <a:lstStyle/>
          <a:p>
            <a:pPr indent="0" marL="0">
              <a:buNone/>
            </a:pPr>
            <a:r>
              <a:rPr lang="en-US" sz="1350" b="1" dirty="0">
                <a:solidFill>
                  <a:schemeClr val="tx1"/>
                </a:solidFill>
              </a:rPr>
              <a:t>Coût = tokens lus × prix de lecture + tokens écrits × prix d'écriture</a:t>
            </a:r>
            <a:endParaRPr lang="en-US" sz="1350" dirty="0"/>
          </a:p>
          <a:p>
            <a:pPr indent="0" marL="0">
              <a:buNone/>
            </a:pPr>
            <a:r>
              <a:rPr lang="en-US" sz="1350" dirty="0">
                <a:solidFill>
                  <a:schemeClr val="tx1"/>
                </a:solidFill>
              </a:rPr>
              <a:t>Un token est un morceau de mot. Tarifs publics : Claude Sonnet 5.5 · 2 $ par million de tokens lus, 10 $ par million écrits · Voyage AI (voyage-3-large) · 0,18 $ par million.</a:t>
            </a:r>
            <a:endParaRPr lang="en-US" sz="1350" dirty="0"/>
          </a:p>
        </p:txBody>
      </p:sp>
      <p:sp>
        <p:nvSpPr>
          <p:cNvPr id="8" name="txt-615"/>
          <p:cNvSpPr txBox="1"/>
          <p:nvPr/>
        </p:nvSpPr>
        <p:spPr>
          <a:xfrm>
            <a:off x="548640" y="2560320"/>
            <a:ext cx="11064240" cy="320040"/>
          </a:xfrm>
          <a:prstGeom prst="rect">
            <a:avLst/>
          </a:prstGeom>
          <a:noFill/>
          <a:ln/>
        </p:spPr>
        <p:txBody>
          <a:bodyPr wrap="square" lIns="0" tIns="0" rIns="0" bIns="0" rtlCol="0" anchor="t"/>
          <a:lstStyle/>
          <a:p>
            <a:pPr indent="0" marL="0">
              <a:buNone/>
            </a:pPr>
            <a:r>
              <a:rPr lang="en-US" sz="1400" b="1" dirty="0">
                <a:solidFill>
                  <a:schemeClr val="tx1"/>
                </a:solidFill>
              </a:rPr>
              <a:t>Exemple pour une question, avec une base de 5 000 interventions (≈ 100 tokens chacune)</a:t>
            </a:r>
            <a:endParaRPr lang="en-US" sz="14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2971800"/>
          <a:ext cx="5394960" cy="914400"/>
        </p:xfrm>
        <a:graphic>
          <a:graphicData uri="http://schemas.openxmlformats.org/drawingml/2006/table">
            <a:tbl>
              <a:tblPr/>
              <a:tblGrid>
                <a:gridCol w="2377440"/>
                <a:gridCol w="1828800"/>
                <a:gridCol w="1188720"/>
              </a:tblGrid>
              <a:tr h="384048">
                <a:tc>
                  <a:txBody>
                    <a:bodyPr/>
                    <a:lstStyle/>
                    <a:p>
                      <a:pPr indent="0" marL="0">
                        <a:buNone/>
                      </a:pPr>
                      <a:r>
                        <a:rPr lang="en-US" sz="1250" b="1" dirty="0">
                          <a:solidFill>
                            <a:schemeClr val="bg1"/>
                          </a:solidFill>
                        </a:rPr>
                        <a:t>Claude seul · 1 appel</a:t>
                      </a:r>
                      <a:endParaRPr lang="en-US" sz="1250" dirty="0"/>
                    </a:p>
                  </a:txBody>
                  <a:tcPr marL="54864" marR="54864" marT="54864" marB="54864">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chemeClr val="accent5"/>
                    </a:solidFill>
                  </a:tcPr>
                </a:tc>
                <a:tc>
                  <a:txBody>
                    <a:bodyPr/>
                    <a:lstStyle/>
                    <a:p>
                      <a:pPr indent="0" marL="0">
                        <a:buNone/>
                      </a:pPr>
                      <a:r>
                        <a:rPr lang="en-US" sz="1250" b="1" dirty="0">
                          <a:solidFill>
                            <a:schemeClr val="bg1"/>
                          </a:solidFill>
                        </a:rPr>
                        <a:t>Calcul</a:t>
                      </a:r>
                      <a:endParaRPr lang="en-US" sz="1250" dirty="0"/>
                    </a:p>
                  </a:txBody>
                  <a:tcPr marL="54864" marR="54864" marT="54864" marB="54864">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chemeClr val="accent5"/>
                    </a:solidFill>
                  </a:tcPr>
                </a:tc>
                <a:tc>
                  <a:txBody>
                    <a:bodyPr/>
                    <a:lstStyle/>
                    <a:p>
                      <a:pPr indent="0" marL="0">
                        <a:buNone/>
                      </a:pPr>
                      <a:r>
                        <a:rPr lang="en-US" sz="1250" b="1" dirty="0">
                          <a:solidFill>
                            <a:schemeClr val="bg1"/>
                          </a:solidFill>
                        </a:rPr>
                        <a:t>Coût</a:t>
                      </a:r>
                      <a:endParaRPr lang="en-US" sz="1250" dirty="0"/>
                    </a:p>
                  </a:txBody>
                  <a:tcPr marL="54864" marR="54864" marT="54864" marB="54864">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chemeClr val="accent5"/>
                    </a:solidFill>
                  </a:tcPr>
                </a:tc>
              </a:tr>
              <a:tr h="384048">
                <a:tc>
                  <a:txBody>
                    <a:bodyPr/>
                    <a:lstStyle/>
                    <a:p>
                      <a:pPr indent="0" marL="0">
                        <a:buNone/>
                      </a:pPr>
                      <a:r>
                        <a:rPr lang="en-US" sz="1200" dirty="0">
                          <a:solidFill>
                            <a:srgbClr val="000000"/>
                          </a:solidFill>
                        </a:rPr>
                        <a:t>Lit les consignes et la question</a:t>
                      </a:r>
                      <a:endParaRPr lang="en-US" sz="1200" dirty="0"/>
                    </a:p>
                  </a:txBody>
                  <a:tcPr marL="54864" marR="54864" marT="54864" marB="54864"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tcPr>
                </a:tc>
                <a:tc>
                  <a:txBody>
                    <a:bodyPr/>
                    <a:lstStyle/>
                    <a:p>
                      <a:pPr indent="0" marL="0">
                        <a:buNone/>
                      </a:pPr>
                      <a:r>
                        <a:rPr lang="en-US" sz="1200" dirty="0">
                          <a:solidFill>
                            <a:srgbClr val="000000"/>
                          </a:solidFill>
                        </a:rPr>
                        <a:t>1 500 × 2 $ / M</a:t>
                      </a:r>
                      <a:endParaRPr lang="en-US" sz="1200" dirty="0"/>
                    </a:p>
                  </a:txBody>
                  <a:tcPr marL="54864" marR="54864" marT="54864" marB="54864"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tcPr>
                </a:tc>
                <a:tc>
                  <a:txBody>
                    <a:bodyPr/>
                    <a:lstStyle/>
                    <a:p>
                      <a:pPr indent="0" marL="0">
                        <a:buNone/>
                      </a:pPr>
                      <a:r>
                        <a:rPr lang="en-US" sz="1200" dirty="0">
                          <a:solidFill>
                            <a:srgbClr val="000000"/>
                          </a:solidFill>
                        </a:rPr>
                        <a:t>0,003 $</a:t>
                      </a:r>
                      <a:endParaRPr lang="en-US" sz="1200" dirty="0"/>
                    </a:p>
                  </a:txBody>
                  <a:tcPr marL="54864" marR="54864" marT="54864" marB="54864"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tcPr>
                </a:tc>
              </a:tr>
              <a:tr h="384048">
                <a:tc>
                  <a:txBody>
                    <a:bodyPr/>
                    <a:lstStyle/>
                    <a:p>
                      <a:pPr indent="0" marL="0">
                        <a:buNone/>
                      </a:pPr>
                      <a:r>
                        <a:rPr lang="en-US" sz="1200" b="1" dirty="0">
                          <a:solidFill>
                            <a:srgbClr val="000000"/>
                          </a:solidFill>
                        </a:rPr>
                        <a:t>Lit toute la base</a:t>
                      </a:r>
                      <a:endParaRPr lang="en-US" sz="1200" dirty="0"/>
                    </a:p>
                  </a:txBody>
                  <a:tcPr marL="54864" marR="54864" marT="54864" marB="54864"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tcPr>
                </a:tc>
                <a:tc>
                  <a:txBody>
                    <a:bodyPr/>
                    <a:lstStyle/>
                    <a:p>
                      <a:pPr indent="0" marL="0">
                        <a:buNone/>
                      </a:pPr>
                      <a:r>
                        <a:rPr lang="en-US" sz="1200" b="1" dirty="0">
                          <a:solidFill>
                            <a:srgbClr val="000000"/>
                          </a:solidFill>
                        </a:rPr>
                        <a:t>500 000 × 2 $ / M</a:t>
                      </a:r>
                      <a:endParaRPr lang="en-US" sz="1200" dirty="0"/>
                    </a:p>
                  </a:txBody>
                  <a:tcPr marL="54864" marR="54864" marT="54864" marB="54864"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tcPr>
                </a:tc>
                <a:tc>
                  <a:txBody>
                    <a:bodyPr/>
                    <a:lstStyle/>
                    <a:p>
                      <a:pPr indent="0" marL="0">
                        <a:buNone/>
                      </a:pPr>
                      <a:r>
                        <a:rPr lang="en-US" sz="1200" b="1" dirty="0">
                          <a:solidFill>
                            <a:schemeClr val="accent4"/>
                          </a:solidFill>
                        </a:rPr>
                        <a:t>1,000 $</a:t>
                      </a:r>
                      <a:endParaRPr lang="en-US" sz="1200" dirty="0"/>
                    </a:p>
                  </a:txBody>
                  <a:tcPr marL="54864" marR="54864" marT="54864" marB="54864"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tcPr>
                </a:tc>
              </a:tr>
              <a:tr h="384048">
                <a:tc>
                  <a:txBody>
                    <a:bodyPr/>
                    <a:lstStyle/>
                    <a:p>
                      <a:pPr indent="0" marL="0">
                        <a:buNone/>
                      </a:pPr>
                      <a:r>
                        <a:rPr lang="en-US" sz="1200" dirty="0">
                          <a:solidFill>
                            <a:srgbClr val="000000"/>
                          </a:solidFill>
                        </a:rPr>
                        <a:t>Écrit la réponse</a:t>
                      </a:r>
                      <a:endParaRPr lang="en-US" sz="1200" dirty="0"/>
                    </a:p>
                  </a:txBody>
                  <a:tcPr marL="54864" marR="54864" marT="54864" marB="54864"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tcPr>
                </a:tc>
                <a:tc>
                  <a:txBody>
                    <a:bodyPr/>
                    <a:lstStyle/>
                    <a:p>
                      <a:pPr indent="0" marL="0">
                        <a:buNone/>
                      </a:pPr>
                      <a:r>
                        <a:rPr lang="en-US" sz="1200" dirty="0">
                          <a:solidFill>
                            <a:srgbClr val="000000"/>
                          </a:solidFill>
                        </a:rPr>
                        <a:t>400 × 10 $ / M</a:t>
                      </a:r>
                      <a:endParaRPr lang="en-US" sz="1200" dirty="0"/>
                    </a:p>
                  </a:txBody>
                  <a:tcPr marL="54864" marR="54864" marT="54864" marB="54864"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tcPr>
                </a:tc>
                <a:tc>
                  <a:txBody>
                    <a:bodyPr/>
                    <a:lstStyle/>
                    <a:p>
                      <a:pPr indent="0" marL="0">
                        <a:buNone/>
                      </a:pPr>
                      <a:r>
                        <a:rPr lang="en-US" sz="1200" dirty="0">
                          <a:solidFill>
                            <a:srgbClr val="000000"/>
                          </a:solidFill>
                        </a:rPr>
                        <a:t>0,004 $</a:t>
                      </a:r>
                      <a:endParaRPr lang="en-US" sz="1200" dirty="0"/>
                    </a:p>
                  </a:txBody>
                  <a:tcPr marL="54864" marR="54864" marT="54864" marB="54864"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tcPr>
                </a:tc>
              </a:tr>
              <a:tr h="384048">
                <a:tc>
                  <a:txBody>
                    <a:bodyPr/>
                    <a:lstStyle/>
                    <a:p>
                      <a:pPr indent="0" marL="0">
                        <a:buNone/>
                      </a:pPr>
                      <a:r>
                        <a:rPr lang="en-US" sz="1200" b="1" dirty="0">
                          <a:solidFill>
                            <a:srgbClr val="000000"/>
                          </a:solidFill>
                        </a:rPr>
                        <a:t>Total par question</a:t>
                      </a:r>
                      <a:endParaRPr lang="en-US" sz="1200" dirty="0"/>
                    </a:p>
                  </a:txBody>
                  <a:tcPr marL="54864" marR="54864" marT="54864" marB="54864"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chemeClr val="bg2"/>
                    </a:solidFill>
                  </a:tcPr>
                </a:tc>
                <a:tc>
                  <a:txBody>
                    <a:bodyPr/>
                    <a:lstStyle/>
                    <a:p>
                      <a:pPr indent="0" marL="0">
                        <a:buNone/>
                      </a:pPr>
                      <a:endParaRPr lang="en-US" sz="1200" dirty="0"/>
                    </a:p>
                  </a:txBody>
                  <a:tcPr marL="54864" marR="54864" marT="54864" marB="54864"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chemeClr val="bg2"/>
                    </a:solidFill>
                  </a:tcPr>
                </a:tc>
                <a:tc>
                  <a:txBody>
                    <a:bodyPr/>
                    <a:lstStyle/>
                    <a:p>
                      <a:pPr indent="0" marL="0">
                        <a:buNone/>
                      </a:pPr>
                      <a:r>
                        <a:rPr lang="en-US" sz="1200" b="1" dirty="0">
                          <a:solidFill>
                            <a:srgbClr val="000000"/>
                          </a:solidFill>
                        </a:rPr>
                        <a:t>≈ 1,01 $</a:t>
                      </a:r>
                      <a:endParaRPr lang="en-US" sz="1200" dirty="0"/>
                    </a:p>
                  </a:txBody>
                  <a:tcPr marL="54864" marR="54864" marT="54864" marB="54864"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chemeClr val="bg2"/>
                    </a:solidFill>
                  </a:tcPr>
                </a:tc>
              </a:tr>
            </a:tbl>
          </a:graphicData>
        </a:graphic>
      </p:graphicFrame>
      <p:graphicFrame>
        <p:nvGraphicFramePr>
          <p:cNvPr id="61" name="Table 1"/>
          <p:cNvGraphicFramePr>
            <a:graphicFrameLocks noGrp="1"/>
          </p:cNvGraphicFramePr>
          <p:nvPr>
            <p:extLst>
              <p:ext uri="{D42A27DB-BD31-4B8C-83A1-F6EECF244321}">
                <p14:modId xmlns:p14="http://schemas.microsoft.com/office/powerpoint/2010/main" val="1579011935"/>
              </p:ext>
            </p:extLst>
          </p:nvPr>
        </p:nvGraphicFramePr>
        <p:xfrm>
          <a:off x="6245352" y="2971800"/>
          <a:ext cx="5394960" cy="914400"/>
        </p:xfrm>
        <a:graphic>
          <a:graphicData uri="http://schemas.openxmlformats.org/drawingml/2006/table">
            <a:tbl>
              <a:tblPr/>
              <a:tblGrid>
                <a:gridCol w="2377440"/>
                <a:gridCol w="1828800"/>
                <a:gridCol w="1188720"/>
              </a:tblGrid>
              <a:tr h="384048">
                <a:tc>
                  <a:txBody>
                    <a:bodyPr/>
                    <a:lstStyle/>
                    <a:p>
                      <a:pPr indent="0" marL="0">
                        <a:buNone/>
                      </a:pPr>
                      <a:r>
                        <a:rPr lang="en-US" sz="1250" b="1" dirty="0">
                          <a:solidFill>
                            <a:schemeClr val="bg1"/>
                          </a:solidFill>
                        </a:rPr>
                        <a:t>Claude + Voyage AI · 3 appels</a:t>
                      </a:r>
                      <a:endParaRPr lang="en-US" sz="1250" dirty="0"/>
                    </a:p>
                  </a:txBody>
                  <a:tcPr marL="54864" marR="54864" marT="54864" marB="54864">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chemeClr val="accent1"/>
                    </a:solidFill>
                  </a:tcPr>
                </a:tc>
                <a:tc>
                  <a:txBody>
                    <a:bodyPr/>
                    <a:lstStyle/>
                    <a:p>
                      <a:pPr indent="0" marL="0">
                        <a:buNone/>
                      </a:pPr>
                      <a:r>
                        <a:rPr lang="en-US" sz="1250" b="1" dirty="0">
                          <a:solidFill>
                            <a:schemeClr val="bg1"/>
                          </a:solidFill>
                        </a:rPr>
                        <a:t>Calcul</a:t>
                      </a:r>
                      <a:endParaRPr lang="en-US" sz="1250" dirty="0"/>
                    </a:p>
                  </a:txBody>
                  <a:tcPr marL="54864" marR="54864" marT="54864" marB="54864">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chemeClr val="accent1"/>
                    </a:solidFill>
                  </a:tcPr>
                </a:tc>
                <a:tc>
                  <a:txBody>
                    <a:bodyPr/>
                    <a:lstStyle/>
                    <a:p>
                      <a:pPr indent="0" marL="0">
                        <a:buNone/>
                      </a:pPr>
                      <a:r>
                        <a:rPr lang="en-US" sz="1250" b="1" dirty="0">
                          <a:solidFill>
                            <a:schemeClr val="bg1"/>
                          </a:solidFill>
                        </a:rPr>
                        <a:t>Coût</a:t>
                      </a:r>
                      <a:endParaRPr lang="en-US" sz="1250" dirty="0"/>
                    </a:p>
                  </a:txBody>
                  <a:tcPr marL="54864" marR="54864" marT="54864" marB="54864">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chemeClr val="accent1"/>
                    </a:solidFill>
                  </a:tcPr>
                </a:tc>
              </a:tr>
              <a:tr h="384048">
                <a:tc>
                  <a:txBody>
                    <a:bodyPr/>
                    <a:lstStyle/>
                    <a:p>
                      <a:pPr indent="0" marL="0">
                        <a:buNone/>
                      </a:pPr>
                      <a:r>
                        <a:rPr lang="en-US" sz="1200" dirty="0">
                          <a:solidFill>
                            <a:srgbClr val="000000"/>
                          </a:solidFill>
                        </a:rPr>
                        <a:t>Voyage : vectorise la question</a:t>
                      </a:r>
                      <a:endParaRPr lang="en-US" sz="1200" dirty="0"/>
                    </a:p>
                  </a:txBody>
                  <a:tcPr marL="54864" marR="54864" marT="54864" marB="54864"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tcPr>
                </a:tc>
                <a:tc>
                  <a:txBody>
                    <a:bodyPr/>
                    <a:lstStyle/>
                    <a:p>
                      <a:pPr indent="0" marL="0">
                        <a:buNone/>
                      </a:pPr>
                      <a:r>
                        <a:rPr lang="en-US" sz="1200" dirty="0">
                          <a:solidFill>
                            <a:srgbClr val="000000"/>
                          </a:solidFill>
                        </a:rPr>
                        <a:t>50 × 0,18 $ / M</a:t>
                      </a:r>
                      <a:endParaRPr lang="en-US" sz="1200" dirty="0"/>
                    </a:p>
                  </a:txBody>
                  <a:tcPr marL="54864" marR="54864" marT="54864" marB="54864"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tcPr>
                </a:tc>
                <a:tc>
                  <a:txBody>
                    <a:bodyPr/>
                    <a:lstStyle/>
                    <a:p>
                      <a:pPr indent="0" marL="0">
                        <a:buNone/>
                      </a:pPr>
                      <a:r>
                        <a:rPr lang="en-US" sz="1200" dirty="0">
                          <a:solidFill>
                            <a:srgbClr val="000000"/>
                          </a:solidFill>
                        </a:rPr>
                        <a:t>0,00001 $</a:t>
                      </a:r>
                      <a:endParaRPr lang="en-US" sz="1200" dirty="0"/>
                    </a:p>
                  </a:txBody>
                  <a:tcPr marL="54864" marR="54864" marT="54864" marB="54864"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tcPr>
                </a:tc>
              </a:tr>
              <a:tr h="384048">
                <a:tc>
                  <a:txBody>
                    <a:bodyPr/>
                    <a:lstStyle/>
                    <a:p>
                      <a:pPr indent="0" marL="0">
                        <a:buNone/>
                      </a:pPr>
                      <a:r>
                        <a:rPr lang="en-US" sz="1200" dirty="0">
                          <a:solidFill>
                            <a:srgbClr val="000000"/>
                          </a:solidFill>
                        </a:rPr>
                        <a:t>Claude 1 : lit la demande</a:t>
                      </a:r>
                      <a:endParaRPr lang="en-US" sz="1200" dirty="0"/>
                    </a:p>
                  </a:txBody>
                  <a:tcPr marL="54864" marR="54864" marT="54864" marB="54864"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tcPr>
                </a:tc>
                <a:tc>
                  <a:txBody>
                    <a:bodyPr/>
                    <a:lstStyle/>
                    <a:p>
                      <a:pPr indent="0" marL="0">
                        <a:buNone/>
                      </a:pPr>
                      <a:r>
                        <a:rPr lang="en-US" sz="1200" dirty="0">
                          <a:solidFill>
                            <a:srgbClr val="000000"/>
                          </a:solidFill>
                        </a:rPr>
                        <a:t>1 500 × 2 $ / M</a:t>
                      </a:r>
                      <a:endParaRPr lang="en-US" sz="1200" dirty="0"/>
                    </a:p>
                  </a:txBody>
                  <a:tcPr marL="54864" marR="54864" marT="54864" marB="54864"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tcPr>
                </a:tc>
                <a:tc>
                  <a:txBody>
                    <a:bodyPr/>
                    <a:lstStyle/>
                    <a:p>
                      <a:pPr indent="0" marL="0">
                        <a:buNone/>
                      </a:pPr>
                      <a:r>
                        <a:rPr lang="en-US" sz="1200" dirty="0">
                          <a:solidFill>
                            <a:srgbClr val="000000"/>
                          </a:solidFill>
                        </a:rPr>
                        <a:t>0,003 $</a:t>
                      </a:r>
                      <a:endParaRPr lang="en-US" sz="1200" dirty="0"/>
                    </a:p>
                  </a:txBody>
                  <a:tcPr marL="54864" marR="54864" marT="54864" marB="54864"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tcPr>
                </a:tc>
              </a:tr>
              <a:tr h="384048">
                <a:tc>
                  <a:txBody>
                    <a:bodyPr/>
                    <a:lstStyle/>
                    <a:p>
                      <a:pPr indent="0" marL="0">
                        <a:buNone/>
                      </a:pPr>
                      <a:r>
                        <a:rPr lang="en-US" sz="1200" dirty="0">
                          <a:solidFill>
                            <a:srgbClr val="000000"/>
                          </a:solidFill>
                        </a:rPr>
                        <a:t>Claude 1 : écrit l'intention</a:t>
                      </a:r>
                      <a:endParaRPr lang="en-US" sz="1200" dirty="0"/>
                    </a:p>
                  </a:txBody>
                  <a:tcPr marL="54864" marR="54864" marT="54864" marB="54864"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tcPr>
                </a:tc>
                <a:tc>
                  <a:txBody>
                    <a:bodyPr/>
                    <a:lstStyle/>
                    <a:p>
                      <a:pPr indent="0" marL="0">
                        <a:buNone/>
                      </a:pPr>
                      <a:r>
                        <a:rPr lang="en-US" sz="1200" dirty="0">
                          <a:solidFill>
                            <a:srgbClr val="000000"/>
                          </a:solidFill>
                        </a:rPr>
                        <a:t>150 × 10 $ / M</a:t>
                      </a:r>
                      <a:endParaRPr lang="en-US" sz="1200" dirty="0"/>
                    </a:p>
                  </a:txBody>
                  <a:tcPr marL="54864" marR="54864" marT="54864" marB="54864"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tcPr>
                </a:tc>
                <a:tc>
                  <a:txBody>
                    <a:bodyPr/>
                    <a:lstStyle/>
                    <a:p>
                      <a:pPr indent="0" marL="0">
                        <a:buNone/>
                      </a:pPr>
                      <a:r>
                        <a:rPr lang="en-US" sz="1200" dirty="0">
                          <a:solidFill>
                            <a:srgbClr val="000000"/>
                          </a:solidFill>
                        </a:rPr>
                        <a:t>0,0015 $</a:t>
                      </a:r>
                      <a:endParaRPr lang="en-US" sz="1200" dirty="0"/>
                    </a:p>
                  </a:txBody>
                  <a:tcPr marL="54864" marR="54864" marT="54864" marB="54864"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tcPr>
                </a:tc>
              </a:tr>
              <a:tr h="384048">
                <a:tc>
                  <a:txBody>
                    <a:bodyPr/>
                    <a:lstStyle/>
                    <a:p>
                      <a:pPr indent="0" marL="0">
                        <a:buNone/>
                      </a:pPr>
                      <a:r>
                        <a:rPr lang="en-US" sz="1200" dirty="0">
                          <a:solidFill>
                            <a:srgbClr val="000000"/>
                          </a:solidFill>
                        </a:rPr>
                        <a:t>Claude 2 : lit les 5 cas trouvés</a:t>
                      </a:r>
                      <a:endParaRPr lang="en-US" sz="1200" dirty="0"/>
                    </a:p>
                  </a:txBody>
                  <a:tcPr marL="54864" marR="54864" marT="54864" marB="54864"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tcPr>
                </a:tc>
                <a:tc>
                  <a:txBody>
                    <a:bodyPr/>
                    <a:lstStyle/>
                    <a:p>
                      <a:pPr indent="0" marL="0">
                        <a:buNone/>
                      </a:pPr>
                      <a:r>
                        <a:rPr lang="en-US" sz="1200" dirty="0">
                          <a:solidFill>
                            <a:srgbClr val="000000"/>
                          </a:solidFill>
                        </a:rPr>
                        <a:t>3 000 × 2 $ / M</a:t>
                      </a:r>
                      <a:endParaRPr lang="en-US" sz="1200" dirty="0"/>
                    </a:p>
                  </a:txBody>
                  <a:tcPr marL="54864" marR="54864" marT="54864" marB="54864"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tcPr>
                </a:tc>
                <a:tc>
                  <a:txBody>
                    <a:bodyPr/>
                    <a:lstStyle/>
                    <a:p>
                      <a:pPr indent="0" marL="0">
                        <a:buNone/>
                      </a:pPr>
                      <a:r>
                        <a:rPr lang="en-US" sz="1200" dirty="0">
                          <a:solidFill>
                            <a:srgbClr val="000000"/>
                          </a:solidFill>
                        </a:rPr>
                        <a:t>0,006 $</a:t>
                      </a:r>
                      <a:endParaRPr lang="en-US" sz="1200" dirty="0"/>
                    </a:p>
                  </a:txBody>
                  <a:tcPr marL="54864" marR="54864" marT="54864" marB="54864"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tcPr>
                </a:tc>
              </a:tr>
              <a:tr h="384048">
                <a:tc>
                  <a:txBody>
                    <a:bodyPr/>
                    <a:lstStyle/>
                    <a:p>
                      <a:pPr indent="0" marL="0">
                        <a:buNone/>
                      </a:pPr>
                      <a:r>
                        <a:rPr lang="en-US" sz="1200" dirty="0">
                          <a:solidFill>
                            <a:srgbClr val="000000"/>
                          </a:solidFill>
                        </a:rPr>
                        <a:t>Claude 2 : écrit la réponse</a:t>
                      </a:r>
                      <a:endParaRPr lang="en-US" sz="1200" dirty="0"/>
                    </a:p>
                  </a:txBody>
                  <a:tcPr marL="54864" marR="54864" marT="54864" marB="54864"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tcPr>
                </a:tc>
                <a:tc>
                  <a:txBody>
                    <a:bodyPr/>
                    <a:lstStyle/>
                    <a:p>
                      <a:pPr indent="0" marL="0">
                        <a:buNone/>
                      </a:pPr>
                      <a:r>
                        <a:rPr lang="en-US" sz="1200" dirty="0">
                          <a:solidFill>
                            <a:srgbClr val="000000"/>
                          </a:solidFill>
                        </a:rPr>
                        <a:t>400 × 10 $ / M</a:t>
                      </a:r>
                      <a:endParaRPr lang="en-US" sz="1200" dirty="0"/>
                    </a:p>
                  </a:txBody>
                  <a:tcPr marL="54864" marR="54864" marT="54864" marB="54864"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tcPr>
                </a:tc>
                <a:tc>
                  <a:txBody>
                    <a:bodyPr/>
                    <a:lstStyle/>
                    <a:p>
                      <a:pPr indent="0" marL="0">
                        <a:buNone/>
                      </a:pPr>
                      <a:r>
                        <a:rPr lang="en-US" sz="1200" dirty="0">
                          <a:solidFill>
                            <a:srgbClr val="000000"/>
                          </a:solidFill>
                        </a:rPr>
                        <a:t>0,004 $</a:t>
                      </a:r>
                      <a:endParaRPr lang="en-US" sz="1200" dirty="0"/>
                    </a:p>
                  </a:txBody>
                  <a:tcPr marL="54864" marR="54864" marT="54864" marB="54864"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tcPr>
                </a:tc>
              </a:tr>
              <a:tr h="384048">
                <a:tc>
                  <a:txBody>
                    <a:bodyPr/>
                    <a:lstStyle/>
                    <a:p>
                      <a:pPr indent="0" marL="0">
                        <a:buNone/>
                      </a:pPr>
                      <a:r>
                        <a:rPr lang="en-US" sz="1200" b="1" dirty="0">
                          <a:solidFill>
                            <a:srgbClr val="000000"/>
                          </a:solidFill>
                        </a:rPr>
                        <a:t>Total par question</a:t>
                      </a:r>
                      <a:endParaRPr lang="en-US" sz="1200" dirty="0"/>
                    </a:p>
                  </a:txBody>
                  <a:tcPr marL="54864" marR="54864" marT="54864" marB="54864"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chemeClr val="bg2"/>
                    </a:solidFill>
                  </a:tcPr>
                </a:tc>
                <a:tc>
                  <a:txBody>
                    <a:bodyPr/>
                    <a:lstStyle/>
                    <a:p>
                      <a:pPr indent="0" marL="0">
                        <a:buNone/>
                      </a:pPr>
                      <a:endParaRPr lang="en-US" sz="1200" dirty="0"/>
                    </a:p>
                  </a:txBody>
                  <a:tcPr marL="54864" marR="54864" marT="54864" marB="54864"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chemeClr val="bg2"/>
                    </a:solidFill>
                  </a:tcPr>
                </a:tc>
                <a:tc>
                  <a:txBody>
                    <a:bodyPr/>
                    <a:lstStyle/>
                    <a:p>
                      <a:pPr indent="0" marL="0">
                        <a:buNone/>
                      </a:pPr>
                      <a:r>
                        <a:rPr lang="en-US" sz="1200" b="1" dirty="0">
                          <a:solidFill>
                            <a:srgbClr val="000000"/>
                          </a:solidFill>
                        </a:rPr>
                        <a:t>≈ 0,015 $</a:t>
                      </a:r>
                      <a:endParaRPr lang="en-US" sz="1200" dirty="0"/>
                    </a:p>
                  </a:txBody>
                  <a:tcPr marL="54864" marR="54864" marT="54864" marB="54864"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chemeClr val="bg2"/>
                    </a:solidFill>
                  </a:tcPr>
                </a:tc>
              </a:tr>
            </a:tbl>
          </a:graphicData>
        </a:graphic>
      </p:graphicFrame>
      <p:sp>
        <p:nvSpPr>
          <p:cNvPr id="11" name="txt-616"/>
          <p:cNvSpPr txBox="1"/>
          <p:nvPr/>
        </p:nvSpPr>
        <p:spPr>
          <a:xfrm>
            <a:off x="548640" y="5806440"/>
            <a:ext cx="11064240" cy="365760"/>
          </a:xfrm>
          <a:prstGeom prst="rect">
            <a:avLst/>
          </a:prstGeom>
          <a:noFill/>
          <a:ln/>
        </p:spPr>
        <p:txBody>
          <a:bodyPr wrap="square" lIns="0" tIns="0" rIns="0" bIns="0" rtlCol="0" anchor="t"/>
          <a:lstStyle/>
          <a:p>
            <a:pPr indent="0" marL="0">
              <a:buNone/>
            </a:pPr>
            <a:r>
              <a:rPr lang="en-US" sz="1300" i="1" dirty="0">
                <a:solidFill>
                  <a:schemeClr val="tx2"/>
                </a:solidFill>
              </a:rPr>
              <a:t>Avec Claude seul, presque tout le coût vient de la lecture de la base entière. Avec Voyage, Claude ne lit que les cas utiles.</a:t>
            </a:r>
            <a:endParaRPr lang="en-US" sz="13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partie"/>
          <p:cNvSpPr txBox="1"/>
          <p:nvPr/>
        </p:nvSpPr>
        <p:spPr>
          <a:xfrm>
            <a:off x="548640" y="182880"/>
            <a:ext cx="8229600" cy="256032"/>
          </a:xfrm>
          <a:prstGeom prst="rect">
            <a:avLst/>
          </a:prstGeom>
          <a:noFill/>
          <a:ln/>
        </p:spPr>
        <p:txBody>
          <a:bodyPr wrap="square" lIns="0" tIns="0" rIns="0" bIns="0" rtlCol="0" anchor="ctr"/>
          <a:lstStyle/>
          <a:p>
            <a:pPr indent="0" marL="0">
              <a:buNone/>
            </a:pPr>
            <a:r>
              <a:rPr lang="en-US" sz="1100" b="1" spc="150" kern="0" dirty="0">
                <a:solidFill>
                  <a:schemeClr val="accent1"/>
                </a:solidFill>
              </a:rPr>
              <a:t>V. L'INTELLIGENCE ARTIFICIELLE</a:t>
            </a:r>
            <a:endParaRPr lang="en-US" sz="1100" dirty="0"/>
          </a:p>
        </p:txBody>
      </p:sp>
      <p:sp>
        <p:nvSpPr>
          <p:cNvPr id="3" name="Text 0"/>
          <p:cNvSpPr/>
          <p:nvPr>
            <p:ph idx="100" type="title" hasCustomPrompt="1"/>
          </p:nvPr>
        </p:nvSpPr>
        <p:spPr>
          <a:xfrm>
            <a:off x="548640" y="438912"/>
            <a:ext cx="11091672" cy="54864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i) Coûts : selon la taille de la base</a:t>
            </a:r>
            <a:endParaRPr lang="en-US" sz="2800" dirty="0"/>
          </a:p>
        </p:txBody>
      </p:sp>
      <p:pic>
        <p:nvPicPr>
          <p:cNvPr id="4" name="icone-objectif" descr="preencoded.png">    </p:cNvPr>
          <p:cNvPicPr>
            <a:picLocks noChangeAspect="1"/>
          </p:cNvPicPr>
          <p:nvPr/>
        </p:nvPicPr>
        <p:blipFill>
          <a:blip r:embed="rId1"/>
          <a:stretch>
            <a:fillRect/>
          </a:stretch>
        </p:blipFill>
        <p:spPr>
          <a:xfrm>
            <a:off x="548640" y="1033272"/>
            <a:ext cx="237744" cy="237744"/>
          </a:xfrm>
          <a:prstGeom prst="rect">
            <a:avLst/>
          </a:prstGeom>
        </p:spPr>
      </p:pic>
      <p:sp>
        <p:nvSpPr>
          <p:cNvPr id="5" name="objectif"/>
          <p:cNvSpPr txBox="1"/>
          <p:nvPr/>
        </p:nvSpPr>
        <p:spPr>
          <a:xfrm>
            <a:off x="868680" y="987552"/>
            <a:ext cx="10771632" cy="329184"/>
          </a:xfrm>
          <a:prstGeom prst="rect">
            <a:avLst/>
          </a:prstGeom>
          <a:noFill/>
          <a:ln/>
        </p:spPr>
        <p:txBody>
          <a:bodyPr wrap="square" lIns="0" tIns="0" rIns="0" bIns="0" rtlCol="0" anchor="ctr"/>
          <a:lstStyle/>
          <a:p>
            <a:pPr indent="0" marL="0">
              <a:buNone/>
            </a:pPr>
            <a:r>
              <a:rPr lang="en-US" sz="1400" b="1" i="1" dirty="0">
                <a:solidFill>
                  <a:schemeClr val="tx2"/>
                </a:solidFill>
              </a:rPr>
              <a:t>Objectif : </a:t>
            </a:r>
            <a:pPr indent="0" marL="0">
              <a:buNone/>
            </a:pPr>
            <a:r>
              <a:rPr lang="en-US" sz="1400" i="1" dirty="0">
                <a:solidFill>
                  <a:schemeClr val="tx2"/>
                </a:solidFill>
              </a:rPr>
              <a:t>Savoir quand chaque option est la moins chère.</a:t>
            </a:r>
            <a:endParaRPr lang="en-US" sz="1400" dirty="0"/>
          </a:p>
        </p:txBody>
      </p:sp>
      <p:graphicFrame>
        <p:nvGraphicFramePr>
          <p:cNvPr id="32" name="tableau-taille-base"/>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2130552"/>
                <a:gridCol w="2240280"/>
                <a:gridCol w="2240280"/>
                <a:gridCol w="2240280"/>
                <a:gridCol w="2240280"/>
              </a:tblGrid>
              <a:tr h="548640">
                <a:tc>
                  <a:txBody>
                    <a:bodyPr/>
                    <a:lstStyle/>
                    <a:p>
                      <a:pPr algn="ctr" indent="0" marL="0">
                        <a:buNone/>
                      </a:pPr>
                      <a:r>
                        <a:rPr lang="en-US" sz="1300" b="1" dirty="0">
                          <a:solidFill>
                            <a:schemeClr val="bg1"/>
                          </a:solidFill>
                        </a:rPr>
                        <a:t>Interventions en base</a:t>
                      </a:r>
                      <a:endParaRPr lang="en-US" sz="1300" dirty="0"/>
                    </a:p>
                  </a:txBody>
                  <a:tcPr marL="54864" marR="54864" marT="54864" marB="54864"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chemeClr val="accent3"/>
                    </a:solidFill>
                  </a:tcPr>
                </a:tc>
                <a:tc>
                  <a:txBody>
                    <a:bodyPr/>
                    <a:lstStyle/>
                    <a:p>
                      <a:pPr algn="ctr" indent="0" marL="0">
                        <a:buNone/>
                      </a:pPr>
                      <a:r>
                        <a:rPr lang="en-US" sz="1300" b="1" dirty="0">
                          <a:solidFill>
                            <a:schemeClr val="bg1"/>
                          </a:solidFill>
                        </a:rPr>
                        <a:t>Claude seul · par question</a:t>
                      </a:r>
                      <a:endParaRPr lang="en-US" sz="1300" dirty="0"/>
                    </a:p>
                  </a:txBody>
                  <a:tcPr marL="54864" marR="54864" marT="54864" marB="54864"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chemeClr val="accent5"/>
                    </a:solidFill>
                  </a:tcPr>
                </a:tc>
                <a:tc>
                  <a:txBody>
                    <a:bodyPr/>
                    <a:lstStyle/>
                    <a:p>
                      <a:pPr algn="ctr" indent="0" marL="0">
                        <a:buNone/>
                      </a:pPr>
                      <a:r>
                        <a:rPr lang="en-US" sz="1300" b="1" dirty="0">
                          <a:solidFill>
                            <a:schemeClr val="bg1"/>
                          </a:solidFill>
                        </a:rPr>
                        <a:t>Claude + Voyage · par question</a:t>
                      </a:r>
                      <a:endParaRPr lang="en-US" sz="1300" dirty="0"/>
                    </a:p>
                  </a:txBody>
                  <a:tcPr marL="54864" marR="54864" marT="54864" marB="54864"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bg1"/>
                          </a:solidFill>
                        </a:rPr>
                        <a:t>Claude seul · par mois</a:t>
                      </a:r>
                      <a:endParaRPr lang="en-US" sz="1300" dirty="0"/>
                    </a:p>
                  </a:txBody>
                  <a:tcPr marL="54864" marR="54864" marT="54864" marB="54864"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chemeClr val="accent5"/>
                    </a:solidFill>
                  </a:tcPr>
                </a:tc>
                <a:tc>
                  <a:txBody>
                    <a:bodyPr/>
                    <a:lstStyle/>
                    <a:p>
                      <a:pPr algn="ctr" indent="0" marL="0">
                        <a:buNone/>
                      </a:pPr>
                      <a:r>
                        <a:rPr lang="en-US" sz="1300" b="1" dirty="0">
                          <a:solidFill>
                            <a:schemeClr val="bg1"/>
                          </a:solidFill>
                        </a:rPr>
                        <a:t>Claude + Voyage · par mois</a:t>
                      </a:r>
                      <a:endParaRPr lang="en-US" sz="1300" dirty="0"/>
                    </a:p>
                  </a:txBody>
                  <a:tcPr marL="54864" marR="54864" marT="54864" marB="54864"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chemeClr val="accent1"/>
                    </a:solidFill>
                  </a:tcPr>
                </a:tc>
              </a:tr>
              <a:tr h="457200">
                <a:tc>
                  <a:txBody>
                    <a:bodyPr/>
                    <a:lstStyle/>
                    <a:p>
                      <a:pPr algn="ctr" indent="0" marL="0">
                        <a:buNone/>
                      </a:pPr>
                      <a:r>
                        <a:rPr lang="en-US" sz="1300" b="1" dirty="0">
                          <a:solidFill>
                            <a:srgbClr val="000000"/>
                          </a:solidFill>
                        </a:rPr>
                        <a:t>20</a:t>
                      </a:r>
                      <a:endParaRPr lang="en-US" sz="1300" dirty="0"/>
                    </a:p>
                  </a:txBody>
                  <a:tcPr marL="54864" marR="54864" marT="54864" marB="54864"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tcPr>
                </a:tc>
                <a:tc>
                  <a:txBody>
                    <a:bodyPr/>
                    <a:lstStyle/>
                    <a:p>
                      <a:pPr algn="ctr" indent="0" marL="0">
                        <a:buNone/>
                      </a:pPr>
                      <a:r>
                        <a:rPr lang="en-US" sz="1300" b="1" dirty="0">
                          <a:solidFill>
                            <a:srgbClr val="000000"/>
                          </a:solidFill>
                        </a:rPr>
                        <a:t>≈ 0,011 $</a:t>
                      </a:r>
                      <a:endParaRPr lang="en-US" sz="1300" dirty="0"/>
                    </a:p>
                  </a:txBody>
                  <a:tcPr marL="54864" marR="54864" marT="54864" marB="54864"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chemeClr val="accent1">
                        <a:alpha val="15000"/>
                      </a:schemeClr>
                    </a:solidFill>
                  </a:tcPr>
                </a:tc>
                <a:tc>
                  <a:txBody>
                    <a:bodyPr/>
                    <a:lstStyle/>
                    <a:p>
                      <a:pPr algn="ctr" indent="0" marL="0">
                        <a:buNone/>
                      </a:pPr>
                      <a:r>
                        <a:rPr lang="en-US" sz="1300" dirty="0">
                          <a:solidFill>
                            <a:srgbClr val="000000"/>
                          </a:solidFill>
                        </a:rPr>
                        <a:t>≈ 0,015 $</a:t>
                      </a:r>
                      <a:endParaRPr lang="en-US" sz="1300" dirty="0"/>
                    </a:p>
                  </a:txBody>
                  <a:tcPr marL="54864" marR="54864" marT="54864" marB="54864"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tcPr>
                </a:tc>
                <a:tc>
                  <a:txBody>
                    <a:bodyPr/>
                    <a:lstStyle/>
                    <a:p>
                      <a:pPr algn="ctr" indent="0" marL="0">
                        <a:buNone/>
                      </a:pPr>
                      <a:r>
                        <a:rPr lang="en-US" sz="1300" b="1" dirty="0">
                          <a:solidFill>
                            <a:srgbClr val="000000"/>
                          </a:solidFill>
                        </a:rPr>
                        <a:t>≈ 240 $</a:t>
                      </a:r>
                      <a:endParaRPr lang="en-US" sz="1300" dirty="0"/>
                    </a:p>
                  </a:txBody>
                  <a:tcPr marL="54864" marR="54864" marT="54864" marB="54864"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chemeClr val="accent1">
                        <a:alpha val="15000"/>
                      </a:schemeClr>
                    </a:solidFill>
                  </a:tcPr>
                </a:tc>
                <a:tc>
                  <a:txBody>
                    <a:bodyPr/>
                    <a:lstStyle/>
                    <a:p>
                      <a:pPr algn="ctr" indent="0" marL="0">
                        <a:buNone/>
                      </a:pPr>
                      <a:r>
                        <a:rPr lang="en-US" sz="1300" dirty="0">
                          <a:solidFill>
                            <a:srgbClr val="000000"/>
                          </a:solidFill>
                        </a:rPr>
                        <a:t>≈ 320 $</a:t>
                      </a:r>
                      <a:endParaRPr lang="en-US" sz="1300" dirty="0"/>
                    </a:p>
                  </a:txBody>
                  <a:tcPr marL="54864" marR="54864" marT="54864" marB="54864"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tcPr>
                </a:tc>
              </a:tr>
              <a:tr h="457200">
                <a:tc>
                  <a:txBody>
                    <a:bodyPr/>
                    <a:lstStyle/>
                    <a:p>
                      <a:pPr algn="ctr" indent="0" marL="0">
                        <a:buNone/>
                      </a:pPr>
                      <a:r>
                        <a:rPr lang="en-US" sz="1300" b="1" dirty="0">
                          <a:solidFill>
                            <a:srgbClr val="000000"/>
                          </a:solidFill>
                        </a:rPr>
                        <a:t>500</a:t>
                      </a:r>
                      <a:endParaRPr lang="en-US" sz="1300" dirty="0"/>
                    </a:p>
                  </a:txBody>
                  <a:tcPr marL="54864" marR="54864" marT="54864" marB="54864"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tcPr>
                </a:tc>
                <a:tc>
                  <a:txBody>
                    <a:bodyPr/>
                    <a:lstStyle/>
                    <a:p>
                      <a:pPr algn="ctr" indent="0" marL="0">
                        <a:buNone/>
                      </a:pPr>
                      <a:r>
                        <a:rPr lang="en-US" sz="1300" dirty="0">
                          <a:solidFill>
                            <a:srgbClr val="000000"/>
                          </a:solidFill>
                        </a:rPr>
                        <a:t>≈ 0,11 $</a:t>
                      </a:r>
                      <a:endParaRPr lang="en-US" sz="1300" dirty="0"/>
                    </a:p>
                  </a:txBody>
                  <a:tcPr marL="54864" marR="54864" marT="54864" marB="54864"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tcPr>
                </a:tc>
                <a:tc>
                  <a:txBody>
                    <a:bodyPr/>
                    <a:lstStyle/>
                    <a:p>
                      <a:pPr algn="ctr" indent="0" marL="0">
                        <a:buNone/>
                      </a:pPr>
                      <a:r>
                        <a:rPr lang="en-US" sz="1300" b="1" dirty="0">
                          <a:solidFill>
                            <a:srgbClr val="000000"/>
                          </a:solidFill>
                        </a:rPr>
                        <a:t>≈ 0,015 $</a:t>
                      </a:r>
                      <a:endParaRPr lang="en-US" sz="1300" dirty="0"/>
                    </a:p>
                  </a:txBody>
                  <a:tcPr marL="54864" marR="54864" marT="54864" marB="54864"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chemeClr val="accent1">
                        <a:alpha val="15000"/>
                      </a:schemeClr>
                    </a:solidFill>
                  </a:tcPr>
                </a:tc>
                <a:tc>
                  <a:txBody>
                    <a:bodyPr/>
                    <a:lstStyle/>
                    <a:p>
                      <a:pPr algn="ctr" indent="0" marL="0">
                        <a:buNone/>
                      </a:pPr>
                      <a:r>
                        <a:rPr lang="en-US" sz="1300" dirty="0">
                          <a:solidFill>
                            <a:srgbClr val="000000"/>
                          </a:solidFill>
                        </a:rPr>
                        <a:t>≈ 2 350 $</a:t>
                      </a:r>
                      <a:endParaRPr lang="en-US" sz="1300" dirty="0"/>
                    </a:p>
                  </a:txBody>
                  <a:tcPr marL="54864" marR="54864" marT="54864" marB="54864"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tcPr>
                </a:tc>
                <a:tc>
                  <a:txBody>
                    <a:bodyPr/>
                    <a:lstStyle/>
                    <a:p>
                      <a:pPr algn="ctr" indent="0" marL="0">
                        <a:buNone/>
                      </a:pPr>
                      <a:r>
                        <a:rPr lang="en-US" sz="1300" b="1" dirty="0">
                          <a:solidFill>
                            <a:srgbClr val="000000"/>
                          </a:solidFill>
                        </a:rPr>
                        <a:t>≈ 320 $</a:t>
                      </a:r>
                      <a:endParaRPr lang="en-US" sz="1300" dirty="0"/>
                    </a:p>
                  </a:txBody>
                  <a:tcPr marL="54864" marR="54864" marT="54864" marB="54864"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chemeClr val="accent1">
                        <a:alpha val="15000"/>
                      </a:schemeClr>
                    </a:solidFill>
                  </a:tcPr>
                </a:tc>
              </a:tr>
              <a:tr h="457200">
                <a:tc>
                  <a:txBody>
                    <a:bodyPr/>
                    <a:lstStyle/>
                    <a:p>
                      <a:pPr algn="ctr" indent="0" marL="0">
                        <a:buNone/>
                      </a:pPr>
                      <a:r>
                        <a:rPr lang="en-US" sz="1300" b="1" dirty="0">
                          <a:solidFill>
                            <a:srgbClr val="000000"/>
                          </a:solidFill>
                        </a:rPr>
                        <a:t>5 000</a:t>
                      </a:r>
                      <a:endParaRPr lang="en-US" sz="1300" dirty="0"/>
                    </a:p>
                  </a:txBody>
                  <a:tcPr marL="54864" marR="54864" marT="54864" marB="54864"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tcPr>
                </a:tc>
                <a:tc>
                  <a:txBody>
                    <a:bodyPr/>
                    <a:lstStyle/>
                    <a:p>
                      <a:pPr algn="ctr" indent="0" marL="0">
                        <a:buNone/>
                      </a:pPr>
                      <a:r>
                        <a:rPr lang="en-US" sz="1300" dirty="0">
                          <a:solidFill>
                            <a:srgbClr val="000000"/>
                          </a:solidFill>
                        </a:rPr>
                        <a:t>≈ 1,01 $</a:t>
                      </a:r>
                      <a:endParaRPr lang="en-US" sz="1300" dirty="0"/>
                    </a:p>
                  </a:txBody>
                  <a:tcPr marL="54864" marR="54864" marT="54864" marB="54864"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tcPr>
                </a:tc>
                <a:tc>
                  <a:txBody>
                    <a:bodyPr/>
                    <a:lstStyle/>
                    <a:p>
                      <a:pPr algn="ctr" indent="0" marL="0">
                        <a:buNone/>
                      </a:pPr>
                      <a:r>
                        <a:rPr lang="en-US" sz="1300" b="1" dirty="0">
                          <a:solidFill>
                            <a:srgbClr val="000000"/>
                          </a:solidFill>
                        </a:rPr>
                        <a:t>≈ 0,015 $</a:t>
                      </a:r>
                      <a:endParaRPr lang="en-US" sz="1300" dirty="0"/>
                    </a:p>
                  </a:txBody>
                  <a:tcPr marL="54864" marR="54864" marT="54864" marB="54864"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chemeClr val="accent1">
                        <a:alpha val="15000"/>
                      </a:schemeClr>
                    </a:solidFill>
                  </a:tcPr>
                </a:tc>
                <a:tc>
                  <a:txBody>
                    <a:bodyPr/>
                    <a:lstStyle/>
                    <a:p>
                      <a:pPr algn="ctr" indent="0" marL="0">
                        <a:buNone/>
                      </a:pPr>
                      <a:r>
                        <a:rPr lang="en-US" sz="1300" dirty="0">
                          <a:solidFill>
                            <a:srgbClr val="000000"/>
                          </a:solidFill>
                        </a:rPr>
                        <a:t>≈ 22 150 $</a:t>
                      </a:r>
                      <a:endParaRPr lang="en-US" sz="1300" dirty="0"/>
                    </a:p>
                  </a:txBody>
                  <a:tcPr marL="54864" marR="54864" marT="54864" marB="54864"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tcPr>
                </a:tc>
                <a:tc>
                  <a:txBody>
                    <a:bodyPr/>
                    <a:lstStyle/>
                    <a:p>
                      <a:pPr algn="ctr" indent="0" marL="0">
                        <a:buNone/>
                      </a:pPr>
                      <a:r>
                        <a:rPr lang="en-US" sz="1300" b="1" dirty="0">
                          <a:solidFill>
                            <a:srgbClr val="000000"/>
                          </a:solidFill>
                        </a:rPr>
                        <a:t>≈ 320 $</a:t>
                      </a:r>
                      <a:endParaRPr lang="en-US" sz="1300" dirty="0"/>
                    </a:p>
                  </a:txBody>
                  <a:tcPr marL="54864" marR="54864" marT="54864" marB="54864"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chemeClr val="accent1">
                        <a:alpha val="15000"/>
                      </a:schemeClr>
                    </a:solidFill>
                  </a:tcPr>
                </a:tc>
              </a:tr>
              <a:tr h="457200">
                <a:tc>
                  <a:txBody>
                    <a:bodyPr/>
                    <a:lstStyle/>
                    <a:p>
                      <a:pPr algn="ctr" indent="0" marL="0">
                        <a:buNone/>
                      </a:pPr>
                      <a:r>
                        <a:rPr lang="en-US" sz="1300" b="1" dirty="0">
                          <a:solidFill>
                            <a:srgbClr val="000000"/>
                          </a:solidFill>
                        </a:rPr>
                        <a:t>10 000</a:t>
                      </a:r>
                      <a:endParaRPr lang="en-US" sz="1300" dirty="0"/>
                    </a:p>
                  </a:txBody>
                  <a:tcPr marL="54864" marR="54864" marT="54864" marB="54864"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tcPr>
                </a:tc>
                <a:tc>
                  <a:txBody>
                    <a:bodyPr/>
                    <a:lstStyle/>
                    <a:p>
                      <a:pPr algn="ctr" indent="0" marL="0">
                        <a:buNone/>
                      </a:pPr>
                      <a:r>
                        <a:rPr lang="en-US" sz="1300" dirty="0">
                          <a:solidFill>
                            <a:srgbClr val="000000"/>
                          </a:solidFill>
                        </a:rPr>
                        <a:t>≈ 2,01 $</a:t>
                      </a:r>
                      <a:endParaRPr lang="en-US" sz="1300" dirty="0"/>
                    </a:p>
                  </a:txBody>
                  <a:tcPr marL="54864" marR="54864" marT="54864" marB="54864"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tcPr>
                </a:tc>
                <a:tc>
                  <a:txBody>
                    <a:bodyPr/>
                    <a:lstStyle/>
                    <a:p>
                      <a:pPr algn="ctr" indent="0" marL="0">
                        <a:buNone/>
                      </a:pPr>
                      <a:r>
                        <a:rPr lang="en-US" sz="1300" b="1" dirty="0">
                          <a:solidFill>
                            <a:srgbClr val="000000"/>
                          </a:solidFill>
                        </a:rPr>
                        <a:t>≈ 0,015 $</a:t>
                      </a:r>
                      <a:endParaRPr lang="en-US" sz="1300" dirty="0"/>
                    </a:p>
                  </a:txBody>
                  <a:tcPr marL="54864" marR="54864" marT="54864" marB="54864"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chemeClr val="accent1">
                        <a:alpha val="15000"/>
                      </a:schemeClr>
                    </a:solidFill>
                  </a:tcPr>
                </a:tc>
                <a:tc>
                  <a:txBody>
                    <a:bodyPr/>
                    <a:lstStyle/>
                    <a:p>
                      <a:pPr algn="ctr" indent="0" marL="0">
                        <a:buNone/>
                      </a:pPr>
                      <a:r>
                        <a:rPr lang="en-US" sz="1300" dirty="0">
                          <a:solidFill>
                            <a:srgbClr val="000000"/>
                          </a:solidFill>
                        </a:rPr>
                        <a:t>≈ 44 150 $</a:t>
                      </a:r>
                      <a:endParaRPr lang="en-US" sz="1300" dirty="0"/>
                    </a:p>
                  </a:txBody>
                  <a:tcPr marL="54864" marR="54864" marT="54864" marB="54864"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tcPr>
                </a:tc>
                <a:tc>
                  <a:txBody>
                    <a:bodyPr/>
                    <a:lstStyle/>
                    <a:p>
                      <a:pPr algn="ctr" indent="0" marL="0">
                        <a:buNone/>
                      </a:pPr>
                      <a:r>
                        <a:rPr lang="en-US" sz="1300" b="1" dirty="0">
                          <a:solidFill>
                            <a:srgbClr val="000000"/>
                          </a:solidFill>
                        </a:rPr>
                        <a:t>≈ 320 $</a:t>
                      </a:r>
                      <a:endParaRPr lang="en-US" sz="1300" dirty="0"/>
                    </a:p>
                  </a:txBody>
                  <a:tcPr marL="54864" marR="54864" marT="54864" marB="54864"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chemeClr val="accent1">
                        <a:alpha val="15000"/>
                      </a:schemeClr>
                    </a:solidFill>
                  </a:tcPr>
                </a:tc>
              </a:tr>
            </a:tbl>
          </a:graphicData>
        </a:graphic>
      </p:graphicFrame>
      <p:sp>
        <p:nvSpPr>
          <p:cNvPr id="7" name="card-617"/>
          <p:cNvSpPr/>
          <p:nvPr/>
        </p:nvSpPr>
        <p:spPr>
          <a:xfrm>
            <a:off x="548640" y="4114800"/>
            <a:ext cx="5394960" cy="1371600"/>
          </a:xfrm>
          <a:prstGeom prst="roundRect">
            <a:avLst>
              <a:gd name="adj" fmla="val 8000"/>
            </a:avLst>
          </a:prstGeom>
          <a:solidFill>
            <a:schemeClr val="bg2"/>
          </a:solidFill>
          <a:ln/>
        </p:spPr>
      </p:sp>
      <p:sp>
        <p:nvSpPr>
          <p:cNvPr id="8" name="pastille-618"/>
          <p:cNvSpPr/>
          <p:nvPr/>
        </p:nvSpPr>
        <p:spPr>
          <a:xfrm>
            <a:off x="777240" y="4297680"/>
            <a:ext cx="502920" cy="502920"/>
          </a:xfrm>
          <a:prstGeom prst="ellipse">
            <a:avLst/>
          </a:prstGeom>
          <a:solidFill>
            <a:schemeClr val="accent5"/>
          </a:solidFill>
          <a:ln/>
        </p:spPr>
      </p:sp>
      <p:pic>
        <p:nvPicPr>
          <p:cNvPr id="9" name="icone-619" descr="preencoded.png">    </p:cNvPr>
          <p:cNvPicPr>
            <a:picLocks noChangeAspect="1"/>
          </p:cNvPicPr>
          <p:nvPr/>
        </p:nvPicPr>
        <p:blipFill>
          <a:blip r:embed="rId2"/>
          <a:stretch>
            <a:fillRect/>
          </a:stretch>
        </p:blipFill>
        <p:spPr>
          <a:xfrm>
            <a:off x="887882" y="4408322"/>
            <a:ext cx="281635" cy="281635"/>
          </a:xfrm>
          <a:prstGeom prst="rect">
            <a:avLst/>
          </a:prstGeom>
        </p:spPr>
      </p:pic>
      <p:sp>
        <p:nvSpPr>
          <p:cNvPr id="10" name="txt-620"/>
          <p:cNvSpPr txBox="1"/>
          <p:nvPr/>
        </p:nvSpPr>
        <p:spPr>
          <a:xfrm>
            <a:off x="1417320" y="4251960"/>
            <a:ext cx="4389120" cy="365760"/>
          </a:xfrm>
          <a:prstGeom prst="rect">
            <a:avLst/>
          </a:prstGeom>
          <a:noFill/>
          <a:ln/>
        </p:spPr>
        <p:txBody>
          <a:bodyPr wrap="square" lIns="0" tIns="0" rIns="0" bIns="0" rtlCol="0" anchor="t"/>
          <a:lstStyle/>
          <a:p>
            <a:pPr indent="0" marL="0">
              <a:buNone/>
            </a:pPr>
            <a:r>
              <a:rPr lang="en-US" sz="1500" b="1" dirty="0">
                <a:solidFill>
                  <a:schemeClr val="tx1"/>
                </a:solidFill>
              </a:rPr>
              <a:t>Claude seul est moins cher…</a:t>
            </a:r>
            <a:endParaRPr lang="en-US" sz="1500" dirty="0"/>
          </a:p>
        </p:txBody>
      </p:sp>
      <p:sp>
        <p:nvSpPr>
          <p:cNvPr id="11" name="txt-621"/>
          <p:cNvSpPr txBox="1"/>
          <p:nvPr/>
        </p:nvSpPr>
        <p:spPr>
          <a:xfrm>
            <a:off x="1417320" y="4617720"/>
            <a:ext cx="4389120" cy="822960"/>
          </a:xfrm>
          <a:prstGeom prst="rect">
            <a:avLst/>
          </a:prstGeom>
          <a:noFill/>
          <a:ln/>
        </p:spPr>
        <p:txBody>
          <a:bodyPr wrap="square" lIns="0" tIns="0" rIns="0" bIns="0" rtlCol="0" anchor="t"/>
          <a:lstStyle/>
          <a:p>
            <a:pPr indent="0" marL="0">
              <a:buNone/>
            </a:pPr>
            <a:r>
              <a:rPr lang="en-US" sz="1300" dirty="0">
                <a:solidFill>
                  <a:schemeClr val="tx2"/>
                </a:solidFill>
              </a:rPr>
              <a:t>…tant que la base compte moins d'environ 40 interventions : la base entière coûte alors moins à lire que les deux appels de Claude + Voyage.</a:t>
            </a:r>
            <a:endParaRPr lang="en-US" sz="1300" dirty="0"/>
          </a:p>
        </p:txBody>
      </p:sp>
      <p:sp>
        <p:nvSpPr>
          <p:cNvPr id="12" name="card-622"/>
          <p:cNvSpPr/>
          <p:nvPr/>
        </p:nvSpPr>
        <p:spPr>
          <a:xfrm>
            <a:off x="6245352" y="4114800"/>
            <a:ext cx="5394960" cy="1371600"/>
          </a:xfrm>
          <a:prstGeom prst="roundRect">
            <a:avLst>
              <a:gd name="adj" fmla="val 8000"/>
            </a:avLst>
          </a:prstGeom>
          <a:solidFill>
            <a:schemeClr val="bg2"/>
          </a:solidFill>
          <a:ln/>
        </p:spPr>
      </p:sp>
      <p:sp>
        <p:nvSpPr>
          <p:cNvPr id="13" name="pastille-623"/>
          <p:cNvSpPr/>
          <p:nvPr/>
        </p:nvSpPr>
        <p:spPr>
          <a:xfrm>
            <a:off x="6473952" y="4297680"/>
            <a:ext cx="502920" cy="502920"/>
          </a:xfrm>
          <a:prstGeom prst="ellipse">
            <a:avLst/>
          </a:prstGeom>
          <a:solidFill>
            <a:schemeClr val="accent1"/>
          </a:solidFill>
          <a:ln/>
        </p:spPr>
      </p:sp>
      <p:pic>
        <p:nvPicPr>
          <p:cNvPr id="14" name="icone-624" descr="preencoded.png">    </p:cNvPr>
          <p:cNvPicPr>
            <a:picLocks noChangeAspect="1"/>
          </p:cNvPicPr>
          <p:nvPr/>
        </p:nvPicPr>
        <p:blipFill>
          <a:blip r:embed="rId3"/>
          <a:stretch>
            <a:fillRect/>
          </a:stretch>
        </p:blipFill>
        <p:spPr>
          <a:xfrm>
            <a:off x="6584594" y="4408322"/>
            <a:ext cx="281635" cy="281635"/>
          </a:xfrm>
          <a:prstGeom prst="rect">
            <a:avLst/>
          </a:prstGeom>
        </p:spPr>
      </p:pic>
      <p:sp>
        <p:nvSpPr>
          <p:cNvPr id="15" name="txt-625"/>
          <p:cNvSpPr txBox="1"/>
          <p:nvPr/>
        </p:nvSpPr>
        <p:spPr>
          <a:xfrm>
            <a:off x="7114032" y="4251960"/>
            <a:ext cx="4389120" cy="365760"/>
          </a:xfrm>
          <a:prstGeom prst="rect">
            <a:avLst/>
          </a:prstGeom>
          <a:noFill/>
          <a:ln/>
        </p:spPr>
        <p:txBody>
          <a:bodyPr wrap="square" lIns="0" tIns="0" rIns="0" bIns="0" rtlCol="0" anchor="t"/>
          <a:lstStyle/>
          <a:p>
            <a:pPr indent="0" marL="0">
              <a:buNone/>
            </a:pPr>
            <a:r>
              <a:rPr lang="en-US" sz="1500" b="1" dirty="0">
                <a:solidFill>
                  <a:schemeClr val="tx1"/>
                </a:solidFill>
              </a:rPr>
              <a:t>Au-delà, Claude + Voyage l'emporte</a:t>
            </a:r>
            <a:endParaRPr lang="en-US" sz="1500" dirty="0"/>
          </a:p>
        </p:txBody>
      </p:sp>
      <p:sp>
        <p:nvSpPr>
          <p:cNvPr id="16" name="txt-626"/>
          <p:cNvSpPr txBox="1"/>
          <p:nvPr/>
        </p:nvSpPr>
        <p:spPr>
          <a:xfrm>
            <a:off x="7114032" y="4617720"/>
            <a:ext cx="4389120" cy="822960"/>
          </a:xfrm>
          <a:prstGeom prst="rect">
            <a:avLst/>
          </a:prstGeom>
          <a:noFill/>
          <a:ln/>
        </p:spPr>
        <p:txBody>
          <a:bodyPr wrap="square" lIns="0" tIns="0" rIns="0" bIns="0" rtlCol="0" anchor="t"/>
          <a:lstStyle/>
          <a:p>
            <a:pPr indent="0" marL="0">
              <a:buNone/>
            </a:pPr>
            <a:r>
              <a:rPr lang="en-US" sz="1300" dirty="0">
                <a:solidFill>
                  <a:schemeClr val="tx2"/>
                </a:solidFill>
              </a:rPr>
              <a:t>Son coût ne dépend pas de la taille de la base. Celui de Claude seul augmente avec chaque intervention ajoutée.</a:t>
            </a:r>
            <a:endParaRPr lang="en-US" sz="1300" dirty="0"/>
          </a:p>
        </p:txBody>
      </p:sp>
      <p:sp>
        <p:nvSpPr>
          <p:cNvPr id="17" name="card-627"/>
          <p:cNvSpPr/>
          <p:nvPr/>
        </p:nvSpPr>
        <p:spPr>
          <a:xfrm>
            <a:off x="548640" y="5623560"/>
            <a:ext cx="11091672" cy="566928"/>
          </a:xfrm>
          <a:prstGeom prst="roundRect">
            <a:avLst>
              <a:gd name="adj" fmla="val 19355"/>
            </a:avLst>
          </a:prstGeom>
          <a:solidFill>
            <a:schemeClr val="bg2"/>
          </a:solidFill>
          <a:ln/>
        </p:spPr>
      </p:sp>
      <p:sp>
        <p:nvSpPr>
          <p:cNvPr id="18" name="txt-628"/>
          <p:cNvSpPr txBox="1"/>
          <p:nvPr/>
        </p:nvSpPr>
        <p:spPr>
          <a:xfrm>
            <a:off x="777240" y="5623560"/>
            <a:ext cx="10698480" cy="566928"/>
          </a:xfrm>
          <a:prstGeom prst="rect">
            <a:avLst/>
          </a:prstGeom>
          <a:noFill/>
          <a:ln/>
        </p:spPr>
        <p:txBody>
          <a:bodyPr wrap="square" lIns="0" tIns="0" rIns="0" bIns="0" rtlCol="0" anchor="ctr"/>
          <a:lstStyle/>
          <a:p>
            <a:pPr indent="0" marL="0">
              <a:buNone/>
            </a:pPr>
            <a:r>
              <a:rPr lang="en-US" sz="1150" b="1" dirty="0">
                <a:solidFill>
                  <a:schemeClr val="tx1"/>
                </a:solidFill>
              </a:rPr>
              <a:t>Hypothèses : </a:t>
            </a:r>
            <a:pPr indent="0" marL="0">
              <a:buNone/>
            </a:pPr>
            <a:r>
              <a:rPr lang="en-US" sz="1150" dirty="0">
                <a:solidFill>
                  <a:schemeClr val="tx1"/>
                </a:solidFill>
              </a:rPr>
              <a:t>≈ 22 000 questions par mois (50 techniciens × 20 par jour × 22 jours), ≈ 100 tokens par intervention, tarifs de la slide précédente. Vectoriser toute la base une fois : ≈ 0,09 $ pour 5 000 interventions.</a:t>
            </a:r>
            <a:endParaRPr lang="en-US" sz="115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partie"/>
          <p:cNvSpPr txBox="1"/>
          <p:nvPr/>
        </p:nvSpPr>
        <p:spPr>
          <a:xfrm>
            <a:off x="548640" y="182880"/>
            <a:ext cx="8229600" cy="256032"/>
          </a:xfrm>
          <a:prstGeom prst="rect">
            <a:avLst/>
          </a:prstGeom>
          <a:noFill/>
          <a:ln/>
        </p:spPr>
        <p:txBody>
          <a:bodyPr wrap="square" lIns="0" tIns="0" rIns="0" bIns="0" rtlCol="0" anchor="ctr"/>
          <a:lstStyle/>
          <a:p>
            <a:pPr indent="0" marL="0">
              <a:buNone/>
            </a:pPr>
            <a:r>
              <a:rPr lang="en-US" sz="1100" b="1" spc="150" kern="0" dirty="0">
                <a:solidFill>
                  <a:schemeClr val="accent1"/>
                </a:solidFill>
              </a:rPr>
              <a:t>V. L'INTELLIGENCE ARTIFICIELLE</a:t>
            </a:r>
            <a:endParaRPr lang="en-US" sz="1100" dirty="0"/>
          </a:p>
        </p:txBody>
      </p:sp>
      <p:sp>
        <p:nvSpPr>
          <p:cNvPr id="3" name="Text 0"/>
          <p:cNvSpPr/>
          <p:nvPr>
            <p:ph idx="100" type="title" hasCustomPrompt="1"/>
          </p:nvPr>
        </p:nvSpPr>
        <p:spPr>
          <a:xfrm>
            <a:off x="548640" y="438912"/>
            <a:ext cx="11091672" cy="54864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j) Le classement des solutions</a:t>
            </a:r>
            <a:endParaRPr lang="en-US" sz="2800" dirty="0"/>
          </a:p>
        </p:txBody>
      </p:sp>
      <p:pic>
        <p:nvPicPr>
          <p:cNvPr id="4" name="icone-objectif" descr="preencoded.png">    </p:cNvPr>
          <p:cNvPicPr>
            <a:picLocks noChangeAspect="1"/>
          </p:cNvPicPr>
          <p:nvPr/>
        </p:nvPicPr>
        <p:blipFill>
          <a:blip r:embed="rId1"/>
          <a:stretch>
            <a:fillRect/>
          </a:stretch>
        </p:blipFill>
        <p:spPr>
          <a:xfrm>
            <a:off x="548640" y="1033272"/>
            <a:ext cx="237744" cy="237744"/>
          </a:xfrm>
          <a:prstGeom prst="rect">
            <a:avLst/>
          </a:prstGeom>
        </p:spPr>
      </p:pic>
      <p:sp>
        <p:nvSpPr>
          <p:cNvPr id="5" name="objectif"/>
          <p:cNvSpPr txBox="1"/>
          <p:nvPr/>
        </p:nvSpPr>
        <p:spPr>
          <a:xfrm>
            <a:off x="868680" y="987552"/>
            <a:ext cx="10771632" cy="329184"/>
          </a:xfrm>
          <a:prstGeom prst="rect">
            <a:avLst/>
          </a:prstGeom>
          <a:noFill/>
          <a:ln/>
        </p:spPr>
        <p:txBody>
          <a:bodyPr wrap="square" lIns="0" tIns="0" rIns="0" bIns="0" rtlCol="0" anchor="ctr"/>
          <a:lstStyle/>
          <a:p>
            <a:pPr indent="0" marL="0">
              <a:buNone/>
            </a:pPr>
            <a:r>
              <a:rPr lang="en-US" sz="1400" b="1" i="1" dirty="0">
                <a:solidFill>
                  <a:schemeClr val="tx2"/>
                </a:solidFill>
              </a:rPr>
              <a:t>Objectif : </a:t>
            </a:r>
            <a:pPr indent="0" marL="0">
              <a:buNone/>
            </a:pPr>
            <a:r>
              <a:rPr lang="en-US" sz="1400" i="1" dirty="0">
                <a:solidFill>
                  <a:schemeClr val="tx2"/>
                </a:solidFill>
              </a:rPr>
              <a:t>Comprendre comment les solutions sont ordonnées avant d'être proposées.</a:t>
            </a:r>
            <a:endParaRPr lang="en-US" sz="1400" dirty="0"/>
          </a:p>
        </p:txBody>
      </p:sp>
      <p:sp>
        <p:nvSpPr>
          <p:cNvPr id="6" name="card-629"/>
          <p:cNvSpPr/>
          <p:nvPr/>
        </p:nvSpPr>
        <p:spPr>
          <a:xfrm>
            <a:off x="548640" y="1508760"/>
            <a:ext cx="3931920" cy="713232"/>
          </a:xfrm>
          <a:prstGeom prst="roundRect">
            <a:avLst>
              <a:gd name="adj" fmla="val 15385"/>
            </a:avLst>
          </a:prstGeom>
          <a:solidFill>
            <a:schemeClr val="bg2"/>
          </a:solidFill>
          <a:ln/>
        </p:spPr>
      </p:sp>
      <p:sp>
        <p:nvSpPr>
          <p:cNvPr id="7" name="pastille-630"/>
          <p:cNvSpPr/>
          <p:nvPr/>
        </p:nvSpPr>
        <p:spPr>
          <a:xfrm>
            <a:off x="713232" y="1618488"/>
            <a:ext cx="493776" cy="493776"/>
          </a:xfrm>
          <a:prstGeom prst="ellipse">
            <a:avLst/>
          </a:prstGeom>
          <a:solidFill>
            <a:schemeClr val="accent1"/>
          </a:solidFill>
          <a:ln/>
        </p:spPr>
      </p:sp>
      <p:pic>
        <p:nvPicPr>
          <p:cNvPr id="8" name="icone-631" descr="preencoded.png">    </p:cNvPr>
          <p:cNvPicPr>
            <a:picLocks noChangeAspect="1"/>
          </p:cNvPicPr>
          <p:nvPr/>
        </p:nvPicPr>
        <p:blipFill>
          <a:blip r:embed="rId2"/>
          <a:stretch>
            <a:fillRect/>
          </a:stretch>
        </p:blipFill>
        <p:spPr>
          <a:xfrm>
            <a:off x="821863" y="1727119"/>
            <a:ext cx="276515" cy="276515"/>
          </a:xfrm>
          <a:prstGeom prst="rect">
            <a:avLst/>
          </a:prstGeom>
        </p:spPr>
      </p:pic>
      <p:sp>
        <p:nvSpPr>
          <p:cNvPr id="9" name="txt-632"/>
          <p:cNvSpPr txBox="1"/>
          <p:nvPr/>
        </p:nvSpPr>
        <p:spPr>
          <a:xfrm>
            <a:off x="1371600" y="1508760"/>
            <a:ext cx="3017520" cy="713232"/>
          </a:xfrm>
          <a:prstGeom prst="rect">
            <a:avLst/>
          </a:prstGeom>
          <a:noFill/>
          <a:ln/>
        </p:spPr>
        <p:txBody>
          <a:bodyPr wrap="square" lIns="0" tIns="0" rIns="0" bIns="0" rtlCol="0" anchor="ctr"/>
          <a:lstStyle/>
          <a:p>
            <a:pPr indent="0" marL="0">
              <a:buNone/>
            </a:pPr>
            <a:r>
              <a:rPr lang="en-US" sz="1500" b="1" dirty="0">
                <a:solidFill>
                  <a:schemeClr val="tx1"/>
                </a:solidFill>
              </a:rPr>
              <a:t>Similarité sémantique</a:t>
            </a:r>
            <a:endParaRPr lang="en-US" sz="1500" dirty="0"/>
          </a:p>
        </p:txBody>
      </p:sp>
      <p:sp>
        <p:nvSpPr>
          <p:cNvPr id="10" name="fleche-633"/>
          <p:cNvSpPr/>
          <p:nvPr/>
        </p:nvSpPr>
        <p:spPr>
          <a:xfrm>
            <a:off x="4526280" y="1865376"/>
            <a:ext cx="731520" cy="1746504"/>
          </a:xfrm>
          <a:prstGeom prst="line">
            <a:avLst/>
          </a:prstGeom>
          <a:noFill/>
          <a:ln w="15875">
            <a:solidFill>
              <a:schemeClr val="accent5"/>
            </a:solidFill>
            <a:prstDash val="solid"/>
          </a:ln>
        </p:spPr>
      </p:sp>
      <p:sp>
        <p:nvSpPr>
          <p:cNvPr id="11" name="card-634"/>
          <p:cNvSpPr/>
          <p:nvPr/>
        </p:nvSpPr>
        <p:spPr>
          <a:xfrm>
            <a:off x="548640" y="2404872"/>
            <a:ext cx="3931920" cy="713232"/>
          </a:xfrm>
          <a:prstGeom prst="roundRect">
            <a:avLst>
              <a:gd name="adj" fmla="val 15385"/>
            </a:avLst>
          </a:prstGeom>
          <a:solidFill>
            <a:schemeClr val="bg2"/>
          </a:solidFill>
          <a:ln/>
        </p:spPr>
      </p:sp>
      <p:sp>
        <p:nvSpPr>
          <p:cNvPr id="12" name="pastille-635"/>
          <p:cNvSpPr/>
          <p:nvPr/>
        </p:nvSpPr>
        <p:spPr>
          <a:xfrm>
            <a:off x="713232" y="2514600"/>
            <a:ext cx="493776" cy="493776"/>
          </a:xfrm>
          <a:prstGeom prst="ellipse">
            <a:avLst/>
          </a:prstGeom>
          <a:solidFill>
            <a:schemeClr val="accent1"/>
          </a:solidFill>
          <a:ln/>
        </p:spPr>
      </p:sp>
      <p:pic>
        <p:nvPicPr>
          <p:cNvPr id="13" name="icone-636" descr="preencoded.png">    </p:cNvPr>
          <p:cNvPicPr>
            <a:picLocks noChangeAspect="1"/>
          </p:cNvPicPr>
          <p:nvPr/>
        </p:nvPicPr>
        <p:blipFill>
          <a:blip r:embed="rId3"/>
          <a:stretch>
            <a:fillRect/>
          </a:stretch>
        </p:blipFill>
        <p:spPr>
          <a:xfrm>
            <a:off x="821863" y="2623231"/>
            <a:ext cx="276515" cy="276515"/>
          </a:xfrm>
          <a:prstGeom prst="rect">
            <a:avLst/>
          </a:prstGeom>
        </p:spPr>
      </p:pic>
      <p:sp>
        <p:nvSpPr>
          <p:cNvPr id="14" name="txt-637"/>
          <p:cNvSpPr txBox="1"/>
          <p:nvPr/>
        </p:nvSpPr>
        <p:spPr>
          <a:xfrm>
            <a:off x="1371600" y="2404872"/>
            <a:ext cx="3017520" cy="713232"/>
          </a:xfrm>
          <a:prstGeom prst="rect">
            <a:avLst/>
          </a:prstGeom>
          <a:noFill/>
          <a:ln/>
        </p:spPr>
        <p:txBody>
          <a:bodyPr wrap="square" lIns="0" tIns="0" rIns="0" bIns="0" rtlCol="0" anchor="ctr"/>
          <a:lstStyle/>
          <a:p>
            <a:pPr indent="0" marL="0">
              <a:buNone/>
            </a:pPr>
            <a:r>
              <a:rPr lang="en-US" sz="1500" b="1" dirty="0">
                <a:solidFill>
                  <a:schemeClr val="tx1"/>
                </a:solidFill>
              </a:rPr>
              <a:t>Historique des interventions</a:t>
            </a:r>
            <a:endParaRPr lang="en-US" sz="1500" dirty="0"/>
          </a:p>
        </p:txBody>
      </p:sp>
      <p:sp>
        <p:nvSpPr>
          <p:cNvPr id="15" name="fleche-638"/>
          <p:cNvSpPr/>
          <p:nvPr/>
        </p:nvSpPr>
        <p:spPr>
          <a:xfrm>
            <a:off x="4526280" y="2761488"/>
            <a:ext cx="731520" cy="850392"/>
          </a:xfrm>
          <a:prstGeom prst="line">
            <a:avLst/>
          </a:prstGeom>
          <a:noFill/>
          <a:ln w="15875">
            <a:solidFill>
              <a:schemeClr val="accent5"/>
            </a:solidFill>
            <a:prstDash val="solid"/>
          </a:ln>
        </p:spPr>
      </p:sp>
      <p:sp>
        <p:nvSpPr>
          <p:cNvPr id="16" name="card-639"/>
          <p:cNvSpPr/>
          <p:nvPr/>
        </p:nvSpPr>
        <p:spPr>
          <a:xfrm>
            <a:off x="548640" y="3300984"/>
            <a:ext cx="3931920" cy="713232"/>
          </a:xfrm>
          <a:prstGeom prst="roundRect">
            <a:avLst>
              <a:gd name="adj" fmla="val 15385"/>
            </a:avLst>
          </a:prstGeom>
          <a:solidFill>
            <a:schemeClr val="bg2"/>
          </a:solidFill>
          <a:ln/>
        </p:spPr>
      </p:sp>
      <p:sp>
        <p:nvSpPr>
          <p:cNvPr id="17" name="pastille-640"/>
          <p:cNvSpPr/>
          <p:nvPr/>
        </p:nvSpPr>
        <p:spPr>
          <a:xfrm>
            <a:off x="713232" y="3410712"/>
            <a:ext cx="493776" cy="493776"/>
          </a:xfrm>
          <a:prstGeom prst="ellipse">
            <a:avLst/>
          </a:prstGeom>
          <a:solidFill>
            <a:schemeClr val="accent1"/>
          </a:solidFill>
          <a:ln/>
        </p:spPr>
      </p:sp>
      <p:pic>
        <p:nvPicPr>
          <p:cNvPr id="18" name="icone-641" descr="preencoded.png">    </p:cNvPr>
          <p:cNvPicPr>
            <a:picLocks noChangeAspect="1"/>
          </p:cNvPicPr>
          <p:nvPr/>
        </p:nvPicPr>
        <p:blipFill>
          <a:blip r:embed="rId4"/>
          <a:stretch>
            <a:fillRect/>
          </a:stretch>
        </p:blipFill>
        <p:spPr>
          <a:xfrm>
            <a:off x="821863" y="3519343"/>
            <a:ext cx="276515" cy="276515"/>
          </a:xfrm>
          <a:prstGeom prst="rect">
            <a:avLst/>
          </a:prstGeom>
        </p:spPr>
      </p:pic>
      <p:sp>
        <p:nvSpPr>
          <p:cNvPr id="19" name="txt-642"/>
          <p:cNvSpPr txBox="1"/>
          <p:nvPr/>
        </p:nvSpPr>
        <p:spPr>
          <a:xfrm>
            <a:off x="1371600" y="3300984"/>
            <a:ext cx="3017520" cy="713232"/>
          </a:xfrm>
          <a:prstGeom prst="rect">
            <a:avLst/>
          </a:prstGeom>
          <a:noFill/>
          <a:ln/>
        </p:spPr>
        <p:txBody>
          <a:bodyPr wrap="square" lIns="0" tIns="0" rIns="0" bIns="0" rtlCol="0" anchor="ctr"/>
          <a:lstStyle/>
          <a:p>
            <a:pPr indent="0" marL="0">
              <a:buNone/>
            </a:pPr>
            <a:r>
              <a:rPr lang="en-US" sz="1500" b="1" dirty="0">
                <a:solidFill>
                  <a:schemeClr val="tx1"/>
                </a:solidFill>
              </a:rPr>
              <a:t>Taux de réussite</a:t>
            </a:r>
            <a:endParaRPr lang="en-US" sz="1500" dirty="0"/>
          </a:p>
        </p:txBody>
      </p:sp>
      <p:sp>
        <p:nvSpPr>
          <p:cNvPr id="20" name="fleche-643"/>
          <p:cNvSpPr/>
          <p:nvPr/>
        </p:nvSpPr>
        <p:spPr>
          <a:xfrm flipV="1">
            <a:off x="4526280" y="3611880"/>
            <a:ext cx="731520" cy="45720"/>
          </a:xfrm>
          <a:prstGeom prst="line">
            <a:avLst/>
          </a:prstGeom>
          <a:noFill/>
          <a:ln w="15875">
            <a:solidFill>
              <a:schemeClr val="accent5"/>
            </a:solidFill>
            <a:prstDash val="solid"/>
          </a:ln>
        </p:spPr>
      </p:sp>
      <p:sp>
        <p:nvSpPr>
          <p:cNvPr id="21" name="card-644"/>
          <p:cNvSpPr/>
          <p:nvPr/>
        </p:nvSpPr>
        <p:spPr>
          <a:xfrm>
            <a:off x="548640" y="4197096"/>
            <a:ext cx="3931920" cy="713232"/>
          </a:xfrm>
          <a:prstGeom prst="roundRect">
            <a:avLst>
              <a:gd name="adj" fmla="val 15385"/>
            </a:avLst>
          </a:prstGeom>
          <a:solidFill>
            <a:schemeClr val="bg2"/>
          </a:solidFill>
          <a:ln/>
        </p:spPr>
      </p:sp>
      <p:sp>
        <p:nvSpPr>
          <p:cNvPr id="22" name="pastille-645"/>
          <p:cNvSpPr/>
          <p:nvPr/>
        </p:nvSpPr>
        <p:spPr>
          <a:xfrm>
            <a:off x="713232" y="4306824"/>
            <a:ext cx="493776" cy="493776"/>
          </a:xfrm>
          <a:prstGeom prst="ellipse">
            <a:avLst/>
          </a:prstGeom>
          <a:solidFill>
            <a:schemeClr val="accent1"/>
          </a:solidFill>
          <a:ln/>
        </p:spPr>
      </p:sp>
      <p:pic>
        <p:nvPicPr>
          <p:cNvPr id="23" name="icone-646" descr="preencoded.png">    </p:cNvPr>
          <p:cNvPicPr>
            <a:picLocks noChangeAspect="1"/>
          </p:cNvPicPr>
          <p:nvPr/>
        </p:nvPicPr>
        <p:blipFill>
          <a:blip r:embed="rId5"/>
          <a:stretch>
            <a:fillRect/>
          </a:stretch>
        </p:blipFill>
        <p:spPr>
          <a:xfrm>
            <a:off x="821863" y="4415455"/>
            <a:ext cx="276515" cy="276515"/>
          </a:xfrm>
          <a:prstGeom prst="rect">
            <a:avLst/>
          </a:prstGeom>
        </p:spPr>
      </p:pic>
      <p:sp>
        <p:nvSpPr>
          <p:cNvPr id="24" name="txt-647"/>
          <p:cNvSpPr txBox="1"/>
          <p:nvPr/>
        </p:nvSpPr>
        <p:spPr>
          <a:xfrm>
            <a:off x="1371600" y="4197096"/>
            <a:ext cx="3017520" cy="713232"/>
          </a:xfrm>
          <a:prstGeom prst="rect">
            <a:avLst/>
          </a:prstGeom>
          <a:noFill/>
          <a:ln/>
        </p:spPr>
        <p:txBody>
          <a:bodyPr wrap="square" lIns="0" tIns="0" rIns="0" bIns="0" rtlCol="0" anchor="ctr"/>
          <a:lstStyle/>
          <a:p>
            <a:pPr indent="0" marL="0">
              <a:buNone/>
            </a:pPr>
            <a:r>
              <a:rPr lang="en-US" sz="1500" b="1" dirty="0">
                <a:solidFill>
                  <a:schemeClr val="tx1"/>
                </a:solidFill>
              </a:rPr>
              <a:t>Statistiques des actions</a:t>
            </a:r>
            <a:endParaRPr lang="en-US" sz="1500" dirty="0"/>
          </a:p>
        </p:txBody>
      </p:sp>
      <p:sp>
        <p:nvSpPr>
          <p:cNvPr id="25" name="fleche-648"/>
          <p:cNvSpPr/>
          <p:nvPr/>
        </p:nvSpPr>
        <p:spPr>
          <a:xfrm flipV="1">
            <a:off x="4526280" y="3611880"/>
            <a:ext cx="731520" cy="941832"/>
          </a:xfrm>
          <a:prstGeom prst="line">
            <a:avLst/>
          </a:prstGeom>
          <a:noFill/>
          <a:ln w="15875">
            <a:solidFill>
              <a:schemeClr val="accent5"/>
            </a:solidFill>
            <a:prstDash val="solid"/>
          </a:ln>
        </p:spPr>
      </p:sp>
      <p:sp>
        <p:nvSpPr>
          <p:cNvPr id="26" name="card-649"/>
          <p:cNvSpPr/>
          <p:nvPr/>
        </p:nvSpPr>
        <p:spPr>
          <a:xfrm>
            <a:off x="548640" y="5093208"/>
            <a:ext cx="3931920" cy="713232"/>
          </a:xfrm>
          <a:prstGeom prst="roundRect">
            <a:avLst>
              <a:gd name="adj" fmla="val 15385"/>
            </a:avLst>
          </a:prstGeom>
          <a:solidFill>
            <a:schemeClr val="bg2"/>
          </a:solidFill>
          <a:ln/>
        </p:spPr>
      </p:sp>
      <p:sp>
        <p:nvSpPr>
          <p:cNvPr id="27" name="pastille-650"/>
          <p:cNvSpPr/>
          <p:nvPr/>
        </p:nvSpPr>
        <p:spPr>
          <a:xfrm>
            <a:off x="713232" y="5202936"/>
            <a:ext cx="493776" cy="493776"/>
          </a:xfrm>
          <a:prstGeom prst="ellipse">
            <a:avLst/>
          </a:prstGeom>
          <a:solidFill>
            <a:schemeClr val="accent1"/>
          </a:solidFill>
          <a:ln/>
        </p:spPr>
      </p:sp>
      <p:pic>
        <p:nvPicPr>
          <p:cNvPr id="28" name="icone-651" descr="preencoded.png">    </p:cNvPr>
          <p:cNvPicPr>
            <a:picLocks noChangeAspect="1"/>
          </p:cNvPicPr>
          <p:nvPr/>
        </p:nvPicPr>
        <p:blipFill>
          <a:blip r:embed="rId6"/>
          <a:stretch>
            <a:fillRect/>
          </a:stretch>
        </p:blipFill>
        <p:spPr>
          <a:xfrm>
            <a:off x="821863" y="5311567"/>
            <a:ext cx="276515" cy="276515"/>
          </a:xfrm>
          <a:prstGeom prst="rect">
            <a:avLst/>
          </a:prstGeom>
        </p:spPr>
      </p:pic>
      <p:sp>
        <p:nvSpPr>
          <p:cNvPr id="29" name="txt-652"/>
          <p:cNvSpPr txBox="1"/>
          <p:nvPr/>
        </p:nvSpPr>
        <p:spPr>
          <a:xfrm>
            <a:off x="1371600" y="5093208"/>
            <a:ext cx="3017520" cy="713232"/>
          </a:xfrm>
          <a:prstGeom prst="rect">
            <a:avLst/>
          </a:prstGeom>
          <a:noFill/>
          <a:ln/>
        </p:spPr>
        <p:txBody>
          <a:bodyPr wrap="square" lIns="0" tIns="0" rIns="0" bIns="0" rtlCol="0" anchor="ctr"/>
          <a:lstStyle/>
          <a:p>
            <a:pPr indent="0" marL="0">
              <a:buNone/>
            </a:pPr>
            <a:r>
              <a:rPr lang="en-US" sz="1500" b="1" dirty="0">
                <a:solidFill>
                  <a:schemeClr val="tx1"/>
                </a:solidFill>
              </a:rPr>
              <a:t>Contexte de l'intervention</a:t>
            </a:r>
            <a:endParaRPr lang="en-US" sz="1500" dirty="0"/>
          </a:p>
        </p:txBody>
      </p:sp>
      <p:sp>
        <p:nvSpPr>
          <p:cNvPr id="30" name="fleche-653"/>
          <p:cNvSpPr/>
          <p:nvPr/>
        </p:nvSpPr>
        <p:spPr>
          <a:xfrm flipV="1">
            <a:off x="4526280" y="3611880"/>
            <a:ext cx="731520" cy="1837944"/>
          </a:xfrm>
          <a:prstGeom prst="line">
            <a:avLst/>
          </a:prstGeom>
          <a:noFill/>
          <a:ln w="15875">
            <a:solidFill>
              <a:schemeClr val="accent5"/>
            </a:solidFill>
            <a:prstDash val="solid"/>
          </a:ln>
        </p:spPr>
      </p:sp>
      <p:sp>
        <p:nvSpPr>
          <p:cNvPr id="31" name="pastille-654"/>
          <p:cNvSpPr/>
          <p:nvPr/>
        </p:nvSpPr>
        <p:spPr>
          <a:xfrm>
            <a:off x="5257800" y="2926080"/>
            <a:ext cx="1371600" cy="1371600"/>
          </a:xfrm>
          <a:prstGeom prst="ellipse">
            <a:avLst/>
          </a:prstGeom>
          <a:solidFill>
            <a:schemeClr val="accent2"/>
          </a:solidFill>
          <a:ln/>
        </p:spPr>
      </p:sp>
      <p:pic>
        <p:nvPicPr>
          <p:cNvPr id="32" name="icone-655" descr="preencoded.png">    </p:cNvPr>
          <p:cNvPicPr>
            <a:picLocks noChangeAspect="1"/>
          </p:cNvPicPr>
          <p:nvPr/>
        </p:nvPicPr>
        <p:blipFill>
          <a:blip r:embed="rId7"/>
          <a:stretch>
            <a:fillRect/>
          </a:stretch>
        </p:blipFill>
        <p:spPr>
          <a:xfrm>
            <a:off x="5559552" y="3227832"/>
            <a:ext cx="768096" cy="768096"/>
          </a:xfrm>
          <a:prstGeom prst="rect">
            <a:avLst/>
          </a:prstGeom>
        </p:spPr>
      </p:pic>
      <p:sp>
        <p:nvSpPr>
          <p:cNvPr id="33" name="txt-656"/>
          <p:cNvSpPr txBox="1"/>
          <p:nvPr/>
        </p:nvSpPr>
        <p:spPr>
          <a:xfrm>
            <a:off x="4937760" y="4389120"/>
            <a:ext cx="2011680" cy="365760"/>
          </a:xfrm>
          <a:prstGeom prst="rect">
            <a:avLst/>
          </a:prstGeom>
          <a:noFill/>
          <a:ln/>
        </p:spPr>
        <p:txBody>
          <a:bodyPr wrap="square" lIns="0" tIns="0" rIns="0" bIns="0" rtlCol="0" anchor="t"/>
          <a:lstStyle/>
          <a:p>
            <a:pPr algn="ctr" indent="0" marL="0">
              <a:buNone/>
            </a:pPr>
            <a:r>
              <a:rPr lang="en-US" sz="1600" b="1" dirty="0">
                <a:solidFill>
                  <a:schemeClr val="tx1"/>
                </a:solidFill>
              </a:rPr>
              <a:t>Classement</a:t>
            </a:r>
            <a:endParaRPr lang="en-US" sz="1600" dirty="0"/>
          </a:p>
        </p:txBody>
      </p:sp>
      <p:sp>
        <p:nvSpPr>
          <p:cNvPr id="34" name="fleche-657"/>
          <p:cNvSpPr/>
          <p:nvPr/>
        </p:nvSpPr>
        <p:spPr>
          <a:xfrm>
            <a:off x="6675120" y="3611880"/>
            <a:ext cx="640080" cy="914"/>
          </a:xfrm>
          <a:prstGeom prst="line">
            <a:avLst/>
          </a:prstGeom>
          <a:noFill/>
          <a:ln w="22225">
            <a:solidFill>
              <a:schemeClr val="accent5"/>
            </a:solidFill>
            <a:prstDash val="solid"/>
            <a:tailEnd type="triangle"/>
          </a:ln>
        </p:spPr>
      </p:sp>
      <p:sp>
        <p:nvSpPr>
          <p:cNvPr id="35" name="card-658"/>
          <p:cNvSpPr/>
          <p:nvPr/>
        </p:nvSpPr>
        <p:spPr>
          <a:xfrm>
            <a:off x="7360920" y="1508760"/>
            <a:ext cx="4279392" cy="4297680"/>
          </a:xfrm>
          <a:prstGeom prst="roundRect">
            <a:avLst>
              <a:gd name="adj" fmla="val 2564"/>
            </a:avLst>
          </a:prstGeom>
          <a:solidFill>
            <a:schemeClr val="bg2"/>
          </a:solidFill>
          <a:ln/>
        </p:spPr>
      </p:sp>
      <p:sp>
        <p:nvSpPr>
          <p:cNvPr id="36" name="txt-659"/>
          <p:cNvSpPr txBox="1"/>
          <p:nvPr/>
        </p:nvSpPr>
        <p:spPr>
          <a:xfrm>
            <a:off x="7635240" y="1691640"/>
            <a:ext cx="3657600" cy="365760"/>
          </a:xfrm>
          <a:prstGeom prst="rect">
            <a:avLst/>
          </a:prstGeom>
          <a:noFill/>
          <a:ln/>
        </p:spPr>
        <p:txBody>
          <a:bodyPr wrap="square" lIns="0" tIns="0" rIns="0" bIns="0" rtlCol="0" anchor="t"/>
          <a:lstStyle/>
          <a:p>
            <a:pPr indent="0" marL="0">
              <a:buNone/>
            </a:pPr>
            <a:r>
              <a:rPr lang="en-US" sz="1700" b="1" dirty="0">
                <a:solidFill>
                  <a:schemeClr val="tx1"/>
                </a:solidFill>
              </a:rPr>
              <a:t>Solutions classées</a:t>
            </a:r>
            <a:endParaRPr lang="en-US" sz="1700" dirty="0"/>
          </a:p>
        </p:txBody>
      </p:sp>
      <p:sp>
        <p:nvSpPr>
          <p:cNvPr id="37" name="Text 28"/>
          <p:cNvSpPr txBox="1"/>
          <p:nvPr/>
        </p:nvSpPr>
        <p:spPr>
          <a:xfrm>
            <a:off x="7635240" y="23317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38" name="Shape 29"/>
          <p:cNvSpPr/>
          <p:nvPr/>
        </p:nvSpPr>
        <p:spPr>
          <a:xfrm>
            <a:off x="8275320" y="2423160"/>
            <a:ext cx="3291840" cy="320040"/>
          </a:xfrm>
          <a:prstGeom prst="roundRect">
            <a:avLst>
              <a:gd name="adj" fmla="val 22857"/>
            </a:avLst>
          </a:prstGeom>
          <a:solidFill>
            <a:schemeClr val="accent1">
              <a:alpha val="80000"/>
            </a:schemeClr>
          </a:solidFill>
          <a:ln/>
        </p:spPr>
      </p:sp>
      <p:sp>
        <p:nvSpPr>
          <p:cNvPr id="39" name="Text 30"/>
          <p:cNvSpPr txBox="1"/>
          <p:nvPr/>
        </p:nvSpPr>
        <p:spPr>
          <a:xfrm>
            <a:off x="7635240" y="3291840"/>
            <a:ext cx="502920" cy="502920"/>
          </a:xfrm>
          <a:prstGeom prst="ellipse">
            <a:avLst/>
          </a:prstGeom>
          <a:solidFill>
            <a:schemeClr val="accent5"/>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40" name="Shape 31"/>
          <p:cNvSpPr/>
          <p:nvPr/>
        </p:nvSpPr>
        <p:spPr>
          <a:xfrm>
            <a:off x="8275320" y="3383280"/>
            <a:ext cx="2560320" cy="320040"/>
          </a:xfrm>
          <a:prstGeom prst="roundRect">
            <a:avLst>
              <a:gd name="adj" fmla="val 22857"/>
            </a:avLst>
          </a:prstGeom>
          <a:solidFill>
            <a:schemeClr val="accent1">
              <a:alpha val="55000"/>
            </a:schemeClr>
          </a:solidFill>
          <a:ln/>
        </p:spPr>
      </p:sp>
      <p:sp>
        <p:nvSpPr>
          <p:cNvPr id="41" name="Text 32"/>
          <p:cNvSpPr txBox="1"/>
          <p:nvPr/>
        </p:nvSpPr>
        <p:spPr>
          <a:xfrm>
            <a:off x="7635240" y="4251960"/>
            <a:ext cx="502920" cy="502920"/>
          </a:xfrm>
          <a:prstGeom prst="ellipse">
            <a:avLst/>
          </a:prstGeom>
          <a:solidFill>
            <a:schemeClr val="accent5"/>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42" name="Shape 33"/>
          <p:cNvSpPr/>
          <p:nvPr/>
        </p:nvSpPr>
        <p:spPr>
          <a:xfrm>
            <a:off x="8275320" y="4343400"/>
            <a:ext cx="1828800" cy="320040"/>
          </a:xfrm>
          <a:prstGeom prst="roundRect">
            <a:avLst>
              <a:gd name="adj" fmla="val 22857"/>
            </a:avLst>
          </a:prstGeom>
          <a:solidFill>
            <a:schemeClr val="accent1">
              <a:alpha val="30000"/>
            </a:schemeClr>
          </a:solidFill>
          <a:ln/>
        </p:spPr>
      </p:sp>
      <p:sp>
        <p:nvSpPr>
          <p:cNvPr id="43" name="txt-660"/>
          <p:cNvSpPr txBox="1"/>
          <p:nvPr/>
        </p:nvSpPr>
        <p:spPr>
          <a:xfrm>
            <a:off x="7635240" y="5166360"/>
            <a:ext cx="3840480" cy="502920"/>
          </a:xfrm>
          <a:prstGeom prst="rect">
            <a:avLst/>
          </a:prstGeom>
          <a:noFill/>
          <a:ln/>
        </p:spPr>
        <p:txBody>
          <a:bodyPr wrap="square" lIns="0" tIns="0" rIns="0" bIns="0" rtlCol="0" anchor="t"/>
          <a:lstStyle/>
          <a:p>
            <a:pPr indent="0" marL="0">
              <a:buNone/>
            </a:pPr>
            <a:r>
              <a:rPr lang="en-US" sz="1100" i="1" dirty="0">
                <a:solidFill>
                  <a:schemeClr val="accent5"/>
                </a:solidFill>
              </a:rPr>
              <a:t>Représentation illustrative : la longueur figure la pertinence relative.</a:t>
            </a:r>
            <a:endParaRPr lang="en-US" sz="1100" dirty="0"/>
          </a:p>
        </p:txBody>
      </p:sp>
      <p:sp>
        <p:nvSpPr>
          <p:cNvPr id="44" name="txt-661"/>
          <p:cNvSpPr txBox="1"/>
          <p:nvPr/>
        </p:nvSpPr>
        <p:spPr>
          <a:xfrm>
            <a:off x="548640" y="5989320"/>
            <a:ext cx="11064240" cy="320040"/>
          </a:xfrm>
          <a:prstGeom prst="rect">
            <a:avLst/>
          </a:prstGeom>
          <a:noFill/>
          <a:ln/>
        </p:spPr>
        <p:txBody>
          <a:bodyPr wrap="square" lIns="0" tIns="0" rIns="0" bIns="0" rtlCol="0" anchor="t"/>
          <a:lstStyle/>
          <a:p>
            <a:pPr indent="0" marL="0">
              <a:buNone/>
            </a:pPr>
            <a:r>
              <a:rPr lang="en-US" sz="1300" dirty="0">
                <a:solidFill>
                  <a:schemeClr val="tx2"/>
                </a:solidFill>
              </a:rPr>
              <a:t>Les taux de réussite sont calculés par couple symptôme / action et par type d'équipement (GAB ou TPE).</a:t>
            </a:r>
            <a:endParaRPr lang="en-US" sz="13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xt-662"/>
          <p:cNvSpPr txBox="1"/>
          <p:nvPr/>
        </p:nvSpPr>
        <p:spPr>
          <a:xfrm>
            <a:off x="731520" y="1097280"/>
            <a:ext cx="3657600" cy="320040"/>
          </a:xfrm>
          <a:prstGeom prst="rect">
            <a:avLst/>
          </a:prstGeom>
          <a:noFill/>
          <a:ln/>
        </p:spPr>
        <p:txBody>
          <a:bodyPr wrap="square" lIns="0" tIns="0" rIns="0" bIns="0" rtlCol="0" anchor="t"/>
          <a:lstStyle/>
          <a:p>
            <a:pPr indent="0" marL="0">
              <a:buNone/>
            </a:pPr>
            <a:r>
              <a:rPr lang="en-US" sz="1400" b="1" spc="200" kern="0" dirty="0">
                <a:solidFill>
                  <a:schemeClr val="accent2"/>
                </a:solidFill>
              </a:rPr>
              <a:t>PARTIE</a:t>
            </a:r>
            <a:endParaRPr lang="en-US" sz="1400" dirty="0"/>
          </a:p>
        </p:txBody>
      </p:sp>
      <p:sp>
        <p:nvSpPr>
          <p:cNvPr id="3" name="txt-663"/>
          <p:cNvSpPr txBox="1"/>
          <p:nvPr/>
        </p:nvSpPr>
        <p:spPr>
          <a:xfrm>
            <a:off x="731520" y="1417320"/>
            <a:ext cx="3657600" cy="1280160"/>
          </a:xfrm>
          <a:prstGeom prst="rect">
            <a:avLst/>
          </a:prstGeom>
          <a:noFill/>
          <a:ln/>
        </p:spPr>
        <p:txBody>
          <a:bodyPr wrap="square" lIns="0" tIns="0" rIns="0" bIns="0" rtlCol="0" anchor="t"/>
          <a:lstStyle/>
          <a:p>
            <a:pPr indent="0" marL="0">
              <a:buNone/>
            </a:pPr>
            <a:r>
              <a:rPr lang="en-US" sz="8800" b="1" dirty="0">
                <a:solidFill>
                  <a:schemeClr val="accent1"/>
                </a:solidFill>
                <a:latin typeface="Arial" pitchFamily="34" charset="0"/>
                <a:ea typeface="Arial" pitchFamily="34" charset="-122"/>
                <a:cs typeface="Arial" pitchFamily="34" charset="-120"/>
              </a:rPr>
              <a:t>VI</a:t>
            </a:r>
            <a:endParaRPr lang="en-US" sz="8800" dirty="0"/>
          </a:p>
        </p:txBody>
      </p:sp>
      <p:sp>
        <p:nvSpPr>
          <p:cNvPr id="4" name="txt-664"/>
          <p:cNvSpPr txBox="1"/>
          <p:nvPr/>
        </p:nvSpPr>
        <p:spPr>
          <a:xfrm>
            <a:off x="731520" y="2697480"/>
            <a:ext cx="5486400" cy="1097280"/>
          </a:xfrm>
          <a:prstGeom prst="rect">
            <a:avLst/>
          </a:prstGeom>
          <a:noFill/>
          <a:ln/>
        </p:spPr>
        <p:txBody>
          <a:bodyPr wrap="square" lIns="0" tIns="0" rIns="0" bIns="0" rtlCol="0" anchor="t"/>
          <a:lstStyle/>
          <a:p>
            <a:pPr indent="0" marL="0">
              <a:buNone/>
            </a:pPr>
            <a:r>
              <a:rPr lang="en-US" sz="3000" b="1" dirty="0">
                <a:solidFill>
                  <a:schemeClr val="bg1"/>
                </a:solidFill>
                <a:latin typeface="Arial" pitchFamily="34" charset="0"/>
                <a:ea typeface="Arial" pitchFamily="34" charset="-122"/>
                <a:cs typeface="Arial" pitchFamily="34" charset="-120"/>
              </a:rPr>
              <a:t>Le trajet des données, cas par cas</a:t>
            </a:r>
            <a:endParaRPr lang="en-US" sz="3000" dirty="0"/>
          </a:p>
        </p:txBody>
      </p:sp>
      <p:sp>
        <p:nvSpPr>
          <p:cNvPr id="5" name="txt-665"/>
          <p:cNvSpPr txBox="1"/>
          <p:nvPr/>
        </p:nvSpPr>
        <p:spPr>
          <a:xfrm>
            <a:off x="731520" y="3931920"/>
            <a:ext cx="5303520" cy="1188720"/>
          </a:xfrm>
          <a:prstGeom prst="rect">
            <a:avLst/>
          </a:prstGeom>
          <a:noFill/>
          <a:ln/>
        </p:spPr>
        <p:txBody>
          <a:bodyPr wrap="square" lIns="0" tIns="0" rIns="0" bIns="0" rtlCol="0" anchor="t"/>
          <a:lstStyle/>
          <a:p>
            <a:pPr indent="0" marL="0">
              <a:buNone/>
            </a:pPr>
            <a:r>
              <a:rPr lang="en-US" sz="1600" dirty="0">
                <a:solidFill>
                  <a:srgbClr val="C9D3D9"/>
                </a:solidFill>
              </a:rPr>
              <a:t>Suivre, étape par étape, qui appelle qui dans chacun des cinq cas d'usage.</a:t>
            </a:r>
            <a:endParaRPr lang="en-US" sz="1600" dirty="0"/>
          </a:p>
        </p:txBody>
      </p:sp>
      <p:sp>
        <p:nvSpPr>
          <p:cNvPr id="6" name="txt-666"/>
          <p:cNvSpPr txBox="1"/>
          <p:nvPr/>
        </p:nvSpPr>
        <p:spPr>
          <a:xfrm>
            <a:off x="6766560" y="1463040"/>
            <a:ext cx="4846320" cy="365760"/>
          </a:xfrm>
          <a:prstGeom prst="rect">
            <a:avLst/>
          </a:prstGeom>
          <a:noFill/>
          <a:ln/>
        </p:spPr>
        <p:txBody>
          <a:bodyPr wrap="square" lIns="0" tIns="0" rIns="0" bIns="0" rtlCol="0" anchor="t"/>
          <a:lstStyle/>
          <a:p>
            <a:pPr indent="0" marL="0">
              <a:buNone/>
            </a:pPr>
            <a:r>
              <a:rPr lang="en-US" sz="1400" b="1" dirty="0">
                <a:solidFill>
                  <a:schemeClr val="accent2"/>
                </a:solidFill>
              </a:rPr>
              <a:t>Dans cette partie</a:t>
            </a:r>
            <a:endParaRPr lang="en-US" sz="1400" dirty="0"/>
          </a:p>
        </p:txBody>
      </p:sp>
      <p:sp>
        <p:nvSpPr>
          <p:cNvPr id="7" name="Shape 5"/>
          <p:cNvSpPr/>
          <p:nvPr/>
        </p:nvSpPr>
        <p:spPr>
          <a:xfrm>
            <a:off x="6766560" y="1965960"/>
            <a:ext cx="4873752" cy="530352"/>
          </a:xfrm>
          <a:prstGeom prst="roundRect">
            <a:avLst>
              <a:gd name="adj" fmla="val 17241"/>
            </a:avLst>
          </a:prstGeom>
          <a:solidFill>
            <a:srgbClr val="FFFFFF">
              <a:alpha val="8000"/>
            </a:srgbClr>
          </a:solidFill>
          <a:ln/>
        </p:spPr>
      </p:sp>
      <p:sp>
        <p:nvSpPr>
          <p:cNvPr id="8" name="txt-667"/>
          <p:cNvSpPr txBox="1"/>
          <p:nvPr/>
        </p:nvSpPr>
        <p:spPr>
          <a:xfrm>
            <a:off x="6949440" y="1965960"/>
            <a:ext cx="4572000" cy="530352"/>
          </a:xfrm>
          <a:prstGeom prst="rect">
            <a:avLst/>
          </a:prstGeom>
          <a:noFill/>
          <a:ln/>
        </p:spPr>
        <p:txBody>
          <a:bodyPr wrap="square" lIns="0" tIns="0" rIns="0" bIns="0" rtlCol="0" anchor="ctr"/>
          <a:lstStyle/>
          <a:p>
            <a:pPr indent="0" marL="0">
              <a:buNone/>
            </a:pPr>
            <a:r>
              <a:rPr lang="en-US" sz="1500" dirty="0">
                <a:solidFill>
                  <a:schemeClr val="bg1"/>
                </a:solidFill>
              </a:rPr>
              <a:t>a) Cas 1 · Code d'erreur fréquent</a:t>
            </a:r>
            <a:endParaRPr lang="en-US" sz="1500" dirty="0"/>
          </a:p>
        </p:txBody>
      </p:sp>
      <p:sp>
        <p:nvSpPr>
          <p:cNvPr id="9" name="Shape 7"/>
          <p:cNvSpPr/>
          <p:nvPr/>
        </p:nvSpPr>
        <p:spPr>
          <a:xfrm>
            <a:off x="6766560" y="2606040"/>
            <a:ext cx="4873752" cy="530352"/>
          </a:xfrm>
          <a:prstGeom prst="roundRect">
            <a:avLst>
              <a:gd name="adj" fmla="val 17241"/>
            </a:avLst>
          </a:prstGeom>
          <a:solidFill>
            <a:srgbClr val="FFFFFF">
              <a:alpha val="8000"/>
            </a:srgbClr>
          </a:solidFill>
          <a:ln/>
        </p:spPr>
      </p:sp>
      <p:sp>
        <p:nvSpPr>
          <p:cNvPr id="10" name="txt-668"/>
          <p:cNvSpPr txBox="1"/>
          <p:nvPr/>
        </p:nvSpPr>
        <p:spPr>
          <a:xfrm>
            <a:off x="6949440" y="2606040"/>
            <a:ext cx="4572000" cy="530352"/>
          </a:xfrm>
          <a:prstGeom prst="rect">
            <a:avLst/>
          </a:prstGeom>
          <a:noFill/>
          <a:ln/>
        </p:spPr>
        <p:txBody>
          <a:bodyPr wrap="square" lIns="0" tIns="0" rIns="0" bIns="0" rtlCol="0" anchor="ctr"/>
          <a:lstStyle/>
          <a:p>
            <a:pPr indent="0" marL="0">
              <a:buNone/>
            </a:pPr>
            <a:r>
              <a:rPr lang="en-US" sz="1500" dirty="0">
                <a:solidFill>
                  <a:schemeClr val="bg1"/>
                </a:solidFill>
              </a:rPr>
              <a:t>b) Cas 2 · Message simple</a:t>
            </a:r>
            <a:endParaRPr lang="en-US" sz="1500" dirty="0"/>
          </a:p>
        </p:txBody>
      </p:sp>
      <p:sp>
        <p:nvSpPr>
          <p:cNvPr id="11" name="Shape 9"/>
          <p:cNvSpPr/>
          <p:nvPr/>
        </p:nvSpPr>
        <p:spPr>
          <a:xfrm>
            <a:off x="6766560" y="3246120"/>
            <a:ext cx="4873752" cy="530352"/>
          </a:xfrm>
          <a:prstGeom prst="roundRect">
            <a:avLst>
              <a:gd name="adj" fmla="val 17241"/>
            </a:avLst>
          </a:prstGeom>
          <a:solidFill>
            <a:srgbClr val="FFFFFF">
              <a:alpha val="8000"/>
            </a:srgbClr>
          </a:solidFill>
          <a:ln/>
        </p:spPr>
      </p:sp>
      <p:sp>
        <p:nvSpPr>
          <p:cNvPr id="12" name="txt-669"/>
          <p:cNvSpPr txBox="1"/>
          <p:nvPr/>
        </p:nvSpPr>
        <p:spPr>
          <a:xfrm>
            <a:off x="6949440" y="3246120"/>
            <a:ext cx="4572000" cy="530352"/>
          </a:xfrm>
          <a:prstGeom prst="rect">
            <a:avLst/>
          </a:prstGeom>
          <a:noFill/>
          <a:ln/>
        </p:spPr>
        <p:txBody>
          <a:bodyPr wrap="square" lIns="0" tIns="0" rIns="0" bIns="0" rtlCol="0" anchor="ctr"/>
          <a:lstStyle/>
          <a:p>
            <a:pPr indent="0" marL="0">
              <a:buNone/>
            </a:pPr>
            <a:r>
              <a:rPr lang="en-US" sz="1500" dirty="0">
                <a:solidFill>
                  <a:schemeClr val="bg1"/>
                </a:solidFill>
              </a:rPr>
              <a:t>c) Cas 3 · Demande d'aide sur une panne</a:t>
            </a:r>
            <a:endParaRPr lang="en-US" sz="1500" dirty="0"/>
          </a:p>
        </p:txBody>
      </p:sp>
      <p:sp>
        <p:nvSpPr>
          <p:cNvPr id="13" name="Shape 11"/>
          <p:cNvSpPr/>
          <p:nvPr/>
        </p:nvSpPr>
        <p:spPr>
          <a:xfrm>
            <a:off x="6766560" y="3886200"/>
            <a:ext cx="4873752" cy="530352"/>
          </a:xfrm>
          <a:prstGeom prst="roundRect">
            <a:avLst>
              <a:gd name="adj" fmla="val 17241"/>
            </a:avLst>
          </a:prstGeom>
          <a:solidFill>
            <a:srgbClr val="FFFFFF">
              <a:alpha val="8000"/>
            </a:srgbClr>
          </a:solidFill>
          <a:ln/>
        </p:spPr>
      </p:sp>
      <p:sp>
        <p:nvSpPr>
          <p:cNvPr id="14" name="txt-670"/>
          <p:cNvSpPr txBox="1"/>
          <p:nvPr/>
        </p:nvSpPr>
        <p:spPr>
          <a:xfrm>
            <a:off x="6949440" y="3886200"/>
            <a:ext cx="4572000" cy="530352"/>
          </a:xfrm>
          <a:prstGeom prst="rect">
            <a:avLst/>
          </a:prstGeom>
          <a:noFill/>
          <a:ln/>
        </p:spPr>
        <p:txBody>
          <a:bodyPr wrap="square" lIns="0" tIns="0" rIns="0" bIns="0" rtlCol="0" anchor="ctr"/>
          <a:lstStyle/>
          <a:p>
            <a:pPr indent="0" marL="0">
              <a:buNone/>
            </a:pPr>
            <a:r>
              <a:rPr lang="en-US" sz="1500" dirty="0">
                <a:solidFill>
                  <a:schemeClr val="bg1"/>
                </a:solidFill>
              </a:rPr>
              <a:t>d) Cas 4 · Suivi d'une solution</a:t>
            </a:r>
            <a:endParaRPr lang="en-US" sz="1500" dirty="0"/>
          </a:p>
        </p:txBody>
      </p:sp>
      <p:sp>
        <p:nvSpPr>
          <p:cNvPr id="15" name="Shape 13"/>
          <p:cNvSpPr/>
          <p:nvPr/>
        </p:nvSpPr>
        <p:spPr>
          <a:xfrm>
            <a:off x="6766560" y="4526280"/>
            <a:ext cx="4873752" cy="530352"/>
          </a:xfrm>
          <a:prstGeom prst="roundRect">
            <a:avLst>
              <a:gd name="adj" fmla="val 17241"/>
            </a:avLst>
          </a:prstGeom>
          <a:solidFill>
            <a:srgbClr val="FFFFFF">
              <a:alpha val="8000"/>
            </a:srgbClr>
          </a:solidFill>
          <a:ln/>
        </p:spPr>
      </p:sp>
      <p:sp>
        <p:nvSpPr>
          <p:cNvPr id="16" name="txt-671"/>
          <p:cNvSpPr txBox="1"/>
          <p:nvPr/>
        </p:nvSpPr>
        <p:spPr>
          <a:xfrm>
            <a:off x="6949440" y="4526280"/>
            <a:ext cx="4572000" cy="530352"/>
          </a:xfrm>
          <a:prstGeom prst="rect">
            <a:avLst/>
          </a:prstGeom>
          <a:noFill/>
          <a:ln/>
        </p:spPr>
        <p:txBody>
          <a:bodyPr wrap="square" lIns="0" tIns="0" rIns="0" bIns="0" rtlCol="0" anchor="ctr"/>
          <a:lstStyle/>
          <a:p>
            <a:pPr indent="0" marL="0">
              <a:buNone/>
            </a:pPr>
            <a:r>
              <a:rPr lang="en-US" sz="1500" dirty="0">
                <a:solidFill>
                  <a:schemeClr val="bg1"/>
                </a:solidFill>
              </a:rPr>
              <a:t>e) Cas 5 · Validation d'une solution</a:t>
            </a:r>
            <a:endParaRPr lang="en-US" sz="15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partie"/>
          <p:cNvSpPr txBox="1"/>
          <p:nvPr/>
        </p:nvSpPr>
        <p:spPr>
          <a:xfrm>
            <a:off x="548640" y="182880"/>
            <a:ext cx="8229600" cy="256032"/>
          </a:xfrm>
          <a:prstGeom prst="rect">
            <a:avLst/>
          </a:prstGeom>
          <a:noFill/>
          <a:ln/>
        </p:spPr>
        <p:txBody>
          <a:bodyPr wrap="square" lIns="0" tIns="0" rIns="0" bIns="0" rtlCol="0" anchor="ctr"/>
          <a:lstStyle/>
          <a:p>
            <a:pPr indent="0" marL="0">
              <a:buNone/>
            </a:pPr>
            <a:r>
              <a:rPr lang="en-US" sz="1100" b="1" spc="150" kern="0" dirty="0">
                <a:solidFill>
                  <a:schemeClr val="accent1"/>
                </a:solidFill>
              </a:rPr>
              <a:t>VI. LE TRAJET DES DONNÉES, CAS PAR CAS</a:t>
            </a:r>
            <a:endParaRPr lang="en-US" sz="1100" dirty="0"/>
          </a:p>
        </p:txBody>
      </p:sp>
      <p:sp>
        <p:nvSpPr>
          <p:cNvPr id="3" name="Text 0"/>
          <p:cNvSpPr/>
          <p:nvPr>
            <p:ph idx="100" type="title" hasCustomPrompt="1"/>
          </p:nvPr>
        </p:nvSpPr>
        <p:spPr>
          <a:xfrm>
            <a:off x="548640" y="438912"/>
            <a:ext cx="11091672" cy="54864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a) Cas 1 · Code d'erreur fréquent</a:t>
            </a:r>
            <a:endParaRPr lang="en-US" sz="2800" dirty="0"/>
          </a:p>
        </p:txBody>
      </p:sp>
      <p:pic>
        <p:nvPicPr>
          <p:cNvPr id="4" name="icone-objectif" descr="preencoded.png">    </p:cNvPr>
          <p:cNvPicPr>
            <a:picLocks noChangeAspect="1"/>
          </p:cNvPicPr>
          <p:nvPr/>
        </p:nvPicPr>
        <p:blipFill>
          <a:blip r:embed="rId1"/>
          <a:stretch>
            <a:fillRect/>
          </a:stretch>
        </p:blipFill>
        <p:spPr>
          <a:xfrm>
            <a:off x="548640" y="1033272"/>
            <a:ext cx="237744" cy="237744"/>
          </a:xfrm>
          <a:prstGeom prst="rect">
            <a:avLst/>
          </a:prstGeom>
        </p:spPr>
      </p:pic>
      <p:sp>
        <p:nvSpPr>
          <p:cNvPr id="5" name="objectif"/>
          <p:cNvSpPr txBox="1"/>
          <p:nvPr/>
        </p:nvSpPr>
        <p:spPr>
          <a:xfrm>
            <a:off x="868680" y="987552"/>
            <a:ext cx="10771632" cy="329184"/>
          </a:xfrm>
          <a:prstGeom prst="rect">
            <a:avLst/>
          </a:prstGeom>
          <a:noFill/>
          <a:ln/>
        </p:spPr>
        <p:txBody>
          <a:bodyPr wrap="square" lIns="0" tIns="0" rIns="0" bIns="0" rtlCol="0" anchor="ctr"/>
          <a:lstStyle/>
          <a:p>
            <a:pPr indent="0" marL="0">
              <a:buNone/>
            </a:pPr>
            <a:r>
              <a:rPr lang="en-US" sz="1400" b="1" i="1" dirty="0">
                <a:solidFill>
                  <a:schemeClr val="tx2"/>
                </a:solidFill>
              </a:rPr>
              <a:t>Objectif : </a:t>
            </a:r>
            <a:pPr indent="0" marL="0">
              <a:buNone/>
            </a:pPr>
            <a:r>
              <a:rPr lang="en-US" sz="1400" i="1" dirty="0">
                <a:solidFill>
                  <a:schemeClr val="tx2"/>
                </a:solidFill>
              </a:rPr>
              <a:t>Voir que ce cas est traité entièrement côté frontend, sans le backend.</a:t>
            </a:r>
            <a:endParaRPr lang="en-US" sz="14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34</a:t>
            </a:fld>
            <a:endParaRPr lang="en-US"/>
          </a:p>
        </p:txBody>
      </p:sp>
      <p:pic>
        <p:nvPicPr>
          <p:cNvPr id="26" name="diagramme-sequence" descr="flow1.png"/>
          <p:cNvPicPr>
            <a:picLocks noChangeAspect="1"/>
          </p:cNvPicPr>
          <p:nvPr/>
        </p:nvPicPr>
        <p:blipFill>
          <a:blip r:embed="rId10"/>
          <a:stretch>
            <a:fillRect/>
          </a:stretch>
        </p:blipFill>
        <p:spPr>
          <a:xfrm>
            <a:off x="548640" y="1417320"/>
            <a:ext cx="5006528" cy="4846320"/>
          </a:xfrm>
          <a:prstGeom prst="rect">
            <a:avLst/>
          </a:prstGeom>
        </p:spPr>
      </p:pic>
      <p:sp>
        <p:nvSpPr>
          <p:cNvPr id="27" name="encadre-lecture"/>
          <p:cNvSpPr/>
          <p:nvPr/>
        </p:nvSpPr>
        <p:spPr>
          <a:xfrm>
            <a:off x="5875208" y="1417320"/>
            <a:ext cx="5765103" cy="4846320"/>
          </a:xfrm>
          <a:prstGeom prst="roundRect">
            <a:avLst>
              <a:gd name="adj" fmla="val 4000"/>
            </a:avLst>
          </a:prstGeom>
          <a:solidFill>
            <a:srgbClr val="EEF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a-retenir"/>
          <p:cNvSpPr txBox="1"/>
          <p:nvPr/>
        </p:nvSpPr>
        <p:spPr>
          <a:xfrm>
            <a:off x="6103808" y="1600200"/>
            <a:ext cx="5307903" cy="4480560"/>
          </a:xfrm>
          <a:prstGeom prst="rect">
            <a:avLst/>
          </a:prstGeom>
          <a:noFill/>
        </p:spPr>
        <p:txBody>
          <a:bodyPr wrap="square" lIns="0" rIns="0" tIns="0" bIns="0">
            <a:spAutoFit/>
          </a:bodyPr>
          <a:lstStyle/>
          <a:p>
            <a:pPr>
              <a:spcAft>
                <a:spcPts val="1200"/>
              </a:spcAft>
            </a:pPr>
            <a:r>
              <a:rPr sz="1800" b="1">
                <a:solidFill>
                  <a:srgbClr val="1B2630"/>
                </a:solidFill>
              </a:rPr>
              <a:t>À retenir</a:t>
            </a:r>
          </a:p>
          <a:p>
            <a:pPr marL="201168" indent="-201168">
              <a:spcAft>
                <a:spcPts val="1000"/>
              </a:spcAft>
              <a:buChar char="•"/>
            </a:pPr>
            <a:r>
              <a:rPr sz="1400">
                <a:solidFill>
                  <a:srgbClr val="2E4A5C"/>
                </a:solidFill>
              </a:rPr>
              <a:t>Tout se passe dans le frontend : interface et serveur frontend.</a:t>
            </a:r>
          </a:p>
          <a:p>
            <a:pPr marL="201168" indent="-201168">
              <a:spcAft>
                <a:spcPts val="1000"/>
              </a:spcAft>
              <a:buChar char="•"/>
            </a:pPr>
            <a:r>
              <a:rPr sz="1400">
                <a:solidFill>
                  <a:srgbClr val="2E4A5C"/>
                </a:solidFill>
              </a:rPr>
              <a:t>Le serveur frontend renvoie une réponse pré-enregistrée pour le code cliqué.</a:t>
            </a:r>
          </a:p>
          <a:p>
            <a:pPr marL="201168" indent="-201168">
              <a:spcAft>
                <a:spcPts val="1000"/>
              </a:spcAft>
              <a:buChar char="•"/>
            </a:pPr>
            <a:r>
              <a:rPr sz="1400">
                <a:solidFill>
                  <a:srgbClr val="2E4A5C"/>
                </a:solidFill>
              </a:rPr>
              <a:t>Backend, Claude, Voyage AI et base de données ne sont pas sollicités.</a:t>
            </a:r>
          </a:p>
        </p:txBody>
      </p:sp>
      <p:sp>
        <p:nvSpPr>
          <p:cNvPr id="29" name="message-cle"/>
          <p:cNvSpPr/>
          <p:nvPr/>
        </p:nvSpPr>
        <p:spPr>
          <a:xfrm>
            <a:off x="6103808" y="5623560"/>
            <a:ext cx="5307903" cy="457200"/>
          </a:xfrm>
          <a:prstGeom prst="roundRect">
            <a:avLst>
              <a:gd name="adj" fmla="val 30000"/>
            </a:avLst>
          </a:prstGeom>
          <a:solidFill>
            <a:srgbClr val="0E7C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Réponse instantanée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partie"/>
          <p:cNvSpPr txBox="1"/>
          <p:nvPr/>
        </p:nvSpPr>
        <p:spPr>
          <a:xfrm>
            <a:off x="548640" y="182880"/>
            <a:ext cx="8229600" cy="256032"/>
          </a:xfrm>
          <a:prstGeom prst="rect">
            <a:avLst/>
          </a:prstGeom>
          <a:noFill/>
          <a:ln/>
        </p:spPr>
        <p:txBody>
          <a:bodyPr wrap="square" lIns="0" tIns="0" rIns="0" bIns="0" rtlCol="0" anchor="ctr"/>
          <a:lstStyle/>
          <a:p>
            <a:pPr indent="0" marL="0">
              <a:buNone/>
            </a:pPr>
            <a:r>
              <a:rPr lang="en-US" sz="1100" b="1" spc="150" kern="0" dirty="0">
                <a:solidFill>
                  <a:schemeClr val="accent1"/>
                </a:solidFill>
              </a:rPr>
              <a:t>VI. LE TRAJET DES DONNÉES, CAS PAR CAS</a:t>
            </a:r>
            <a:endParaRPr lang="en-US" sz="1100" dirty="0"/>
          </a:p>
        </p:txBody>
      </p:sp>
      <p:sp>
        <p:nvSpPr>
          <p:cNvPr id="3" name="Text 0"/>
          <p:cNvSpPr/>
          <p:nvPr>
            <p:ph idx="100" type="title" hasCustomPrompt="1"/>
          </p:nvPr>
        </p:nvSpPr>
        <p:spPr>
          <a:xfrm>
            <a:off x="548640" y="438912"/>
            <a:ext cx="11091672" cy="54864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b) Cas 2 · Message simple</a:t>
            </a:r>
            <a:endParaRPr lang="en-US" sz="2800" dirty="0"/>
          </a:p>
        </p:txBody>
      </p:sp>
      <p:pic>
        <p:nvPicPr>
          <p:cNvPr id="4" name="icone-objectif" descr="preencoded.png">    </p:cNvPr>
          <p:cNvPicPr>
            <a:picLocks noChangeAspect="1"/>
          </p:cNvPicPr>
          <p:nvPr/>
        </p:nvPicPr>
        <p:blipFill>
          <a:blip r:embed="rId1"/>
          <a:stretch>
            <a:fillRect/>
          </a:stretch>
        </p:blipFill>
        <p:spPr>
          <a:xfrm>
            <a:off x="548640" y="1033272"/>
            <a:ext cx="237744" cy="237744"/>
          </a:xfrm>
          <a:prstGeom prst="rect">
            <a:avLst/>
          </a:prstGeom>
        </p:spPr>
      </p:pic>
      <p:sp>
        <p:nvSpPr>
          <p:cNvPr id="5" name="objectif"/>
          <p:cNvSpPr txBox="1"/>
          <p:nvPr/>
        </p:nvSpPr>
        <p:spPr>
          <a:xfrm>
            <a:off x="868680" y="987552"/>
            <a:ext cx="10771632" cy="329184"/>
          </a:xfrm>
          <a:prstGeom prst="rect">
            <a:avLst/>
          </a:prstGeom>
          <a:noFill/>
          <a:ln/>
        </p:spPr>
        <p:txBody>
          <a:bodyPr wrap="square" lIns="0" tIns="0" rIns="0" bIns="0" rtlCol="0" anchor="ctr"/>
          <a:lstStyle/>
          <a:p>
            <a:pPr indent="0" marL="0">
              <a:buNone/>
            </a:pPr>
            <a:r>
              <a:rPr lang="en-US" sz="1400" b="1" i="1" dirty="0">
                <a:solidFill>
                  <a:schemeClr val="tx2"/>
                </a:solidFill>
              </a:rPr>
              <a:t>Objectif : </a:t>
            </a:r>
            <a:pPr indent="0" marL="0">
              <a:buNone/>
            </a:pPr>
            <a:r>
              <a:rPr lang="en-US" sz="1400" i="1" dirty="0">
                <a:solidFill>
                  <a:schemeClr val="tx2"/>
                </a:solidFill>
              </a:rPr>
              <a:t>Voir le trajet d'un message sans demande technique : salutation, question générale.</a:t>
            </a:r>
            <a:endParaRPr lang="en-US" sz="14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35</a:t>
            </a:fld>
            <a:endParaRPr lang="en-US"/>
          </a:p>
        </p:txBody>
      </p:sp>
      <p:pic>
        <p:nvPicPr>
          <p:cNvPr id="26" name="diagramme-sequence" descr="flow2.png"/>
          <p:cNvPicPr>
            <a:picLocks noChangeAspect="1"/>
          </p:cNvPicPr>
          <p:nvPr/>
        </p:nvPicPr>
        <p:blipFill>
          <a:blip r:embed="rId10"/>
          <a:stretch>
            <a:fillRect/>
          </a:stretch>
        </p:blipFill>
        <p:spPr>
          <a:xfrm>
            <a:off x="548640" y="1417320"/>
            <a:ext cx="6636039" cy="4846320"/>
          </a:xfrm>
          <a:prstGeom prst="rect">
            <a:avLst/>
          </a:prstGeom>
        </p:spPr>
      </p:pic>
      <p:sp>
        <p:nvSpPr>
          <p:cNvPr id="27" name="encadre-lecture"/>
          <p:cNvSpPr/>
          <p:nvPr/>
        </p:nvSpPr>
        <p:spPr>
          <a:xfrm>
            <a:off x="7504719" y="1417320"/>
            <a:ext cx="4135592" cy="4846320"/>
          </a:xfrm>
          <a:prstGeom prst="roundRect">
            <a:avLst>
              <a:gd name="adj" fmla="val 4000"/>
            </a:avLst>
          </a:prstGeom>
          <a:solidFill>
            <a:srgbClr val="EEF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a-retenir"/>
          <p:cNvSpPr txBox="1"/>
          <p:nvPr/>
        </p:nvSpPr>
        <p:spPr>
          <a:xfrm>
            <a:off x="7733319" y="1600200"/>
            <a:ext cx="3678392" cy="4480560"/>
          </a:xfrm>
          <a:prstGeom prst="rect">
            <a:avLst/>
          </a:prstGeom>
          <a:noFill/>
        </p:spPr>
        <p:txBody>
          <a:bodyPr wrap="square" lIns="0" rIns="0" tIns="0" bIns="0">
            <a:spAutoFit/>
          </a:bodyPr>
          <a:lstStyle/>
          <a:p>
            <a:pPr>
              <a:spcAft>
                <a:spcPts val="1200"/>
              </a:spcAft>
            </a:pPr>
            <a:r>
              <a:rPr sz="1800" b="1">
                <a:solidFill>
                  <a:srgbClr val="1B2630"/>
                </a:solidFill>
              </a:rPr>
              <a:t>À retenir</a:t>
            </a:r>
          </a:p>
          <a:p>
            <a:pPr marL="201168" indent="-201168">
              <a:spcAft>
                <a:spcPts val="1000"/>
              </a:spcAft>
              <a:buChar char="•"/>
            </a:pPr>
            <a:r>
              <a:rPr sz="1400">
                <a:solidFill>
                  <a:srgbClr val="2E4A5C"/>
                </a:solidFill>
              </a:rPr>
              <a:t>Le backend charge l'historique, puis envoie le message à Claude (étapes 3 à 5).</a:t>
            </a:r>
          </a:p>
          <a:p>
            <a:pPr marL="201168" indent="-201168">
              <a:spcAft>
                <a:spcPts val="1000"/>
              </a:spcAft>
              <a:buChar char="•"/>
            </a:pPr>
            <a:r>
              <a:rPr sz="1400">
                <a:solidFill>
                  <a:srgbClr val="2E4A5C"/>
                </a:solidFill>
              </a:rPr>
              <a:t>Claude reconnaît un message simple et répond directement (6 et 7).</a:t>
            </a:r>
          </a:p>
          <a:p>
            <a:pPr marL="201168" indent="-201168">
              <a:spcAft>
                <a:spcPts val="1000"/>
              </a:spcAft>
              <a:buChar char="•"/>
            </a:pPr>
            <a:r>
              <a:rPr sz="1400">
                <a:solidFill>
                  <a:srgbClr val="2E4A5C"/>
                </a:solidFill>
              </a:rPr>
              <a:t>Pas d'embedding : Voyage AI n'est pas appelé.</a:t>
            </a:r>
          </a:p>
          <a:p>
            <a:pPr marL="201168" indent="-201168">
              <a:spcAft>
                <a:spcPts val="1000"/>
              </a:spcAft>
              <a:buChar char="•"/>
            </a:pPr>
            <a:r>
              <a:rPr sz="1400">
                <a:solidFill>
                  <a:srgbClr val="2E4A5C"/>
                </a:solidFill>
              </a:rPr>
              <a:t>L'échange est enregistré pour la suite de la conversation (8).</a:t>
            </a:r>
          </a:p>
        </p:txBody>
      </p:sp>
      <p:sp>
        <p:nvSpPr>
          <p:cNvPr id="29" name="message-cle"/>
          <p:cNvSpPr/>
          <p:nvPr/>
        </p:nvSpPr>
        <p:spPr>
          <a:xfrm>
            <a:off x="7733319" y="5623560"/>
            <a:ext cx="3678392" cy="457200"/>
          </a:xfrm>
          <a:prstGeom prst="roundRect">
            <a:avLst>
              <a:gd name="adj" fmla="val 30000"/>
            </a:avLst>
          </a:prstGeom>
          <a:solidFill>
            <a:srgbClr val="0E7C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Pas d'appel à Voyage AI</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partie"/>
          <p:cNvSpPr txBox="1"/>
          <p:nvPr/>
        </p:nvSpPr>
        <p:spPr>
          <a:xfrm>
            <a:off x="548640" y="182880"/>
            <a:ext cx="8229600" cy="256032"/>
          </a:xfrm>
          <a:prstGeom prst="rect">
            <a:avLst/>
          </a:prstGeom>
          <a:noFill/>
          <a:ln/>
        </p:spPr>
        <p:txBody>
          <a:bodyPr wrap="square" lIns="0" tIns="0" rIns="0" bIns="0" rtlCol="0" anchor="ctr"/>
          <a:lstStyle/>
          <a:p>
            <a:pPr indent="0" marL="0">
              <a:buNone/>
            </a:pPr>
            <a:r>
              <a:rPr lang="en-US" sz="1100" b="1" spc="150" kern="0" dirty="0">
                <a:solidFill>
                  <a:schemeClr val="accent1"/>
                </a:solidFill>
              </a:rPr>
              <a:t>VI. LE TRAJET DES DONNÉES, CAS PAR CAS</a:t>
            </a:r>
            <a:endParaRPr lang="en-US" sz="1100" dirty="0"/>
          </a:p>
        </p:txBody>
      </p:sp>
      <p:sp>
        <p:nvSpPr>
          <p:cNvPr id="3" name="Text 0"/>
          <p:cNvSpPr/>
          <p:nvPr>
            <p:ph idx="100" type="title" hasCustomPrompt="1"/>
          </p:nvPr>
        </p:nvSpPr>
        <p:spPr>
          <a:xfrm>
            <a:off x="548640" y="438912"/>
            <a:ext cx="11091672" cy="54864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c) Cas 3 · Demande d'aide sur une panne</a:t>
            </a:r>
            <a:endParaRPr lang="en-US" sz="2800" dirty="0"/>
          </a:p>
        </p:txBody>
      </p:sp>
      <p:pic>
        <p:nvPicPr>
          <p:cNvPr id="4" name="icone-objectif" descr="preencoded.png">    </p:cNvPr>
          <p:cNvPicPr>
            <a:picLocks noChangeAspect="1"/>
          </p:cNvPicPr>
          <p:nvPr/>
        </p:nvPicPr>
        <p:blipFill>
          <a:blip r:embed="rId1"/>
          <a:stretch>
            <a:fillRect/>
          </a:stretch>
        </p:blipFill>
        <p:spPr>
          <a:xfrm>
            <a:off x="548640" y="1033272"/>
            <a:ext cx="237744" cy="237744"/>
          </a:xfrm>
          <a:prstGeom prst="rect">
            <a:avLst/>
          </a:prstGeom>
        </p:spPr>
      </p:pic>
      <p:sp>
        <p:nvSpPr>
          <p:cNvPr id="5" name="objectif"/>
          <p:cNvSpPr txBox="1"/>
          <p:nvPr/>
        </p:nvSpPr>
        <p:spPr>
          <a:xfrm>
            <a:off x="868680" y="987552"/>
            <a:ext cx="10771632" cy="329184"/>
          </a:xfrm>
          <a:prstGeom prst="rect">
            <a:avLst/>
          </a:prstGeom>
          <a:noFill/>
          <a:ln/>
        </p:spPr>
        <p:txBody>
          <a:bodyPr wrap="square" lIns="0" tIns="0" rIns="0" bIns="0" rtlCol="0" anchor="ctr"/>
          <a:lstStyle/>
          <a:p>
            <a:pPr indent="0" marL="0">
              <a:buNone/>
            </a:pPr>
            <a:r>
              <a:rPr lang="en-US" sz="1400" b="1" i="1" dirty="0">
                <a:solidFill>
                  <a:schemeClr val="tx2"/>
                </a:solidFill>
              </a:rPr>
              <a:t>Objectif : </a:t>
            </a:r>
            <a:pPr indent="0" marL="0">
              <a:buNone/>
            </a:pPr>
            <a:r>
              <a:rPr lang="en-US" sz="1400" i="1" dirty="0">
                <a:solidFill>
                  <a:schemeClr val="tx2"/>
                </a:solidFill>
              </a:rPr>
              <a:t>Voir le trajet complet d'un diagnostic, avec la recherche de cas similaires.</a:t>
            </a:r>
            <a:endParaRPr lang="en-US" sz="14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36</a:t>
            </a:fld>
            <a:endParaRPr lang="en-US"/>
          </a:p>
        </p:txBody>
      </p:sp>
      <p:pic>
        <p:nvPicPr>
          <p:cNvPr id="26" name="diagramme-sequence" descr="flow3.png"/>
          <p:cNvPicPr>
            <a:picLocks noChangeAspect="1"/>
          </p:cNvPicPr>
          <p:nvPr/>
        </p:nvPicPr>
        <p:blipFill>
          <a:blip r:embed="rId10"/>
          <a:stretch>
            <a:fillRect/>
          </a:stretch>
        </p:blipFill>
        <p:spPr>
          <a:xfrm>
            <a:off x="548640" y="1417320"/>
            <a:ext cx="5720843" cy="4846320"/>
          </a:xfrm>
          <a:prstGeom prst="rect">
            <a:avLst/>
          </a:prstGeom>
        </p:spPr>
      </p:pic>
      <p:sp>
        <p:nvSpPr>
          <p:cNvPr id="27" name="encadre-lecture"/>
          <p:cNvSpPr/>
          <p:nvPr/>
        </p:nvSpPr>
        <p:spPr>
          <a:xfrm>
            <a:off x="6589523" y="1417320"/>
            <a:ext cx="5050788" cy="4846320"/>
          </a:xfrm>
          <a:prstGeom prst="roundRect">
            <a:avLst>
              <a:gd name="adj" fmla="val 4000"/>
            </a:avLst>
          </a:prstGeom>
          <a:solidFill>
            <a:srgbClr val="EEF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a-retenir"/>
          <p:cNvSpPr txBox="1"/>
          <p:nvPr/>
        </p:nvSpPr>
        <p:spPr>
          <a:xfrm>
            <a:off x="6818123" y="1600200"/>
            <a:ext cx="4593588" cy="4480560"/>
          </a:xfrm>
          <a:prstGeom prst="rect">
            <a:avLst/>
          </a:prstGeom>
          <a:noFill/>
        </p:spPr>
        <p:txBody>
          <a:bodyPr wrap="square" lIns="0" rIns="0" tIns="0" bIns="0">
            <a:spAutoFit/>
          </a:bodyPr>
          <a:lstStyle/>
          <a:p>
            <a:pPr>
              <a:spcAft>
                <a:spcPts val="1200"/>
              </a:spcAft>
            </a:pPr>
            <a:r>
              <a:rPr sz="1800" b="1">
                <a:solidFill>
                  <a:srgbClr val="1B2630"/>
                </a:solidFill>
              </a:rPr>
              <a:t>À retenir</a:t>
            </a:r>
          </a:p>
          <a:p>
            <a:pPr marL="201168" indent="-201168">
              <a:spcAft>
                <a:spcPts val="1000"/>
              </a:spcAft>
              <a:buChar char="•"/>
            </a:pPr>
            <a:r>
              <a:rPr sz="1400">
                <a:solidFill>
                  <a:srgbClr val="2E4A5C"/>
                </a:solidFill>
              </a:rPr>
              <a:t>Claude identifie un diagnostic et extrait le problème (5 à 7).</a:t>
            </a:r>
          </a:p>
          <a:p>
            <a:pPr marL="201168" indent="-201168">
              <a:spcAft>
                <a:spcPts val="1000"/>
              </a:spcAft>
              <a:buChar char="•"/>
            </a:pPr>
            <a:r>
              <a:rPr sz="1400">
                <a:solidFill>
                  <a:srgbClr val="2E4A5C"/>
                </a:solidFill>
              </a:rPr>
              <a:t>Voyage AI transforme le problème en vecteur (8 et 9).</a:t>
            </a:r>
          </a:p>
          <a:p>
            <a:pPr marL="201168" indent="-201168">
              <a:spcAft>
                <a:spcPts val="1000"/>
              </a:spcAft>
              <a:buChar char="•"/>
            </a:pPr>
            <a:r>
              <a:rPr sz="1400">
                <a:solidFill>
                  <a:srgbClr val="2E4A5C"/>
                </a:solidFill>
              </a:rPr>
              <a:t>pgvector retrouve les cas similaires et leurs solutions (10 et 11).</a:t>
            </a:r>
          </a:p>
          <a:p>
            <a:pPr marL="201168" indent="-201168">
              <a:spcAft>
                <a:spcPts val="1000"/>
              </a:spcAft>
              <a:buChar char="•"/>
            </a:pPr>
            <a:r>
              <a:rPr sz="1400">
                <a:solidFill>
                  <a:srgbClr val="2E4A5C"/>
                </a:solidFill>
              </a:rPr>
              <a:t>Claude rédige la réponse en langage terrain (12 et 13).</a:t>
            </a:r>
          </a:p>
        </p:txBody>
      </p:sp>
      <p:sp>
        <p:nvSpPr>
          <p:cNvPr id="29" name="message-cle"/>
          <p:cNvSpPr/>
          <p:nvPr/>
        </p:nvSpPr>
        <p:spPr>
          <a:xfrm>
            <a:off x="6818123" y="5623560"/>
            <a:ext cx="4593588" cy="457200"/>
          </a:xfrm>
          <a:prstGeom prst="roundRect">
            <a:avLst>
              <a:gd name="adj" fmla="val 30000"/>
            </a:avLst>
          </a:prstGeom>
          <a:solidFill>
            <a:srgbClr val="0E7C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Seul cas de recherche en base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partie"/>
          <p:cNvSpPr txBox="1"/>
          <p:nvPr/>
        </p:nvSpPr>
        <p:spPr>
          <a:xfrm>
            <a:off x="548640" y="182880"/>
            <a:ext cx="8229600" cy="256032"/>
          </a:xfrm>
          <a:prstGeom prst="rect">
            <a:avLst/>
          </a:prstGeom>
          <a:noFill/>
          <a:ln/>
        </p:spPr>
        <p:txBody>
          <a:bodyPr wrap="square" lIns="0" tIns="0" rIns="0" bIns="0" rtlCol="0" anchor="ctr"/>
          <a:lstStyle/>
          <a:p>
            <a:pPr indent="0" marL="0">
              <a:buNone/>
            </a:pPr>
            <a:r>
              <a:rPr lang="en-US" sz="1100" b="1" spc="150" kern="0" dirty="0">
                <a:solidFill>
                  <a:schemeClr val="accent1"/>
                </a:solidFill>
              </a:rPr>
              <a:t>VI. LE TRAJET DES DONNÉES, CAS PAR CAS</a:t>
            </a:r>
            <a:endParaRPr lang="en-US" sz="1100" dirty="0"/>
          </a:p>
        </p:txBody>
      </p:sp>
      <p:sp>
        <p:nvSpPr>
          <p:cNvPr id="3" name="Text 0"/>
          <p:cNvSpPr/>
          <p:nvPr>
            <p:ph idx="100" type="title" hasCustomPrompt="1"/>
          </p:nvPr>
        </p:nvSpPr>
        <p:spPr>
          <a:xfrm>
            <a:off x="548640" y="438912"/>
            <a:ext cx="11091672" cy="54864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d) Cas 4 · Suivi d'une solution</a:t>
            </a:r>
            <a:endParaRPr lang="en-US" sz="2800" dirty="0"/>
          </a:p>
        </p:txBody>
      </p:sp>
      <p:pic>
        <p:nvPicPr>
          <p:cNvPr id="4" name="icone-objectif" descr="preencoded.png">    </p:cNvPr>
          <p:cNvPicPr>
            <a:picLocks noChangeAspect="1"/>
          </p:cNvPicPr>
          <p:nvPr/>
        </p:nvPicPr>
        <p:blipFill>
          <a:blip r:embed="rId1"/>
          <a:stretch>
            <a:fillRect/>
          </a:stretch>
        </p:blipFill>
        <p:spPr>
          <a:xfrm>
            <a:off x="548640" y="1033272"/>
            <a:ext cx="237744" cy="237744"/>
          </a:xfrm>
          <a:prstGeom prst="rect">
            <a:avLst/>
          </a:prstGeom>
        </p:spPr>
      </p:pic>
      <p:sp>
        <p:nvSpPr>
          <p:cNvPr id="5" name="objectif"/>
          <p:cNvSpPr txBox="1"/>
          <p:nvPr/>
        </p:nvSpPr>
        <p:spPr>
          <a:xfrm>
            <a:off x="868680" y="987552"/>
            <a:ext cx="10771632" cy="329184"/>
          </a:xfrm>
          <a:prstGeom prst="rect">
            <a:avLst/>
          </a:prstGeom>
          <a:noFill/>
          <a:ln/>
        </p:spPr>
        <p:txBody>
          <a:bodyPr wrap="square" lIns="0" tIns="0" rIns="0" bIns="0" rtlCol="0" anchor="ctr"/>
          <a:lstStyle/>
          <a:p>
            <a:pPr indent="0" marL="0">
              <a:buNone/>
            </a:pPr>
            <a:r>
              <a:rPr lang="en-US" sz="1400" b="1" i="1" dirty="0">
                <a:solidFill>
                  <a:schemeClr val="tx2"/>
                </a:solidFill>
              </a:rPr>
              <a:t>Objectif : </a:t>
            </a:r>
            <a:pPr indent="0" marL="0">
              <a:buNone/>
            </a:pPr>
            <a:r>
              <a:rPr lang="en-US" sz="1400" i="1" dirty="0">
                <a:solidFill>
                  <a:schemeClr val="tx2"/>
                </a:solidFill>
              </a:rPr>
              <a:t>Voir comment ATM-BOT détaille une solution déjà proposée, à partir du contexte de la conversation.</a:t>
            </a:r>
            <a:endParaRPr lang="en-US" sz="14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37</a:t>
            </a:fld>
            <a:endParaRPr lang="en-US"/>
          </a:p>
        </p:txBody>
      </p:sp>
      <p:pic>
        <p:nvPicPr>
          <p:cNvPr id="26" name="diagramme-sequence" descr="flow4.png"/>
          <p:cNvPicPr>
            <a:picLocks noChangeAspect="1"/>
          </p:cNvPicPr>
          <p:nvPr/>
        </p:nvPicPr>
        <p:blipFill>
          <a:blip r:embed="rId10"/>
          <a:stretch>
            <a:fillRect/>
          </a:stretch>
        </p:blipFill>
        <p:spPr>
          <a:xfrm>
            <a:off x="548640" y="1417320"/>
            <a:ext cx="5681298" cy="4846320"/>
          </a:xfrm>
          <a:prstGeom prst="rect">
            <a:avLst/>
          </a:prstGeom>
        </p:spPr>
      </p:pic>
      <p:sp>
        <p:nvSpPr>
          <p:cNvPr id="27" name="encadre-lecture"/>
          <p:cNvSpPr/>
          <p:nvPr/>
        </p:nvSpPr>
        <p:spPr>
          <a:xfrm>
            <a:off x="6549978" y="1417320"/>
            <a:ext cx="5090333" cy="4846320"/>
          </a:xfrm>
          <a:prstGeom prst="roundRect">
            <a:avLst>
              <a:gd name="adj" fmla="val 4000"/>
            </a:avLst>
          </a:prstGeom>
          <a:solidFill>
            <a:srgbClr val="EEF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a-retenir"/>
          <p:cNvSpPr txBox="1"/>
          <p:nvPr/>
        </p:nvSpPr>
        <p:spPr>
          <a:xfrm>
            <a:off x="6778578" y="1600200"/>
            <a:ext cx="4633133" cy="4480560"/>
          </a:xfrm>
          <a:prstGeom prst="rect">
            <a:avLst/>
          </a:prstGeom>
          <a:noFill/>
        </p:spPr>
        <p:txBody>
          <a:bodyPr wrap="square" lIns="0" rIns="0" tIns="0" bIns="0">
            <a:spAutoFit/>
          </a:bodyPr>
          <a:lstStyle/>
          <a:p>
            <a:pPr>
              <a:spcAft>
                <a:spcPts val="1200"/>
              </a:spcAft>
            </a:pPr>
            <a:r>
              <a:rPr sz="1800" b="1">
                <a:solidFill>
                  <a:srgbClr val="1B2630"/>
                </a:solidFill>
              </a:rPr>
              <a:t>À retenir</a:t>
            </a:r>
          </a:p>
          <a:p>
            <a:pPr marL="201168" indent="-201168">
              <a:spcAft>
                <a:spcPts val="1000"/>
              </a:spcAft>
              <a:buChar char="•"/>
            </a:pPr>
            <a:r>
              <a:rPr sz="1400">
                <a:solidFill>
                  <a:srgbClr val="2E4A5C"/>
                </a:solidFill>
              </a:rPr>
              <a:t>Le backend charge l'historique, qui contient les solutions déjà données.</a:t>
            </a:r>
          </a:p>
          <a:p>
            <a:pPr marL="201168" indent="-201168">
              <a:spcAft>
                <a:spcPts val="1000"/>
              </a:spcAft>
              <a:buChar char="•"/>
            </a:pPr>
            <a:r>
              <a:rPr sz="1400">
                <a:solidFill>
                  <a:srgbClr val="2E4A5C"/>
                </a:solidFill>
              </a:rPr>
              <a:t>Claude reconnaît une question de suivi et retrouve la solution dans le contexte.</a:t>
            </a:r>
          </a:p>
          <a:p>
            <a:pPr marL="201168" indent="-201168">
              <a:spcAft>
                <a:spcPts val="1000"/>
              </a:spcAft>
              <a:buChar char="•"/>
            </a:pPr>
            <a:r>
              <a:rPr sz="1400">
                <a:solidFill>
                  <a:srgbClr val="2E4A5C"/>
                </a:solidFill>
              </a:rPr>
              <a:t>Pas d'embedding ni de recherche vectorielle.</a:t>
            </a:r>
          </a:p>
        </p:txBody>
      </p:sp>
      <p:sp>
        <p:nvSpPr>
          <p:cNvPr id="29" name="message-cle"/>
          <p:cNvSpPr/>
          <p:nvPr/>
        </p:nvSpPr>
        <p:spPr>
          <a:xfrm>
            <a:off x="6778578" y="5623560"/>
            <a:ext cx="4633133" cy="457200"/>
          </a:xfrm>
          <a:prstGeom prst="roundRect">
            <a:avLst>
              <a:gd name="adj" fmla="val 30000"/>
            </a:avLst>
          </a:prstGeom>
          <a:solidFill>
            <a:srgbClr val="0E7C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Réponse à partir du contexte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partie"/>
          <p:cNvSpPr txBox="1"/>
          <p:nvPr/>
        </p:nvSpPr>
        <p:spPr>
          <a:xfrm>
            <a:off x="548640" y="182880"/>
            <a:ext cx="8229600" cy="256032"/>
          </a:xfrm>
          <a:prstGeom prst="rect">
            <a:avLst/>
          </a:prstGeom>
          <a:noFill/>
          <a:ln/>
        </p:spPr>
        <p:txBody>
          <a:bodyPr wrap="square" lIns="0" tIns="0" rIns="0" bIns="0" rtlCol="0" anchor="ctr"/>
          <a:lstStyle/>
          <a:p>
            <a:pPr indent="0" marL="0">
              <a:buNone/>
            </a:pPr>
            <a:r>
              <a:rPr lang="en-US" sz="1100" b="1" spc="150" kern="0" dirty="0">
                <a:solidFill>
                  <a:schemeClr val="accent1"/>
                </a:solidFill>
              </a:rPr>
              <a:t>VI. LE TRAJET DES DONNÉES, CAS PAR CAS</a:t>
            </a:r>
            <a:endParaRPr lang="en-US" sz="1100" dirty="0"/>
          </a:p>
        </p:txBody>
      </p:sp>
      <p:sp>
        <p:nvSpPr>
          <p:cNvPr id="3" name="Text 0"/>
          <p:cNvSpPr/>
          <p:nvPr>
            <p:ph idx="100" type="title" hasCustomPrompt="1"/>
          </p:nvPr>
        </p:nvSpPr>
        <p:spPr>
          <a:xfrm>
            <a:off x="548640" y="438912"/>
            <a:ext cx="11091672" cy="54864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e) Cas 5 · Validation d'une solution</a:t>
            </a:r>
            <a:endParaRPr lang="en-US" sz="2800" dirty="0"/>
          </a:p>
        </p:txBody>
      </p:sp>
      <p:pic>
        <p:nvPicPr>
          <p:cNvPr id="4" name="icone-objectif" descr="preencoded.png">    </p:cNvPr>
          <p:cNvPicPr>
            <a:picLocks noChangeAspect="1"/>
          </p:cNvPicPr>
          <p:nvPr/>
        </p:nvPicPr>
        <p:blipFill>
          <a:blip r:embed="rId1"/>
          <a:stretch>
            <a:fillRect/>
          </a:stretch>
        </p:blipFill>
        <p:spPr>
          <a:xfrm>
            <a:off x="548640" y="1033272"/>
            <a:ext cx="237744" cy="237744"/>
          </a:xfrm>
          <a:prstGeom prst="rect">
            <a:avLst/>
          </a:prstGeom>
        </p:spPr>
      </p:pic>
      <p:sp>
        <p:nvSpPr>
          <p:cNvPr id="5" name="objectif"/>
          <p:cNvSpPr txBox="1"/>
          <p:nvPr/>
        </p:nvSpPr>
        <p:spPr>
          <a:xfrm>
            <a:off x="868680" y="987552"/>
            <a:ext cx="10771632" cy="329184"/>
          </a:xfrm>
          <a:prstGeom prst="rect">
            <a:avLst/>
          </a:prstGeom>
          <a:noFill/>
          <a:ln/>
        </p:spPr>
        <p:txBody>
          <a:bodyPr wrap="square" lIns="0" tIns="0" rIns="0" bIns="0" rtlCol="0" anchor="ctr"/>
          <a:lstStyle/>
          <a:p>
            <a:pPr indent="0" marL="0">
              <a:buNone/>
            </a:pPr>
            <a:r>
              <a:rPr lang="en-US" sz="1400" b="1" i="1" dirty="0">
                <a:solidFill>
                  <a:schemeClr val="tx2"/>
                </a:solidFill>
              </a:rPr>
              <a:t>Objectif : </a:t>
            </a:r>
            <a:pPr indent="0" marL="0">
              <a:buNone/>
            </a:pPr>
            <a:r>
              <a:rPr lang="en-US" sz="1400" i="1" dirty="0">
                <a:solidFill>
                  <a:schemeClr val="tx2"/>
                </a:solidFill>
              </a:rPr>
              <a:t>Voir comment une solution validée ou proposée par le technicien enrichit la base.</a:t>
            </a:r>
            <a:endParaRPr lang="en-US" sz="14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38</a:t>
            </a:fld>
            <a:endParaRPr lang="en-US"/>
          </a:p>
        </p:txBody>
      </p:sp>
      <p:pic>
        <p:nvPicPr>
          <p:cNvPr id="26" name="diagramme-sequence" descr="flow5.png"/>
          <p:cNvPicPr>
            <a:picLocks noChangeAspect="1"/>
          </p:cNvPicPr>
          <p:nvPr/>
        </p:nvPicPr>
        <p:blipFill>
          <a:blip r:embed="rId10"/>
          <a:stretch>
            <a:fillRect/>
          </a:stretch>
        </p:blipFill>
        <p:spPr>
          <a:xfrm>
            <a:off x="548640" y="1417320"/>
            <a:ext cx="6057900" cy="4846320"/>
          </a:xfrm>
          <a:prstGeom prst="rect">
            <a:avLst/>
          </a:prstGeom>
        </p:spPr>
      </p:pic>
      <p:sp>
        <p:nvSpPr>
          <p:cNvPr id="27" name="encadre-lecture"/>
          <p:cNvSpPr/>
          <p:nvPr/>
        </p:nvSpPr>
        <p:spPr>
          <a:xfrm>
            <a:off x="6926579" y="1417320"/>
            <a:ext cx="4713732" cy="4846320"/>
          </a:xfrm>
          <a:prstGeom prst="roundRect">
            <a:avLst>
              <a:gd name="adj" fmla="val 4000"/>
            </a:avLst>
          </a:prstGeom>
          <a:solidFill>
            <a:srgbClr val="EEF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a-retenir"/>
          <p:cNvSpPr txBox="1"/>
          <p:nvPr/>
        </p:nvSpPr>
        <p:spPr>
          <a:xfrm>
            <a:off x="7155179" y="1600200"/>
            <a:ext cx="4256532" cy="4480560"/>
          </a:xfrm>
          <a:prstGeom prst="rect">
            <a:avLst/>
          </a:prstGeom>
          <a:noFill/>
        </p:spPr>
        <p:txBody>
          <a:bodyPr wrap="square" lIns="0" rIns="0" tIns="0" bIns="0">
            <a:spAutoFit/>
          </a:bodyPr>
          <a:lstStyle/>
          <a:p>
            <a:pPr>
              <a:spcAft>
                <a:spcPts val="1200"/>
              </a:spcAft>
            </a:pPr>
            <a:r>
              <a:rPr sz="1800" b="1">
                <a:solidFill>
                  <a:srgbClr val="1B2630"/>
                </a:solidFill>
              </a:rPr>
              <a:t>À retenir</a:t>
            </a:r>
          </a:p>
          <a:p>
            <a:pPr marL="201168" indent="-201168">
              <a:spcAft>
                <a:spcPts val="1000"/>
              </a:spcAft>
              <a:buChar char="•"/>
            </a:pPr>
            <a:r>
              <a:rPr sz="1400">
                <a:solidFill>
                  <a:srgbClr val="2E4A5C"/>
                </a:solidFill>
              </a:rPr>
              <a:t>Solution validée : l'action est marquée comme confirmée et les taux de réussite sont recalculés.</a:t>
            </a:r>
          </a:p>
          <a:p>
            <a:pPr marL="201168" indent="-201168">
              <a:spcAft>
                <a:spcPts val="1000"/>
              </a:spcAft>
              <a:buChar char="•"/>
            </a:pPr>
            <a:r>
              <a:rPr sz="1400">
                <a:solidFill>
                  <a:srgbClr val="2E4A5C"/>
                </a:solidFill>
              </a:rPr>
              <a:t>Nouvelle solution : le symptôme est vectorisé par Voyage AI puis enregistré avec la nouvelle action.</a:t>
            </a:r>
          </a:p>
          <a:p>
            <a:pPr marL="201168" indent="-201168">
              <a:spcAft>
                <a:spcPts val="1000"/>
              </a:spcAft>
              <a:buChar char="•"/>
            </a:pPr>
            <a:r>
              <a:rPr sz="1400">
                <a:solidFill>
                  <a:srgbClr val="2E4A5C"/>
                </a:solidFill>
              </a:rPr>
              <a:t>Les prochains diagnostics (cas 3) en profitent.</a:t>
            </a:r>
          </a:p>
        </p:txBody>
      </p:sp>
      <p:sp>
        <p:nvSpPr>
          <p:cNvPr id="29" name="message-cle"/>
          <p:cNvSpPr/>
          <p:nvPr/>
        </p:nvSpPr>
        <p:spPr>
          <a:xfrm>
            <a:off x="7155179" y="5623560"/>
            <a:ext cx="4256532" cy="457200"/>
          </a:xfrm>
          <a:prstGeom prst="roundRect">
            <a:avLst>
              <a:gd name="adj" fmla="val 30000"/>
            </a:avLst>
          </a:prstGeom>
          <a:solidFill>
            <a:srgbClr val="0E7C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rPr>
              <a:t>La base s'enrichit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xt-662"/>
          <p:cNvSpPr txBox="1"/>
          <p:nvPr/>
        </p:nvSpPr>
        <p:spPr>
          <a:xfrm>
            <a:off x="731520" y="1097280"/>
            <a:ext cx="3657600" cy="320040"/>
          </a:xfrm>
          <a:prstGeom prst="rect">
            <a:avLst/>
          </a:prstGeom>
          <a:noFill/>
          <a:ln/>
        </p:spPr>
        <p:txBody>
          <a:bodyPr wrap="square" lIns="0" tIns="0" rIns="0" bIns="0" rtlCol="0" anchor="t"/>
          <a:lstStyle/>
          <a:p>
            <a:pPr indent="0" marL="0">
              <a:buNone/>
            </a:pPr>
            <a:r>
              <a:rPr lang="en-US" sz="1400" b="1" spc="200" kern="0" dirty="0">
                <a:solidFill>
                  <a:schemeClr val="accent2"/>
                </a:solidFill>
              </a:rPr>
              <a:t>PARTIE</a:t>
            </a:r>
            <a:endParaRPr lang="en-US" sz="1400" dirty="0"/>
          </a:p>
        </p:txBody>
      </p:sp>
      <p:sp>
        <p:nvSpPr>
          <p:cNvPr id="3" name="txt-663"/>
          <p:cNvSpPr txBox="1"/>
          <p:nvPr/>
        </p:nvSpPr>
        <p:spPr>
          <a:xfrm>
            <a:off x="731520" y="1417320"/>
            <a:ext cx="3657600" cy="1280160"/>
          </a:xfrm>
          <a:prstGeom prst="rect">
            <a:avLst/>
          </a:prstGeom>
          <a:noFill/>
          <a:ln/>
        </p:spPr>
        <p:txBody>
          <a:bodyPr wrap="square" lIns="0" tIns="0" rIns="0" bIns="0" rtlCol="0" anchor="t"/>
          <a:lstStyle/>
          <a:p>
            <a:pPr indent="0" marL="0">
              <a:buNone/>
            </a:pPr>
            <a:r>
              <a:rPr lang="en-US" sz="8800" b="1" dirty="0">
                <a:solidFill>
                  <a:schemeClr val="accent1"/>
                </a:solidFill>
                <a:latin typeface="Arial" pitchFamily="34" charset="0"/>
                <a:ea typeface="Arial" pitchFamily="34" charset="-122"/>
                <a:cs typeface="Arial" pitchFamily="34" charset="-120"/>
              </a:rPr>
              <a:t>VII</a:t>
            </a:r>
            <a:endParaRPr lang="en-US" sz="8800" dirty="0"/>
          </a:p>
        </p:txBody>
      </p:sp>
      <p:sp>
        <p:nvSpPr>
          <p:cNvPr id="4" name="txt-664"/>
          <p:cNvSpPr txBox="1"/>
          <p:nvPr/>
        </p:nvSpPr>
        <p:spPr>
          <a:xfrm>
            <a:off x="731520" y="2697480"/>
            <a:ext cx="5486400" cy="1097280"/>
          </a:xfrm>
          <a:prstGeom prst="rect">
            <a:avLst/>
          </a:prstGeom>
          <a:noFill/>
          <a:ln/>
        </p:spPr>
        <p:txBody>
          <a:bodyPr wrap="square" lIns="0" tIns="0" rIns="0" bIns="0" rtlCol="0" anchor="t"/>
          <a:lstStyle/>
          <a:p>
            <a:pPr indent="0" marL="0">
              <a:buNone/>
            </a:pPr>
            <a:r>
              <a:rPr lang="en-US" sz="3000" b="1" dirty="0">
                <a:solidFill>
                  <a:schemeClr val="bg1"/>
                </a:solidFill>
                <a:latin typeface="Arial" pitchFamily="34" charset="0"/>
                <a:ea typeface="Arial" pitchFamily="34" charset="-122"/>
                <a:cs typeface="Arial" pitchFamily="34" charset="-120"/>
              </a:rPr>
              <a:t>Le trajet des données dans la base</a:t>
            </a:r>
            <a:endParaRPr lang="en-US" sz="3000" dirty="0"/>
          </a:p>
        </p:txBody>
      </p:sp>
      <p:sp>
        <p:nvSpPr>
          <p:cNvPr id="5" name="txt-665"/>
          <p:cNvSpPr txBox="1"/>
          <p:nvPr/>
        </p:nvSpPr>
        <p:spPr>
          <a:xfrm>
            <a:off x="731520" y="3931920"/>
            <a:ext cx="5303520" cy="1188720"/>
          </a:xfrm>
          <a:prstGeom prst="rect">
            <a:avLst/>
          </a:prstGeom>
          <a:noFill/>
          <a:ln/>
        </p:spPr>
        <p:txBody>
          <a:bodyPr wrap="square" lIns="0" tIns="0" rIns="0" bIns="0" rtlCol="0" anchor="t"/>
          <a:lstStyle/>
          <a:p>
            <a:pPr indent="0" marL="0">
              <a:buNone/>
            </a:pPr>
            <a:r>
              <a:rPr lang="en-US" sz="1600" dirty="0">
                <a:solidFill>
                  <a:srgbClr val="C9D3D9"/>
                </a:solidFill>
              </a:rPr>
              <a:t>Suivre un même exemple de panne et voir quelle table est lue ou écrite à chaque étape.</a:t>
            </a:r>
            <a:endParaRPr lang="en-US" sz="1600" dirty="0"/>
          </a:p>
        </p:txBody>
      </p:sp>
      <p:sp>
        <p:nvSpPr>
          <p:cNvPr id="6" name="txt-666"/>
          <p:cNvSpPr txBox="1"/>
          <p:nvPr/>
        </p:nvSpPr>
        <p:spPr>
          <a:xfrm>
            <a:off x="6766560" y="1463040"/>
            <a:ext cx="4846320" cy="365760"/>
          </a:xfrm>
          <a:prstGeom prst="rect">
            <a:avLst/>
          </a:prstGeom>
          <a:noFill/>
          <a:ln/>
        </p:spPr>
        <p:txBody>
          <a:bodyPr wrap="square" lIns="0" tIns="0" rIns="0" bIns="0" rtlCol="0" anchor="t"/>
          <a:lstStyle/>
          <a:p>
            <a:pPr indent="0" marL="0">
              <a:buNone/>
            </a:pPr>
            <a:r>
              <a:rPr lang="en-US" sz="1400" b="1" dirty="0">
                <a:solidFill>
                  <a:schemeClr val="accent2"/>
                </a:solidFill>
              </a:rPr>
              <a:t>Dans cette partie</a:t>
            </a:r>
            <a:endParaRPr lang="en-US" sz="1400" dirty="0"/>
          </a:p>
        </p:txBody>
      </p:sp>
      <p:sp>
        <p:nvSpPr>
          <p:cNvPr id="7" name="Shape 5"/>
          <p:cNvSpPr/>
          <p:nvPr/>
        </p:nvSpPr>
        <p:spPr>
          <a:xfrm>
            <a:off x="6766560" y="1965960"/>
            <a:ext cx="4873752" cy="530352"/>
          </a:xfrm>
          <a:prstGeom prst="roundRect">
            <a:avLst>
              <a:gd name="adj" fmla="val 17241"/>
            </a:avLst>
          </a:prstGeom>
          <a:solidFill>
            <a:srgbClr val="FFFFFF">
              <a:alpha val="8000"/>
            </a:srgbClr>
          </a:solidFill>
          <a:ln/>
        </p:spPr>
        <p:txBody>
          <a:bodyPr/>
          <a:p/>
        </p:txBody>
      </p:sp>
      <p:sp>
        <p:nvSpPr>
          <p:cNvPr id="8" name="txt-667"/>
          <p:cNvSpPr txBox="1"/>
          <p:nvPr/>
        </p:nvSpPr>
        <p:spPr>
          <a:xfrm>
            <a:off x="6949440" y="1965960"/>
            <a:ext cx="4572000" cy="530352"/>
          </a:xfrm>
          <a:prstGeom prst="rect">
            <a:avLst/>
          </a:prstGeom>
          <a:noFill/>
          <a:ln/>
        </p:spPr>
        <p:txBody>
          <a:bodyPr wrap="square" lIns="0" tIns="0" rIns="0" bIns="0" rtlCol="0" anchor="ctr"/>
          <a:lstStyle/>
          <a:p>
            <a:pPr indent="0" marL="0">
              <a:buNone/>
            </a:pPr>
            <a:r>
              <a:rPr lang="en-US" sz="1500" dirty="0">
                <a:solidFill>
                  <a:schemeClr val="bg1"/>
                </a:solidFill>
              </a:rPr>
              <a:t>a) La base au départ : une panne et sa solution</a:t>
            </a:r>
            <a:endParaRPr lang="en-US" sz="1500" dirty="0"/>
          </a:p>
        </p:txBody>
      </p:sp>
      <p:sp>
        <p:nvSpPr>
          <p:cNvPr id="9" name="Shape 7"/>
          <p:cNvSpPr/>
          <p:nvPr/>
        </p:nvSpPr>
        <p:spPr>
          <a:xfrm>
            <a:off x="6766560" y="2606040"/>
            <a:ext cx="4873752" cy="530352"/>
          </a:xfrm>
          <a:prstGeom prst="roundRect">
            <a:avLst>
              <a:gd name="adj" fmla="val 17241"/>
            </a:avLst>
          </a:prstGeom>
          <a:solidFill>
            <a:srgbClr val="FFFFFF">
              <a:alpha val="8000"/>
            </a:srgbClr>
          </a:solidFill>
          <a:ln/>
        </p:spPr>
        <p:txBody>
          <a:bodyPr/>
          <a:p/>
        </p:txBody>
      </p:sp>
      <p:sp>
        <p:nvSpPr>
          <p:cNvPr id="10" name="txt-668"/>
          <p:cNvSpPr txBox="1"/>
          <p:nvPr/>
        </p:nvSpPr>
        <p:spPr>
          <a:xfrm>
            <a:off x="6949440" y="2606040"/>
            <a:ext cx="4572000" cy="530352"/>
          </a:xfrm>
          <a:prstGeom prst="rect">
            <a:avLst/>
          </a:prstGeom>
          <a:noFill/>
          <a:ln/>
        </p:spPr>
        <p:txBody>
          <a:bodyPr wrap="square" lIns="0" tIns="0" rIns="0" bIns="0" rtlCol="0" anchor="ctr"/>
          <a:lstStyle/>
          <a:p>
            <a:pPr indent="0" marL="0">
              <a:buNone/>
            </a:pPr>
            <a:r>
              <a:rPr lang="en-US" sz="1500" dirty="0">
                <a:solidFill>
                  <a:schemeClr val="bg1"/>
                </a:solidFill>
              </a:rPr>
              <a:t>b) Le message arrive : mémoire et compréhension</a:t>
            </a:r>
            <a:endParaRPr lang="en-US" sz="1500" dirty="0"/>
          </a:p>
        </p:txBody>
      </p:sp>
      <p:sp>
        <p:nvSpPr>
          <p:cNvPr id="11" name="Shape 9"/>
          <p:cNvSpPr/>
          <p:nvPr/>
        </p:nvSpPr>
        <p:spPr>
          <a:xfrm>
            <a:off x="6766560" y="3246120"/>
            <a:ext cx="4873752" cy="530352"/>
          </a:xfrm>
          <a:prstGeom prst="roundRect">
            <a:avLst>
              <a:gd name="adj" fmla="val 17241"/>
            </a:avLst>
          </a:prstGeom>
          <a:solidFill>
            <a:srgbClr val="FFFFFF">
              <a:alpha val="8000"/>
            </a:srgbClr>
          </a:solidFill>
          <a:ln/>
        </p:spPr>
        <p:txBody>
          <a:bodyPr/>
          <a:p/>
        </p:txBody>
      </p:sp>
      <p:sp>
        <p:nvSpPr>
          <p:cNvPr id="12" name="txt-669"/>
          <p:cNvSpPr txBox="1"/>
          <p:nvPr/>
        </p:nvSpPr>
        <p:spPr>
          <a:xfrm>
            <a:off x="6949440" y="3246120"/>
            <a:ext cx="4572000" cy="530352"/>
          </a:xfrm>
          <a:prstGeom prst="rect">
            <a:avLst/>
          </a:prstGeom>
          <a:noFill/>
          <a:ln/>
        </p:spPr>
        <p:txBody>
          <a:bodyPr wrap="square" lIns="0" tIns="0" rIns="0" bIns="0" rtlCol="0" anchor="ctr"/>
          <a:lstStyle/>
          <a:p>
            <a:pPr indent="0" marL="0">
              <a:buNone/>
            </a:pPr>
            <a:r>
              <a:rPr lang="en-US" sz="1500" dirty="0">
                <a:solidFill>
                  <a:schemeClr val="bg1"/>
                </a:solidFill>
              </a:rPr>
              <a:t>c) La recherche : de Claude aux cas similaires</a:t>
            </a:r>
            <a:endParaRPr lang="en-US" sz="1500" dirty="0"/>
          </a:p>
        </p:txBody>
      </p:sp>
      <p:sp>
        <p:nvSpPr>
          <p:cNvPr id="13" name="Shape 11"/>
          <p:cNvSpPr/>
          <p:nvPr/>
        </p:nvSpPr>
        <p:spPr>
          <a:xfrm>
            <a:off x="6766560" y="3886200"/>
            <a:ext cx="4873752" cy="530352"/>
          </a:xfrm>
          <a:prstGeom prst="roundRect">
            <a:avLst>
              <a:gd name="adj" fmla="val 17241"/>
            </a:avLst>
          </a:prstGeom>
          <a:solidFill>
            <a:srgbClr val="FFFFFF">
              <a:alpha val="8000"/>
            </a:srgbClr>
          </a:solidFill>
          <a:ln/>
        </p:spPr>
        <p:txBody>
          <a:bodyPr/>
          <a:p/>
        </p:txBody>
      </p:sp>
      <p:sp>
        <p:nvSpPr>
          <p:cNvPr id="14" name="txt-670"/>
          <p:cNvSpPr txBox="1"/>
          <p:nvPr/>
        </p:nvSpPr>
        <p:spPr>
          <a:xfrm>
            <a:off x="6949440" y="3886200"/>
            <a:ext cx="4572000" cy="530352"/>
          </a:xfrm>
          <a:prstGeom prst="rect">
            <a:avLst/>
          </a:prstGeom>
          <a:noFill/>
          <a:ln/>
        </p:spPr>
        <p:txBody>
          <a:bodyPr wrap="square" lIns="0" tIns="0" rIns="0" bIns="0" rtlCol="0" anchor="ctr"/>
          <a:lstStyle/>
          <a:p>
            <a:pPr indent="0" marL="0">
              <a:buNone/>
            </a:pPr>
            <a:r>
              <a:rPr lang="en-US" sz="1500" dirty="0">
                <a:solidFill>
                  <a:schemeClr val="bg1"/>
                </a:solidFill>
              </a:rPr>
              <a:t>d) La réponse : ce qui est enregistré en base</a:t>
            </a:r>
            <a:endParaRPr lang="en-US" sz="15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partie"/>
          <p:cNvSpPr txBox="1"/>
          <p:nvPr/>
        </p:nvSpPr>
        <p:spPr>
          <a:xfrm>
            <a:off x="548640" y="182880"/>
            <a:ext cx="8229600" cy="256032"/>
          </a:xfrm>
          <a:prstGeom prst="rect">
            <a:avLst/>
          </a:prstGeom>
          <a:noFill/>
          <a:ln/>
        </p:spPr>
        <p:txBody>
          <a:bodyPr wrap="square" lIns="0" tIns="0" rIns="0" bIns="0" rtlCol="0" anchor="ctr"/>
          <a:lstStyle/>
          <a:p>
            <a:pPr indent="0" marL="0">
              <a:buNone/>
            </a:pPr>
            <a:r>
              <a:rPr lang="en-US" sz="1100" b="1" spc="150" kern="0" dirty="0">
                <a:solidFill>
                  <a:schemeClr val="accent1"/>
                </a:solidFill>
              </a:rPr>
              <a:t>VII. LE TRAJET DES DONNÉES DANS LA BASE</a:t>
            </a:r>
            <a:endParaRPr lang="en-US" sz="1100" dirty="0"/>
          </a:p>
        </p:txBody>
      </p:sp>
      <p:sp>
        <p:nvSpPr>
          <p:cNvPr id="3" name="Text 0"/>
          <p:cNvSpPr/>
          <p:nvPr>
            <p:ph idx="100" type="title" hasCustomPrompt="1"/>
          </p:nvPr>
        </p:nvSpPr>
        <p:spPr>
          <a:xfrm>
            <a:off x="548640" y="438912"/>
            <a:ext cx="11091672" cy="54864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a) La base au départ : une panne et sa solution</a:t>
            </a:r>
            <a:endParaRPr lang="en-US" sz="2800" dirty="0"/>
          </a:p>
        </p:txBody>
      </p:sp>
      <p:pic>
        <p:nvPicPr>
          <p:cNvPr id="4" name="icone-objectif" descr="preencoded.png">    </p:cNvPr>
          <p:cNvPicPr>
            <a:picLocks noChangeAspect="1"/>
          </p:cNvPicPr>
          <p:nvPr/>
        </p:nvPicPr>
        <p:blipFill>
          <a:blip r:embed="rId1"/>
          <a:stretch>
            <a:fillRect/>
          </a:stretch>
        </p:blipFill>
        <p:spPr>
          <a:xfrm>
            <a:off x="548640" y="1033272"/>
            <a:ext cx="237744" cy="237744"/>
          </a:xfrm>
          <a:prstGeom prst="rect">
            <a:avLst/>
          </a:prstGeom>
        </p:spPr>
      </p:pic>
      <p:sp>
        <p:nvSpPr>
          <p:cNvPr id="5" name="objectif"/>
          <p:cNvSpPr txBox="1"/>
          <p:nvPr/>
        </p:nvSpPr>
        <p:spPr>
          <a:xfrm>
            <a:off x="868680" y="987552"/>
            <a:ext cx="10771632" cy="329184"/>
          </a:xfrm>
          <a:prstGeom prst="rect">
            <a:avLst/>
          </a:prstGeom>
          <a:noFill/>
          <a:ln/>
        </p:spPr>
        <p:txBody>
          <a:bodyPr wrap="square" lIns="0" tIns="0" rIns="0" bIns="0" rtlCol="0" anchor="ctr"/>
          <a:lstStyle/>
          <a:p>
            <a:pPr indent="0" marL="0">
              <a:buNone/>
            </a:pPr>
            <a:r>
              <a:rPr lang="en-US" sz="1400" b="1" i="1" dirty="0">
                <a:solidFill>
                  <a:schemeClr val="tx2"/>
                </a:solidFill>
              </a:rPr>
              <a:t>Objectif : </a:t>
            </a:r>
            <a:pPr indent="0" marL="0">
              <a:buNone/>
            </a:pPr>
            <a:r>
              <a:rPr lang="en-US" sz="1400" i="1" dirty="0">
                <a:solidFill>
                  <a:schemeClr val="tx2"/>
                </a:solidFill>
              </a:rPr>
              <a:t>Voir comment une intervention réelle est rangée dans les tables, ligne par ligne.</a:t>
            </a:r>
            <a:endParaRPr lang="en-US" sz="14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34</a:t>
            </a:fld>
            <a:endParaRPr lang="en-US"/>
          </a:p>
        </p:txBody>
      </p:sp>
      <p:pic>
        <p:nvPicPr>
          <p:cNvPr id="26" name="schema-donnees" descr="dbc1.png"/>
          <p:cNvPicPr>
            <a:picLocks noChangeAspect="1"/>
          </p:cNvPicPr>
          <p:nvPr/>
        </p:nvPicPr>
        <p:blipFill>
          <a:blip r:embed="rId9"/>
          <a:stretch>
            <a:fillRect/>
          </a:stretch>
        </p:blipFill>
        <p:spPr>
          <a:xfrm>
            <a:off x="1639536" y="1389888"/>
            <a:ext cx="8909878" cy="489204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partie"/>
          <p:cNvSpPr txBox="1"/>
          <p:nvPr/>
        </p:nvSpPr>
        <p:spPr>
          <a:xfrm>
            <a:off x="548640" y="182880"/>
            <a:ext cx="8229600" cy="256032"/>
          </a:xfrm>
          <a:prstGeom prst="rect">
            <a:avLst/>
          </a:prstGeom>
          <a:noFill/>
          <a:ln/>
        </p:spPr>
        <p:txBody>
          <a:bodyPr wrap="square" lIns="0" tIns="0" rIns="0" bIns="0" rtlCol="0" anchor="ctr"/>
          <a:lstStyle/>
          <a:p>
            <a:pPr indent="0" marL="0">
              <a:buNone/>
            </a:pPr>
            <a:r>
              <a:rPr lang="en-US" sz="1100" b="1" spc="150" kern="0" dirty="0">
                <a:solidFill>
                  <a:schemeClr val="accent1"/>
                </a:solidFill>
              </a:rPr>
              <a:t>VII. LE TRAJET DES DONNÉES DANS LA BASE</a:t>
            </a:r>
            <a:endParaRPr lang="en-US" sz="1100" dirty="0"/>
          </a:p>
        </p:txBody>
      </p:sp>
      <p:sp>
        <p:nvSpPr>
          <p:cNvPr id="3" name="Text 0"/>
          <p:cNvSpPr/>
          <p:nvPr>
            <p:ph idx="100" type="title" hasCustomPrompt="1"/>
          </p:nvPr>
        </p:nvSpPr>
        <p:spPr>
          <a:xfrm>
            <a:off x="548640" y="438912"/>
            <a:ext cx="11091672" cy="54864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b) Le message arrive : mémoire et compréhension</a:t>
            </a:r>
            <a:endParaRPr lang="en-US" sz="2800" dirty="0"/>
          </a:p>
        </p:txBody>
      </p:sp>
      <p:pic>
        <p:nvPicPr>
          <p:cNvPr id="4" name="icone-objectif" descr="preencoded.png">    </p:cNvPr>
          <p:cNvPicPr>
            <a:picLocks noChangeAspect="1"/>
          </p:cNvPicPr>
          <p:nvPr/>
        </p:nvPicPr>
        <p:blipFill>
          <a:blip r:embed="rId1"/>
          <a:stretch>
            <a:fillRect/>
          </a:stretch>
        </p:blipFill>
        <p:spPr>
          <a:xfrm>
            <a:off x="548640" y="1033272"/>
            <a:ext cx="237744" cy="237744"/>
          </a:xfrm>
          <a:prstGeom prst="rect">
            <a:avLst/>
          </a:prstGeom>
        </p:spPr>
      </p:pic>
      <p:sp>
        <p:nvSpPr>
          <p:cNvPr id="5" name="objectif"/>
          <p:cNvSpPr txBox="1"/>
          <p:nvPr/>
        </p:nvSpPr>
        <p:spPr>
          <a:xfrm>
            <a:off x="868680" y="987552"/>
            <a:ext cx="10771632" cy="329184"/>
          </a:xfrm>
          <a:prstGeom prst="rect">
            <a:avLst/>
          </a:prstGeom>
          <a:noFill/>
          <a:ln/>
        </p:spPr>
        <p:txBody>
          <a:bodyPr wrap="square" lIns="0" tIns="0" rIns="0" bIns="0" rtlCol="0" anchor="ctr"/>
          <a:lstStyle/>
          <a:p>
            <a:pPr indent="0" marL="0">
              <a:buNone/>
            </a:pPr>
            <a:r>
              <a:rPr lang="en-US" sz="1400" b="1" i="1" dirty="0">
                <a:solidFill>
                  <a:schemeClr val="tx2"/>
                </a:solidFill>
              </a:rPr>
              <a:t>Objectif : </a:t>
            </a:r>
            <a:pPr indent="0" marL="0">
              <a:buNone/>
            </a:pPr>
            <a:r>
              <a:rPr lang="en-US" sz="1400" i="1" dirty="0">
                <a:solidFill>
                  <a:schemeClr val="tx2"/>
                </a:solidFill>
              </a:rPr>
              <a:t>Voir quelles tables sont lues ou écrites quand un message arrive, et ce que Claude renvoie.</a:t>
            </a:r>
            <a:endParaRPr lang="en-US" sz="14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34</a:t>
            </a:fld>
            <a:endParaRPr lang="en-US"/>
          </a:p>
        </p:txBody>
      </p:sp>
      <p:pic>
        <p:nvPicPr>
          <p:cNvPr id="26" name="schema-donnees" descr="dbc2.png"/>
          <p:cNvPicPr>
            <a:picLocks noChangeAspect="1"/>
          </p:cNvPicPr>
          <p:nvPr/>
        </p:nvPicPr>
        <p:blipFill>
          <a:blip r:embed="rId9"/>
          <a:stretch>
            <a:fillRect/>
          </a:stretch>
        </p:blipFill>
        <p:spPr>
          <a:xfrm>
            <a:off x="921397" y="1389888"/>
            <a:ext cx="10346156" cy="489204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partie"/>
          <p:cNvSpPr txBox="1"/>
          <p:nvPr/>
        </p:nvSpPr>
        <p:spPr>
          <a:xfrm>
            <a:off x="548640" y="182880"/>
            <a:ext cx="8229600" cy="256032"/>
          </a:xfrm>
          <a:prstGeom prst="rect">
            <a:avLst/>
          </a:prstGeom>
          <a:noFill/>
          <a:ln/>
        </p:spPr>
        <p:txBody>
          <a:bodyPr wrap="square" lIns="0" tIns="0" rIns="0" bIns="0" rtlCol="0" anchor="ctr"/>
          <a:lstStyle/>
          <a:p>
            <a:pPr indent="0" marL="0">
              <a:buNone/>
            </a:pPr>
            <a:r>
              <a:rPr lang="en-US" sz="1100" b="1" spc="150" kern="0" dirty="0">
                <a:solidFill>
                  <a:schemeClr val="accent1"/>
                </a:solidFill>
              </a:rPr>
              <a:t>VII. LE TRAJET DES DONNÉES DANS LA BASE</a:t>
            </a:r>
            <a:endParaRPr lang="en-US" sz="1100" dirty="0"/>
          </a:p>
        </p:txBody>
      </p:sp>
      <p:sp>
        <p:nvSpPr>
          <p:cNvPr id="3" name="Text 0"/>
          <p:cNvSpPr/>
          <p:nvPr>
            <p:ph idx="100" type="title" hasCustomPrompt="1"/>
          </p:nvPr>
        </p:nvSpPr>
        <p:spPr>
          <a:xfrm>
            <a:off x="548640" y="438912"/>
            <a:ext cx="11091672" cy="54864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c) La recherche : de Claude aux cas similaires</a:t>
            </a:r>
            <a:endParaRPr lang="en-US" sz="2800" dirty="0"/>
          </a:p>
        </p:txBody>
      </p:sp>
      <p:pic>
        <p:nvPicPr>
          <p:cNvPr id="4" name="icone-objectif" descr="preencoded.png">    </p:cNvPr>
          <p:cNvPicPr>
            <a:picLocks noChangeAspect="1"/>
          </p:cNvPicPr>
          <p:nvPr/>
        </p:nvPicPr>
        <p:blipFill>
          <a:blip r:embed="rId1"/>
          <a:stretch>
            <a:fillRect/>
          </a:stretch>
        </p:blipFill>
        <p:spPr>
          <a:xfrm>
            <a:off x="548640" y="1033272"/>
            <a:ext cx="237744" cy="237744"/>
          </a:xfrm>
          <a:prstGeom prst="rect">
            <a:avLst/>
          </a:prstGeom>
        </p:spPr>
      </p:pic>
      <p:sp>
        <p:nvSpPr>
          <p:cNvPr id="5" name="objectif"/>
          <p:cNvSpPr txBox="1"/>
          <p:nvPr/>
        </p:nvSpPr>
        <p:spPr>
          <a:xfrm>
            <a:off x="868680" y="987552"/>
            <a:ext cx="10771632" cy="329184"/>
          </a:xfrm>
          <a:prstGeom prst="rect">
            <a:avLst/>
          </a:prstGeom>
          <a:noFill/>
          <a:ln/>
        </p:spPr>
        <p:txBody>
          <a:bodyPr wrap="square" lIns="0" tIns="0" rIns="0" bIns="0" rtlCol="0" anchor="ctr"/>
          <a:lstStyle/>
          <a:p>
            <a:pPr indent="0" marL="0">
              <a:buNone/>
            </a:pPr>
            <a:r>
              <a:rPr lang="en-US" sz="1400" b="1" i="1" dirty="0">
                <a:solidFill>
                  <a:schemeClr val="tx2"/>
                </a:solidFill>
              </a:rPr>
              <a:t>Objectif : </a:t>
            </a:r>
            <a:pPr indent="0" marL="0">
              <a:buNone/>
            </a:pPr>
            <a:r>
              <a:rPr lang="en-US" sz="1400" i="1" dirty="0">
                <a:solidFill>
                  <a:schemeClr val="tx2"/>
                </a:solidFill>
              </a:rPr>
              <a:t>Voir comment la base retrouve les cas à partir du problème reformulé par Claude.</a:t>
            </a:r>
            <a:endParaRPr lang="en-US" sz="14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34</a:t>
            </a:fld>
            <a:endParaRPr lang="en-US"/>
          </a:p>
        </p:txBody>
      </p:sp>
      <p:pic>
        <p:nvPicPr>
          <p:cNvPr id="26" name="schema-donnees" descr="dbc3.png"/>
          <p:cNvPicPr>
            <a:picLocks noChangeAspect="1"/>
          </p:cNvPicPr>
          <p:nvPr/>
        </p:nvPicPr>
        <p:blipFill>
          <a:blip r:embed="rId9"/>
          <a:stretch>
            <a:fillRect/>
          </a:stretch>
        </p:blipFill>
        <p:spPr>
          <a:xfrm>
            <a:off x="2315570" y="1389888"/>
            <a:ext cx="7557811" cy="489204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partie"/>
          <p:cNvSpPr txBox="1"/>
          <p:nvPr/>
        </p:nvSpPr>
        <p:spPr>
          <a:xfrm>
            <a:off x="548640" y="182880"/>
            <a:ext cx="8229600" cy="256032"/>
          </a:xfrm>
          <a:prstGeom prst="rect">
            <a:avLst/>
          </a:prstGeom>
          <a:noFill/>
          <a:ln/>
        </p:spPr>
        <p:txBody>
          <a:bodyPr wrap="square" lIns="0" tIns="0" rIns="0" bIns="0" rtlCol="0" anchor="ctr"/>
          <a:lstStyle/>
          <a:p>
            <a:pPr indent="0" marL="0">
              <a:buNone/>
            </a:pPr>
            <a:r>
              <a:rPr lang="en-US" sz="1100" b="1" spc="150" kern="0" dirty="0">
                <a:solidFill>
                  <a:schemeClr val="accent1"/>
                </a:solidFill>
              </a:rPr>
              <a:t>VII. LE TRAJET DES DONNÉES DANS LA BASE</a:t>
            </a:r>
            <a:endParaRPr lang="en-US" sz="1100" dirty="0"/>
          </a:p>
        </p:txBody>
      </p:sp>
      <p:sp>
        <p:nvSpPr>
          <p:cNvPr id="3" name="Text 0"/>
          <p:cNvSpPr/>
          <p:nvPr>
            <p:ph idx="100" type="title" hasCustomPrompt="1"/>
          </p:nvPr>
        </p:nvSpPr>
        <p:spPr>
          <a:xfrm>
            <a:off x="548640" y="438912"/>
            <a:ext cx="11091672" cy="54864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d) La réponse : ce qui est enregistré en base</a:t>
            </a:r>
            <a:endParaRPr lang="en-US" sz="2800" dirty="0"/>
          </a:p>
        </p:txBody>
      </p:sp>
      <p:pic>
        <p:nvPicPr>
          <p:cNvPr id="4" name="icone-objectif" descr="preencoded.png">    </p:cNvPr>
          <p:cNvPicPr>
            <a:picLocks noChangeAspect="1"/>
          </p:cNvPicPr>
          <p:nvPr/>
        </p:nvPicPr>
        <p:blipFill>
          <a:blip r:embed="rId1"/>
          <a:stretch>
            <a:fillRect/>
          </a:stretch>
        </p:blipFill>
        <p:spPr>
          <a:xfrm>
            <a:off x="548640" y="1033272"/>
            <a:ext cx="237744" cy="237744"/>
          </a:xfrm>
          <a:prstGeom prst="rect">
            <a:avLst/>
          </a:prstGeom>
        </p:spPr>
      </p:pic>
      <p:sp>
        <p:nvSpPr>
          <p:cNvPr id="5" name="objectif"/>
          <p:cNvSpPr txBox="1"/>
          <p:nvPr/>
        </p:nvSpPr>
        <p:spPr>
          <a:xfrm>
            <a:off x="868680" y="987552"/>
            <a:ext cx="10771632" cy="329184"/>
          </a:xfrm>
          <a:prstGeom prst="rect">
            <a:avLst/>
          </a:prstGeom>
          <a:noFill/>
          <a:ln/>
        </p:spPr>
        <p:txBody>
          <a:bodyPr wrap="square" lIns="0" tIns="0" rIns="0" bIns="0" rtlCol="0" anchor="ctr"/>
          <a:lstStyle/>
          <a:p>
            <a:pPr indent="0" marL="0">
              <a:buNone/>
            </a:pPr>
            <a:r>
              <a:rPr lang="en-US" sz="1400" b="1" i="1" dirty="0">
                <a:solidFill>
                  <a:schemeClr val="tx2"/>
                </a:solidFill>
              </a:rPr>
              <a:t>Objectif : </a:t>
            </a:r>
            <a:pPr indent="0" marL="0">
              <a:buNone/>
            </a:pPr>
            <a:r>
              <a:rPr lang="en-US" sz="1400" i="1" dirty="0">
                <a:solidFill>
                  <a:schemeClr val="tx2"/>
                </a:solidFill>
              </a:rPr>
              <a:t>Voir ce que Claude reçoit, ce qui est enregistré, et comment la suite réutilise la mémoire.</a:t>
            </a:r>
            <a:endParaRPr lang="en-US" sz="14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34</a:t>
            </a:fld>
            <a:endParaRPr lang="en-US"/>
          </a:p>
        </p:txBody>
      </p:sp>
      <p:pic>
        <p:nvPicPr>
          <p:cNvPr id="26" name="schema-donnees" descr="dbc4.png"/>
          <p:cNvPicPr>
            <a:picLocks noChangeAspect="1"/>
          </p:cNvPicPr>
          <p:nvPr/>
        </p:nvPicPr>
        <p:blipFill>
          <a:blip r:embed="rId9"/>
          <a:stretch>
            <a:fillRect/>
          </a:stretch>
        </p:blipFill>
        <p:spPr>
          <a:xfrm>
            <a:off x="1244608" y="1389888"/>
            <a:ext cx="9699734" cy="489204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xt-877"/>
          <p:cNvSpPr txBox="1"/>
          <p:nvPr/>
        </p:nvSpPr>
        <p:spPr>
          <a:xfrm>
            <a:off x="731520" y="1097280"/>
            <a:ext cx="3657600" cy="320040"/>
          </a:xfrm>
          <a:prstGeom prst="rect">
            <a:avLst/>
          </a:prstGeom>
          <a:noFill/>
          <a:ln/>
        </p:spPr>
        <p:txBody>
          <a:bodyPr wrap="square" lIns="0" tIns="0" rIns="0" bIns="0" rtlCol="0" anchor="t"/>
          <a:lstStyle/>
          <a:p>
            <a:pPr indent="0" marL="0">
              <a:buNone/>
            </a:pPr>
            <a:r>
              <a:rPr lang="en-US" sz="1400" b="1" spc="200" kern="0" dirty="0">
                <a:solidFill>
                  <a:schemeClr val="accent2"/>
                </a:solidFill>
              </a:rPr>
              <a:t>PARTIE</a:t>
            </a:r>
            <a:endParaRPr lang="en-US" sz="1400" dirty="0"/>
          </a:p>
        </p:txBody>
      </p:sp>
      <p:sp>
        <p:nvSpPr>
          <p:cNvPr id="3" name="txt-878"/>
          <p:cNvSpPr txBox="1"/>
          <p:nvPr/>
        </p:nvSpPr>
        <p:spPr>
          <a:xfrm>
            <a:off x="731520" y="1417320"/>
            <a:ext cx="3657600" cy="1280160"/>
          </a:xfrm>
          <a:prstGeom prst="rect">
            <a:avLst/>
          </a:prstGeom>
          <a:noFill/>
          <a:ln/>
        </p:spPr>
        <p:txBody>
          <a:bodyPr wrap="square" lIns="0" tIns="0" rIns="0" bIns="0" rtlCol="0" anchor="t"/>
          <a:lstStyle/>
          <a:p>
            <a:pPr indent="0" marL="0">
              <a:buNone/>
            </a:pPr>
            <a:r>
              <a:rPr lang="en-US" sz="8800" b="1" dirty="0">
                <a:solidFill>
                  <a:schemeClr val="accent1"/>
                </a:solidFill>
                <a:latin typeface="Arial" pitchFamily="34" charset="0"/>
                <a:ea typeface="Arial" pitchFamily="34" charset="-122"/>
                <a:cs typeface="Arial" pitchFamily="34" charset="-120"/>
              </a:rPr>
              <a:t>VIII</a:t>
            </a:r>
            <a:endParaRPr lang="en-US" sz="8800" dirty="0"/>
          </a:p>
        </p:txBody>
      </p:sp>
      <p:sp>
        <p:nvSpPr>
          <p:cNvPr id="4" name="txt-879"/>
          <p:cNvSpPr txBox="1"/>
          <p:nvPr/>
        </p:nvSpPr>
        <p:spPr>
          <a:xfrm>
            <a:off x="731520" y="2697480"/>
            <a:ext cx="5486400" cy="1097280"/>
          </a:xfrm>
          <a:prstGeom prst="rect">
            <a:avLst/>
          </a:prstGeom>
          <a:noFill/>
          <a:ln/>
        </p:spPr>
        <p:txBody>
          <a:bodyPr wrap="square" lIns="0" tIns="0" rIns="0" bIns="0" rtlCol="0" anchor="t"/>
          <a:lstStyle/>
          <a:p>
            <a:pPr indent="0" marL="0">
              <a:buNone/>
            </a:pPr>
            <a:r>
              <a:rPr lang="en-US" sz="3000" b="1" dirty="0">
                <a:solidFill>
                  <a:schemeClr val="bg1"/>
                </a:solidFill>
                <a:latin typeface="Arial" pitchFamily="34" charset="0"/>
                <a:ea typeface="Arial" pitchFamily="34" charset="-122"/>
                <a:cs typeface="Arial" pitchFamily="34" charset="-120"/>
              </a:rPr>
              <a:t>L'optimisation du système</a:t>
            </a:r>
            <a:endParaRPr lang="en-US" sz="3000" dirty="0"/>
          </a:p>
        </p:txBody>
      </p:sp>
      <p:sp>
        <p:nvSpPr>
          <p:cNvPr id="5" name="txt-880"/>
          <p:cNvSpPr txBox="1"/>
          <p:nvPr/>
        </p:nvSpPr>
        <p:spPr>
          <a:xfrm>
            <a:off x="731520" y="3931920"/>
            <a:ext cx="5303520" cy="1188720"/>
          </a:xfrm>
          <a:prstGeom prst="rect">
            <a:avLst/>
          </a:prstGeom>
          <a:noFill/>
          <a:ln/>
        </p:spPr>
        <p:txBody>
          <a:bodyPr wrap="square" lIns="0" tIns="0" rIns="0" bIns="0" rtlCol="0" anchor="t"/>
          <a:lstStyle/>
          <a:p>
            <a:pPr indent="0" marL="0">
              <a:buNone/>
            </a:pPr>
            <a:r>
              <a:rPr lang="en-US" sz="1600" dirty="0">
                <a:solidFill>
                  <a:srgbClr val="C9D3D9"/>
                </a:solidFill>
              </a:rPr>
              <a:t>Comprendre comment ATM-BOT limite ses dépenses d'IA, et pourquoi le cache de Claude est indispensable.</a:t>
            </a:r>
            <a:endParaRPr lang="en-US" sz="1600" dirty="0"/>
          </a:p>
        </p:txBody>
      </p:sp>
      <p:sp>
        <p:nvSpPr>
          <p:cNvPr id="6" name="txt-881"/>
          <p:cNvSpPr txBox="1"/>
          <p:nvPr/>
        </p:nvSpPr>
        <p:spPr>
          <a:xfrm>
            <a:off x="6766560" y="1463040"/>
            <a:ext cx="4846320" cy="365760"/>
          </a:xfrm>
          <a:prstGeom prst="rect">
            <a:avLst/>
          </a:prstGeom>
          <a:noFill/>
          <a:ln/>
        </p:spPr>
        <p:txBody>
          <a:bodyPr wrap="square" lIns="0" tIns="0" rIns="0" bIns="0" rtlCol="0" anchor="t"/>
          <a:lstStyle/>
          <a:p>
            <a:pPr indent="0" marL="0">
              <a:buNone/>
            </a:pPr>
            <a:r>
              <a:rPr lang="en-US" sz="1400" b="1" dirty="0">
                <a:solidFill>
                  <a:schemeClr val="accent2"/>
                </a:solidFill>
              </a:rPr>
              <a:t>Dans cette partie</a:t>
            </a:r>
            <a:endParaRPr lang="en-US" sz="1400" dirty="0"/>
          </a:p>
        </p:txBody>
      </p:sp>
      <p:sp>
        <p:nvSpPr>
          <p:cNvPr id="7" name="Shape 5"/>
          <p:cNvSpPr/>
          <p:nvPr/>
        </p:nvSpPr>
        <p:spPr>
          <a:xfrm>
            <a:off x="6766560" y="1965960"/>
            <a:ext cx="4873752" cy="530352"/>
          </a:xfrm>
          <a:prstGeom prst="roundRect">
            <a:avLst>
              <a:gd name="adj" fmla="val 17241"/>
            </a:avLst>
          </a:prstGeom>
          <a:solidFill>
            <a:srgbClr val="FFFFFF">
              <a:alpha val="8000"/>
            </a:srgbClr>
          </a:solidFill>
          <a:ln/>
        </p:spPr>
        <p:txBody>
          <a:bodyPr/>
          <a:p/>
        </p:txBody>
      </p:sp>
      <p:sp>
        <p:nvSpPr>
          <p:cNvPr id="8" name="txt-882"/>
          <p:cNvSpPr txBox="1"/>
          <p:nvPr/>
        </p:nvSpPr>
        <p:spPr>
          <a:xfrm>
            <a:off x="6949440" y="1965960"/>
            <a:ext cx="4572000" cy="530352"/>
          </a:xfrm>
          <a:prstGeom prst="rect">
            <a:avLst/>
          </a:prstGeom>
          <a:noFill/>
          <a:ln/>
        </p:spPr>
        <p:txBody>
          <a:bodyPr wrap="square" lIns="0" tIns="0" rIns="0" bIns="0" rtlCol="0" anchor="ctr"/>
          <a:lstStyle/>
          <a:p>
            <a:pPr indent="0" marL="0">
              <a:buNone/>
            </a:pPr>
            <a:r>
              <a:rPr lang="en-US" sz="1500" dirty="0">
                <a:solidFill>
                  <a:schemeClr val="bg1"/>
                </a:solidFill>
              </a:rPr>
              <a:t>a) Trois chemins de réponse, trois niveaux de coût</a:t>
            </a:r>
            <a:endParaRPr lang="en-US" sz="1500" dirty="0"/>
          </a:p>
        </p:txBody>
      </p:sp>
      <p:sp>
        <p:nvSpPr>
          <p:cNvPr id="9" name="Shape 7"/>
          <p:cNvSpPr/>
          <p:nvPr/>
        </p:nvSpPr>
        <p:spPr>
          <a:xfrm>
            <a:off x="6766560" y="2606039"/>
            <a:ext cx="4873752" cy="530352"/>
          </a:xfrm>
          <a:prstGeom prst="roundRect">
            <a:avLst>
              <a:gd name="adj" fmla="val 17241"/>
            </a:avLst>
          </a:prstGeom>
          <a:solidFill>
            <a:srgbClr val="FFFFFF">
              <a:alpha val="8000"/>
            </a:srgbClr>
          </a:solidFill>
          <a:ln/>
        </p:spPr>
        <p:txBody>
          <a:bodyPr/>
          <a:p/>
        </p:txBody>
      </p:sp>
      <p:sp>
        <p:nvSpPr>
          <p:cNvPr id="10" name="txt-883"/>
          <p:cNvSpPr txBox="1"/>
          <p:nvPr/>
        </p:nvSpPr>
        <p:spPr>
          <a:xfrm>
            <a:off x="6949440" y="2606039"/>
            <a:ext cx="4572000" cy="530352"/>
          </a:xfrm>
          <a:prstGeom prst="rect">
            <a:avLst/>
          </a:prstGeom>
          <a:noFill/>
          <a:ln/>
        </p:spPr>
        <p:txBody>
          <a:bodyPr wrap="square" lIns="0" tIns="0" rIns="0" bIns="0" rtlCol="0" anchor="ctr"/>
          <a:lstStyle/>
          <a:p>
            <a:pPr indent="0" marL="0">
              <a:buNone/>
            </a:pPr>
            <a:r>
              <a:rPr lang="en-US" sz="1500" dirty="0">
                <a:solidFill>
                  <a:schemeClr val="bg1"/>
                </a:solidFill>
              </a:rPr>
              <a:t>b) Le problème : Claude ne garde aucune mémoire</a:t>
            </a:r>
            <a:endParaRPr lang="en-US" sz="1500" dirty="0"/>
          </a:p>
        </p:txBody>
      </p:sp>
      <p:sp>
        <p:nvSpPr>
          <p:cNvPr id="11" name="Shape 9"/>
          <p:cNvSpPr/>
          <p:nvPr/>
        </p:nvSpPr>
        <p:spPr>
          <a:xfrm>
            <a:off x="6766560" y="3246120"/>
            <a:ext cx="4873752" cy="530352"/>
          </a:xfrm>
          <a:prstGeom prst="roundRect">
            <a:avLst>
              <a:gd name="adj" fmla="val 17241"/>
            </a:avLst>
          </a:prstGeom>
          <a:solidFill>
            <a:srgbClr val="FFFFFF">
              <a:alpha val="8000"/>
            </a:srgbClr>
          </a:solidFill>
          <a:ln/>
        </p:spPr>
        <p:txBody>
          <a:bodyPr/>
          <a:p/>
        </p:txBody>
      </p:sp>
      <p:sp>
        <p:nvSpPr>
          <p:cNvPr id="12" name="txt-884"/>
          <p:cNvSpPr txBox="1"/>
          <p:nvPr/>
        </p:nvSpPr>
        <p:spPr>
          <a:xfrm>
            <a:off x="6949440" y="3246120"/>
            <a:ext cx="4572000" cy="530352"/>
          </a:xfrm>
          <a:prstGeom prst="rect">
            <a:avLst/>
          </a:prstGeom>
          <a:noFill/>
          <a:ln/>
        </p:spPr>
        <p:txBody>
          <a:bodyPr wrap="square" lIns="0" tIns="0" rIns="0" bIns="0" rtlCol="0" anchor="ctr"/>
          <a:lstStyle/>
          <a:p>
            <a:pPr indent="0" marL="0">
              <a:buNone/>
            </a:pPr>
            <a:r>
              <a:rPr lang="en-US" sz="1500" dirty="0">
                <a:solidFill>
                  <a:schemeClr val="bg1"/>
                </a:solidFill>
              </a:rPr>
              <a:t>c) La solution : le cache de prompt</a:t>
            </a:r>
            <a:endParaRPr lang="en-US" sz="1500" dirty="0"/>
          </a:p>
        </p:txBody>
      </p:sp>
      <p:sp>
        <p:nvSpPr>
          <p:cNvPr id="11" name="Shape 9"/>
          <p:cNvSpPr/>
          <p:nvPr/>
        </p:nvSpPr>
        <p:spPr>
          <a:xfrm>
            <a:off x="6766560" y="3886200"/>
            <a:ext cx="4873752" cy="530352"/>
          </a:xfrm>
          <a:prstGeom prst="roundRect">
            <a:avLst>
              <a:gd name="adj" fmla="val 17241"/>
            </a:avLst>
          </a:prstGeom>
          <a:solidFill>
            <a:srgbClr val="FFFFFF">
              <a:alpha val="8000"/>
            </a:srgbClr>
          </a:solidFill>
          <a:ln/>
        </p:spPr>
        <p:txBody>
          <a:bodyPr/>
          <a:p/>
        </p:txBody>
      </p:sp>
      <p:sp>
        <p:nvSpPr>
          <p:cNvPr id="12" name="txt-884"/>
          <p:cNvSpPr txBox="1"/>
          <p:nvPr/>
        </p:nvSpPr>
        <p:spPr>
          <a:xfrm>
            <a:off x="6949440" y="3886200"/>
            <a:ext cx="4572000" cy="530352"/>
          </a:xfrm>
          <a:prstGeom prst="rect">
            <a:avLst/>
          </a:prstGeom>
          <a:noFill/>
          <a:ln/>
        </p:spPr>
        <p:txBody>
          <a:bodyPr wrap="square" lIns="0" tIns="0" rIns="0" bIns="0" rtlCol="0" anchor="ctr"/>
          <a:lstStyle/>
          <a:p>
            <a:pPr indent="0" marL="0">
              <a:buNone/>
            </a:pPr>
            <a:r>
              <a:rPr lang="en-US" sz="1500" dirty="0">
                <a:solidFill>
                  <a:schemeClr val="bg1"/>
                </a:solidFill>
              </a:rPr>
              <a:t>d) Le gain chiffré sur une conversation</a:t>
            </a:r>
            <a:endParaRPr lang="en-US" sz="1500" dirty="0"/>
          </a:p>
        </p:txBody>
      </p:sp>
      <p:sp>
        <p:nvSpPr>
          <p:cNvPr id="11" name="Shape 9"/>
          <p:cNvSpPr/>
          <p:nvPr/>
        </p:nvSpPr>
        <p:spPr>
          <a:xfrm>
            <a:off x="6766560" y="4526279"/>
            <a:ext cx="4873752" cy="530352"/>
          </a:xfrm>
          <a:prstGeom prst="roundRect">
            <a:avLst>
              <a:gd name="adj" fmla="val 17241"/>
            </a:avLst>
          </a:prstGeom>
          <a:solidFill>
            <a:srgbClr val="FFFFFF">
              <a:alpha val="8000"/>
            </a:srgbClr>
          </a:solidFill>
          <a:ln/>
        </p:spPr>
        <p:txBody>
          <a:bodyPr/>
          <a:p/>
        </p:txBody>
      </p:sp>
      <p:sp>
        <p:nvSpPr>
          <p:cNvPr id="12" name="txt-884"/>
          <p:cNvSpPr txBox="1"/>
          <p:nvPr/>
        </p:nvSpPr>
        <p:spPr>
          <a:xfrm>
            <a:off x="6949440" y="4526279"/>
            <a:ext cx="4572000" cy="530352"/>
          </a:xfrm>
          <a:prstGeom prst="rect">
            <a:avLst/>
          </a:prstGeom>
          <a:noFill/>
          <a:ln/>
        </p:spPr>
        <p:txBody>
          <a:bodyPr wrap="square" lIns="0" tIns="0" rIns="0" bIns="0" rtlCol="0" anchor="ctr"/>
          <a:lstStyle/>
          <a:p>
            <a:pPr indent="0" marL="0">
              <a:buNone/>
            </a:pPr>
            <a:r>
              <a:rPr lang="en-US" sz="1500" dirty="0">
                <a:solidFill>
                  <a:schemeClr val="bg1"/>
                </a:solidFill>
              </a:rPr>
              <a:t>e) Mesurer l'économie et ses limites</a:t>
            </a:r>
            <a:endParaRPr lang="en-US" sz="15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partie"/>
          <p:cNvSpPr txBox="1"/>
          <p:nvPr/>
        </p:nvSpPr>
        <p:spPr>
          <a:xfrm>
            <a:off x="548640" y="182880"/>
            <a:ext cx="8229600" cy="256032"/>
          </a:xfrm>
          <a:prstGeom prst="rect">
            <a:avLst/>
          </a:prstGeom>
          <a:noFill/>
          <a:ln/>
        </p:spPr>
        <p:txBody>
          <a:bodyPr wrap="square" lIns="0" tIns="0" rIns="0" bIns="0" rtlCol="0" anchor="ctr"/>
          <a:lstStyle/>
          <a:p>
            <a:pPr indent="0" marL="0">
              <a:buNone/>
            </a:pPr>
            <a:r>
              <a:rPr lang="en-US" sz="1100" b="1" spc="150" kern="0" dirty="0">
                <a:solidFill>
                  <a:schemeClr val="accent1"/>
                </a:solidFill>
              </a:rPr>
              <a:t>VIII. L'OPTIMISATION DU SYSTÈME</a:t>
            </a:r>
            <a:endParaRPr lang="en-US" sz="1100" dirty="0"/>
          </a:p>
        </p:txBody>
      </p:sp>
      <p:sp>
        <p:nvSpPr>
          <p:cNvPr id="3" name="Text 0"/>
          <p:cNvSpPr/>
          <p:nvPr>
            <p:ph idx="100" type="title" hasCustomPrompt="1"/>
          </p:nvPr>
        </p:nvSpPr>
        <p:spPr>
          <a:xfrm>
            <a:off x="548640" y="438912"/>
            <a:ext cx="11091672" cy="54864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a) Trois chemins de réponse, trois niveaux de coût</a:t>
            </a:r>
            <a:endParaRPr lang="en-US" sz="2800" dirty="0"/>
          </a:p>
        </p:txBody>
      </p:sp>
      <p:pic>
        <p:nvPicPr>
          <p:cNvPr id="4" name="icone-objectif" descr="preencoded.png">    </p:cNvPr>
          <p:cNvPicPr>
            <a:picLocks noChangeAspect="1"/>
          </p:cNvPicPr>
          <p:nvPr/>
        </p:nvPicPr>
        <p:blipFill>
          <a:blip r:embed="rId1"/>
          <a:stretch>
            <a:fillRect/>
          </a:stretch>
        </p:blipFill>
        <p:spPr>
          <a:xfrm>
            <a:off x="548640" y="1033272"/>
            <a:ext cx="237744" cy="237744"/>
          </a:xfrm>
          <a:prstGeom prst="rect">
            <a:avLst/>
          </a:prstGeom>
        </p:spPr>
      </p:pic>
      <p:sp>
        <p:nvSpPr>
          <p:cNvPr id="5" name="objectif"/>
          <p:cNvSpPr txBox="1"/>
          <p:nvPr/>
        </p:nvSpPr>
        <p:spPr>
          <a:xfrm>
            <a:off x="868680" y="987552"/>
            <a:ext cx="10771632" cy="329184"/>
          </a:xfrm>
          <a:prstGeom prst="rect">
            <a:avLst/>
          </a:prstGeom>
          <a:noFill/>
          <a:ln/>
        </p:spPr>
        <p:txBody>
          <a:bodyPr wrap="square" lIns="0" tIns="0" rIns="0" bIns="0" rtlCol="0" anchor="ctr"/>
          <a:lstStyle/>
          <a:p>
            <a:pPr indent="0" marL="0">
              <a:buNone/>
            </a:pPr>
            <a:r>
              <a:rPr lang="en-US" sz="1400" b="1" i="1" dirty="0">
                <a:solidFill>
                  <a:schemeClr val="tx2"/>
                </a:solidFill>
              </a:rPr>
              <a:t>Objectif : </a:t>
            </a:r>
            <a:pPr indent="0" marL="0">
              <a:buNone/>
            </a:pPr>
            <a:r>
              <a:rPr lang="en-US" sz="1400" i="1" dirty="0">
                <a:solidFill>
                  <a:schemeClr val="tx2"/>
                </a:solidFill>
              </a:rPr>
              <a:t>Voir que l'IA n'est appelée que lorsqu'elle est vraiment utile.</a:t>
            </a:r>
            <a:endParaRPr lang="en-US" sz="14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34</a:t>
            </a:fld>
            <a:endParaRPr lang="en-US"/>
          </a:p>
        </p:txBody>
      </p:sp>
      <p:sp>
        <p:nvSpPr>
          <p:cNvPr id="26" name="Rounded Rectangle 25"/>
          <p:cNvSpPr/>
          <p:nvPr/>
        </p:nvSpPr>
        <p:spPr>
          <a:xfrm>
            <a:off x="548640" y="1463040"/>
            <a:ext cx="11091672" cy="685800"/>
          </a:xfrm>
          <a:prstGeom prst="roundRect">
            <a:avLst>
              <a:gd name="adj" fmla="val 8000"/>
            </a:avLst>
          </a:prstGeom>
          <a:solidFill>
            <a:srgbClr val="EE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49808" y="1568196"/>
            <a:ext cx="475488" cy="475488"/>
          </a:xfrm>
          <a:prstGeom prst="ellipse">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image.png"/>
          <p:cNvPicPr>
            <a:picLocks noChangeAspect="1"/>
          </p:cNvPicPr>
          <p:nvPr/>
        </p:nvPicPr>
        <p:blipFill>
          <a:blip r:embed="rId12"/>
          <a:stretch>
            <a:fillRect/>
          </a:stretch>
        </p:blipFill>
        <p:spPr>
          <a:xfrm>
            <a:off x="854415" y="1672803"/>
            <a:ext cx="266273" cy="266273"/>
          </a:xfrm>
          <a:prstGeom prst="rect">
            <a:avLst/>
          </a:prstGeom>
        </p:spPr>
      </p:pic>
      <p:sp>
        <p:nvSpPr>
          <p:cNvPr id="29" name="TextBox 28"/>
          <p:cNvSpPr txBox="1"/>
          <p:nvPr/>
        </p:nvSpPr>
        <p:spPr>
          <a:xfrm>
            <a:off x="1417320" y="1463040"/>
            <a:ext cx="10058400" cy="685800"/>
          </a:xfrm>
          <a:prstGeom prst="rect">
            <a:avLst/>
          </a:prstGeom>
          <a:noFill/>
        </p:spPr>
        <p:txBody>
          <a:bodyPr wrap="square" anchor="ctr" lIns="0" rIns="0" tIns="0" bIns="0">
            <a:spAutoFit/>
          </a:bodyPr>
          <a:lstStyle/>
          <a:p>
            <a:r>
              <a:rPr sz="1350" b="1" i="0">
                <a:solidFill>
                  <a:srgbClr val="1B2630"/>
                </a:solidFill>
              </a:rPr>
              <a:t>Avant tout appel : un contrôle local. </a:t>
            </a:r>
            <a:r>
              <a:rPr sz="1350" b="0" i="0">
                <a:solidFill>
                  <a:srgbClr val="1B2630"/>
                </a:solidFill>
              </a:rPr>
              <a:t>Un message vide, du bruit ou des touches au hasard sont rejetés sans appeler l'IA : aucun jeton dépensé.</a:t>
            </a:r>
          </a:p>
        </p:txBody>
      </p:sp>
      <p:sp>
        <p:nvSpPr>
          <p:cNvPr id="30" name="Rounded Rectangle 29"/>
          <p:cNvSpPr/>
          <p:nvPr/>
        </p:nvSpPr>
        <p:spPr>
          <a:xfrm>
            <a:off x="548640" y="2331720"/>
            <a:ext cx="3544824" cy="3840480"/>
          </a:xfrm>
          <a:prstGeom prst="roundRect">
            <a:avLst>
              <a:gd name="adj" fmla="val 8000"/>
            </a:avLst>
          </a:prstGeom>
          <a:solidFill>
            <a:srgbClr val="EE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22959" y="2606039"/>
            <a:ext cx="640080" cy="640080"/>
          </a:xfrm>
          <a:prstGeom prst="ellipse">
            <a:avLst/>
          </a:prstGeom>
          <a:solidFill>
            <a:srgbClr val="4E7A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13"/>
          <a:stretch>
            <a:fillRect/>
          </a:stretch>
        </p:blipFill>
        <p:spPr>
          <a:xfrm>
            <a:off x="963777" y="2746857"/>
            <a:ext cx="358444" cy="358444"/>
          </a:xfrm>
          <a:prstGeom prst="rect">
            <a:avLst/>
          </a:prstGeom>
        </p:spPr>
      </p:pic>
      <p:sp>
        <p:nvSpPr>
          <p:cNvPr id="33" name="TextBox 32"/>
          <p:cNvSpPr txBox="1"/>
          <p:nvPr/>
        </p:nvSpPr>
        <p:spPr>
          <a:xfrm>
            <a:off x="1600200" y="2606039"/>
            <a:ext cx="2310384" cy="640080"/>
          </a:xfrm>
          <a:prstGeom prst="rect">
            <a:avLst/>
          </a:prstGeom>
          <a:noFill/>
        </p:spPr>
        <p:txBody>
          <a:bodyPr wrap="square" anchor="ctr" lIns="0" rIns="0" tIns="0" bIns="0">
            <a:spAutoFit/>
          </a:bodyPr>
          <a:lstStyle/>
          <a:p>
            <a:r>
              <a:rPr sz="1800" b="1" i="0">
                <a:solidFill>
                  <a:srgbClr val="1B2630"/>
                </a:solidFill>
              </a:rPr>
              <a:t>Réponse enregistrée</a:t>
            </a:r>
          </a:p>
        </p:txBody>
      </p:sp>
      <p:sp>
        <p:nvSpPr>
          <p:cNvPr id="34" name="TextBox 33"/>
          <p:cNvSpPr txBox="1"/>
          <p:nvPr/>
        </p:nvSpPr>
        <p:spPr>
          <a:xfrm>
            <a:off x="822959" y="3429000"/>
            <a:ext cx="2996184" cy="256032"/>
          </a:xfrm>
          <a:prstGeom prst="rect">
            <a:avLst/>
          </a:prstGeom>
          <a:noFill/>
        </p:spPr>
        <p:txBody>
          <a:bodyPr wrap="square" anchor="t" lIns="0" rIns="0" tIns="0" bIns="0">
            <a:spAutoFit/>
          </a:bodyPr>
          <a:lstStyle/>
          <a:p>
            <a:r>
              <a:rPr sz="1050" b="1" i="0">
                <a:solidFill>
                  <a:srgbClr val="6B7A86"/>
                </a:solidFill>
              </a:rPr>
              <a:t>DÉCLENCHEUR</a:t>
            </a:r>
          </a:p>
        </p:txBody>
      </p:sp>
      <p:sp>
        <p:nvSpPr>
          <p:cNvPr id="35" name="TextBox 34"/>
          <p:cNvSpPr txBox="1"/>
          <p:nvPr/>
        </p:nvSpPr>
        <p:spPr>
          <a:xfrm>
            <a:off x="822959" y="3685031"/>
            <a:ext cx="2996184" cy="594360"/>
          </a:xfrm>
          <a:prstGeom prst="rect">
            <a:avLst/>
          </a:prstGeom>
          <a:noFill/>
        </p:spPr>
        <p:txBody>
          <a:bodyPr wrap="square" anchor="t" lIns="0" rIns="0" tIns="0" bIns="0">
            <a:spAutoFit/>
          </a:bodyPr>
          <a:lstStyle/>
          <a:p>
            <a:r>
              <a:rPr sz="1350" b="0" i="0">
                <a:solidFill>
                  <a:srgbClr val="2E4A5C"/>
                </a:solidFill>
              </a:rPr>
              <a:t>Clic sur un code d'erreur ou une panne fréquente</a:t>
            </a:r>
          </a:p>
        </p:txBody>
      </p:sp>
      <p:sp>
        <p:nvSpPr>
          <p:cNvPr id="36" name="TextBox 35"/>
          <p:cNvSpPr txBox="1"/>
          <p:nvPr/>
        </p:nvSpPr>
        <p:spPr>
          <a:xfrm>
            <a:off x="822959" y="4206240"/>
            <a:ext cx="2996184" cy="256032"/>
          </a:xfrm>
          <a:prstGeom prst="rect">
            <a:avLst/>
          </a:prstGeom>
          <a:noFill/>
        </p:spPr>
        <p:txBody>
          <a:bodyPr wrap="square" anchor="t" lIns="0" rIns="0" tIns="0" bIns="0">
            <a:spAutoFit/>
          </a:bodyPr>
          <a:lstStyle/>
          <a:p>
            <a:r>
              <a:rPr sz="1050" b="1" i="0">
                <a:solidFill>
                  <a:srgbClr val="6B7A86"/>
                </a:solidFill>
              </a:rPr>
              <a:t>QUI RÉPOND</a:t>
            </a:r>
          </a:p>
        </p:txBody>
      </p:sp>
      <p:sp>
        <p:nvSpPr>
          <p:cNvPr id="37" name="TextBox 36"/>
          <p:cNvSpPr txBox="1"/>
          <p:nvPr/>
        </p:nvSpPr>
        <p:spPr>
          <a:xfrm>
            <a:off x="822959" y="4462272"/>
            <a:ext cx="2996184" cy="822960"/>
          </a:xfrm>
          <a:prstGeom prst="rect">
            <a:avLst/>
          </a:prstGeom>
          <a:noFill/>
        </p:spPr>
        <p:txBody>
          <a:bodyPr wrap="square" anchor="t" lIns="0" rIns="0" tIns="0" bIns="0">
            <a:spAutoFit/>
          </a:bodyPr>
          <a:lstStyle/>
          <a:p>
            <a:r>
              <a:rPr sz="1350" b="0" i="0">
                <a:solidFill>
                  <a:srgbClr val="2E4A5C"/>
                </a:solidFill>
              </a:rPr>
              <a:t>La base de données, directement. Le contenu est tenu à jour par l'administrateur.</a:t>
            </a:r>
          </a:p>
        </p:txBody>
      </p:sp>
      <p:sp>
        <p:nvSpPr>
          <p:cNvPr id="38" name="TextBox 37"/>
          <p:cNvSpPr txBox="1"/>
          <p:nvPr/>
        </p:nvSpPr>
        <p:spPr>
          <a:xfrm>
            <a:off x="822959" y="5422392"/>
            <a:ext cx="2996184" cy="256032"/>
          </a:xfrm>
          <a:prstGeom prst="rect">
            <a:avLst/>
          </a:prstGeom>
          <a:noFill/>
        </p:spPr>
        <p:txBody>
          <a:bodyPr wrap="square" anchor="t" lIns="0" rIns="0" tIns="0" bIns="0">
            <a:spAutoFit/>
          </a:bodyPr>
          <a:lstStyle/>
          <a:p>
            <a:r>
              <a:rPr sz="1050" b="1" i="0">
                <a:solidFill>
                  <a:srgbClr val="6B7A86"/>
                </a:solidFill>
              </a:rPr>
              <a:t>COÛT EN JETONS IA</a:t>
            </a:r>
          </a:p>
        </p:txBody>
      </p:sp>
      <p:sp>
        <p:nvSpPr>
          <p:cNvPr id="39" name="Rounded Rectangle 38"/>
          <p:cNvSpPr/>
          <p:nvPr/>
        </p:nvSpPr>
        <p:spPr>
          <a:xfrm>
            <a:off x="822959" y="5678424"/>
            <a:ext cx="2996184" cy="384048"/>
          </a:xfrm>
          <a:prstGeom prst="roundRect">
            <a:avLst>
              <a:gd name="adj" fmla="val 50000"/>
            </a:avLst>
          </a:prstGeom>
          <a:solidFill>
            <a:srgbClr val="4E7A27"/>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r>
              <a:rPr sz="1250" b="1">
                <a:solidFill>
                  <a:srgbClr val="FFFFFF"/>
                </a:solidFill>
              </a:rPr>
              <a:t>Aucun jeton IA</a:t>
            </a:r>
          </a:p>
        </p:txBody>
      </p:sp>
      <p:sp>
        <p:nvSpPr>
          <p:cNvPr id="40" name="Rounded Rectangle 39"/>
          <p:cNvSpPr/>
          <p:nvPr/>
        </p:nvSpPr>
        <p:spPr>
          <a:xfrm>
            <a:off x="4322064" y="2331720"/>
            <a:ext cx="3544824" cy="3840480"/>
          </a:xfrm>
          <a:prstGeom prst="roundRect">
            <a:avLst>
              <a:gd name="adj" fmla="val 8000"/>
            </a:avLst>
          </a:prstGeom>
          <a:solidFill>
            <a:srgbClr val="EE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4596384" y="2606039"/>
            <a:ext cx="640080" cy="640080"/>
          </a:xfrm>
          <a:prstGeom prst="ellipse">
            <a:avLst/>
          </a:prstGeom>
          <a:solidFill>
            <a:srgbClr val="9935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image.png"/>
          <p:cNvPicPr>
            <a:picLocks noChangeAspect="1"/>
          </p:cNvPicPr>
          <p:nvPr/>
        </p:nvPicPr>
        <p:blipFill>
          <a:blip r:embed="rId14"/>
          <a:stretch>
            <a:fillRect/>
          </a:stretch>
        </p:blipFill>
        <p:spPr>
          <a:xfrm>
            <a:off x="4737201" y="2746857"/>
            <a:ext cx="358444" cy="358444"/>
          </a:xfrm>
          <a:prstGeom prst="rect">
            <a:avLst/>
          </a:prstGeom>
        </p:spPr>
      </p:pic>
      <p:sp>
        <p:nvSpPr>
          <p:cNvPr id="43" name="TextBox 42"/>
          <p:cNvSpPr txBox="1"/>
          <p:nvPr/>
        </p:nvSpPr>
        <p:spPr>
          <a:xfrm>
            <a:off x="5373624" y="2606039"/>
            <a:ext cx="2310384" cy="640080"/>
          </a:xfrm>
          <a:prstGeom prst="rect">
            <a:avLst/>
          </a:prstGeom>
          <a:noFill/>
        </p:spPr>
        <p:txBody>
          <a:bodyPr wrap="square" anchor="ctr" lIns="0" rIns="0" tIns="0" bIns="0">
            <a:spAutoFit/>
          </a:bodyPr>
          <a:lstStyle/>
          <a:p>
            <a:r>
              <a:rPr sz="1800" b="1" i="0">
                <a:solidFill>
                  <a:srgbClr val="1B2630"/>
                </a:solidFill>
              </a:rPr>
              <a:t>Diagnostic</a:t>
            </a:r>
          </a:p>
        </p:txBody>
      </p:sp>
      <p:sp>
        <p:nvSpPr>
          <p:cNvPr id="44" name="TextBox 43"/>
          <p:cNvSpPr txBox="1"/>
          <p:nvPr/>
        </p:nvSpPr>
        <p:spPr>
          <a:xfrm>
            <a:off x="4596384" y="3429000"/>
            <a:ext cx="2996184" cy="256032"/>
          </a:xfrm>
          <a:prstGeom prst="rect">
            <a:avLst/>
          </a:prstGeom>
          <a:noFill/>
        </p:spPr>
        <p:txBody>
          <a:bodyPr wrap="square" anchor="t" lIns="0" rIns="0" tIns="0" bIns="0">
            <a:spAutoFit/>
          </a:bodyPr>
          <a:lstStyle/>
          <a:p>
            <a:r>
              <a:rPr sz="1050" b="1" i="0">
                <a:solidFill>
                  <a:srgbClr val="6B7A86"/>
                </a:solidFill>
              </a:rPr>
              <a:t>DÉCLENCHEUR</a:t>
            </a:r>
          </a:p>
        </p:txBody>
      </p:sp>
      <p:sp>
        <p:nvSpPr>
          <p:cNvPr id="45" name="TextBox 44"/>
          <p:cNvSpPr txBox="1"/>
          <p:nvPr/>
        </p:nvSpPr>
        <p:spPr>
          <a:xfrm>
            <a:off x="4596384" y="3685031"/>
            <a:ext cx="2996184" cy="594360"/>
          </a:xfrm>
          <a:prstGeom prst="rect">
            <a:avLst/>
          </a:prstGeom>
          <a:noFill/>
        </p:spPr>
        <p:txBody>
          <a:bodyPr wrap="square" anchor="t" lIns="0" rIns="0" tIns="0" bIns="0">
            <a:spAutoFit/>
          </a:bodyPr>
          <a:lstStyle/>
          <a:p>
            <a:r>
              <a:rPr sz="1350" b="0" i="0">
                <a:solidFill>
                  <a:srgbClr val="2E4A5C"/>
                </a:solidFill>
              </a:rPr>
              <a:t>Description d'une nouvelle panne</a:t>
            </a:r>
          </a:p>
        </p:txBody>
      </p:sp>
      <p:sp>
        <p:nvSpPr>
          <p:cNvPr id="46" name="TextBox 45"/>
          <p:cNvSpPr txBox="1"/>
          <p:nvPr/>
        </p:nvSpPr>
        <p:spPr>
          <a:xfrm>
            <a:off x="4596384" y="4206240"/>
            <a:ext cx="2996184" cy="256032"/>
          </a:xfrm>
          <a:prstGeom prst="rect">
            <a:avLst/>
          </a:prstGeom>
          <a:noFill/>
        </p:spPr>
        <p:txBody>
          <a:bodyPr wrap="square" anchor="t" lIns="0" rIns="0" tIns="0" bIns="0">
            <a:spAutoFit/>
          </a:bodyPr>
          <a:lstStyle/>
          <a:p>
            <a:r>
              <a:rPr sz="1050" b="1" i="0">
                <a:solidFill>
                  <a:srgbClr val="6B7A86"/>
                </a:solidFill>
              </a:rPr>
              <a:t>QUI RÉPOND</a:t>
            </a:r>
          </a:p>
        </p:txBody>
      </p:sp>
      <p:sp>
        <p:nvSpPr>
          <p:cNvPr id="47" name="TextBox 46"/>
          <p:cNvSpPr txBox="1"/>
          <p:nvPr/>
        </p:nvSpPr>
        <p:spPr>
          <a:xfrm>
            <a:off x="4596384" y="4462272"/>
            <a:ext cx="2996184" cy="822960"/>
          </a:xfrm>
          <a:prstGeom prst="rect">
            <a:avLst/>
          </a:prstGeom>
          <a:noFill/>
        </p:spPr>
        <p:txBody>
          <a:bodyPr wrap="square" anchor="t" lIns="0" rIns="0" tIns="0" bIns="0">
            <a:spAutoFit/>
          </a:bodyPr>
          <a:lstStyle/>
          <a:p>
            <a:r>
              <a:rPr sz="1350" b="0" i="0">
                <a:solidFill>
                  <a:srgbClr val="2E4A5C"/>
                </a:solidFill>
              </a:rPr>
              <a:t>La base cherche les cas similaires, puis Claude les résume.</a:t>
            </a:r>
          </a:p>
        </p:txBody>
      </p:sp>
      <p:sp>
        <p:nvSpPr>
          <p:cNvPr id="48" name="TextBox 47"/>
          <p:cNvSpPr txBox="1"/>
          <p:nvPr/>
        </p:nvSpPr>
        <p:spPr>
          <a:xfrm>
            <a:off x="4596384" y="5422392"/>
            <a:ext cx="2996184" cy="256032"/>
          </a:xfrm>
          <a:prstGeom prst="rect">
            <a:avLst/>
          </a:prstGeom>
          <a:noFill/>
        </p:spPr>
        <p:txBody>
          <a:bodyPr wrap="square" anchor="t" lIns="0" rIns="0" tIns="0" bIns="0">
            <a:spAutoFit/>
          </a:bodyPr>
          <a:lstStyle/>
          <a:p>
            <a:r>
              <a:rPr sz="1050" b="1" i="0">
                <a:solidFill>
                  <a:srgbClr val="6B7A86"/>
                </a:solidFill>
              </a:rPr>
              <a:t>COÛT EN JETONS IA</a:t>
            </a:r>
          </a:p>
        </p:txBody>
      </p:sp>
      <p:sp>
        <p:nvSpPr>
          <p:cNvPr id="49" name="Rounded Rectangle 48"/>
          <p:cNvSpPr/>
          <p:nvPr/>
        </p:nvSpPr>
        <p:spPr>
          <a:xfrm>
            <a:off x="4596384" y="5678424"/>
            <a:ext cx="2996184" cy="384048"/>
          </a:xfrm>
          <a:prstGeom prst="roundRect">
            <a:avLst>
              <a:gd name="adj" fmla="val 50000"/>
            </a:avLst>
          </a:prstGeom>
          <a:solidFill>
            <a:srgbClr val="993556"/>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r>
              <a:rPr sz="1250" b="1">
                <a:solidFill>
                  <a:srgbClr val="FFFFFF"/>
                </a:solidFill>
              </a:rPr>
              <a:t>Voyage AI + Claude</a:t>
            </a:r>
          </a:p>
        </p:txBody>
      </p:sp>
      <p:sp>
        <p:nvSpPr>
          <p:cNvPr id="50" name="Rounded Rectangle 49"/>
          <p:cNvSpPr/>
          <p:nvPr/>
        </p:nvSpPr>
        <p:spPr>
          <a:xfrm>
            <a:off x="8095488" y="2331720"/>
            <a:ext cx="3544824" cy="3840480"/>
          </a:xfrm>
          <a:prstGeom prst="roundRect">
            <a:avLst>
              <a:gd name="adj" fmla="val 8000"/>
            </a:avLst>
          </a:prstGeom>
          <a:solidFill>
            <a:srgbClr val="EE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8369808" y="2606039"/>
            <a:ext cx="640080" cy="640080"/>
          </a:xfrm>
          <a:prstGeom prst="ellipse">
            <a:avLst/>
          </a:prstGeom>
          <a:solidFill>
            <a:srgbClr val="B54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2" name="Picture 51" descr="image.png"/>
          <p:cNvPicPr>
            <a:picLocks noChangeAspect="1"/>
          </p:cNvPicPr>
          <p:nvPr/>
        </p:nvPicPr>
        <p:blipFill>
          <a:blip r:embed="rId15"/>
          <a:stretch>
            <a:fillRect/>
          </a:stretch>
        </p:blipFill>
        <p:spPr>
          <a:xfrm>
            <a:off x="8510625" y="2746857"/>
            <a:ext cx="358444" cy="358444"/>
          </a:xfrm>
          <a:prstGeom prst="rect">
            <a:avLst/>
          </a:prstGeom>
        </p:spPr>
      </p:pic>
      <p:sp>
        <p:nvSpPr>
          <p:cNvPr id="53" name="TextBox 52"/>
          <p:cNvSpPr txBox="1"/>
          <p:nvPr/>
        </p:nvSpPr>
        <p:spPr>
          <a:xfrm>
            <a:off x="9147048" y="2606039"/>
            <a:ext cx="2310384" cy="640080"/>
          </a:xfrm>
          <a:prstGeom prst="rect">
            <a:avLst/>
          </a:prstGeom>
          <a:noFill/>
        </p:spPr>
        <p:txBody>
          <a:bodyPr wrap="square" anchor="ctr" lIns="0" rIns="0" tIns="0" bIns="0">
            <a:spAutoFit/>
          </a:bodyPr>
          <a:lstStyle/>
          <a:p>
            <a:r>
              <a:rPr sz="1800" b="1" i="0">
                <a:solidFill>
                  <a:srgbClr val="1B2630"/>
                </a:solidFill>
              </a:rPr>
              <a:t>Conversation</a:t>
            </a:r>
          </a:p>
        </p:txBody>
      </p:sp>
      <p:sp>
        <p:nvSpPr>
          <p:cNvPr id="54" name="TextBox 53"/>
          <p:cNvSpPr txBox="1"/>
          <p:nvPr/>
        </p:nvSpPr>
        <p:spPr>
          <a:xfrm>
            <a:off x="8369808" y="3429000"/>
            <a:ext cx="2996184" cy="256032"/>
          </a:xfrm>
          <a:prstGeom prst="rect">
            <a:avLst/>
          </a:prstGeom>
          <a:noFill/>
        </p:spPr>
        <p:txBody>
          <a:bodyPr wrap="square" anchor="t" lIns="0" rIns="0" tIns="0" bIns="0">
            <a:spAutoFit/>
          </a:bodyPr>
          <a:lstStyle/>
          <a:p>
            <a:r>
              <a:rPr sz="1050" b="1" i="0">
                <a:solidFill>
                  <a:srgbClr val="6B7A86"/>
                </a:solidFill>
              </a:rPr>
              <a:t>DÉCLENCHEUR</a:t>
            </a:r>
          </a:p>
        </p:txBody>
      </p:sp>
      <p:sp>
        <p:nvSpPr>
          <p:cNvPr id="55" name="TextBox 54"/>
          <p:cNvSpPr txBox="1"/>
          <p:nvPr/>
        </p:nvSpPr>
        <p:spPr>
          <a:xfrm>
            <a:off x="8369808" y="3685031"/>
            <a:ext cx="2996184" cy="594360"/>
          </a:xfrm>
          <a:prstGeom prst="rect">
            <a:avLst/>
          </a:prstGeom>
          <a:noFill/>
        </p:spPr>
        <p:txBody>
          <a:bodyPr wrap="square" anchor="t" lIns="0" rIns="0" tIns="0" bIns="0">
            <a:spAutoFit/>
          </a:bodyPr>
          <a:lstStyle/>
          <a:p>
            <a:r>
              <a:rPr sz="1350" b="0" i="0">
                <a:solidFill>
                  <a:srgbClr val="2E4A5C"/>
                </a:solidFill>
              </a:rPr>
              <a:t>Tout le reste : détail d'un cas, suivi, question générale</a:t>
            </a:r>
          </a:p>
        </p:txBody>
      </p:sp>
      <p:sp>
        <p:nvSpPr>
          <p:cNvPr id="56" name="TextBox 55"/>
          <p:cNvSpPr txBox="1"/>
          <p:nvPr/>
        </p:nvSpPr>
        <p:spPr>
          <a:xfrm>
            <a:off x="8369808" y="4206240"/>
            <a:ext cx="2996184" cy="256032"/>
          </a:xfrm>
          <a:prstGeom prst="rect">
            <a:avLst/>
          </a:prstGeom>
          <a:noFill/>
        </p:spPr>
        <p:txBody>
          <a:bodyPr wrap="square" anchor="t" lIns="0" rIns="0" tIns="0" bIns="0">
            <a:spAutoFit/>
          </a:bodyPr>
          <a:lstStyle/>
          <a:p>
            <a:r>
              <a:rPr sz="1050" b="1" i="0">
                <a:solidFill>
                  <a:srgbClr val="6B7A86"/>
                </a:solidFill>
              </a:rPr>
              <a:t>QUI RÉPOND</a:t>
            </a:r>
          </a:p>
        </p:txBody>
      </p:sp>
      <p:sp>
        <p:nvSpPr>
          <p:cNvPr id="57" name="TextBox 56"/>
          <p:cNvSpPr txBox="1"/>
          <p:nvPr/>
        </p:nvSpPr>
        <p:spPr>
          <a:xfrm>
            <a:off x="8369808" y="4462272"/>
            <a:ext cx="2996184" cy="822960"/>
          </a:xfrm>
          <a:prstGeom prst="rect">
            <a:avLst/>
          </a:prstGeom>
          <a:noFill/>
        </p:spPr>
        <p:txBody>
          <a:bodyPr wrap="square" anchor="t" lIns="0" rIns="0" tIns="0" bIns="0">
            <a:spAutoFit/>
          </a:bodyPr>
          <a:lstStyle/>
          <a:p>
            <a:r>
              <a:rPr sz="1350" b="0" i="0">
                <a:solidFill>
                  <a:srgbClr val="2E4A5C"/>
                </a:solidFill>
              </a:rPr>
              <a:t>Claude, en un seul appel au lieu de deux.</a:t>
            </a:r>
          </a:p>
        </p:txBody>
      </p:sp>
      <p:sp>
        <p:nvSpPr>
          <p:cNvPr id="58" name="TextBox 57"/>
          <p:cNvSpPr txBox="1"/>
          <p:nvPr/>
        </p:nvSpPr>
        <p:spPr>
          <a:xfrm>
            <a:off x="8369808" y="5422392"/>
            <a:ext cx="2996184" cy="256032"/>
          </a:xfrm>
          <a:prstGeom prst="rect">
            <a:avLst/>
          </a:prstGeom>
          <a:noFill/>
        </p:spPr>
        <p:txBody>
          <a:bodyPr wrap="square" anchor="t" lIns="0" rIns="0" tIns="0" bIns="0">
            <a:spAutoFit/>
          </a:bodyPr>
          <a:lstStyle/>
          <a:p>
            <a:r>
              <a:rPr sz="1050" b="1" i="0">
                <a:solidFill>
                  <a:srgbClr val="6B7A86"/>
                </a:solidFill>
              </a:rPr>
              <a:t>COÛT EN JETONS IA</a:t>
            </a:r>
          </a:p>
        </p:txBody>
      </p:sp>
      <p:sp>
        <p:nvSpPr>
          <p:cNvPr id="59" name="Rounded Rectangle 58"/>
          <p:cNvSpPr/>
          <p:nvPr/>
        </p:nvSpPr>
        <p:spPr>
          <a:xfrm>
            <a:off x="8369808" y="5678424"/>
            <a:ext cx="2996184" cy="384048"/>
          </a:xfrm>
          <a:prstGeom prst="roundRect">
            <a:avLst>
              <a:gd name="adj" fmla="val 50000"/>
            </a:avLst>
          </a:prstGeom>
          <a:solidFill>
            <a:srgbClr val="B5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r>
              <a:rPr sz="1250" b="1">
                <a:solidFill>
                  <a:srgbClr val="FFFFFF"/>
                </a:solidFill>
              </a:rPr>
              <a:t>Claude, surtout depuis le cache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partie"/>
          <p:cNvSpPr txBox="1"/>
          <p:nvPr/>
        </p:nvSpPr>
        <p:spPr>
          <a:xfrm>
            <a:off x="548640" y="182880"/>
            <a:ext cx="8229600" cy="256032"/>
          </a:xfrm>
          <a:prstGeom prst="rect">
            <a:avLst/>
          </a:prstGeom>
          <a:noFill/>
          <a:ln/>
        </p:spPr>
        <p:txBody>
          <a:bodyPr wrap="square" lIns="0" tIns="0" rIns="0" bIns="0" rtlCol="0" anchor="ctr"/>
          <a:lstStyle/>
          <a:p>
            <a:pPr indent="0" marL="0">
              <a:buNone/>
            </a:pPr>
            <a:r>
              <a:rPr lang="en-US" sz="1100" b="1" spc="150" kern="0" dirty="0">
                <a:solidFill>
                  <a:schemeClr val="accent1"/>
                </a:solidFill>
              </a:rPr>
              <a:t>VIII. L'OPTIMISATION DU SYSTÈME</a:t>
            </a:r>
            <a:endParaRPr lang="en-US" sz="1100" dirty="0"/>
          </a:p>
        </p:txBody>
      </p:sp>
      <p:sp>
        <p:nvSpPr>
          <p:cNvPr id="3" name="Text 0"/>
          <p:cNvSpPr/>
          <p:nvPr>
            <p:ph idx="100" type="title" hasCustomPrompt="1"/>
          </p:nvPr>
        </p:nvSpPr>
        <p:spPr>
          <a:xfrm>
            <a:off x="548640" y="438912"/>
            <a:ext cx="11091672" cy="54864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b) Le problème : Claude ne garde aucune mémoire</a:t>
            </a:r>
            <a:endParaRPr lang="en-US" sz="2800" dirty="0"/>
          </a:p>
        </p:txBody>
      </p:sp>
      <p:pic>
        <p:nvPicPr>
          <p:cNvPr id="4" name="icone-objectif" descr="preencoded.png">    </p:cNvPr>
          <p:cNvPicPr>
            <a:picLocks noChangeAspect="1"/>
          </p:cNvPicPr>
          <p:nvPr/>
        </p:nvPicPr>
        <p:blipFill>
          <a:blip r:embed="rId1"/>
          <a:stretch>
            <a:fillRect/>
          </a:stretch>
        </p:blipFill>
        <p:spPr>
          <a:xfrm>
            <a:off x="548640" y="1033272"/>
            <a:ext cx="237744" cy="237744"/>
          </a:xfrm>
          <a:prstGeom prst="rect">
            <a:avLst/>
          </a:prstGeom>
        </p:spPr>
      </p:pic>
      <p:sp>
        <p:nvSpPr>
          <p:cNvPr id="5" name="objectif"/>
          <p:cNvSpPr txBox="1"/>
          <p:nvPr/>
        </p:nvSpPr>
        <p:spPr>
          <a:xfrm>
            <a:off x="868680" y="987552"/>
            <a:ext cx="10771632" cy="329184"/>
          </a:xfrm>
          <a:prstGeom prst="rect">
            <a:avLst/>
          </a:prstGeom>
          <a:noFill/>
          <a:ln/>
        </p:spPr>
        <p:txBody>
          <a:bodyPr wrap="square" lIns="0" tIns="0" rIns="0" bIns="0" rtlCol="0" anchor="ctr"/>
          <a:lstStyle/>
          <a:p>
            <a:pPr indent="0" marL="0">
              <a:buNone/>
            </a:pPr>
            <a:r>
              <a:rPr lang="en-US" sz="1400" b="1" i="1" dirty="0">
                <a:solidFill>
                  <a:schemeClr val="tx2"/>
                </a:solidFill>
              </a:rPr>
              <a:t>Objectif : </a:t>
            </a:r>
            <a:pPr indent="0" marL="0">
              <a:buNone/>
            </a:pPr>
            <a:r>
              <a:rPr lang="en-US" sz="1400" i="1" dirty="0">
                <a:solidFill>
                  <a:schemeClr val="tx2"/>
                </a:solidFill>
              </a:rPr>
              <a:t>Comprendre pourquoi une conversation coûterait de plus en plus cher sans optimisation.</a:t>
            </a:r>
            <a:endParaRPr lang="en-US" sz="14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34</a:t>
            </a:fld>
            <a:endParaRPr lang="en-US"/>
          </a:p>
        </p:txBody>
      </p:sp>
      <p:sp>
        <p:nvSpPr>
          <p:cNvPr id="26" name="TextBox 25"/>
          <p:cNvSpPr txBox="1"/>
          <p:nvPr/>
        </p:nvSpPr>
        <p:spPr>
          <a:xfrm>
            <a:off x="548640" y="1463040"/>
            <a:ext cx="4297680" cy="822960"/>
          </a:xfrm>
          <a:prstGeom prst="rect">
            <a:avLst/>
          </a:prstGeom>
          <a:noFill/>
        </p:spPr>
        <p:txBody>
          <a:bodyPr wrap="square" anchor="t" lIns="0" rIns="0" tIns="0" bIns="0">
            <a:spAutoFit/>
          </a:bodyPr>
          <a:lstStyle/>
          <a:p>
            <a:r>
              <a:rPr sz="1800" b="1" i="0">
                <a:solidFill>
                  <a:srgbClr val="1B2630"/>
                </a:solidFill>
              </a:rPr>
              <a:t>L'API de Claude ne garde rien en mémoire d'un appel à l'autre.</a:t>
            </a:r>
          </a:p>
        </p:txBody>
      </p:sp>
      <p:sp>
        <p:nvSpPr>
          <p:cNvPr id="27" name="TextBox 26"/>
          <p:cNvSpPr txBox="1"/>
          <p:nvPr/>
        </p:nvSpPr>
        <p:spPr>
          <a:xfrm>
            <a:off x="548640" y="2331720"/>
            <a:ext cx="4297680" cy="548640"/>
          </a:xfrm>
          <a:prstGeom prst="rect">
            <a:avLst/>
          </a:prstGeom>
          <a:noFill/>
        </p:spPr>
        <p:txBody>
          <a:bodyPr wrap="square" anchor="t" lIns="0" rIns="0" tIns="0" bIns="0">
            <a:spAutoFit/>
          </a:bodyPr>
          <a:lstStyle/>
          <a:p>
            <a:r>
              <a:rPr sz="1400" b="0" i="0">
                <a:solidFill>
                  <a:srgbClr val="2E4A5C"/>
                </a:solidFill>
              </a:rPr>
              <a:t>Pour que Claude suive la conversation, le backend lui renvoie à chaque message :</a:t>
            </a:r>
          </a:p>
        </p:txBody>
      </p:sp>
      <p:sp>
        <p:nvSpPr>
          <p:cNvPr id="28" name="TextBox 27"/>
          <p:cNvSpPr txBox="1"/>
          <p:nvPr/>
        </p:nvSpPr>
        <p:spPr>
          <a:xfrm>
            <a:off x="548640" y="2926080"/>
            <a:ext cx="4297680" cy="2011680"/>
          </a:xfrm>
          <a:prstGeom prst="rect">
            <a:avLst/>
          </a:prstGeom>
          <a:noFill/>
        </p:spPr>
        <p:txBody>
          <a:bodyPr wrap="square" lIns="0" rIns="0" tIns="0" bIns="0">
            <a:spAutoFit/>
          </a:bodyPr>
          <a:lstStyle/>
          <a:p>
            <a:pPr marL="201168" indent="-201168">
              <a:spcAft>
                <a:spcPts val="800"/>
              </a:spcAft>
              <a:buChar char="•"/>
            </a:pPr>
            <a:r>
              <a:rPr sz="1400" b="0">
                <a:solidFill>
                  <a:srgbClr val="2E4A5C"/>
                </a:solidFill>
              </a:rPr>
              <a:t>la consigne système, toujours la même ;</a:t>
            </a:r>
          </a:p>
          <a:p>
            <a:pPr marL="201168" indent="-201168">
              <a:spcAft>
                <a:spcPts val="800"/>
              </a:spcAft>
              <a:buChar char="•"/>
            </a:pPr>
            <a:r>
              <a:rPr sz="1400" b="0">
                <a:solidFill>
                  <a:srgbClr val="2E4A5C"/>
                </a:solidFill>
              </a:rPr>
              <a:t>toute la conversation, jusqu'à 100 messages ;</a:t>
            </a:r>
          </a:p>
          <a:p>
            <a:pPr marL="201168" indent="-201168">
              <a:spcAft>
                <a:spcPts val="800"/>
              </a:spcAft>
              <a:buChar char="•"/>
            </a:pPr>
            <a:r>
              <a:rPr sz="1400" b="0">
                <a:solidFill>
                  <a:srgbClr val="2E4A5C"/>
                </a:solidFill>
              </a:rPr>
              <a:t>le contexte du tour : équipement, résultats de la dernière recherche ;</a:t>
            </a:r>
          </a:p>
          <a:p>
            <a:pPr marL="201168" indent="-201168">
              <a:spcAft>
                <a:spcPts val="800"/>
              </a:spcAft>
              <a:buChar char="•"/>
            </a:pPr>
            <a:r>
              <a:rPr sz="1400" b="0">
                <a:solidFill>
                  <a:srgbClr val="2E4A5C"/>
                </a:solidFill>
              </a:rPr>
              <a:t>le nouveau message du technicien.</a:t>
            </a:r>
          </a:p>
        </p:txBody>
      </p:sp>
      <p:sp>
        <p:nvSpPr>
          <p:cNvPr id="29" name="Rounded Rectangle 28"/>
          <p:cNvSpPr/>
          <p:nvPr/>
        </p:nvSpPr>
        <p:spPr>
          <a:xfrm>
            <a:off x="548640" y="4983480"/>
            <a:ext cx="4297680" cy="1188720"/>
          </a:xfrm>
          <a:prstGeom prst="roundRect">
            <a:avLst>
              <a:gd name="adj" fmla="val 8000"/>
            </a:avLst>
          </a:prstGeom>
          <a:solidFill>
            <a:srgbClr val="B5472B">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4983480"/>
            <a:ext cx="3931920" cy="1188720"/>
          </a:xfrm>
          <a:prstGeom prst="rect">
            <a:avLst/>
          </a:prstGeom>
          <a:noFill/>
        </p:spPr>
        <p:txBody>
          <a:bodyPr wrap="square" anchor="ctr" lIns="0" rIns="0" tIns="0" bIns="0">
            <a:spAutoFit/>
          </a:bodyPr>
          <a:lstStyle/>
          <a:p>
            <a:r>
              <a:rPr sz="1350" b="1" i="0">
                <a:solidFill>
                  <a:srgbClr val="1B2630"/>
                </a:solidFill>
              </a:rPr>
              <a:t>Sans optimisation, </a:t>
            </a:r>
            <a:r>
              <a:rPr sz="1350" b="0" i="0">
                <a:solidFill>
                  <a:srgbClr val="1B2630"/>
                </a:solidFill>
              </a:rPr>
              <a:t>tout est relu et payé plein tarif à chaque message : plus l'échange avance, plus chaque message coûte cher.</a:t>
            </a:r>
          </a:p>
        </p:txBody>
      </p:sp>
      <p:sp>
        <p:nvSpPr>
          <p:cNvPr id="31" name="Rounded Rectangle 30"/>
          <p:cNvSpPr/>
          <p:nvPr/>
        </p:nvSpPr>
        <p:spPr>
          <a:xfrm>
            <a:off x="5120640" y="1463040"/>
            <a:ext cx="6519672" cy="4709160"/>
          </a:xfrm>
          <a:prstGeom prst="roundRect">
            <a:avLst>
              <a:gd name="adj" fmla="val 8000"/>
            </a:avLst>
          </a:prstGeom>
          <a:solidFill>
            <a:srgbClr val="EE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349240" y="1600200"/>
            <a:ext cx="6035040" cy="365760"/>
          </a:xfrm>
          <a:prstGeom prst="rect">
            <a:avLst/>
          </a:prstGeom>
          <a:noFill/>
        </p:spPr>
        <p:txBody>
          <a:bodyPr wrap="square" anchor="t" lIns="0" rIns="0" tIns="0" bIns="0">
            <a:spAutoFit/>
          </a:bodyPr>
          <a:lstStyle/>
          <a:p>
            <a:r>
              <a:rPr sz="1500" b="1" i="0">
                <a:solidFill>
                  <a:srgbClr val="1B2630"/>
                </a:solidFill>
              </a:rPr>
              <a:t>Ce que Claude relit à chaque message</a:t>
            </a:r>
          </a:p>
        </p:txBody>
      </p:sp>
      <p:sp>
        <p:nvSpPr>
          <p:cNvPr id="33" name="TextBox 32"/>
          <p:cNvSpPr txBox="1"/>
          <p:nvPr/>
        </p:nvSpPr>
        <p:spPr>
          <a:xfrm>
            <a:off x="5349240" y="2148840"/>
            <a:ext cx="1005840" cy="347472"/>
          </a:xfrm>
          <a:prstGeom prst="rect">
            <a:avLst/>
          </a:prstGeom>
          <a:noFill/>
        </p:spPr>
        <p:txBody>
          <a:bodyPr wrap="square" anchor="ctr" lIns="0" rIns="0" tIns="0" bIns="0">
            <a:spAutoFit/>
          </a:bodyPr>
          <a:lstStyle/>
          <a:p>
            <a:r>
              <a:rPr sz="1200" b="1" i="0">
                <a:solidFill>
                  <a:srgbClr val="1B2630"/>
                </a:solidFill>
              </a:rPr>
              <a:t>Message 1</a:t>
            </a:r>
          </a:p>
        </p:txBody>
      </p:sp>
      <p:sp>
        <p:nvSpPr>
          <p:cNvPr id="34" name="Rectangle 33"/>
          <p:cNvSpPr/>
          <p:nvPr/>
        </p:nvSpPr>
        <p:spPr>
          <a:xfrm>
            <a:off x="6400800" y="2148840"/>
            <a:ext cx="785003" cy="347472"/>
          </a:xfrm>
          <a:prstGeom prst="rect">
            <a:avLst/>
          </a:prstGeom>
          <a:solidFill>
            <a:srgbClr val="6B7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185803" y="2148840"/>
            <a:ext cx="392501" cy="347472"/>
          </a:xfrm>
          <a:prstGeom prst="rect">
            <a:avLst/>
          </a:prstGeom>
          <a:solidFill>
            <a:srgbClr val="E3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69745" y="2148840"/>
            <a:ext cx="1188720" cy="347472"/>
          </a:xfrm>
          <a:prstGeom prst="rect">
            <a:avLst/>
          </a:prstGeom>
          <a:noFill/>
        </p:spPr>
        <p:txBody>
          <a:bodyPr wrap="square" anchor="ctr" lIns="0" rIns="0" tIns="0" bIns="0">
            <a:spAutoFit/>
          </a:bodyPr>
          <a:lstStyle/>
          <a:p>
            <a:r>
              <a:rPr sz="1100" b="0" i="0">
                <a:solidFill>
                  <a:srgbClr val="2E4A5C"/>
                </a:solidFill>
              </a:rPr>
              <a:t>≈ 3 000 jetons</a:t>
            </a:r>
          </a:p>
        </p:txBody>
      </p:sp>
      <p:sp>
        <p:nvSpPr>
          <p:cNvPr id="37" name="TextBox 36"/>
          <p:cNvSpPr txBox="1"/>
          <p:nvPr/>
        </p:nvSpPr>
        <p:spPr>
          <a:xfrm>
            <a:off x="5349240" y="2679192"/>
            <a:ext cx="1005840" cy="347472"/>
          </a:xfrm>
          <a:prstGeom prst="rect">
            <a:avLst/>
          </a:prstGeom>
          <a:noFill/>
        </p:spPr>
        <p:txBody>
          <a:bodyPr wrap="square" anchor="ctr" lIns="0" rIns="0" tIns="0" bIns="0">
            <a:spAutoFit/>
          </a:bodyPr>
          <a:lstStyle/>
          <a:p>
            <a:r>
              <a:rPr sz="1200" b="1" i="0">
                <a:solidFill>
                  <a:srgbClr val="1B2630"/>
                </a:solidFill>
              </a:rPr>
              <a:t>Message 2</a:t>
            </a:r>
          </a:p>
        </p:txBody>
      </p:sp>
      <p:sp>
        <p:nvSpPr>
          <p:cNvPr id="38" name="Rectangle 37"/>
          <p:cNvSpPr/>
          <p:nvPr/>
        </p:nvSpPr>
        <p:spPr>
          <a:xfrm>
            <a:off x="6400800" y="2679192"/>
            <a:ext cx="785003" cy="347472"/>
          </a:xfrm>
          <a:prstGeom prst="rect">
            <a:avLst/>
          </a:prstGeom>
          <a:solidFill>
            <a:srgbClr val="6B7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185803" y="2679192"/>
            <a:ext cx="157000" cy="347472"/>
          </a:xfrm>
          <a:prstGeom prst="rect">
            <a:avLst/>
          </a:prstGeom>
          <a:solidFill>
            <a:srgbClr val="B54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342804" y="2679192"/>
            <a:ext cx="392501" cy="347472"/>
          </a:xfrm>
          <a:prstGeom prst="rect">
            <a:avLst/>
          </a:prstGeom>
          <a:solidFill>
            <a:srgbClr val="E3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26746" y="2679192"/>
            <a:ext cx="1188720" cy="347472"/>
          </a:xfrm>
          <a:prstGeom prst="rect">
            <a:avLst/>
          </a:prstGeom>
          <a:noFill/>
        </p:spPr>
        <p:txBody>
          <a:bodyPr wrap="square" anchor="ctr" lIns="0" rIns="0" tIns="0" bIns="0">
            <a:spAutoFit/>
          </a:bodyPr>
          <a:lstStyle/>
          <a:p>
            <a:r>
              <a:rPr sz="1100" b="0" i="0">
                <a:solidFill>
                  <a:srgbClr val="2E4A5C"/>
                </a:solidFill>
              </a:rPr>
              <a:t>≈ 3 400 jetons</a:t>
            </a:r>
          </a:p>
        </p:txBody>
      </p:sp>
      <p:sp>
        <p:nvSpPr>
          <p:cNvPr id="42" name="TextBox 41"/>
          <p:cNvSpPr txBox="1"/>
          <p:nvPr/>
        </p:nvSpPr>
        <p:spPr>
          <a:xfrm>
            <a:off x="5349240" y="3209544"/>
            <a:ext cx="1005840" cy="347472"/>
          </a:xfrm>
          <a:prstGeom prst="rect">
            <a:avLst/>
          </a:prstGeom>
          <a:noFill/>
        </p:spPr>
        <p:txBody>
          <a:bodyPr wrap="square" anchor="ctr" lIns="0" rIns="0" tIns="0" bIns="0">
            <a:spAutoFit/>
          </a:bodyPr>
          <a:lstStyle/>
          <a:p>
            <a:r>
              <a:rPr sz="1200" b="1" i="0">
                <a:solidFill>
                  <a:srgbClr val="1B2630"/>
                </a:solidFill>
              </a:rPr>
              <a:t>Message 3</a:t>
            </a:r>
          </a:p>
        </p:txBody>
      </p:sp>
      <p:sp>
        <p:nvSpPr>
          <p:cNvPr id="43" name="Rectangle 42"/>
          <p:cNvSpPr/>
          <p:nvPr/>
        </p:nvSpPr>
        <p:spPr>
          <a:xfrm>
            <a:off x="6400800" y="3209544"/>
            <a:ext cx="785003" cy="347472"/>
          </a:xfrm>
          <a:prstGeom prst="rect">
            <a:avLst/>
          </a:prstGeom>
          <a:solidFill>
            <a:srgbClr val="6B7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185803" y="3209544"/>
            <a:ext cx="314001" cy="347472"/>
          </a:xfrm>
          <a:prstGeom prst="rect">
            <a:avLst/>
          </a:prstGeom>
          <a:solidFill>
            <a:srgbClr val="B54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499805" y="3209544"/>
            <a:ext cx="392501" cy="347472"/>
          </a:xfrm>
          <a:prstGeom prst="rect">
            <a:avLst/>
          </a:prstGeom>
          <a:solidFill>
            <a:srgbClr val="E3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983747" y="3209544"/>
            <a:ext cx="1188720" cy="347472"/>
          </a:xfrm>
          <a:prstGeom prst="rect">
            <a:avLst/>
          </a:prstGeom>
          <a:noFill/>
        </p:spPr>
        <p:txBody>
          <a:bodyPr wrap="square" anchor="ctr" lIns="0" rIns="0" tIns="0" bIns="0">
            <a:spAutoFit/>
          </a:bodyPr>
          <a:lstStyle/>
          <a:p>
            <a:r>
              <a:rPr sz="1100" b="0" i="0">
                <a:solidFill>
                  <a:srgbClr val="2E4A5C"/>
                </a:solidFill>
              </a:rPr>
              <a:t>≈ 3 800 jetons</a:t>
            </a:r>
          </a:p>
        </p:txBody>
      </p:sp>
      <p:sp>
        <p:nvSpPr>
          <p:cNvPr id="47" name="TextBox 46"/>
          <p:cNvSpPr txBox="1"/>
          <p:nvPr/>
        </p:nvSpPr>
        <p:spPr>
          <a:xfrm>
            <a:off x="5349240" y="3739896"/>
            <a:ext cx="1005840" cy="347472"/>
          </a:xfrm>
          <a:prstGeom prst="rect">
            <a:avLst/>
          </a:prstGeom>
          <a:noFill/>
        </p:spPr>
        <p:txBody>
          <a:bodyPr wrap="square" anchor="ctr" lIns="0" rIns="0" tIns="0" bIns="0">
            <a:spAutoFit/>
          </a:bodyPr>
          <a:lstStyle/>
          <a:p>
            <a:r>
              <a:rPr sz="1200" b="1" i="0">
                <a:solidFill>
                  <a:srgbClr val="1B2630"/>
                </a:solidFill>
              </a:rPr>
              <a:t>Message 5</a:t>
            </a:r>
          </a:p>
        </p:txBody>
      </p:sp>
      <p:sp>
        <p:nvSpPr>
          <p:cNvPr id="48" name="Rectangle 47"/>
          <p:cNvSpPr/>
          <p:nvPr/>
        </p:nvSpPr>
        <p:spPr>
          <a:xfrm>
            <a:off x="6400800" y="3739896"/>
            <a:ext cx="785003" cy="347472"/>
          </a:xfrm>
          <a:prstGeom prst="rect">
            <a:avLst/>
          </a:prstGeom>
          <a:solidFill>
            <a:srgbClr val="6B7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185803" y="3739896"/>
            <a:ext cx="628003" cy="347472"/>
          </a:xfrm>
          <a:prstGeom prst="rect">
            <a:avLst/>
          </a:prstGeom>
          <a:solidFill>
            <a:srgbClr val="B54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813806" y="3739896"/>
            <a:ext cx="392501" cy="347472"/>
          </a:xfrm>
          <a:prstGeom prst="rect">
            <a:avLst/>
          </a:prstGeom>
          <a:solidFill>
            <a:srgbClr val="E3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297748" y="3739896"/>
            <a:ext cx="1188720" cy="347472"/>
          </a:xfrm>
          <a:prstGeom prst="rect">
            <a:avLst/>
          </a:prstGeom>
          <a:noFill/>
        </p:spPr>
        <p:txBody>
          <a:bodyPr wrap="square" anchor="ctr" lIns="0" rIns="0" tIns="0" bIns="0">
            <a:spAutoFit/>
          </a:bodyPr>
          <a:lstStyle/>
          <a:p>
            <a:r>
              <a:rPr sz="1100" b="0" i="0">
                <a:solidFill>
                  <a:srgbClr val="2E4A5C"/>
                </a:solidFill>
              </a:rPr>
              <a:t>≈ 4 600 jetons</a:t>
            </a:r>
          </a:p>
        </p:txBody>
      </p:sp>
      <p:sp>
        <p:nvSpPr>
          <p:cNvPr id="52" name="TextBox 51"/>
          <p:cNvSpPr txBox="1"/>
          <p:nvPr/>
        </p:nvSpPr>
        <p:spPr>
          <a:xfrm>
            <a:off x="5349240" y="4270248"/>
            <a:ext cx="1005840" cy="347472"/>
          </a:xfrm>
          <a:prstGeom prst="rect">
            <a:avLst/>
          </a:prstGeom>
          <a:noFill/>
        </p:spPr>
        <p:txBody>
          <a:bodyPr wrap="square" anchor="ctr" lIns="0" rIns="0" tIns="0" bIns="0">
            <a:spAutoFit/>
          </a:bodyPr>
          <a:lstStyle/>
          <a:p>
            <a:r>
              <a:rPr sz="1200" b="1" i="0">
                <a:solidFill>
                  <a:srgbClr val="1B2630"/>
                </a:solidFill>
              </a:rPr>
              <a:t>Message 10</a:t>
            </a:r>
          </a:p>
        </p:txBody>
      </p:sp>
      <p:sp>
        <p:nvSpPr>
          <p:cNvPr id="53" name="Rectangle 52"/>
          <p:cNvSpPr/>
          <p:nvPr/>
        </p:nvSpPr>
        <p:spPr>
          <a:xfrm>
            <a:off x="6400800" y="4270248"/>
            <a:ext cx="785003" cy="347472"/>
          </a:xfrm>
          <a:prstGeom prst="rect">
            <a:avLst/>
          </a:prstGeom>
          <a:solidFill>
            <a:srgbClr val="6B7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7185803" y="4270248"/>
            <a:ext cx="1413006" cy="347472"/>
          </a:xfrm>
          <a:prstGeom prst="rect">
            <a:avLst/>
          </a:prstGeom>
          <a:solidFill>
            <a:srgbClr val="B54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8598810" y="4270248"/>
            <a:ext cx="392501" cy="347472"/>
          </a:xfrm>
          <a:prstGeom prst="rect">
            <a:avLst/>
          </a:prstGeom>
          <a:solidFill>
            <a:srgbClr val="E3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082752" y="4270248"/>
            <a:ext cx="1188720" cy="347472"/>
          </a:xfrm>
          <a:prstGeom prst="rect">
            <a:avLst/>
          </a:prstGeom>
          <a:noFill/>
        </p:spPr>
        <p:txBody>
          <a:bodyPr wrap="square" anchor="ctr" lIns="0" rIns="0" tIns="0" bIns="0">
            <a:spAutoFit/>
          </a:bodyPr>
          <a:lstStyle/>
          <a:p>
            <a:r>
              <a:rPr sz="1100" b="0" i="0">
                <a:solidFill>
                  <a:srgbClr val="2E4A5C"/>
                </a:solidFill>
              </a:rPr>
              <a:t>≈ 6 600 jetons</a:t>
            </a:r>
          </a:p>
        </p:txBody>
      </p:sp>
      <p:sp>
        <p:nvSpPr>
          <p:cNvPr id="57" name="TextBox 56"/>
          <p:cNvSpPr txBox="1"/>
          <p:nvPr/>
        </p:nvSpPr>
        <p:spPr>
          <a:xfrm>
            <a:off x="5349240" y="4800600"/>
            <a:ext cx="1005840" cy="347472"/>
          </a:xfrm>
          <a:prstGeom prst="rect">
            <a:avLst/>
          </a:prstGeom>
          <a:noFill/>
        </p:spPr>
        <p:txBody>
          <a:bodyPr wrap="square" anchor="ctr" lIns="0" rIns="0" tIns="0" bIns="0">
            <a:spAutoFit/>
          </a:bodyPr>
          <a:lstStyle/>
          <a:p>
            <a:r>
              <a:rPr sz="1200" b="1" i="0">
                <a:solidFill>
                  <a:srgbClr val="1B2630"/>
                </a:solidFill>
              </a:rPr>
              <a:t>Message 20</a:t>
            </a:r>
          </a:p>
        </p:txBody>
      </p:sp>
      <p:sp>
        <p:nvSpPr>
          <p:cNvPr id="58" name="Rectangle 57"/>
          <p:cNvSpPr/>
          <p:nvPr/>
        </p:nvSpPr>
        <p:spPr>
          <a:xfrm>
            <a:off x="6400800" y="4800600"/>
            <a:ext cx="785003" cy="347472"/>
          </a:xfrm>
          <a:prstGeom prst="rect">
            <a:avLst/>
          </a:prstGeom>
          <a:solidFill>
            <a:srgbClr val="6B7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185803" y="4800600"/>
            <a:ext cx="2983014" cy="347472"/>
          </a:xfrm>
          <a:prstGeom prst="rect">
            <a:avLst/>
          </a:prstGeom>
          <a:solidFill>
            <a:srgbClr val="B54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10168818" y="4800600"/>
            <a:ext cx="392501" cy="347472"/>
          </a:xfrm>
          <a:prstGeom prst="rect">
            <a:avLst/>
          </a:prstGeom>
          <a:solidFill>
            <a:srgbClr val="E3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0652760" y="4800600"/>
            <a:ext cx="1188720" cy="347472"/>
          </a:xfrm>
          <a:prstGeom prst="rect">
            <a:avLst/>
          </a:prstGeom>
          <a:noFill/>
        </p:spPr>
        <p:txBody>
          <a:bodyPr wrap="square" anchor="ctr" lIns="0" rIns="0" tIns="0" bIns="0">
            <a:spAutoFit/>
          </a:bodyPr>
          <a:lstStyle/>
          <a:p>
            <a:r>
              <a:rPr sz="1100" b="0" i="0">
                <a:solidFill>
                  <a:srgbClr val="2E4A5C"/>
                </a:solidFill>
              </a:rPr>
              <a:t>≈ 10 600 jetons</a:t>
            </a:r>
          </a:p>
        </p:txBody>
      </p:sp>
      <p:sp>
        <p:nvSpPr>
          <p:cNvPr id="62" name="Rectangle 61"/>
          <p:cNvSpPr/>
          <p:nvPr/>
        </p:nvSpPr>
        <p:spPr>
          <a:xfrm>
            <a:off x="5349240" y="5495544"/>
            <a:ext cx="201168" cy="201168"/>
          </a:xfrm>
          <a:prstGeom prst="rect">
            <a:avLst/>
          </a:prstGeom>
          <a:solidFill>
            <a:srgbClr val="6B7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623559" y="5440680"/>
            <a:ext cx="2377440" cy="310896"/>
          </a:xfrm>
          <a:prstGeom prst="rect">
            <a:avLst/>
          </a:prstGeom>
          <a:noFill/>
        </p:spPr>
        <p:txBody>
          <a:bodyPr wrap="square" anchor="ctr" lIns="0" rIns="0" tIns="0" bIns="0">
            <a:spAutoFit/>
          </a:bodyPr>
          <a:lstStyle/>
          <a:p>
            <a:r>
              <a:rPr sz="1100" b="0" i="0">
                <a:solidFill>
                  <a:srgbClr val="2E4A5C"/>
                </a:solidFill>
              </a:rPr>
              <a:t>Consigne système</a:t>
            </a:r>
          </a:p>
        </p:txBody>
      </p:sp>
      <p:sp>
        <p:nvSpPr>
          <p:cNvPr id="64" name="Rectangle 63"/>
          <p:cNvSpPr/>
          <p:nvPr/>
        </p:nvSpPr>
        <p:spPr>
          <a:xfrm>
            <a:off x="6903720" y="5495544"/>
            <a:ext cx="201168" cy="201168"/>
          </a:xfrm>
          <a:prstGeom prst="rect">
            <a:avLst/>
          </a:prstGeom>
          <a:solidFill>
            <a:srgbClr val="B54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178040" y="5440680"/>
            <a:ext cx="2377440" cy="310896"/>
          </a:xfrm>
          <a:prstGeom prst="rect">
            <a:avLst/>
          </a:prstGeom>
          <a:noFill/>
        </p:spPr>
        <p:txBody>
          <a:bodyPr wrap="square" anchor="ctr" lIns="0" rIns="0" tIns="0" bIns="0">
            <a:spAutoFit/>
          </a:bodyPr>
          <a:lstStyle/>
          <a:p>
            <a:r>
              <a:rPr sz="1100" b="0" i="0">
                <a:solidFill>
                  <a:srgbClr val="2E4A5C"/>
                </a:solidFill>
              </a:rPr>
              <a:t>Conversation déjà échangée</a:t>
            </a:r>
          </a:p>
        </p:txBody>
      </p:sp>
      <p:sp>
        <p:nvSpPr>
          <p:cNvPr id="66" name="Rectangle 65"/>
          <p:cNvSpPr/>
          <p:nvPr/>
        </p:nvSpPr>
        <p:spPr>
          <a:xfrm>
            <a:off x="9098280" y="5495544"/>
            <a:ext cx="201168" cy="201168"/>
          </a:xfrm>
          <a:prstGeom prst="rect">
            <a:avLst/>
          </a:prstGeom>
          <a:solidFill>
            <a:srgbClr val="E3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372600" y="5440680"/>
            <a:ext cx="2377440" cy="310896"/>
          </a:xfrm>
          <a:prstGeom prst="rect">
            <a:avLst/>
          </a:prstGeom>
          <a:noFill/>
        </p:spPr>
        <p:txBody>
          <a:bodyPr wrap="square" anchor="ctr" lIns="0" rIns="0" tIns="0" bIns="0">
            <a:spAutoFit/>
          </a:bodyPr>
          <a:lstStyle/>
          <a:p>
            <a:r>
              <a:rPr sz="1100" b="0" i="0">
                <a:solidFill>
                  <a:srgbClr val="2E4A5C"/>
                </a:solidFill>
              </a:rPr>
              <a:t>Contexte du tour + nouveau message</a:t>
            </a:r>
          </a:p>
        </p:txBody>
      </p:sp>
      <p:sp>
        <p:nvSpPr>
          <p:cNvPr id="68" name="TextBox 67"/>
          <p:cNvSpPr txBox="1"/>
          <p:nvPr/>
        </p:nvSpPr>
        <p:spPr>
          <a:xfrm>
            <a:off x="5349240" y="5779008"/>
            <a:ext cx="6126480" cy="310896"/>
          </a:xfrm>
          <a:prstGeom prst="rect">
            <a:avLst/>
          </a:prstGeom>
          <a:noFill/>
        </p:spPr>
        <p:txBody>
          <a:bodyPr wrap="square" anchor="t" lIns="0" rIns="0" tIns="0" bIns="0">
            <a:spAutoFit/>
          </a:bodyPr>
          <a:lstStyle/>
          <a:p>
            <a:r>
              <a:rPr sz="1150" b="0" i="1">
                <a:solidFill>
                  <a:srgbClr val="2E4A5C"/>
                </a:solidFill>
              </a:rPr>
              <a:t>La partie rouge grandit à chaque message : elle a déjà été payée, et elle est payée à nouveau.</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partie"/>
          <p:cNvSpPr txBox="1"/>
          <p:nvPr/>
        </p:nvSpPr>
        <p:spPr>
          <a:xfrm>
            <a:off x="548640" y="182880"/>
            <a:ext cx="8229600" cy="256032"/>
          </a:xfrm>
          <a:prstGeom prst="rect">
            <a:avLst/>
          </a:prstGeom>
          <a:noFill/>
          <a:ln/>
        </p:spPr>
        <p:txBody>
          <a:bodyPr wrap="square" lIns="0" tIns="0" rIns="0" bIns="0" rtlCol="0" anchor="ctr"/>
          <a:lstStyle/>
          <a:p>
            <a:pPr indent="0" marL="0">
              <a:buNone/>
            </a:pPr>
            <a:r>
              <a:rPr lang="en-US" sz="1100" b="1" spc="150" kern="0" dirty="0">
                <a:solidFill>
                  <a:schemeClr val="accent1"/>
                </a:solidFill>
              </a:rPr>
              <a:t>VIII. L'OPTIMISATION DU SYSTÈME</a:t>
            </a:r>
            <a:endParaRPr lang="en-US" sz="1100" dirty="0"/>
          </a:p>
        </p:txBody>
      </p:sp>
      <p:sp>
        <p:nvSpPr>
          <p:cNvPr id="3" name="Text 0"/>
          <p:cNvSpPr/>
          <p:nvPr>
            <p:ph idx="100" type="title" hasCustomPrompt="1"/>
          </p:nvPr>
        </p:nvSpPr>
        <p:spPr>
          <a:xfrm>
            <a:off x="548640" y="438912"/>
            <a:ext cx="11091672" cy="54864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c) La solution : le cache de prompt</a:t>
            </a:r>
            <a:endParaRPr lang="en-US" sz="2800" dirty="0"/>
          </a:p>
        </p:txBody>
      </p:sp>
      <p:pic>
        <p:nvPicPr>
          <p:cNvPr id="4" name="icone-objectif" descr="preencoded.png">    </p:cNvPr>
          <p:cNvPicPr>
            <a:picLocks noChangeAspect="1"/>
          </p:cNvPicPr>
          <p:nvPr/>
        </p:nvPicPr>
        <p:blipFill>
          <a:blip r:embed="rId1"/>
          <a:stretch>
            <a:fillRect/>
          </a:stretch>
        </p:blipFill>
        <p:spPr>
          <a:xfrm>
            <a:off x="548640" y="1033272"/>
            <a:ext cx="237744" cy="237744"/>
          </a:xfrm>
          <a:prstGeom prst="rect">
            <a:avLst/>
          </a:prstGeom>
        </p:spPr>
      </p:pic>
      <p:sp>
        <p:nvSpPr>
          <p:cNvPr id="5" name="objectif"/>
          <p:cNvSpPr txBox="1"/>
          <p:nvPr/>
        </p:nvSpPr>
        <p:spPr>
          <a:xfrm>
            <a:off x="868680" y="987552"/>
            <a:ext cx="10771632" cy="329184"/>
          </a:xfrm>
          <a:prstGeom prst="rect">
            <a:avLst/>
          </a:prstGeom>
          <a:noFill/>
          <a:ln/>
        </p:spPr>
        <p:txBody>
          <a:bodyPr wrap="square" lIns="0" tIns="0" rIns="0" bIns="0" rtlCol="0" anchor="ctr"/>
          <a:lstStyle/>
          <a:p>
            <a:pPr indent="0" marL="0">
              <a:buNone/>
            </a:pPr>
            <a:r>
              <a:rPr lang="en-US" sz="1400" b="1" i="1" dirty="0">
                <a:solidFill>
                  <a:schemeClr val="tx2"/>
                </a:solidFill>
              </a:rPr>
              <a:t>Objectif : </a:t>
            </a:r>
            <a:pPr indent="0" marL="0">
              <a:buNone/>
            </a:pPr>
            <a:r>
              <a:rPr lang="en-US" sz="1400" i="1" dirty="0">
                <a:solidFill>
                  <a:schemeClr val="tx2"/>
                </a:solidFill>
              </a:rPr>
              <a:t>Voir comment la requête est organisée pour que Claude relise le début depuis son cache.</a:t>
            </a:r>
            <a:endParaRPr lang="en-US" sz="14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34</a:t>
            </a:fld>
            <a:endParaRPr lang="en-US"/>
          </a:p>
        </p:txBody>
      </p:sp>
      <p:sp>
        <p:nvSpPr>
          <p:cNvPr id="26" name="TextBox 25"/>
          <p:cNvSpPr txBox="1"/>
          <p:nvPr/>
        </p:nvSpPr>
        <p:spPr>
          <a:xfrm>
            <a:off x="548640" y="1463040"/>
            <a:ext cx="11064240" cy="365760"/>
          </a:xfrm>
          <a:prstGeom prst="rect">
            <a:avLst/>
          </a:prstGeom>
          <a:noFill/>
        </p:spPr>
        <p:txBody>
          <a:bodyPr wrap="square" anchor="t" lIns="0" rIns="0" tIns="0" bIns="0">
            <a:spAutoFit/>
          </a:bodyPr>
          <a:lstStyle/>
          <a:p>
            <a:r>
              <a:rPr sz="1500" b="1" i="0">
                <a:solidFill>
                  <a:srgbClr val="1B2630"/>
                </a:solidFill>
              </a:rPr>
              <a:t>Une requête découpée en trois blocs, toujours dans le même ordre</a:t>
            </a:r>
          </a:p>
        </p:txBody>
      </p:sp>
      <p:sp>
        <p:nvSpPr>
          <p:cNvPr id="27" name="Rounded Rectangle 26"/>
          <p:cNvSpPr/>
          <p:nvPr/>
        </p:nvSpPr>
        <p:spPr>
          <a:xfrm>
            <a:off x="548640" y="1965960"/>
            <a:ext cx="2971800" cy="960120"/>
          </a:xfrm>
          <a:prstGeom prst="roundRect">
            <a:avLst>
              <a:gd name="adj" fmla="val 6000"/>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 y="1965960"/>
            <a:ext cx="2606040" cy="960120"/>
          </a:xfrm>
          <a:prstGeom prst="rect">
            <a:avLst/>
          </a:prstGeom>
          <a:noFill/>
        </p:spPr>
        <p:txBody>
          <a:bodyPr wrap="square" anchor="ctr" lIns="0" rIns="0" tIns="0" bIns="0">
            <a:spAutoFit/>
          </a:bodyPr>
          <a:lstStyle/>
          <a:p>
            <a:pPr algn="ctr"/>
            <a:r>
              <a:rPr sz="1600" b="1" i="0">
                <a:solidFill>
                  <a:srgbClr val="FFFFFF"/>
                </a:solidFill>
              </a:rPr>
              <a:t>Consigne système</a:t>
            </a:r>
          </a:p>
          <a:p>
            <a:pPr algn="ctr"/>
            <a:r>
              <a:rPr sz="1200" b="0" i="0">
                <a:solidFill>
                  <a:srgbClr val="FFFFFF"/>
                </a:solidFill>
              </a:rPr>
              <a:t>fixe, identique au caractère près</a:t>
            </a:r>
          </a:p>
        </p:txBody>
      </p:sp>
      <p:sp>
        <p:nvSpPr>
          <p:cNvPr id="29" name="Rounded Rectangle 28"/>
          <p:cNvSpPr/>
          <p:nvPr/>
        </p:nvSpPr>
        <p:spPr>
          <a:xfrm>
            <a:off x="3566160" y="1965960"/>
            <a:ext cx="4846320" cy="960120"/>
          </a:xfrm>
          <a:prstGeom prst="roundRect">
            <a:avLst>
              <a:gd name="adj" fmla="val 6000"/>
            </a:avLst>
          </a:prstGeom>
          <a:solidFill>
            <a:srgbClr val="0A5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49039" y="1965960"/>
            <a:ext cx="4480559" cy="960120"/>
          </a:xfrm>
          <a:prstGeom prst="rect">
            <a:avLst/>
          </a:prstGeom>
          <a:noFill/>
        </p:spPr>
        <p:txBody>
          <a:bodyPr wrap="square" anchor="ctr" lIns="0" rIns="0" tIns="0" bIns="0">
            <a:spAutoFit/>
          </a:bodyPr>
          <a:lstStyle/>
          <a:p>
            <a:pPr algn="ctr"/>
            <a:r>
              <a:rPr sz="1600" b="1" i="0">
                <a:solidFill>
                  <a:srgbClr val="FFFFFF"/>
                </a:solidFill>
              </a:rPr>
              <a:t>Anciens messages</a:t>
            </a:r>
          </a:p>
          <a:p>
            <a:pPr algn="ctr"/>
            <a:r>
              <a:rPr sz="1200" b="0" i="0">
                <a:solidFill>
                  <a:srgbClr val="FFFFFF"/>
                </a:solidFill>
              </a:rPr>
              <a:t>la conversation déjà échangée</a:t>
            </a:r>
          </a:p>
        </p:txBody>
      </p:sp>
      <p:sp>
        <p:nvSpPr>
          <p:cNvPr id="31" name="Rounded Rectangle 30"/>
          <p:cNvSpPr/>
          <p:nvPr/>
        </p:nvSpPr>
        <p:spPr>
          <a:xfrm>
            <a:off x="8549640" y="1965960"/>
            <a:ext cx="3090672" cy="960120"/>
          </a:xfrm>
          <a:prstGeom prst="roundRect">
            <a:avLst>
              <a:gd name="adj" fmla="val 6000"/>
            </a:avLst>
          </a:prstGeom>
          <a:solidFill>
            <a:srgbClr val="E3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732519" y="1965960"/>
            <a:ext cx="2724912" cy="960120"/>
          </a:xfrm>
          <a:prstGeom prst="rect">
            <a:avLst/>
          </a:prstGeom>
          <a:noFill/>
        </p:spPr>
        <p:txBody>
          <a:bodyPr wrap="square" anchor="ctr" lIns="0" rIns="0" tIns="0" bIns="0">
            <a:spAutoFit/>
          </a:bodyPr>
          <a:lstStyle/>
          <a:p>
            <a:pPr algn="ctr"/>
            <a:r>
              <a:rPr sz="1600" b="1" i="0">
                <a:solidFill>
                  <a:srgbClr val="FFFFFF"/>
                </a:solidFill>
              </a:rPr>
              <a:t>Dernier message</a:t>
            </a:r>
          </a:p>
          <a:p>
            <a:pPr algn="ctr"/>
            <a:r>
              <a:rPr sz="1200" b="0" i="0">
                <a:solidFill>
                  <a:srgbClr val="FFFFFF"/>
                </a:solidFill>
              </a:rPr>
              <a:t>contexte du tour + message du technicien</a:t>
            </a:r>
          </a:p>
        </p:txBody>
      </p:sp>
      <p:cxnSp>
        <p:nvCxnSpPr>
          <p:cNvPr id="33" name="Connector 32"/>
          <p:cNvCxnSpPr/>
          <p:nvPr/>
        </p:nvCxnSpPr>
        <p:spPr>
          <a:xfrm>
            <a:off x="8476488" y="1572768"/>
            <a:ext cx="0" cy="1444752"/>
          </a:xfrm>
          <a:prstGeom prst="line">
            <a:avLst/>
          </a:prstGeom>
          <a:ln w="19050">
            <a:solidFill>
              <a:srgbClr val="1B2630"/>
            </a:solidFill>
            <a:prstDash val="dash"/>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8577072" y="1554480"/>
            <a:ext cx="1463040" cy="274320"/>
          </a:xfrm>
          <a:prstGeom prst="rect">
            <a:avLst/>
          </a:prstGeom>
          <a:noFill/>
        </p:spPr>
        <p:txBody>
          <a:bodyPr wrap="square" anchor="t" lIns="0" rIns="0" tIns="0" bIns="0">
            <a:spAutoFit/>
          </a:bodyPr>
          <a:lstStyle/>
          <a:p>
            <a:r>
              <a:rPr sz="1050" b="0" i="1">
                <a:solidFill>
                  <a:srgbClr val="1B2630"/>
                </a:solidFill>
              </a:rPr>
              <a:t>point de cache</a:t>
            </a:r>
          </a:p>
        </p:txBody>
      </p:sp>
      <p:cxnSp>
        <p:nvCxnSpPr>
          <p:cNvPr id="35" name="Connector 34"/>
          <p:cNvCxnSpPr/>
          <p:nvPr/>
        </p:nvCxnSpPr>
        <p:spPr>
          <a:xfrm>
            <a:off x="548640" y="3127248"/>
            <a:ext cx="7863840" cy="0"/>
          </a:xfrm>
          <a:prstGeom prst="line">
            <a:avLst/>
          </a:prstGeom>
          <a:ln w="19050">
            <a:solidFill>
              <a:srgbClr val="0E7C6B"/>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548640" y="3200400"/>
            <a:ext cx="6583680" cy="292608"/>
          </a:xfrm>
          <a:prstGeom prst="rect">
            <a:avLst/>
          </a:prstGeom>
          <a:noFill/>
        </p:spPr>
        <p:txBody>
          <a:bodyPr wrap="square" anchor="t" lIns="0" rIns="0" tIns="0" bIns="0">
            <a:spAutoFit/>
          </a:bodyPr>
          <a:lstStyle/>
          <a:p>
            <a:r>
              <a:rPr sz="1300" b="1" i="0">
                <a:solidFill>
                  <a:srgbClr val="0E7C6B"/>
                </a:solidFill>
              </a:rPr>
              <a:t>Mis en cache pendant 1 heure, relu à ≈ 10 % du prix</a:t>
            </a:r>
          </a:p>
        </p:txBody>
      </p:sp>
      <p:cxnSp>
        <p:nvCxnSpPr>
          <p:cNvPr id="37" name="Connector 36"/>
          <p:cNvCxnSpPr/>
          <p:nvPr/>
        </p:nvCxnSpPr>
        <p:spPr>
          <a:xfrm>
            <a:off x="8549640" y="3127248"/>
            <a:ext cx="3090672" cy="0"/>
          </a:xfrm>
          <a:prstGeom prst="line">
            <a:avLst/>
          </a:prstGeom>
          <a:ln w="19050">
            <a:solidFill>
              <a:srgbClr val="E39B2D"/>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9738360" y="3200400"/>
            <a:ext cx="1901952" cy="292608"/>
          </a:xfrm>
          <a:prstGeom prst="rect">
            <a:avLst/>
          </a:prstGeom>
          <a:noFill/>
        </p:spPr>
        <p:txBody>
          <a:bodyPr wrap="square" anchor="t" lIns="0" rIns="0" tIns="0" bIns="0">
            <a:spAutoFit/>
          </a:bodyPr>
          <a:lstStyle/>
          <a:p>
            <a:pPr algn="r"/>
            <a:r>
              <a:rPr sz="1300" b="1" i="0">
                <a:solidFill>
                  <a:srgbClr val="B07214"/>
                </a:solidFill>
              </a:rPr>
              <a:t>Payé plein tarif</a:t>
            </a:r>
          </a:p>
        </p:txBody>
      </p:sp>
      <p:sp>
        <p:nvSpPr>
          <p:cNvPr id="39" name="Rounded Rectangle 38"/>
          <p:cNvSpPr/>
          <p:nvPr/>
        </p:nvSpPr>
        <p:spPr>
          <a:xfrm>
            <a:off x="548640" y="3749039"/>
            <a:ext cx="3544824" cy="2423160"/>
          </a:xfrm>
          <a:prstGeom prst="roundRect">
            <a:avLst>
              <a:gd name="adj" fmla="val 8000"/>
            </a:avLst>
          </a:prstGeom>
          <a:solidFill>
            <a:srgbClr val="EE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77240" y="3977639"/>
            <a:ext cx="548640" cy="548640"/>
          </a:xfrm>
          <a:prstGeom prst="ellipse">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image.png"/>
          <p:cNvPicPr>
            <a:picLocks noChangeAspect="1"/>
          </p:cNvPicPr>
          <p:nvPr/>
        </p:nvPicPr>
        <p:blipFill>
          <a:blip r:embed="rId12"/>
          <a:stretch>
            <a:fillRect/>
          </a:stretch>
        </p:blipFill>
        <p:spPr>
          <a:xfrm>
            <a:off x="897940" y="4098340"/>
            <a:ext cx="307238" cy="307238"/>
          </a:xfrm>
          <a:prstGeom prst="rect">
            <a:avLst/>
          </a:prstGeom>
        </p:spPr>
      </p:pic>
      <p:sp>
        <p:nvSpPr>
          <p:cNvPr id="42" name="TextBox 41"/>
          <p:cNvSpPr txBox="1"/>
          <p:nvPr/>
        </p:nvSpPr>
        <p:spPr>
          <a:xfrm>
            <a:off x="1463040" y="3977639"/>
            <a:ext cx="2447544" cy="548640"/>
          </a:xfrm>
          <a:prstGeom prst="rect">
            <a:avLst/>
          </a:prstGeom>
          <a:noFill/>
        </p:spPr>
        <p:txBody>
          <a:bodyPr wrap="square" anchor="ctr" lIns="0" rIns="0" tIns="0" bIns="0">
            <a:spAutoFit/>
          </a:bodyPr>
          <a:lstStyle/>
          <a:p>
            <a:r>
              <a:rPr sz="1600" b="1" i="0">
                <a:solidFill>
                  <a:srgbClr val="1B2630"/>
                </a:solidFill>
              </a:rPr>
              <a:t>D'un message à l'autre</a:t>
            </a:r>
          </a:p>
        </p:txBody>
      </p:sp>
      <p:sp>
        <p:nvSpPr>
          <p:cNvPr id="43" name="TextBox 42"/>
          <p:cNvSpPr txBox="1"/>
          <p:nvPr/>
        </p:nvSpPr>
        <p:spPr>
          <a:xfrm>
            <a:off x="777240" y="4709159"/>
            <a:ext cx="3087624" cy="1371600"/>
          </a:xfrm>
          <a:prstGeom prst="rect">
            <a:avLst/>
          </a:prstGeom>
          <a:noFill/>
        </p:spPr>
        <p:txBody>
          <a:bodyPr wrap="square" anchor="t" lIns="0" rIns="0" tIns="0" bIns="0">
            <a:spAutoFit/>
          </a:bodyPr>
          <a:lstStyle/>
          <a:p>
            <a:r>
              <a:rPr sz="1300" b="0" i="0">
                <a:solidFill>
                  <a:srgbClr val="2E4A5C"/>
                </a:solidFill>
              </a:rPr>
              <a:t>Le dernier échange rejoint les anciens messages : il est écrit une seule fois dans le cache, puis relu à prix réduit aux messages suivants.</a:t>
            </a:r>
          </a:p>
        </p:txBody>
      </p:sp>
      <p:sp>
        <p:nvSpPr>
          <p:cNvPr id="44" name="Rounded Rectangle 43"/>
          <p:cNvSpPr/>
          <p:nvPr/>
        </p:nvSpPr>
        <p:spPr>
          <a:xfrm>
            <a:off x="4322064" y="3749039"/>
            <a:ext cx="3544824" cy="2423160"/>
          </a:xfrm>
          <a:prstGeom prst="roundRect">
            <a:avLst>
              <a:gd name="adj" fmla="val 8000"/>
            </a:avLst>
          </a:prstGeom>
          <a:solidFill>
            <a:srgbClr val="EE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4550664" y="3977639"/>
            <a:ext cx="548640" cy="548640"/>
          </a:xfrm>
          <a:prstGeom prst="ellipse">
            <a:avLst/>
          </a:prstGeom>
          <a:solidFill>
            <a:srgbClr val="2E4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image.png"/>
          <p:cNvPicPr>
            <a:picLocks noChangeAspect="1"/>
          </p:cNvPicPr>
          <p:nvPr/>
        </p:nvPicPr>
        <p:blipFill>
          <a:blip r:embed="rId13"/>
          <a:stretch>
            <a:fillRect/>
          </a:stretch>
        </p:blipFill>
        <p:spPr>
          <a:xfrm>
            <a:off x="4671364" y="4098340"/>
            <a:ext cx="307238" cy="307238"/>
          </a:xfrm>
          <a:prstGeom prst="rect">
            <a:avLst/>
          </a:prstGeom>
        </p:spPr>
      </p:pic>
      <p:sp>
        <p:nvSpPr>
          <p:cNvPr id="47" name="TextBox 46"/>
          <p:cNvSpPr txBox="1"/>
          <p:nvPr/>
        </p:nvSpPr>
        <p:spPr>
          <a:xfrm>
            <a:off x="5236464" y="3977639"/>
            <a:ext cx="2447544" cy="548640"/>
          </a:xfrm>
          <a:prstGeom prst="rect">
            <a:avLst/>
          </a:prstGeom>
          <a:noFill/>
        </p:spPr>
        <p:txBody>
          <a:bodyPr wrap="square" anchor="ctr" lIns="0" rIns="0" tIns="0" bIns="0">
            <a:spAutoFit/>
          </a:bodyPr>
          <a:lstStyle/>
          <a:p>
            <a:r>
              <a:rPr sz="1600" b="1" i="0">
                <a:solidFill>
                  <a:srgbClr val="1B2630"/>
                </a:solidFill>
              </a:rPr>
              <a:t>Durée : 1 heure</a:t>
            </a:r>
          </a:p>
        </p:txBody>
      </p:sp>
      <p:sp>
        <p:nvSpPr>
          <p:cNvPr id="48" name="TextBox 47"/>
          <p:cNvSpPr txBox="1"/>
          <p:nvPr/>
        </p:nvSpPr>
        <p:spPr>
          <a:xfrm>
            <a:off x="4550664" y="4709159"/>
            <a:ext cx="3087624" cy="1371600"/>
          </a:xfrm>
          <a:prstGeom prst="rect">
            <a:avLst/>
          </a:prstGeom>
          <a:noFill/>
        </p:spPr>
        <p:txBody>
          <a:bodyPr wrap="square" anchor="t" lIns="0" rIns="0" tIns="0" bIns="0">
            <a:spAutoFit/>
          </a:bodyPr>
          <a:lstStyle/>
          <a:p>
            <a:r>
              <a:rPr sz="1300" b="0" i="0">
                <a:solidFill>
                  <a:srgbClr val="2E4A5C"/>
                </a:solidFill>
              </a:rPr>
              <a:t>Un technicien sur le terrain met souvent plus de 5 minutes entre deux messages. Chaque lecture prolonge la durée de vie du cache.</a:t>
            </a:r>
          </a:p>
        </p:txBody>
      </p:sp>
      <p:sp>
        <p:nvSpPr>
          <p:cNvPr id="49" name="Rounded Rectangle 48"/>
          <p:cNvSpPr/>
          <p:nvPr/>
        </p:nvSpPr>
        <p:spPr>
          <a:xfrm>
            <a:off x="8095488" y="3749039"/>
            <a:ext cx="3544824" cy="2423160"/>
          </a:xfrm>
          <a:prstGeom prst="roundRect">
            <a:avLst>
              <a:gd name="adj" fmla="val 8000"/>
            </a:avLst>
          </a:prstGeom>
          <a:solidFill>
            <a:srgbClr val="EE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8324088" y="3977639"/>
            <a:ext cx="548640" cy="548640"/>
          </a:xfrm>
          <a:prstGeom prst="ellipse">
            <a:avLst/>
          </a:prstGeom>
          <a:solidFill>
            <a:srgbClr val="E3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1" name="Picture 50" descr="image.png"/>
          <p:cNvPicPr>
            <a:picLocks noChangeAspect="1"/>
          </p:cNvPicPr>
          <p:nvPr/>
        </p:nvPicPr>
        <p:blipFill>
          <a:blip r:embed="rId14"/>
          <a:stretch>
            <a:fillRect/>
          </a:stretch>
        </p:blipFill>
        <p:spPr>
          <a:xfrm>
            <a:off x="8444788" y="4098340"/>
            <a:ext cx="307238" cy="307238"/>
          </a:xfrm>
          <a:prstGeom prst="rect">
            <a:avLst/>
          </a:prstGeom>
        </p:spPr>
      </p:pic>
      <p:sp>
        <p:nvSpPr>
          <p:cNvPr id="52" name="TextBox 51"/>
          <p:cNvSpPr txBox="1"/>
          <p:nvPr/>
        </p:nvSpPr>
        <p:spPr>
          <a:xfrm>
            <a:off x="9009888" y="3977639"/>
            <a:ext cx="2447544" cy="548640"/>
          </a:xfrm>
          <a:prstGeom prst="rect">
            <a:avLst/>
          </a:prstGeom>
          <a:noFill/>
        </p:spPr>
        <p:txBody>
          <a:bodyPr wrap="square" anchor="ctr" lIns="0" rIns="0" tIns="0" bIns="0">
            <a:spAutoFit/>
          </a:bodyPr>
          <a:lstStyle/>
          <a:p>
            <a:r>
              <a:rPr sz="1600" b="1" i="0">
                <a:solidFill>
                  <a:srgbClr val="1B2630"/>
                </a:solidFill>
              </a:rPr>
              <a:t>Tarifs du cache</a:t>
            </a:r>
          </a:p>
        </p:txBody>
      </p:sp>
      <p:sp>
        <p:nvSpPr>
          <p:cNvPr id="53" name="TextBox 52"/>
          <p:cNvSpPr txBox="1"/>
          <p:nvPr/>
        </p:nvSpPr>
        <p:spPr>
          <a:xfrm>
            <a:off x="8324088" y="4709159"/>
            <a:ext cx="3087624" cy="1371600"/>
          </a:xfrm>
          <a:prstGeom prst="rect">
            <a:avLst/>
          </a:prstGeom>
          <a:noFill/>
        </p:spPr>
        <p:txBody>
          <a:bodyPr wrap="square" anchor="t" lIns="0" rIns="0" tIns="0" bIns="0">
            <a:spAutoFit/>
          </a:bodyPr>
          <a:lstStyle/>
          <a:p>
            <a:r>
              <a:rPr sz="1300" b="1" i="0">
                <a:solidFill>
                  <a:srgbClr val="2E4A5C"/>
                </a:solidFill>
              </a:rPr>
              <a:t>Lecture : </a:t>
            </a:r>
            <a:r>
              <a:rPr sz="1300" b="0" i="0">
                <a:solidFill>
                  <a:srgbClr val="2E4A5C"/>
                </a:solidFill>
              </a:rPr>
              <a:t>0,1 × le prix normal</a:t>
            </a:r>
          </a:p>
          <a:p>
            <a:r>
              <a:rPr sz="1300" b="1" i="0">
                <a:solidFill>
                  <a:srgbClr val="2E4A5C"/>
                </a:solidFill>
              </a:rPr>
              <a:t>Écriture (1 h) : </a:t>
            </a:r>
            <a:r>
              <a:rPr sz="1300" b="0" i="0">
                <a:solidFill>
                  <a:srgbClr val="2E4A5C"/>
                </a:solidFill>
              </a:rPr>
              <a:t>2 × le prix normal, une seule fois</a:t>
            </a:r>
          </a:p>
          <a:p>
            <a:r>
              <a:rPr sz="1300" b="1" i="0">
                <a:solidFill>
                  <a:srgbClr val="2E4A5C"/>
                </a:solidFill>
              </a:rPr>
              <a:t>Hors cache : </a:t>
            </a:r>
            <a:r>
              <a:rPr sz="1300" b="0" i="0">
                <a:solidFill>
                  <a:srgbClr val="2E4A5C"/>
                </a:solidFill>
              </a:rPr>
              <a:t>prix normal</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partie"/>
          <p:cNvSpPr txBox="1"/>
          <p:nvPr/>
        </p:nvSpPr>
        <p:spPr>
          <a:xfrm>
            <a:off x="548640" y="182880"/>
            <a:ext cx="8229600" cy="256032"/>
          </a:xfrm>
          <a:prstGeom prst="rect">
            <a:avLst/>
          </a:prstGeom>
          <a:noFill/>
          <a:ln/>
        </p:spPr>
        <p:txBody>
          <a:bodyPr wrap="square" lIns="0" tIns="0" rIns="0" bIns="0" rtlCol="0" anchor="ctr"/>
          <a:lstStyle/>
          <a:p>
            <a:pPr indent="0" marL="0">
              <a:buNone/>
            </a:pPr>
            <a:r>
              <a:rPr lang="en-US" sz="1100" b="1" spc="150" kern="0" dirty="0">
                <a:solidFill>
                  <a:schemeClr val="accent1"/>
                </a:solidFill>
              </a:rPr>
              <a:t>VIII. L'OPTIMISATION DU SYSTÈME</a:t>
            </a:r>
            <a:endParaRPr lang="en-US" sz="1100" dirty="0"/>
          </a:p>
        </p:txBody>
      </p:sp>
      <p:sp>
        <p:nvSpPr>
          <p:cNvPr id="3" name="Text 0"/>
          <p:cNvSpPr/>
          <p:nvPr>
            <p:ph idx="100" type="title" hasCustomPrompt="1"/>
          </p:nvPr>
        </p:nvSpPr>
        <p:spPr>
          <a:xfrm>
            <a:off x="548640" y="438912"/>
            <a:ext cx="11091672" cy="54864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d) Le gain chiffré sur une conversation</a:t>
            </a:r>
            <a:endParaRPr lang="en-US" sz="2800" dirty="0"/>
          </a:p>
        </p:txBody>
      </p:sp>
      <p:pic>
        <p:nvPicPr>
          <p:cNvPr id="4" name="icone-objectif" descr="preencoded.png">    </p:cNvPr>
          <p:cNvPicPr>
            <a:picLocks noChangeAspect="1"/>
          </p:cNvPicPr>
          <p:nvPr/>
        </p:nvPicPr>
        <p:blipFill>
          <a:blip r:embed="rId1"/>
          <a:stretch>
            <a:fillRect/>
          </a:stretch>
        </p:blipFill>
        <p:spPr>
          <a:xfrm>
            <a:off x="548640" y="1033272"/>
            <a:ext cx="237744" cy="237744"/>
          </a:xfrm>
          <a:prstGeom prst="rect">
            <a:avLst/>
          </a:prstGeom>
        </p:spPr>
      </p:pic>
      <p:sp>
        <p:nvSpPr>
          <p:cNvPr id="5" name="objectif"/>
          <p:cNvSpPr txBox="1"/>
          <p:nvPr/>
        </p:nvSpPr>
        <p:spPr>
          <a:xfrm>
            <a:off x="868680" y="987552"/>
            <a:ext cx="10771632" cy="329184"/>
          </a:xfrm>
          <a:prstGeom prst="rect">
            <a:avLst/>
          </a:prstGeom>
          <a:noFill/>
          <a:ln/>
        </p:spPr>
        <p:txBody>
          <a:bodyPr wrap="square" lIns="0" tIns="0" rIns="0" bIns="0" rtlCol="0" anchor="ctr"/>
          <a:lstStyle/>
          <a:p>
            <a:pPr indent="0" marL="0">
              <a:buNone/>
            </a:pPr>
            <a:r>
              <a:rPr lang="en-US" sz="1400" b="1" i="1" dirty="0">
                <a:solidFill>
                  <a:schemeClr val="tx2"/>
                </a:solidFill>
              </a:rPr>
              <a:t>Objectif : </a:t>
            </a:r>
            <a:pPr indent="0" marL="0">
              <a:buNone/>
            </a:pPr>
            <a:r>
              <a:rPr lang="en-US" sz="1400" i="1" dirty="0">
                <a:solidFill>
                  <a:schemeClr val="tx2"/>
                </a:solidFill>
              </a:rPr>
              <a:t>Mesurer, sur un exemple, ce que le cache fait économiser.</a:t>
            </a:r>
            <a:endParaRPr lang="en-US" sz="14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34</a:t>
            </a:fld>
            <a:endParaRPr lang="en-US"/>
          </a:p>
        </p:txBody>
      </p:sp>
      <p:graphicFrame>
        <p:nvGraphicFramePr>
          <p:cNvPr id="26" name="Chart 25"/>
          <p:cNvGraphicFramePr>
            <a:graphicFrameLocks noGrp="1"/>
          </p:cNvGraphicFramePr>
          <p:nvPr/>
        </p:nvGraphicFramePr>
        <p:xfrm>
          <a:off x="548640" y="1463040"/>
          <a:ext cx="6766560" cy="4023360"/>
        </p:xfrm>
        <a:graphic>
          <a:graphicData uri="http://schemas.openxmlformats.org/drawingml/2006/chart">
            <c:chart xmlns:c="http://schemas.openxmlformats.org/drawingml/2006/chart" r:id="rId12"/>
          </a:graphicData>
        </a:graphic>
      </p:graphicFrame>
      <p:graphicFrame>
        <p:nvGraphicFramePr>
          <p:cNvPr id="27" name="Table 26"/>
          <p:cNvGraphicFramePr>
            <a:graphicFrameLocks noGrp="1"/>
          </p:cNvGraphicFramePr>
          <p:nvPr/>
        </p:nvGraphicFramePr>
        <p:xfrm>
          <a:off x="7589520" y="1783080"/>
          <a:ext cx="4050792" cy="2194560"/>
        </p:xfrm>
        <a:graphic>
          <a:graphicData uri="http://schemas.openxmlformats.org/drawingml/2006/table">
            <a:tbl>
              <a:tblPr firstRow="1" bandRow="1">
                <a:tableStyleId>{5C22544A-7EE6-4342-B048-85BDC9FD1C3A}</a:tableStyleId>
              </a:tblPr>
              <a:tblGrid>
                <a:gridCol w="1508760"/>
                <a:gridCol w="1271016"/>
                <a:gridCol w="1271016"/>
              </a:tblGrid>
              <a:tr h="438912">
                <a:tc>
                  <a:txBody>
                    <a:bodyPr/>
                    <a:lstStyle/>
                    <a:p>
                      <a:pPr algn="l"/>
                      <a:r>
                        <a:rPr sz="1250" b="1">
                          <a:solidFill>
                            <a:srgbClr val="1B2630"/>
                          </a:solidFill>
                        </a:rPr>
                        <a:t/>
                      </a:r>
                    </a:p>
                  </a:txBody>
                  <a:tcPr anchor="ctr" marL="73152" marR="73152">
                    <a:solidFill>
                      <a:srgbClr val="EEF2F3"/>
                    </a:solidFill>
                  </a:tcPr>
                </a:tc>
                <a:tc>
                  <a:txBody>
                    <a:bodyPr/>
                    <a:lstStyle/>
                    <a:p>
                      <a:pPr algn="ctr"/>
                      <a:r>
                        <a:rPr sz="1250" b="1">
                          <a:solidFill>
                            <a:srgbClr val="FFFFFF"/>
                          </a:solidFill>
                        </a:rPr>
                        <a:t>Sans cache</a:t>
                      </a:r>
                    </a:p>
                  </a:txBody>
                  <a:tcPr anchor="ctr" marL="73152" marR="73152">
                    <a:solidFill>
                      <a:srgbClr val="6B7A86"/>
                    </a:solidFill>
                  </a:tcPr>
                </a:tc>
                <a:tc>
                  <a:txBody>
                    <a:bodyPr/>
                    <a:lstStyle/>
                    <a:p>
                      <a:pPr algn="ctr"/>
                      <a:r>
                        <a:rPr sz="1250" b="1">
                          <a:solidFill>
                            <a:srgbClr val="FFFFFF"/>
                          </a:solidFill>
                        </a:rPr>
                        <a:t>Avec cache</a:t>
                      </a:r>
                    </a:p>
                  </a:txBody>
                  <a:tcPr anchor="ctr" marL="73152" marR="73152">
                    <a:solidFill>
                      <a:srgbClr val="0E7C6B"/>
                    </a:solidFill>
                  </a:tcPr>
                </a:tc>
              </a:tr>
              <a:tr h="438912">
                <a:tc>
                  <a:txBody>
                    <a:bodyPr/>
                    <a:lstStyle/>
                    <a:p>
                      <a:pPr algn="l"/>
                      <a:r>
                        <a:rPr sz="1250" b="1">
                          <a:solidFill>
                            <a:srgbClr val="1B2630"/>
                          </a:solidFill>
                        </a:rPr>
                        <a:t>Lecture (entrée)</a:t>
                      </a:r>
                    </a:p>
                  </a:txBody>
                  <a:tcPr anchor="ctr" marL="73152" marR="73152">
                    <a:solidFill>
                      <a:srgbClr val="EEF2F3"/>
                    </a:solidFill>
                  </a:tcPr>
                </a:tc>
                <a:tc>
                  <a:txBody>
                    <a:bodyPr/>
                    <a:lstStyle/>
                    <a:p>
                      <a:pPr algn="ctr"/>
                      <a:r>
                        <a:rPr sz="1250" b="0">
                          <a:solidFill>
                            <a:srgbClr val="1B2630"/>
                          </a:solidFill>
                        </a:rPr>
                        <a:t>272 $</a:t>
                      </a:r>
                    </a:p>
                  </a:txBody>
                  <a:tcPr anchor="ctr" marL="73152" marR="73152">
                    <a:solidFill>
                      <a:srgbClr val="FFFFFF"/>
                    </a:solidFill>
                  </a:tcPr>
                </a:tc>
                <a:tc>
                  <a:txBody>
                    <a:bodyPr/>
                    <a:lstStyle/>
                    <a:p>
                      <a:pPr algn="ctr"/>
                      <a:r>
                        <a:rPr sz="1250" b="0">
                          <a:solidFill>
                            <a:srgbClr val="1B2630"/>
                          </a:solidFill>
                        </a:rPr>
                        <a:t>100 $</a:t>
                      </a:r>
                    </a:p>
                  </a:txBody>
                  <a:tcPr anchor="ctr" marL="73152" marR="73152">
                    <a:solidFill>
                      <a:srgbClr val="E3F1EE"/>
                    </a:solidFill>
                  </a:tcPr>
                </a:tc>
              </a:tr>
              <a:tr h="438912">
                <a:tc>
                  <a:txBody>
                    <a:bodyPr/>
                    <a:lstStyle/>
                    <a:p>
                      <a:pPr algn="l"/>
                      <a:r>
                        <a:rPr sz="1250" b="1">
                          <a:solidFill>
                            <a:srgbClr val="1B2630"/>
                          </a:solidFill>
                        </a:rPr>
                        <a:t>Réponse (sortie)</a:t>
                      </a:r>
                    </a:p>
                  </a:txBody>
                  <a:tcPr anchor="ctr" marL="73152" marR="73152">
                    <a:solidFill>
                      <a:srgbClr val="EEF2F3"/>
                    </a:solidFill>
                  </a:tcPr>
                </a:tc>
                <a:tc>
                  <a:txBody>
                    <a:bodyPr/>
                    <a:lstStyle/>
                    <a:p>
                      <a:pPr algn="ctr"/>
                      <a:r>
                        <a:rPr sz="1250" b="0">
                          <a:solidFill>
                            <a:srgbClr val="1B2630"/>
                          </a:solidFill>
                        </a:rPr>
                        <a:t>60 $</a:t>
                      </a:r>
                    </a:p>
                  </a:txBody>
                  <a:tcPr anchor="ctr" marL="73152" marR="73152">
                    <a:solidFill>
                      <a:srgbClr val="FFFFFF"/>
                    </a:solidFill>
                  </a:tcPr>
                </a:tc>
                <a:tc>
                  <a:txBody>
                    <a:bodyPr/>
                    <a:lstStyle/>
                    <a:p>
                      <a:pPr algn="ctr"/>
                      <a:r>
                        <a:rPr sz="1250" b="0">
                          <a:solidFill>
                            <a:srgbClr val="1B2630"/>
                          </a:solidFill>
                        </a:rPr>
                        <a:t>60 $</a:t>
                      </a:r>
                    </a:p>
                  </a:txBody>
                  <a:tcPr anchor="ctr" marL="73152" marR="73152">
                    <a:solidFill>
                      <a:srgbClr val="E3F1EE"/>
                    </a:solidFill>
                  </a:tcPr>
                </a:tc>
              </a:tr>
              <a:tr h="438912">
                <a:tc>
                  <a:txBody>
                    <a:bodyPr/>
                    <a:lstStyle/>
                    <a:p>
                      <a:pPr algn="l"/>
                      <a:r>
                        <a:rPr sz="1250" b="1">
                          <a:solidFill>
                            <a:srgbClr val="1B2630"/>
                          </a:solidFill>
                        </a:rPr>
                        <a:t>Total</a:t>
                      </a:r>
                    </a:p>
                  </a:txBody>
                  <a:tcPr anchor="ctr" marL="73152" marR="73152">
                    <a:solidFill>
                      <a:srgbClr val="EEF2F3"/>
                    </a:solidFill>
                  </a:tcPr>
                </a:tc>
                <a:tc>
                  <a:txBody>
                    <a:bodyPr/>
                    <a:lstStyle/>
                    <a:p>
                      <a:pPr algn="ctr"/>
                      <a:r>
                        <a:rPr sz="1250" b="1">
                          <a:solidFill>
                            <a:srgbClr val="1B2630"/>
                          </a:solidFill>
                        </a:rPr>
                        <a:t>332 $</a:t>
                      </a:r>
                    </a:p>
                  </a:txBody>
                  <a:tcPr anchor="ctr" marL="73152" marR="73152">
                    <a:solidFill>
                      <a:srgbClr val="FFFFFF"/>
                    </a:solidFill>
                  </a:tcPr>
                </a:tc>
                <a:tc>
                  <a:txBody>
                    <a:bodyPr/>
                    <a:lstStyle/>
                    <a:p>
                      <a:pPr algn="ctr"/>
                      <a:r>
                        <a:rPr sz="1250" b="1">
                          <a:solidFill>
                            <a:srgbClr val="1B2630"/>
                          </a:solidFill>
                        </a:rPr>
                        <a:t>160 $</a:t>
                      </a:r>
                    </a:p>
                  </a:txBody>
                  <a:tcPr anchor="ctr" marL="73152" marR="73152">
                    <a:solidFill>
                      <a:srgbClr val="E3F1EE"/>
                    </a:solidFill>
                  </a:tcPr>
                </a:tc>
              </a:tr>
              <a:tr h="438912">
                <a:tc>
                  <a:txBody>
                    <a:bodyPr/>
                    <a:lstStyle/>
                    <a:p>
                      <a:pPr algn="l"/>
                      <a:r>
                        <a:rPr sz="1250" b="1">
                          <a:solidFill>
                            <a:srgbClr val="1B2630"/>
                          </a:solidFill>
                        </a:rPr>
                        <a:t>Économie</a:t>
                      </a:r>
                    </a:p>
                  </a:txBody>
                  <a:tcPr anchor="ctr" marL="73152" marR="73152">
                    <a:solidFill>
                      <a:srgbClr val="EEF2F3"/>
                    </a:solidFill>
                  </a:tcPr>
                </a:tc>
                <a:tc>
                  <a:txBody>
                    <a:bodyPr/>
                    <a:lstStyle/>
                    <a:p>
                      <a:pPr algn="ctr"/>
                      <a:r>
                        <a:rPr sz="1250" b="1">
                          <a:solidFill>
                            <a:srgbClr val="1B2630"/>
                          </a:solidFill>
                        </a:rPr>
                        <a:t/>
                      </a:r>
                    </a:p>
                  </a:txBody>
                  <a:tcPr anchor="ctr" marL="73152" marR="73152">
                    <a:solidFill>
                      <a:srgbClr val="FFFFFF"/>
                    </a:solidFill>
                  </a:tcPr>
                </a:tc>
                <a:tc>
                  <a:txBody>
                    <a:bodyPr/>
                    <a:lstStyle/>
                    <a:p>
                      <a:pPr algn="ctr"/>
                      <a:r>
                        <a:rPr sz="1250" b="1">
                          <a:solidFill>
                            <a:srgbClr val="0E7C6B"/>
                          </a:solidFill>
                        </a:rPr>
                        <a:t>−52 %</a:t>
                      </a:r>
                    </a:p>
                  </a:txBody>
                  <a:tcPr anchor="ctr" marL="73152" marR="73152">
                    <a:solidFill>
                      <a:srgbClr val="E3F1EE"/>
                    </a:solidFill>
                  </a:tcPr>
                </a:tc>
              </a:tr>
            </a:tbl>
          </a:graphicData>
        </a:graphic>
      </p:graphicFrame>
      <p:sp>
        <p:nvSpPr>
          <p:cNvPr id="28" name="TextBox 27"/>
          <p:cNvSpPr txBox="1"/>
          <p:nvPr/>
        </p:nvSpPr>
        <p:spPr>
          <a:xfrm>
            <a:off x="7589520" y="1463040"/>
            <a:ext cx="4050791" cy="292608"/>
          </a:xfrm>
          <a:prstGeom prst="rect">
            <a:avLst/>
          </a:prstGeom>
          <a:noFill/>
        </p:spPr>
        <p:txBody>
          <a:bodyPr wrap="square" anchor="t" lIns="0" rIns="0" tIns="0" bIns="0">
            <a:spAutoFit/>
          </a:bodyPr>
          <a:lstStyle/>
          <a:p>
            <a:r>
              <a:rPr sz="1300" b="1" i="0">
                <a:solidFill>
                  <a:srgbClr val="1B2630"/>
                </a:solidFill>
              </a:rPr>
              <a:t>Pour 1 000 conversations de 20 messages</a:t>
            </a:r>
          </a:p>
        </p:txBody>
      </p:sp>
      <p:sp>
        <p:nvSpPr>
          <p:cNvPr id="29" name="Rounded Rectangle 28"/>
          <p:cNvSpPr/>
          <p:nvPr/>
        </p:nvSpPr>
        <p:spPr>
          <a:xfrm>
            <a:off x="7589520" y="4160520"/>
            <a:ext cx="4050791" cy="1325880"/>
          </a:xfrm>
          <a:prstGeom prst="roundRect">
            <a:avLst>
              <a:gd name="adj" fmla="val 8000"/>
            </a:avLst>
          </a:prstGeom>
          <a:solidFill>
            <a:srgbClr val="0E7C6B">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0" y="4206240"/>
            <a:ext cx="3703320" cy="1234440"/>
          </a:xfrm>
          <a:prstGeom prst="rect">
            <a:avLst/>
          </a:prstGeom>
          <a:noFill/>
        </p:spPr>
        <p:txBody>
          <a:bodyPr wrap="square" anchor="ctr" lIns="0" rIns="0" tIns="0" bIns="0">
            <a:spAutoFit/>
          </a:bodyPr>
          <a:lstStyle/>
          <a:p>
            <a:r>
              <a:rPr sz="1250" b="1" i="0">
                <a:solidFill>
                  <a:srgbClr val="1B2630"/>
                </a:solidFill>
              </a:rPr>
              <a:t>Sur la partie relue : −63 %.</a:t>
            </a:r>
          </a:p>
          <a:p>
            <a:r>
              <a:rPr sz="1250" b="0" i="0">
                <a:solidFill>
                  <a:srgbClr val="1B2630"/>
                </a:solidFill>
              </a:rPr>
              <a:t>L'économie grandit avec la longueur de la conversation. Seul le 1er message coûte un peu plus cher (écriture du cache).</a:t>
            </a:r>
          </a:p>
        </p:txBody>
      </p:sp>
      <p:sp>
        <p:nvSpPr>
          <p:cNvPr id="31" name="Rounded Rectangle 30"/>
          <p:cNvSpPr/>
          <p:nvPr/>
        </p:nvSpPr>
        <p:spPr>
          <a:xfrm>
            <a:off x="548640" y="5623560"/>
            <a:ext cx="11091672" cy="566928"/>
          </a:xfrm>
          <a:prstGeom prst="roundRect">
            <a:avLst>
              <a:gd name="adj" fmla="val 8000"/>
            </a:avLst>
          </a:prstGeom>
          <a:solidFill>
            <a:srgbClr val="EE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5623560"/>
            <a:ext cx="10744200" cy="566928"/>
          </a:xfrm>
          <a:prstGeom prst="rect">
            <a:avLst/>
          </a:prstGeom>
          <a:noFill/>
        </p:spPr>
        <p:txBody>
          <a:bodyPr wrap="square" anchor="ctr" lIns="0" rIns="0" tIns="0" bIns="0">
            <a:spAutoFit/>
          </a:bodyPr>
          <a:lstStyle/>
          <a:p>
            <a:r>
              <a:rPr sz="1100" b="1" i="0">
                <a:solidFill>
                  <a:srgbClr val="1B2630"/>
                </a:solidFill>
              </a:rPr>
              <a:t>Hypothèses : </a:t>
            </a:r>
            <a:r>
              <a:rPr sz="1100" b="0" i="0">
                <a:solidFill>
                  <a:srgbClr val="1B2630"/>
                </a:solidFill>
              </a:rPr>
              <a:t>consigne 2 000 jetons, 400 jetons par échange, 1 000 jetons de contexte et de message par tour, réponse de 300 jetons. Tarifs Claude Sonnet 5.5 : entrée 2 $ / M jetons, sortie 10 $ / M, lecture du cache 0,20 $ / M, écriture 1 h 4 $ / M. Estimation à confirmer par les traces.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partie"/>
          <p:cNvSpPr txBox="1"/>
          <p:nvPr/>
        </p:nvSpPr>
        <p:spPr>
          <a:xfrm>
            <a:off x="548640" y="182880"/>
            <a:ext cx="8229600" cy="256032"/>
          </a:xfrm>
          <a:prstGeom prst="rect">
            <a:avLst/>
          </a:prstGeom>
          <a:noFill/>
          <a:ln/>
        </p:spPr>
        <p:txBody>
          <a:bodyPr wrap="square" lIns="0" tIns="0" rIns="0" bIns="0" rtlCol="0" anchor="ctr"/>
          <a:lstStyle/>
          <a:p>
            <a:pPr indent="0" marL="0">
              <a:buNone/>
            </a:pPr>
            <a:r>
              <a:rPr lang="en-US" sz="1100" b="1" spc="150" kern="0" dirty="0">
                <a:solidFill>
                  <a:schemeClr val="accent1"/>
                </a:solidFill>
              </a:rPr>
              <a:t>VIII. L'OPTIMISATION DU SYSTÈME</a:t>
            </a:r>
            <a:endParaRPr lang="en-US" sz="1100" dirty="0"/>
          </a:p>
        </p:txBody>
      </p:sp>
      <p:sp>
        <p:nvSpPr>
          <p:cNvPr id="3" name="Text 0"/>
          <p:cNvSpPr/>
          <p:nvPr>
            <p:ph idx="100" type="title" hasCustomPrompt="1"/>
          </p:nvPr>
        </p:nvSpPr>
        <p:spPr>
          <a:xfrm>
            <a:off x="548640" y="438912"/>
            <a:ext cx="11091672" cy="54864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e) Mesurer l'économie et ses limites</a:t>
            </a:r>
            <a:endParaRPr lang="en-US" sz="2800" dirty="0"/>
          </a:p>
        </p:txBody>
      </p:sp>
      <p:pic>
        <p:nvPicPr>
          <p:cNvPr id="4" name="icone-objectif" descr="preencoded.png">    </p:cNvPr>
          <p:cNvPicPr>
            <a:picLocks noChangeAspect="1"/>
          </p:cNvPicPr>
          <p:nvPr/>
        </p:nvPicPr>
        <p:blipFill>
          <a:blip r:embed="rId1"/>
          <a:stretch>
            <a:fillRect/>
          </a:stretch>
        </p:blipFill>
        <p:spPr>
          <a:xfrm>
            <a:off x="548640" y="1033272"/>
            <a:ext cx="237744" cy="237744"/>
          </a:xfrm>
          <a:prstGeom prst="rect">
            <a:avLst/>
          </a:prstGeom>
        </p:spPr>
      </p:pic>
      <p:sp>
        <p:nvSpPr>
          <p:cNvPr id="5" name="objectif"/>
          <p:cNvSpPr txBox="1"/>
          <p:nvPr/>
        </p:nvSpPr>
        <p:spPr>
          <a:xfrm>
            <a:off x="868680" y="987552"/>
            <a:ext cx="10771632" cy="329184"/>
          </a:xfrm>
          <a:prstGeom prst="rect">
            <a:avLst/>
          </a:prstGeom>
          <a:noFill/>
          <a:ln/>
        </p:spPr>
        <p:txBody>
          <a:bodyPr wrap="square" lIns="0" tIns="0" rIns="0" bIns="0" rtlCol="0" anchor="ctr"/>
          <a:lstStyle/>
          <a:p>
            <a:pPr indent="0" marL="0">
              <a:buNone/>
            </a:pPr>
            <a:r>
              <a:rPr lang="en-US" sz="1400" b="1" i="1" dirty="0">
                <a:solidFill>
                  <a:schemeClr val="tx2"/>
                </a:solidFill>
              </a:rPr>
              <a:t>Objectif : </a:t>
            </a:r>
            <a:pPr indent="0" marL="0">
              <a:buNone/>
            </a:pPr>
            <a:r>
              <a:rPr lang="en-US" sz="1400" i="1" dirty="0">
                <a:solidFill>
                  <a:schemeClr val="tx2"/>
                </a:solidFill>
              </a:rPr>
              <a:t>Savoir comment vérifier le gain réel et connaître les limites actuelles du cache.</a:t>
            </a:r>
            <a:endParaRPr lang="en-US" sz="14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34</a:t>
            </a:fld>
            <a:endParaRPr lang="en-US"/>
          </a:p>
        </p:txBody>
      </p:sp>
      <p:sp>
        <p:nvSpPr>
          <p:cNvPr id="26" name="Rounded Rectangle 25"/>
          <p:cNvSpPr/>
          <p:nvPr/>
        </p:nvSpPr>
        <p:spPr>
          <a:xfrm>
            <a:off x="548640" y="1463040"/>
            <a:ext cx="5394960" cy="4709160"/>
          </a:xfrm>
          <a:prstGeom prst="roundRect">
            <a:avLst>
              <a:gd name="adj" fmla="val 8000"/>
            </a:avLst>
          </a:prstGeom>
          <a:solidFill>
            <a:srgbClr val="EE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77240" y="1664208"/>
            <a:ext cx="566928" cy="566928"/>
          </a:xfrm>
          <a:prstGeom prst="ellipse">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TbReportAnalytics_FFFFFF.png"/>
          <p:cNvPicPr>
            <a:picLocks noChangeAspect="1"/>
          </p:cNvPicPr>
          <p:nvPr/>
        </p:nvPicPr>
        <p:blipFill>
          <a:blip r:embed="rId12"/>
          <a:stretch>
            <a:fillRect/>
          </a:stretch>
        </p:blipFill>
        <p:spPr>
          <a:xfrm>
            <a:off x="901964" y="1788932"/>
            <a:ext cx="317479" cy="317479"/>
          </a:xfrm>
          <a:prstGeom prst="rect">
            <a:avLst/>
          </a:prstGeom>
        </p:spPr>
      </p:pic>
      <p:sp>
        <p:nvSpPr>
          <p:cNvPr id="29" name="TextBox 28"/>
          <p:cNvSpPr txBox="1"/>
          <p:nvPr/>
        </p:nvSpPr>
        <p:spPr>
          <a:xfrm>
            <a:off x="1508760" y="1664208"/>
            <a:ext cx="4297680" cy="566928"/>
          </a:xfrm>
          <a:prstGeom prst="rect">
            <a:avLst/>
          </a:prstGeom>
          <a:noFill/>
        </p:spPr>
        <p:txBody>
          <a:bodyPr wrap="square" anchor="ctr" lIns="0" rIns="0" tIns="0" bIns="0">
            <a:spAutoFit/>
          </a:bodyPr>
          <a:lstStyle/>
          <a:p>
            <a:r>
              <a:rPr sz="1700" b="1" i="0">
                <a:solidFill>
                  <a:srgbClr val="1B2630"/>
                </a:solidFill>
              </a:rPr>
              <a:t>Une trace à chaque appel</a:t>
            </a:r>
          </a:p>
        </p:txBody>
      </p:sp>
      <p:sp>
        <p:nvSpPr>
          <p:cNvPr id="30" name="TextBox 29"/>
          <p:cNvSpPr txBox="1"/>
          <p:nvPr/>
        </p:nvSpPr>
        <p:spPr>
          <a:xfrm>
            <a:off x="777240" y="2423160"/>
            <a:ext cx="4937760" cy="548640"/>
          </a:xfrm>
          <a:prstGeom prst="rect">
            <a:avLst/>
          </a:prstGeom>
          <a:noFill/>
        </p:spPr>
        <p:txBody>
          <a:bodyPr wrap="square" anchor="t" lIns="0" rIns="0" tIns="0" bIns="0">
            <a:spAutoFit/>
          </a:bodyPr>
          <a:lstStyle/>
          <a:p>
            <a:r>
              <a:rPr sz="1350" b="0" i="0">
                <a:solidFill>
                  <a:srgbClr val="2E4A5C"/>
                </a:solidFill>
              </a:rPr>
              <a:t>Pour chaque appel, l'API Claude indique combien de jetons ont été :</a:t>
            </a:r>
          </a:p>
        </p:txBody>
      </p:sp>
      <p:sp>
        <p:nvSpPr>
          <p:cNvPr id="31" name="Rounded Rectangle 30"/>
          <p:cNvSpPr/>
          <p:nvPr/>
        </p:nvSpPr>
        <p:spPr>
          <a:xfrm>
            <a:off x="777240" y="3063240"/>
            <a:ext cx="4937760" cy="713232"/>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3063240"/>
            <a:ext cx="109728" cy="713232"/>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24128" y="3118104"/>
            <a:ext cx="2926080" cy="621792"/>
          </a:xfrm>
          <a:prstGeom prst="rect">
            <a:avLst/>
          </a:prstGeom>
          <a:noFill/>
        </p:spPr>
        <p:txBody>
          <a:bodyPr wrap="square" anchor="ctr" lIns="0" rIns="0" tIns="0" bIns="0">
            <a:spAutoFit/>
          </a:bodyPr>
          <a:lstStyle/>
          <a:p>
            <a:r>
              <a:rPr sz="1350" b="1" i="0">
                <a:solidFill>
                  <a:srgbClr val="1B2630"/>
                </a:solidFill>
              </a:rPr>
              <a:t>lus depuis le cache</a:t>
            </a:r>
          </a:p>
          <a:p>
            <a:r>
              <a:rPr sz="1100" b="0" i="0">
                <a:solidFill>
                  <a:srgbClr val="6B7A86"/>
                </a:solidFill>
                <a:latin typeface="Courier New"/>
              </a:rPr>
              <a:t>cache_read_input_tokens</a:t>
            </a:r>
          </a:p>
        </p:txBody>
      </p:sp>
      <p:sp>
        <p:nvSpPr>
          <p:cNvPr id="34" name="TextBox 33"/>
          <p:cNvSpPr txBox="1"/>
          <p:nvPr/>
        </p:nvSpPr>
        <p:spPr>
          <a:xfrm>
            <a:off x="3931920" y="3063240"/>
            <a:ext cx="1645920" cy="713232"/>
          </a:xfrm>
          <a:prstGeom prst="rect">
            <a:avLst/>
          </a:prstGeom>
          <a:noFill/>
        </p:spPr>
        <p:txBody>
          <a:bodyPr wrap="square" anchor="ctr" lIns="0" rIns="0" tIns="0" bIns="0">
            <a:spAutoFit/>
          </a:bodyPr>
          <a:lstStyle/>
          <a:p>
            <a:pPr algn="r"/>
            <a:r>
              <a:rPr sz="1200" b="0" i="0">
                <a:solidFill>
                  <a:srgbClr val="2E4A5C"/>
                </a:solidFill>
              </a:rPr>
              <a:t>≈ 10 % du prix</a:t>
            </a:r>
          </a:p>
        </p:txBody>
      </p:sp>
      <p:sp>
        <p:nvSpPr>
          <p:cNvPr id="35" name="Rounded Rectangle 34"/>
          <p:cNvSpPr/>
          <p:nvPr/>
        </p:nvSpPr>
        <p:spPr>
          <a:xfrm>
            <a:off x="777240" y="3904488"/>
            <a:ext cx="4937760" cy="713232"/>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7240" y="3904488"/>
            <a:ext cx="109728" cy="713232"/>
          </a:xfrm>
          <a:prstGeom prst="rect">
            <a:avLst/>
          </a:prstGeom>
          <a:solidFill>
            <a:srgbClr val="2E4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24128" y="3959352"/>
            <a:ext cx="2926080" cy="621792"/>
          </a:xfrm>
          <a:prstGeom prst="rect">
            <a:avLst/>
          </a:prstGeom>
          <a:noFill/>
        </p:spPr>
        <p:txBody>
          <a:bodyPr wrap="square" anchor="ctr" lIns="0" rIns="0" tIns="0" bIns="0">
            <a:spAutoFit/>
          </a:bodyPr>
          <a:lstStyle/>
          <a:p>
            <a:r>
              <a:rPr sz="1350" b="1" i="0">
                <a:solidFill>
                  <a:srgbClr val="1B2630"/>
                </a:solidFill>
              </a:rPr>
              <a:t>écrits dans le cache</a:t>
            </a:r>
          </a:p>
          <a:p>
            <a:r>
              <a:rPr sz="1100" b="0" i="0">
                <a:solidFill>
                  <a:srgbClr val="6B7A86"/>
                </a:solidFill>
                <a:latin typeface="Courier New"/>
              </a:rPr>
              <a:t>cache_creation_input_tokens</a:t>
            </a:r>
          </a:p>
        </p:txBody>
      </p:sp>
      <p:sp>
        <p:nvSpPr>
          <p:cNvPr id="38" name="TextBox 37"/>
          <p:cNvSpPr txBox="1"/>
          <p:nvPr/>
        </p:nvSpPr>
        <p:spPr>
          <a:xfrm>
            <a:off x="3931920" y="3904488"/>
            <a:ext cx="1645920" cy="713232"/>
          </a:xfrm>
          <a:prstGeom prst="rect">
            <a:avLst/>
          </a:prstGeom>
          <a:noFill/>
        </p:spPr>
        <p:txBody>
          <a:bodyPr wrap="square" anchor="ctr" lIns="0" rIns="0" tIns="0" bIns="0">
            <a:spAutoFit/>
          </a:bodyPr>
          <a:lstStyle/>
          <a:p>
            <a:pPr algn="r"/>
            <a:r>
              <a:rPr sz="1200" b="0" i="0">
                <a:solidFill>
                  <a:srgbClr val="2E4A5C"/>
                </a:solidFill>
              </a:rPr>
              <a:t>2 × le prix, une fois</a:t>
            </a:r>
          </a:p>
        </p:txBody>
      </p:sp>
      <p:sp>
        <p:nvSpPr>
          <p:cNvPr id="39" name="Rounded Rectangle 38"/>
          <p:cNvSpPr/>
          <p:nvPr/>
        </p:nvSpPr>
        <p:spPr>
          <a:xfrm>
            <a:off x="777240" y="4745736"/>
            <a:ext cx="4937760" cy="713232"/>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77240" y="4745736"/>
            <a:ext cx="109728" cy="713232"/>
          </a:xfrm>
          <a:prstGeom prst="rect">
            <a:avLst/>
          </a:prstGeom>
          <a:solidFill>
            <a:srgbClr val="E3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24128" y="4800600"/>
            <a:ext cx="2926080" cy="621792"/>
          </a:xfrm>
          <a:prstGeom prst="rect">
            <a:avLst/>
          </a:prstGeom>
          <a:noFill/>
        </p:spPr>
        <p:txBody>
          <a:bodyPr wrap="square" anchor="ctr" lIns="0" rIns="0" tIns="0" bIns="0">
            <a:spAutoFit/>
          </a:bodyPr>
          <a:lstStyle/>
          <a:p>
            <a:r>
              <a:rPr sz="1350" b="1" i="0">
                <a:solidFill>
                  <a:srgbClr val="1B2630"/>
                </a:solidFill>
              </a:rPr>
              <a:t>payés plein tarif</a:t>
            </a:r>
          </a:p>
          <a:p>
            <a:r>
              <a:rPr sz="1100" b="0" i="0">
                <a:solidFill>
                  <a:srgbClr val="6B7A86"/>
                </a:solidFill>
                <a:latin typeface="Courier New"/>
              </a:rPr>
              <a:t>input_tokens</a:t>
            </a:r>
          </a:p>
        </p:txBody>
      </p:sp>
      <p:sp>
        <p:nvSpPr>
          <p:cNvPr id="42" name="TextBox 41"/>
          <p:cNvSpPr txBox="1"/>
          <p:nvPr/>
        </p:nvSpPr>
        <p:spPr>
          <a:xfrm>
            <a:off x="3931920" y="4745736"/>
            <a:ext cx="1645920" cy="713232"/>
          </a:xfrm>
          <a:prstGeom prst="rect">
            <a:avLst/>
          </a:prstGeom>
          <a:noFill/>
        </p:spPr>
        <p:txBody>
          <a:bodyPr wrap="square" anchor="ctr" lIns="0" rIns="0" tIns="0" bIns="0">
            <a:spAutoFit/>
          </a:bodyPr>
          <a:lstStyle/>
          <a:p>
            <a:pPr algn="r"/>
            <a:r>
              <a:rPr sz="1200" b="0" i="0">
                <a:solidFill>
                  <a:srgbClr val="2E4A5C"/>
                </a:solidFill>
              </a:rPr>
              <a:t>prix normal</a:t>
            </a:r>
          </a:p>
        </p:txBody>
      </p:sp>
      <p:sp>
        <p:nvSpPr>
          <p:cNvPr id="43" name="TextBox 42"/>
          <p:cNvSpPr txBox="1"/>
          <p:nvPr/>
        </p:nvSpPr>
        <p:spPr>
          <a:xfrm>
            <a:off x="777240" y="5623560"/>
            <a:ext cx="4937760" cy="457200"/>
          </a:xfrm>
          <a:prstGeom prst="rect">
            <a:avLst/>
          </a:prstGeom>
          <a:noFill/>
        </p:spPr>
        <p:txBody>
          <a:bodyPr wrap="square" anchor="t" lIns="0" rIns="0" tIns="0" bIns="0">
            <a:spAutoFit/>
          </a:bodyPr>
          <a:lstStyle/>
          <a:p>
            <a:r>
              <a:rPr sz="1200" b="0" i="1">
                <a:solidFill>
                  <a:srgbClr val="2E4A5C"/>
                </a:solidFill>
              </a:rPr>
              <a:t>Ces compteurs permettent de mesurer l'économie réelle, conversation par conversation.</a:t>
            </a:r>
          </a:p>
        </p:txBody>
      </p:sp>
      <p:sp>
        <p:nvSpPr>
          <p:cNvPr id="44" name="Rounded Rectangle 43"/>
          <p:cNvSpPr/>
          <p:nvPr/>
        </p:nvSpPr>
        <p:spPr>
          <a:xfrm>
            <a:off x="6245352" y="1463040"/>
            <a:ext cx="5394960" cy="4709160"/>
          </a:xfrm>
          <a:prstGeom prst="roundRect">
            <a:avLst>
              <a:gd name="adj" fmla="val 8000"/>
            </a:avLst>
          </a:prstGeom>
          <a:solidFill>
            <a:srgbClr val="EE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6473952" y="1664208"/>
            <a:ext cx="566928" cy="566928"/>
          </a:xfrm>
          <a:prstGeom prst="ellipse">
            <a:avLst/>
          </a:prstGeom>
          <a:solidFill>
            <a:srgbClr val="E3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TbAlertTriangle_FFFFFF.png"/>
          <p:cNvPicPr>
            <a:picLocks noChangeAspect="1"/>
          </p:cNvPicPr>
          <p:nvPr/>
        </p:nvPicPr>
        <p:blipFill>
          <a:blip r:embed="rId13"/>
          <a:stretch>
            <a:fillRect/>
          </a:stretch>
        </p:blipFill>
        <p:spPr>
          <a:xfrm>
            <a:off x="6598676" y="1788932"/>
            <a:ext cx="317479" cy="317479"/>
          </a:xfrm>
          <a:prstGeom prst="rect">
            <a:avLst/>
          </a:prstGeom>
        </p:spPr>
      </p:pic>
      <p:sp>
        <p:nvSpPr>
          <p:cNvPr id="47" name="TextBox 46"/>
          <p:cNvSpPr txBox="1"/>
          <p:nvPr/>
        </p:nvSpPr>
        <p:spPr>
          <a:xfrm>
            <a:off x="7205472" y="1664208"/>
            <a:ext cx="4297680" cy="566928"/>
          </a:xfrm>
          <a:prstGeom prst="rect">
            <a:avLst/>
          </a:prstGeom>
          <a:noFill/>
        </p:spPr>
        <p:txBody>
          <a:bodyPr wrap="square" anchor="ctr" lIns="0" rIns="0" tIns="0" bIns="0">
            <a:spAutoFit/>
          </a:bodyPr>
          <a:lstStyle/>
          <a:p>
            <a:r>
              <a:rPr sz="1700" b="1" i="0">
                <a:solidFill>
                  <a:srgbClr val="1B2630"/>
                </a:solidFill>
              </a:rPr>
              <a:t>Limites à connaître</a:t>
            </a:r>
          </a:p>
        </p:txBody>
      </p:sp>
      <p:sp>
        <p:nvSpPr>
          <p:cNvPr id="48" name="TextBox 47"/>
          <p:cNvSpPr txBox="1"/>
          <p:nvPr/>
        </p:nvSpPr>
        <p:spPr>
          <a:xfrm>
            <a:off x="6473952" y="2468880"/>
            <a:ext cx="4937760" cy="3017520"/>
          </a:xfrm>
          <a:prstGeom prst="rect">
            <a:avLst/>
          </a:prstGeom>
          <a:noFill/>
        </p:spPr>
        <p:txBody>
          <a:bodyPr wrap="square" lIns="0" rIns="0" tIns="0" bIns="0">
            <a:spAutoFit/>
          </a:bodyPr>
          <a:lstStyle/>
          <a:p>
            <a:pPr marL="201168" indent="-201168">
              <a:spcAft>
                <a:spcPts val="1000"/>
              </a:spcAft>
              <a:buChar char="•"/>
            </a:pPr>
            <a:r>
              <a:rPr sz="1350" b="1">
                <a:solidFill>
                  <a:srgbClr val="1B2630"/>
                </a:solidFill>
              </a:rPr>
              <a:t>Plus de 100 messages : </a:t>
            </a:r>
            <a:r>
              <a:rPr sz="1350" b="0">
                <a:solidFill>
                  <a:srgbClr val="2E4A5C"/>
                </a:solidFill>
              </a:rPr>
              <a:t>les plus anciens ne sont plus envoyés, le début de la requête change et le cache cesse de fonctionner pour cette conversation.</a:t>
            </a:r>
          </a:p>
          <a:p>
            <a:pPr marL="201168" indent="-201168">
              <a:spcAft>
                <a:spcPts val="1000"/>
              </a:spcAft>
              <a:buChar char="•"/>
            </a:pPr>
            <a:r>
              <a:rPr sz="1350" b="1">
                <a:solidFill>
                  <a:srgbClr val="1B2630"/>
                </a:solidFill>
              </a:rPr>
              <a:t>Plus d'1 heure sans message : </a:t>
            </a:r>
            <a:r>
              <a:rPr sz="1350" b="0">
                <a:solidFill>
                  <a:srgbClr val="2E4A5C"/>
                </a:solidFill>
              </a:rPr>
              <a:t>le cache expire ; le message suivant le réécrit.</a:t>
            </a:r>
          </a:p>
          <a:p>
            <a:pPr marL="201168" indent="-201168">
              <a:spcAft>
                <a:spcPts val="1000"/>
              </a:spcAft>
              <a:buChar char="•"/>
            </a:pPr>
            <a:r>
              <a:rPr sz="1350" b="1">
                <a:solidFill>
                  <a:srgbClr val="1B2630"/>
                </a:solidFill>
              </a:rPr>
              <a:t>Le cache réduit la lecture, </a:t>
            </a:r>
            <a:r>
              <a:rPr sz="1350" b="0">
                <a:solidFill>
                  <a:srgbClr val="2E4A5C"/>
                </a:solidFill>
              </a:rPr>
              <a:t>pas le coût de la réponse rédigée par Claude.</a:t>
            </a:r>
          </a:p>
          <a:p>
            <a:pPr marL="201168" indent="-201168">
              <a:spcAft>
                <a:spcPts val="1000"/>
              </a:spcAft>
              <a:buChar char="•"/>
            </a:pPr>
            <a:r>
              <a:rPr sz="1350" b="1">
                <a:solidFill>
                  <a:srgbClr val="1B2630"/>
                </a:solidFill>
              </a:rPr>
              <a:t>Efficacité réelle : </a:t>
            </a:r>
            <a:r>
              <a:rPr sz="1350" b="0">
                <a:solidFill>
                  <a:srgbClr val="2E4A5C"/>
                </a:solidFill>
              </a:rPr>
              <a:t>à vérifier avec la vraie API Claude, grâce aux traces.</a:t>
            </a:r>
          </a:p>
        </p:txBody>
      </p:sp>
      <p:sp>
        <p:nvSpPr>
          <p:cNvPr id="49" name="Rounded Rectangle 48"/>
          <p:cNvSpPr/>
          <p:nvPr/>
        </p:nvSpPr>
        <p:spPr>
          <a:xfrm>
            <a:off x="6473952" y="5596128"/>
            <a:ext cx="3108960" cy="384048"/>
          </a:xfrm>
          <a:prstGeom prst="roundRect">
            <a:avLst>
              <a:gd name="adj" fmla="val 50000"/>
            </a:avLst>
          </a:prstGeom>
          <a:solidFill>
            <a:srgbClr val="E39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a:lstStyle/>
          <a:p>
            <a:pPr algn="ctr"/>
            <a:r>
              <a:rPr sz="1200" b="1">
                <a:solidFill>
                  <a:srgbClr val="FFFFFF"/>
                </a:solidFill>
              </a:rPr>
              <a:t>À évaluer en conditions réelles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xt-877"/>
          <p:cNvSpPr txBox="1"/>
          <p:nvPr/>
        </p:nvSpPr>
        <p:spPr>
          <a:xfrm>
            <a:off x="731520" y="1097280"/>
            <a:ext cx="3657600" cy="320040"/>
          </a:xfrm>
          <a:prstGeom prst="rect">
            <a:avLst/>
          </a:prstGeom>
          <a:noFill/>
          <a:ln/>
        </p:spPr>
        <p:txBody>
          <a:bodyPr wrap="square" lIns="0" tIns="0" rIns="0" bIns="0" rtlCol="0" anchor="t"/>
          <a:lstStyle/>
          <a:p>
            <a:pPr indent="0" marL="0">
              <a:buNone/>
            </a:pPr>
            <a:r>
              <a:rPr lang="en-US" sz="1400" b="1" spc="200" kern="0" dirty="0">
                <a:solidFill>
                  <a:schemeClr val="accent2"/>
                </a:solidFill>
              </a:rPr>
              <a:t>PARTIE</a:t>
            </a:r>
            <a:endParaRPr lang="en-US" sz="1400" dirty="0"/>
          </a:p>
        </p:txBody>
      </p:sp>
      <p:sp>
        <p:nvSpPr>
          <p:cNvPr id="3" name="txt-878"/>
          <p:cNvSpPr txBox="1"/>
          <p:nvPr/>
        </p:nvSpPr>
        <p:spPr>
          <a:xfrm>
            <a:off x="731520" y="1417320"/>
            <a:ext cx="3657600" cy="1280160"/>
          </a:xfrm>
          <a:prstGeom prst="rect">
            <a:avLst/>
          </a:prstGeom>
          <a:noFill/>
          <a:ln/>
        </p:spPr>
        <p:txBody>
          <a:bodyPr wrap="square" lIns="0" tIns="0" rIns="0" bIns="0" rtlCol="0" anchor="t"/>
          <a:lstStyle/>
          <a:p>
            <a:pPr indent="0" marL="0">
              <a:buNone/>
            </a:pPr>
            <a:r>
              <a:rPr lang="en-US" sz="8800" b="1" dirty="0">
                <a:solidFill>
                  <a:schemeClr val="accent1"/>
                </a:solidFill>
                <a:latin typeface="Arial" pitchFamily="34" charset="0"/>
                <a:ea typeface="Arial" pitchFamily="34" charset="-122"/>
                <a:cs typeface="Arial" pitchFamily="34" charset="-120"/>
              </a:rPr>
              <a:t>IX</a:t>
            </a:r>
            <a:endParaRPr lang="en-US" sz="8800" dirty="0"/>
          </a:p>
        </p:txBody>
      </p:sp>
      <p:sp>
        <p:nvSpPr>
          <p:cNvPr id="4" name="txt-879"/>
          <p:cNvSpPr txBox="1"/>
          <p:nvPr/>
        </p:nvSpPr>
        <p:spPr>
          <a:xfrm>
            <a:off x="731520" y="2697480"/>
            <a:ext cx="5486400" cy="1097280"/>
          </a:xfrm>
          <a:prstGeom prst="rect">
            <a:avLst/>
          </a:prstGeom>
          <a:noFill/>
          <a:ln/>
        </p:spPr>
        <p:txBody>
          <a:bodyPr wrap="square" lIns="0" tIns="0" rIns="0" bIns="0" rtlCol="0" anchor="t"/>
          <a:lstStyle/>
          <a:p>
            <a:pPr indent="0" marL="0">
              <a:buNone/>
            </a:pPr>
            <a:r>
              <a:rPr lang="en-US" sz="3000" b="1" dirty="0">
                <a:solidFill>
                  <a:schemeClr val="bg1"/>
                </a:solidFill>
                <a:latin typeface="Arial" pitchFamily="34" charset="0"/>
                <a:ea typeface="Arial" pitchFamily="34" charset="-122"/>
                <a:cs typeface="Arial" pitchFamily="34" charset="-120"/>
              </a:rPr>
              <a:t>ATM-BOT en fonctionnement</a:t>
            </a:r>
            <a:endParaRPr lang="en-US" sz="3000" dirty="0"/>
          </a:p>
        </p:txBody>
      </p:sp>
      <p:sp>
        <p:nvSpPr>
          <p:cNvPr id="5" name="txt-880"/>
          <p:cNvSpPr txBox="1"/>
          <p:nvPr/>
        </p:nvSpPr>
        <p:spPr>
          <a:xfrm>
            <a:off x="731520" y="3931920"/>
            <a:ext cx="5303520" cy="1188720"/>
          </a:xfrm>
          <a:prstGeom prst="rect">
            <a:avLst/>
          </a:prstGeom>
          <a:noFill/>
          <a:ln/>
        </p:spPr>
        <p:txBody>
          <a:bodyPr wrap="square" lIns="0" tIns="0" rIns="0" bIns="0" rtlCol="0" anchor="t"/>
          <a:lstStyle/>
          <a:p>
            <a:pPr indent="0" marL="0">
              <a:buNone/>
            </a:pPr>
            <a:r>
              <a:rPr lang="en-US" sz="1600" dirty="0">
                <a:solidFill>
                  <a:srgbClr val="C9D3D9"/>
                </a:solidFill>
              </a:rPr>
              <a:t>Voir, sur des captures réelles de l'application, que le système fonctionne.</a:t>
            </a:r>
            <a:endParaRPr lang="en-US" sz="1600" dirty="0"/>
          </a:p>
        </p:txBody>
      </p:sp>
      <p:sp>
        <p:nvSpPr>
          <p:cNvPr id="6" name="txt-881"/>
          <p:cNvSpPr txBox="1"/>
          <p:nvPr/>
        </p:nvSpPr>
        <p:spPr>
          <a:xfrm>
            <a:off x="6766560" y="1463040"/>
            <a:ext cx="4846320" cy="365760"/>
          </a:xfrm>
          <a:prstGeom prst="rect">
            <a:avLst/>
          </a:prstGeom>
          <a:noFill/>
          <a:ln/>
        </p:spPr>
        <p:txBody>
          <a:bodyPr wrap="square" lIns="0" tIns="0" rIns="0" bIns="0" rtlCol="0" anchor="t"/>
          <a:lstStyle/>
          <a:p>
            <a:pPr indent="0" marL="0">
              <a:buNone/>
            </a:pPr>
            <a:r>
              <a:rPr lang="en-US" sz="1400" b="1" dirty="0">
                <a:solidFill>
                  <a:schemeClr val="accent2"/>
                </a:solidFill>
              </a:rPr>
              <a:t>Dans cette partie</a:t>
            </a:r>
            <a:endParaRPr lang="en-US" sz="1400" dirty="0"/>
          </a:p>
        </p:txBody>
      </p:sp>
      <p:sp>
        <p:nvSpPr>
          <p:cNvPr id="7" name="Shape 5"/>
          <p:cNvSpPr/>
          <p:nvPr/>
        </p:nvSpPr>
        <p:spPr>
          <a:xfrm>
            <a:off x="6766560" y="1965960"/>
            <a:ext cx="4873752" cy="530352"/>
          </a:xfrm>
          <a:prstGeom prst="roundRect">
            <a:avLst>
              <a:gd name="adj" fmla="val 17241"/>
            </a:avLst>
          </a:prstGeom>
          <a:solidFill>
            <a:srgbClr val="FFFFFF">
              <a:alpha val="8000"/>
            </a:srgbClr>
          </a:solidFill>
          <a:ln/>
        </p:spPr>
        <p:txBody>
          <a:bodyPr/>
          <a:p/>
        </p:txBody>
      </p:sp>
      <p:sp>
        <p:nvSpPr>
          <p:cNvPr id="8" name="txt-882"/>
          <p:cNvSpPr txBox="1"/>
          <p:nvPr/>
        </p:nvSpPr>
        <p:spPr>
          <a:xfrm>
            <a:off x="6949440" y="1965960"/>
            <a:ext cx="4572000" cy="530352"/>
          </a:xfrm>
          <a:prstGeom prst="rect">
            <a:avLst/>
          </a:prstGeom>
          <a:noFill/>
          <a:ln/>
        </p:spPr>
        <p:txBody>
          <a:bodyPr wrap="square" lIns="0" tIns="0" rIns="0" bIns="0" rtlCol="0" anchor="ctr"/>
          <a:lstStyle/>
          <a:p>
            <a:pPr indent="0" marL="0">
              <a:buNone/>
            </a:pPr>
            <a:r>
              <a:rPr lang="en-US" sz="1500" dirty="0">
                <a:solidFill>
                  <a:schemeClr val="bg1"/>
                </a:solidFill>
              </a:rPr>
              <a:t>a) Accueil, filtrage et recherche de cas</a:t>
            </a:r>
            <a:endParaRPr lang="en-US" sz="1500" dirty="0"/>
          </a:p>
        </p:txBody>
      </p:sp>
      <p:sp>
        <p:nvSpPr>
          <p:cNvPr id="9" name="Shape 7"/>
          <p:cNvSpPr/>
          <p:nvPr/>
        </p:nvSpPr>
        <p:spPr>
          <a:xfrm>
            <a:off x="6766560" y="2606040"/>
            <a:ext cx="4873752" cy="530352"/>
          </a:xfrm>
          <a:prstGeom prst="roundRect">
            <a:avLst>
              <a:gd name="adj" fmla="val 17241"/>
            </a:avLst>
          </a:prstGeom>
          <a:solidFill>
            <a:srgbClr val="FFFFFF">
              <a:alpha val="8000"/>
            </a:srgbClr>
          </a:solidFill>
          <a:ln/>
        </p:spPr>
        <p:txBody>
          <a:bodyPr/>
          <a:p/>
        </p:txBody>
      </p:sp>
      <p:sp>
        <p:nvSpPr>
          <p:cNvPr id="10" name="txt-883"/>
          <p:cNvSpPr txBox="1"/>
          <p:nvPr/>
        </p:nvSpPr>
        <p:spPr>
          <a:xfrm>
            <a:off x="6949440" y="2606040"/>
            <a:ext cx="4572000" cy="530352"/>
          </a:xfrm>
          <a:prstGeom prst="rect">
            <a:avLst/>
          </a:prstGeom>
          <a:noFill/>
          <a:ln/>
        </p:spPr>
        <p:txBody>
          <a:bodyPr wrap="square" lIns="0" tIns="0" rIns="0" bIns="0" rtlCol="0" anchor="ctr"/>
          <a:lstStyle/>
          <a:p>
            <a:pPr indent="0" marL="0">
              <a:buNone/>
            </a:pPr>
            <a:r>
              <a:rPr lang="en-US" sz="1500" dirty="0">
                <a:solidFill>
                  <a:schemeClr val="bg1"/>
                </a:solidFill>
              </a:rPr>
              <a:t>b) Suivi de la conversation</a:t>
            </a:r>
            <a:endParaRPr lang="en-US" sz="1500" dirty="0"/>
          </a:p>
        </p:txBody>
      </p:sp>
      <p:sp>
        <p:nvSpPr>
          <p:cNvPr id="11" name="Shape 9"/>
          <p:cNvSpPr/>
          <p:nvPr/>
        </p:nvSpPr>
        <p:spPr>
          <a:xfrm>
            <a:off x="6766560" y="3246120"/>
            <a:ext cx="4873752" cy="530352"/>
          </a:xfrm>
          <a:prstGeom prst="roundRect">
            <a:avLst>
              <a:gd name="adj" fmla="val 17241"/>
            </a:avLst>
          </a:prstGeom>
          <a:solidFill>
            <a:srgbClr val="FFFFFF">
              <a:alpha val="8000"/>
            </a:srgbClr>
          </a:solidFill>
          <a:ln/>
        </p:spPr>
        <p:txBody>
          <a:bodyPr/>
          <a:p/>
        </p:txBody>
      </p:sp>
      <p:sp>
        <p:nvSpPr>
          <p:cNvPr id="12" name="txt-884"/>
          <p:cNvSpPr txBox="1"/>
          <p:nvPr/>
        </p:nvSpPr>
        <p:spPr>
          <a:xfrm>
            <a:off x="6949440" y="3246120"/>
            <a:ext cx="4572000" cy="530352"/>
          </a:xfrm>
          <a:prstGeom prst="rect">
            <a:avLst/>
          </a:prstGeom>
          <a:noFill/>
          <a:ln/>
        </p:spPr>
        <p:txBody>
          <a:bodyPr wrap="square" lIns="0" tIns="0" rIns="0" bIns="0" rtlCol="0" anchor="ctr"/>
          <a:lstStyle/>
          <a:p>
            <a:pPr indent="0" marL="0">
              <a:buNone/>
            </a:pPr>
            <a:r>
              <a:rPr lang="en-US" sz="1500" dirty="0">
                <a:solidFill>
                  <a:schemeClr val="bg1"/>
                </a:solidFill>
              </a:rPr>
              <a:t>c) Code d'erreur fréquent</a:t>
            </a:r>
            <a:endParaRPr lang="en-US" sz="15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partie"/>
          <p:cNvSpPr txBox="1"/>
          <p:nvPr/>
        </p:nvSpPr>
        <p:spPr>
          <a:xfrm>
            <a:off x="548640" y="182880"/>
            <a:ext cx="8229600" cy="256032"/>
          </a:xfrm>
          <a:prstGeom prst="rect">
            <a:avLst/>
          </a:prstGeom>
          <a:noFill/>
          <a:ln/>
        </p:spPr>
        <p:txBody>
          <a:bodyPr wrap="square" lIns="0" tIns="0" rIns="0" bIns="0" rtlCol="0" anchor="ctr"/>
          <a:lstStyle/>
          <a:p>
            <a:pPr indent="0" marL="0">
              <a:buNone/>
            </a:pPr>
            <a:r>
              <a:rPr lang="en-US" sz="1100" b="1" spc="150" kern="0" dirty="0">
                <a:solidFill>
                  <a:schemeClr val="accent1"/>
                </a:solidFill>
              </a:rPr>
              <a:t>IX. ATM-BOT EN FONCTIONNEMENT</a:t>
            </a:r>
            <a:endParaRPr lang="en-US" sz="1100" dirty="0"/>
          </a:p>
        </p:txBody>
      </p:sp>
      <p:sp>
        <p:nvSpPr>
          <p:cNvPr id="3" name="Text 0"/>
          <p:cNvSpPr/>
          <p:nvPr>
            <p:ph idx="100" type="title" hasCustomPrompt="1"/>
          </p:nvPr>
        </p:nvSpPr>
        <p:spPr>
          <a:xfrm>
            <a:off x="548640" y="438912"/>
            <a:ext cx="11091672" cy="54864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a) Accueil, filtrage et recherche de cas</a:t>
            </a:r>
            <a:endParaRPr lang="en-US" sz="2800" dirty="0"/>
          </a:p>
        </p:txBody>
      </p:sp>
      <p:pic>
        <p:nvPicPr>
          <p:cNvPr id="4" name="icone-objectif" descr="preencoded.png">    </p:cNvPr>
          <p:cNvPicPr>
            <a:picLocks noChangeAspect="1"/>
          </p:cNvPicPr>
          <p:nvPr/>
        </p:nvPicPr>
        <p:blipFill>
          <a:blip r:embed="rId1"/>
          <a:stretch>
            <a:fillRect/>
          </a:stretch>
        </p:blipFill>
        <p:spPr>
          <a:xfrm>
            <a:off x="548640" y="1033272"/>
            <a:ext cx="237744" cy="237744"/>
          </a:xfrm>
          <a:prstGeom prst="rect">
            <a:avLst/>
          </a:prstGeom>
        </p:spPr>
      </p:pic>
      <p:sp>
        <p:nvSpPr>
          <p:cNvPr id="5" name="objectif"/>
          <p:cNvSpPr txBox="1"/>
          <p:nvPr/>
        </p:nvSpPr>
        <p:spPr>
          <a:xfrm>
            <a:off x="868680" y="987552"/>
            <a:ext cx="10771632" cy="329184"/>
          </a:xfrm>
          <a:prstGeom prst="rect">
            <a:avLst/>
          </a:prstGeom>
          <a:noFill/>
          <a:ln/>
        </p:spPr>
        <p:txBody>
          <a:bodyPr wrap="square" lIns="0" tIns="0" rIns="0" bIns="0" rtlCol="0" anchor="ctr"/>
          <a:lstStyle/>
          <a:p>
            <a:pPr indent="0" marL="0">
              <a:buNone/>
            </a:pPr>
            <a:r>
              <a:rPr lang="en-US" sz="1400" b="1" i="1" dirty="0">
                <a:solidFill>
                  <a:schemeClr val="tx2"/>
                </a:solidFill>
              </a:rPr>
              <a:t>Objectif : </a:t>
            </a:r>
            <a:pPr indent="0" marL="0">
              <a:buNone/>
            </a:pPr>
            <a:r>
              <a:rPr lang="en-US" sz="1400" i="1" dirty="0">
                <a:solidFill>
                  <a:schemeClr val="tx2"/>
                </a:solidFill>
              </a:rPr>
              <a:t>Voir ATM-BOT répondre, refuser une demande hors sujet et chercher des cas similaires.</a:t>
            </a:r>
            <a:endParaRPr lang="en-US" sz="1400" dirty="0"/>
          </a:p>
        </p:txBody>
      </p:sp>
      <p:sp>
        <p:nvSpPr>
          <p:cNvPr id="6" name="card-885"/>
          <p:cNvSpPr/>
          <p:nvPr/>
        </p:nvSpPr>
        <p:spPr>
          <a:xfrm>
            <a:off x="548640" y="1417320"/>
            <a:ext cx="8321040" cy="4800600"/>
          </a:xfrm>
          <a:prstGeom prst="roundRect">
            <a:avLst>
              <a:gd name="adj" fmla="val 2286"/>
            </a:avLst>
          </a:prstGeom>
          <a:solidFill>
            <a:schemeClr val="bg2"/>
          </a:solidFill>
          <a:ln/>
        </p:spPr>
      </p:sp>
      <p:pic>
        <p:nvPicPr>
          <p:cNvPr id="7" name="capture-application" descr="/home/claude/deck/demo1.png">    </p:cNvPr>
          <p:cNvPicPr>
            <a:picLocks noChangeAspect="1"/>
          </p:cNvPicPr>
          <p:nvPr/>
        </p:nvPicPr>
        <p:blipFill>
          <a:blip r:embed="rId2"/>
          <a:srcRect l="0" r="0" t="0" b="0"/>
          <a:stretch/>
        </p:blipFill>
        <p:spPr>
          <a:xfrm>
            <a:off x="594360" y="1463040"/>
            <a:ext cx="8229600" cy="4709160"/>
          </a:xfrm>
          <a:prstGeom prst="rect">
            <a:avLst/>
          </a:prstGeom>
        </p:spPr>
      </p:pic>
      <p:sp>
        <p:nvSpPr>
          <p:cNvPr id="8" name="txt-886"/>
          <p:cNvSpPr txBox="1"/>
          <p:nvPr/>
        </p:nvSpPr>
        <p:spPr>
          <a:xfrm>
            <a:off x="9098280" y="1463040"/>
            <a:ext cx="2560320" cy="365760"/>
          </a:xfrm>
          <a:prstGeom prst="rect">
            <a:avLst/>
          </a:prstGeom>
          <a:noFill/>
          <a:ln/>
        </p:spPr>
        <p:txBody>
          <a:bodyPr wrap="square" lIns="0" tIns="0" rIns="0" bIns="0" rtlCol="0" anchor="t"/>
          <a:lstStyle/>
          <a:p>
            <a:pPr indent="0" marL="0">
              <a:buNone/>
            </a:pPr>
            <a:r>
              <a:rPr lang="en-US" sz="1600" b="1" dirty="0">
                <a:solidFill>
                  <a:schemeClr val="tx1"/>
                </a:solidFill>
              </a:rPr>
              <a:t>Ce qu'on voit</a:t>
            </a:r>
            <a:endParaRPr lang="en-US" sz="1600" dirty="0"/>
          </a:p>
        </p:txBody>
      </p:sp>
      <p:sp>
        <p:nvSpPr>
          <p:cNvPr id="9" name="Text 5"/>
          <p:cNvSpPr txBox="1"/>
          <p:nvPr/>
        </p:nvSpPr>
        <p:spPr>
          <a:xfrm>
            <a:off x="9098280" y="1965960"/>
            <a:ext cx="329184" cy="329184"/>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10" name="txt-887"/>
          <p:cNvSpPr txBox="1"/>
          <p:nvPr/>
        </p:nvSpPr>
        <p:spPr>
          <a:xfrm>
            <a:off x="9555480" y="1929384"/>
            <a:ext cx="2103120" cy="1280160"/>
          </a:xfrm>
          <a:prstGeom prst="rect">
            <a:avLst/>
          </a:prstGeom>
          <a:noFill/>
          <a:ln/>
        </p:spPr>
        <p:txBody>
          <a:bodyPr wrap="square" lIns="0" tIns="0" rIns="0" bIns="0" rtlCol="0" anchor="t"/>
          <a:lstStyle/>
          <a:p>
            <a:pPr indent="0" marL="0">
              <a:buNone/>
            </a:pPr>
            <a:r>
              <a:rPr lang="en-US" sz="1250" dirty="0">
                <a:solidFill>
                  <a:schemeClr val="tx1"/>
                </a:solidFill>
              </a:rPr>
              <a:t>Le technicien salue : ATM-BOT répond simplement, sans recherche.</a:t>
            </a:r>
            <a:endParaRPr lang="en-US" sz="1250" dirty="0"/>
          </a:p>
        </p:txBody>
      </p:sp>
      <p:sp>
        <p:nvSpPr>
          <p:cNvPr id="11" name="Text 7"/>
          <p:cNvSpPr txBox="1"/>
          <p:nvPr/>
        </p:nvSpPr>
        <p:spPr>
          <a:xfrm>
            <a:off x="9098280" y="3337560"/>
            <a:ext cx="329184" cy="329184"/>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2" name="txt-888"/>
          <p:cNvSpPr txBox="1"/>
          <p:nvPr/>
        </p:nvSpPr>
        <p:spPr>
          <a:xfrm>
            <a:off x="9555480" y="3300984"/>
            <a:ext cx="2103120" cy="1280160"/>
          </a:xfrm>
          <a:prstGeom prst="rect">
            <a:avLst/>
          </a:prstGeom>
          <a:noFill/>
          <a:ln/>
        </p:spPr>
        <p:txBody>
          <a:bodyPr wrap="square" lIns="0" tIns="0" rIns="0" bIns="0" rtlCol="0" anchor="t"/>
          <a:lstStyle/>
          <a:p>
            <a:pPr indent="0" marL="0">
              <a:buNone/>
            </a:pPr>
            <a:r>
              <a:rPr lang="en-US" sz="1250" dirty="0">
                <a:solidFill>
                  <a:schemeClr val="tx1"/>
                </a:solidFill>
              </a:rPr>
              <a:t>Une demande hors sujet est refusée : l'assistant reste centré sur la maintenance.</a:t>
            </a:r>
            <a:endParaRPr lang="en-US" sz="1250" dirty="0"/>
          </a:p>
        </p:txBody>
      </p:sp>
      <p:sp>
        <p:nvSpPr>
          <p:cNvPr id="13" name="Text 9"/>
          <p:cNvSpPr txBox="1"/>
          <p:nvPr/>
        </p:nvSpPr>
        <p:spPr>
          <a:xfrm>
            <a:off x="9098280" y="4709160"/>
            <a:ext cx="329184" cy="329184"/>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4" name="txt-889"/>
          <p:cNvSpPr txBox="1"/>
          <p:nvPr/>
        </p:nvSpPr>
        <p:spPr>
          <a:xfrm>
            <a:off x="9555480" y="4672584"/>
            <a:ext cx="2103120" cy="1280160"/>
          </a:xfrm>
          <a:prstGeom prst="rect">
            <a:avLst/>
          </a:prstGeom>
          <a:noFill/>
          <a:ln/>
        </p:spPr>
        <p:txBody>
          <a:bodyPr wrap="square" lIns="0" tIns="0" rIns="0" bIns="0" rtlCol="0" anchor="t"/>
          <a:lstStyle/>
          <a:p>
            <a:pPr indent="0" marL="0">
              <a:buNone/>
            </a:pPr>
            <a:r>
              <a:rPr lang="en-US" sz="1250" dirty="0">
                <a:solidFill>
                  <a:schemeClr val="tx1"/>
                </a:solidFill>
              </a:rPr>
              <a:t>« La carte est systématiquement avalée » : ATM-BOT retrouve des cas enregistrés similaires.</a:t>
            </a:r>
            <a:endParaRPr lang="en-US" sz="125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40</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partie"/>
          <p:cNvSpPr txBox="1"/>
          <p:nvPr/>
        </p:nvSpPr>
        <p:spPr>
          <a:xfrm>
            <a:off x="548640" y="182880"/>
            <a:ext cx="8229600" cy="256032"/>
          </a:xfrm>
          <a:prstGeom prst="rect">
            <a:avLst/>
          </a:prstGeom>
          <a:noFill/>
          <a:ln/>
        </p:spPr>
        <p:txBody>
          <a:bodyPr wrap="square" lIns="0" tIns="0" rIns="0" bIns="0" rtlCol="0" anchor="ctr"/>
          <a:lstStyle/>
          <a:p>
            <a:pPr indent="0" marL="0">
              <a:buNone/>
            </a:pPr>
            <a:r>
              <a:rPr lang="en-US" sz="1100" b="1" spc="150" kern="0" dirty="0">
                <a:solidFill>
                  <a:schemeClr val="accent1"/>
                </a:solidFill>
              </a:rPr>
              <a:t>IX. ATM-BOT EN FONCTIONNEMENT</a:t>
            </a:r>
            <a:endParaRPr lang="en-US" sz="1100" dirty="0"/>
          </a:p>
        </p:txBody>
      </p:sp>
      <p:sp>
        <p:nvSpPr>
          <p:cNvPr id="3" name="Text 0"/>
          <p:cNvSpPr/>
          <p:nvPr>
            <p:ph idx="100" type="title" hasCustomPrompt="1"/>
          </p:nvPr>
        </p:nvSpPr>
        <p:spPr>
          <a:xfrm>
            <a:off x="548640" y="438912"/>
            <a:ext cx="11091672" cy="54864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b) Suivi de la conversation</a:t>
            </a:r>
            <a:endParaRPr lang="en-US" sz="2800" dirty="0"/>
          </a:p>
        </p:txBody>
      </p:sp>
      <p:pic>
        <p:nvPicPr>
          <p:cNvPr id="4" name="icone-objectif" descr="preencoded.png">    </p:cNvPr>
          <p:cNvPicPr>
            <a:picLocks noChangeAspect="1"/>
          </p:cNvPicPr>
          <p:nvPr/>
        </p:nvPicPr>
        <p:blipFill>
          <a:blip r:embed="rId1"/>
          <a:stretch>
            <a:fillRect/>
          </a:stretch>
        </p:blipFill>
        <p:spPr>
          <a:xfrm>
            <a:off x="548640" y="1033272"/>
            <a:ext cx="237744" cy="237744"/>
          </a:xfrm>
          <a:prstGeom prst="rect">
            <a:avLst/>
          </a:prstGeom>
        </p:spPr>
      </p:pic>
      <p:sp>
        <p:nvSpPr>
          <p:cNvPr id="5" name="objectif"/>
          <p:cNvSpPr txBox="1"/>
          <p:nvPr/>
        </p:nvSpPr>
        <p:spPr>
          <a:xfrm>
            <a:off x="868680" y="987552"/>
            <a:ext cx="10771632" cy="329184"/>
          </a:xfrm>
          <a:prstGeom prst="rect">
            <a:avLst/>
          </a:prstGeom>
          <a:noFill/>
          <a:ln/>
        </p:spPr>
        <p:txBody>
          <a:bodyPr wrap="square" lIns="0" tIns="0" rIns="0" bIns="0" rtlCol="0" anchor="ctr"/>
          <a:lstStyle/>
          <a:p>
            <a:pPr indent="0" marL="0">
              <a:buNone/>
            </a:pPr>
            <a:r>
              <a:rPr lang="en-US" sz="1400" b="1" i="1" dirty="0">
                <a:solidFill>
                  <a:schemeClr val="tx2"/>
                </a:solidFill>
              </a:rPr>
              <a:t>Objectif : </a:t>
            </a:r>
            <a:pPr indent="0" marL="0">
              <a:buNone/>
            </a:pPr>
            <a:r>
              <a:rPr lang="en-US" sz="1400" i="1" dirty="0">
                <a:solidFill>
                  <a:schemeClr val="tx2"/>
                </a:solidFill>
              </a:rPr>
              <a:t>Voir ATM-BOT s'appuyer sur la recherche précédente pour répondre.</a:t>
            </a:r>
            <a:endParaRPr lang="en-US" sz="1400" dirty="0"/>
          </a:p>
        </p:txBody>
      </p:sp>
      <p:sp>
        <p:nvSpPr>
          <p:cNvPr id="6" name="card-890"/>
          <p:cNvSpPr/>
          <p:nvPr/>
        </p:nvSpPr>
        <p:spPr>
          <a:xfrm>
            <a:off x="548640" y="1417320"/>
            <a:ext cx="8321040" cy="4800600"/>
          </a:xfrm>
          <a:prstGeom prst="roundRect">
            <a:avLst>
              <a:gd name="adj" fmla="val 2286"/>
            </a:avLst>
          </a:prstGeom>
          <a:solidFill>
            <a:schemeClr val="bg2"/>
          </a:solidFill>
          <a:ln/>
        </p:spPr>
      </p:sp>
      <p:pic>
        <p:nvPicPr>
          <p:cNvPr id="7" name="capture-application" descr="/home/claude/deck/demo2.png">    </p:cNvPr>
          <p:cNvPicPr>
            <a:picLocks noChangeAspect="1"/>
          </p:cNvPicPr>
          <p:nvPr/>
        </p:nvPicPr>
        <p:blipFill>
          <a:blip r:embed="rId2"/>
          <a:srcRect l="0" r="0" t="0" b="0"/>
          <a:stretch/>
        </p:blipFill>
        <p:spPr>
          <a:xfrm>
            <a:off x="594360" y="1463040"/>
            <a:ext cx="8229600" cy="4709160"/>
          </a:xfrm>
          <a:prstGeom prst="rect">
            <a:avLst/>
          </a:prstGeom>
        </p:spPr>
      </p:pic>
      <p:sp>
        <p:nvSpPr>
          <p:cNvPr id="8" name="txt-891"/>
          <p:cNvSpPr txBox="1"/>
          <p:nvPr/>
        </p:nvSpPr>
        <p:spPr>
          <a:xfrm>
            <a:off x="9098280" y="1463040"/>
            <a:ext cx="2560320" cy="365760"/>
          </a:xfrm>
          <a:prstGeom prst="rect">
            <a:avLst/>
          </a:prstGeom>
          <a:noFill/>
          <a:ln/>
        </p:spPr>
        <p:txBody>
          <a:bodyPr wrap="square" lIns="0" tIns="0" rIns="0" bIns="0" rtlCol="0" anchor="t"/>
          <a:lstStyle/>
          <a:p>
            <a:pPr indent="0" marL="0">
              <a:buNone/>
            </a:pPr>
            <a:r>
              <a:rPr lang="en-US" sz="1600" b="1" dirty="0">
                <a:solidFill>
                  <a:schemeClr val="tx1"/>
                </a:solidFill>
              </a:rPr>
              <a:t>Ce qu'on voit</a:t>
            </a:r>
            <a:endParaRPr lang="en-US" sz="1600" dirty="0"/>
          </a:p>
        </p:txBody>
      </p:sp>
      <p:sp>
        <p:nvSpPr>
          <p:cNvPr id="9" name="Text 5"/>
          <p:cNvSpPr txBox="1"/>
          <p:nvPr/>
        </p:nvSpPr>
        <p:spPr>
          <a:xfrm>
            <a:off x="9098280" y="1965960"/>
            <a:ext cx="329184" cy="329184"/>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10" name="txt-892"/>
          <p:cNvSpPr txBox="1"/>
          <p:nvPr/>
        </p:nvSpPr>
        <p:spPr>
          <a:xfrm>
            <a:off x="9555480" y="1929384"/>
            <a:ext cx="2103120" cy="1280160"/>
          </a:xfrm>
          <a:prstGeom prst="rect">
            <a:avLst/>
          </a:prstGeom>
          <a:noFill/>
          <a:ln/>
        </p:spPr>
        <p:txBody>
          <a:bodyPr wrap="square" lIns="0" tIns="0" rIns="0" bIns="0" rtlCol="0" anchor="t"/>
          <a:lstStyle/>
          <a:p>
            <a:pPr indent="0" marL="0">
              <a:buNone/>
            </a:pPr>
            <a:r>
              <a:rPr lang="en-US" sz="1250" dirty="0">
                <a:solidFill>
                  <a:schemeClr val="tx1"/>
                </a:solidFill>
              </a:rPr>
              <a:t>ATM-BOT rappelle que la dernière recherche a donné 2 résultats et demande lequel détailler.</a:t>
            </a:r>
            <a:endParaRPr lang="en-US" sz="1250" dirty="0"/>
          </a:p>
        </p:txBody>
      </p:sp>
      <p:sp>
        <p:nvSpPr>
          <p:cNvPr id="11" name="Text 7"/>
          <p:cNvSpPr txBox="1"/>
          <p:nvPr/>
        </p:nvSpPr>
        <p:spPr>
          <a:xfrm>
            <a:off x="9098280" y="3337560"/>
            <a:ext cx="329184" cy="329184"/>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2" name="txt-893"/>
          <p:cNvSpPr txBox="1"/>
          <p:nvPr/>
        </p:nvSpPr>
        <p:spPr>
          <a:xfrm>
            <a:off x="9555480" y="3300984"/>
            <a:ext cx="2103120" cy="1280160"/>
          </a:xfrm>
          <a:prstGeom prst="rect">
            <a:avLst/>
          </a:prstGeom>
          <a:noFill/>
          <a:ln/>
        </p:spPr>
        <p:txBody>
          <a:bodyPr wrap="square" lIns="0" tIns="0" rIns="0" bIns="0" rtlCol="0" anchor="t"/>
          <a:lstStyle/>
          <a:p>
            <a:pPr indent="0" marL="0">
              <a:buNone/>
            </a:pPr>
            <a:r>
              <a:rPr lang="en-US" sz="1250" dirty="0">
                <a:solidFill>
                  <a:schemeClr val="tx1"/>
                </a:solidFill>
              </a:rPr>
              <a:t>Le technicien répond « le deuxième » sans répéter sa question.</a:t>
            </a:r>
            <a:endParaRPr lang="en-US" sz="1250" dirty="0"/>
          </a:p>
        </p:txBody>
      </p:sp>
      <p:sp>
        <p:nvSpPr>
          <p:cNvPr id="13" name="Text 9"/>
          <p:cNvSpPr txBox="1"/>
          <p:nvPr/>
        </p:nvSpPr>
        <p:spPr>
          <a:xfrm>
            <a:off x="9098280" y="4709160"/>
            <a:ext cx="329184" cy="329184"/>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4" name="txt-894"/>
          <p:cNvSpPr txBox="1"/>
          <p:nvPr/>
        </p:nvSpPr>
        <p:spPr>
          <a:xfrm>
            <a:off x="9555480" y="4672584"/>
            <a:ext cx="2103120" cy="1280160"/>
          </a:xfrm>
          <a:prstGeom prst="rect">
            <a:avLst/>
          </a:prstGeom>
          <a:noFill/>
          <a:ln/>
        </p:spPr>
        <p:txBody>
          <a:bodyPr wrap="square" lIns="0" tIns="0" rIns="0" bIns="0" rtlCol="0" anchor="t"/>
          <a:lstStyle/>
          <a:p>
            <a:pPr indent="0" marL="0">
              <a:buNone/>
            </a:pPr>
            <a:r>
              <a:rPr lang="en-US" sz="1250" dirty="0">
                <a:solidFill>
                  <a:schemeClr val="tx1"/>
                </a:solidFill>
              </a:rPr>
              <a:t>ATM-BOT répond à partir du contexte enregistré de la conversation.</a:t>
            </a:r>
            <a:endParaRPr lang="en-US" sz="125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41</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partie"/>
          <p:cNvSpPr txBox="1"/>
          <p:nvPr/>
        </p:nvSpPr>
        <p:spPr>
          <a:xfrm>
            <a:off x="548640" y="182880"/>
            <a:ext cx="8229600" cy="256032"/>
          </a:xfrm>
          <a:prstGeom prst="rect">
            <a:avLst/>
          </a:prstGeom>
          <a:noFill/>
          <a:ln/>
        </p:spPr>
        <p:txBody>
          <a:bodyPr wrap="square" lIns="0" tIns="0" rIns="0" bIns="0" rtlCol="0" anchor="ctr"/>
          <a:lstStyle/>
          <a:p>
            <a:pPr indent="0" marL="0">
              <a:buNone/>
            </a:pPr>
            <a:r>
              <a:rPr lang="en-US" sz="1100" b="1" spc="150" kern="0" dirty="0">
                <a:solidFill>
                  <a:schemeClr val="accent1"/>
                </a:solidFill>
              </a:rPr>
              <a:t>IX. ATM-BOT EN FONCTIONNEMENT</a:t>
            </a:r>
            <a:endParaRPr lang="en-US" sz="1100" dirty="0"/>
          </a:p>
        </p:txBody>
      </p:sp>
      <p:sp>
        <p:nvSpPr>
          <p:cNvPr id="3" name="Text 0"/>
          <p:cNvSpPr/>
          <p:nvPr>
            <p:ph idx="100" type="title" hasCustomPrompt="1"/>
          </p:nvPr>
        </p:nvSpPr>
        <p:spPr>
          <a:xfrm>
            <a:off x="548640" y="438912"/>
            <a:ext cx="11091672" cy="548640"/>
          </a:xfrm>
          <a:prstGeom prst="rect">
            <a:avLst/>
          </a:prstGeom>
          <a:noFill/>
          <a:ln/>
        </p:spPr>
        <p:txBody>
          <a:bodyPr wrap="square" lIns="0" tIns="0" rIns="0" bIns="0" rtlCol="0" anchor="ctr"/>
          <a:lstStyle/>
          <a:p>
            <a:pPr algn="l" indent="0" marL="0">
              <a:buNone/>
            </a:pPr>
            <a:r>
              <a:rPr lang="en-US" sz="2800" b="1" dirty="0">
                <a:solidFill>
                  <a:schemeClr val="tx1"/>
                </a:solidFill>
                <a:latin typeface="Arial" pitchFamily="34" charset="0"/>
                <a:ea typeface="Arial" pitchFamily="34" charset="-122"/>
                <a:cs typeface="Arial" pitchFamily="34" charset="-120"/>
              </a:rPr>
              <a:t>c) Code d'erreur fréquent</a:t>
            </a:r>
            <a:endParaRPr lang="en-US" sz="2800" dirty="0"/>
          </a:p>
        </p:txBody>
      </p:sp>
      <p:pic>
        <p:nvPicPr>
          <p:cNvPr id="4" name="icone-objectif" descr="preencoded.png">    </p:cNvPr>
          <p:cNvPicPr>
            <a:picLocks noChangeAspect="1"/>
          </p:cNvPicPr>
          <p:nvPr/>
        </p:nvPicPr>
        <p:blipFill>
          <a:blip r:embed="rId1"/>
          <a:stretch>
            <a:fillRect/>
          </a:stretch>
        </p:blipFill>
        <p:spPr>
          <a:xfrm>
            <a:off x="548640" y="1033272"/>
            <a:ext cx="237744" cy="237744"/>
          </a:xfrm>
          <a:prstGeom prst="rect">
            <a:avLst/>
          </a:prstGeom>
        </p:spPr>
      </p:pic>
      <p:sp>
        <p:nvSpPr>
          <p:cNvPr id="5" name="objectif"/>
          <p:cNvSpPr txBox="1"/>
          <p:nvPr/>
        </p:nvSpPr>
        <p:spPr>
          <a:xfrm>
            <a:off x="868680" y="987552"/>
            <a:ext cx="10771632" cy="329184"/>
          </a:xfrm>
          <a:prstGeom prst="rect">
            <a:avLst/>
          </a:prstGeom>
          <a:noFill/>
          <a:ln/>
        </p:spPr>
        <p:txBody>
          <a:bodyPr wrap="square" lIns="0" tIns="0" rIns="0" bIns="0" rtlCol="0" anchor="ctr"/>
          <a:lstStyle/>
          <a:p>
            <a:pPr indent="0" marL="0">
              <a:buNone/>
            </a:pPr>
            <a:r>
              <a:rPr lang="en-US" sz="1400" b="1" i="1" dirty="0">
                <a:solidFill>
                  <a:schemeClr val="tx2"/>
                </a:solidFill>
              </a:rPr>
              <a:t>Objectif : </a:t>
            </a:r>
            <a:pPr indent="0" marL="0">
              <a:buNone/>
            </a:pPr>
            <a:r>
              <a:rPr lang="en-US" sz="1400" i="1" dirty="0">
                <a:solidFill>
                  <a:schemeClr val="tx2"/>
                </a:solidFill>
              </a:rPr>
              <a:t>Voir la réponse directe à un code d'erreur sélectionné dans les suggestions.</a:t>
            </a:r>
            <a:endParaRPr lang="en-US" sz="1400" dirty="0"/>
          </a:p>
        </p:txBody>
      </p:sp>
      <p:sp>
        <p:nvSpPr>
          <p:cNvPr id="6" name="card-895"/>
          <p:cNvSpPr/>
          <p:nvPr/>
        </p:nvSpPr>
        <p:spPr>
          <a:xfrm>
            <a:off x="548640" y="1417320"/>
            <a:ext cx="8321040" cy="4800600"/>
          </a:xfrm>
          <a:prstGeom prst="roundRect">
            <a:avLst>
              <a:gd name="adj" fmla="val 2286"/>
            </a:avLst>
          </a:prstGeom>
          <a:solidFill>
            <a:schemeClr val="bg2"/>
          </a:solidFill>
          <a:ln/>
        </p:spPr>
      </p:sp>
      <p:pic>
        <p:nvPicPr>
          <p:cNvPr id="7" name="capture-application" descr="/home/claude/deck/demo3.png">    </p:cNvPr>
          <p:cNvPicPr>
            <a:picLocks noChangeAspect="1"/>
          </p:cNvPicPr>
          <p:nvPr/>
        </p:nvPicPr>
        <p:blipFill>
          <a:blip r:embed="rId2"/>
          <a:srcRect l="0" r="0" t="0" b="0"/>
          <a:stretch/>
        </p:blipFill>
        <p:spPr>
          <a:xfrm>
            <a:off x="594360" y="1463040"/>
            <a:ext cx="8229600" cy="4709160"/>
          </a:xfrm>
          <a:prstGeom prst="rect">
            <a:avLst/>
          </a:prstGeom>
        </p:spPr>
      </p:pic>
      <p:sp>
        <p:nvSpPr>
          <p:cNvPr id="8" name="txt-896"/>
          <p:cNvSpPr txBox="1"/>
          <p:nvPr/>
        </p:nvSpPr>
        <p:spPr>
          <a:xfrm>
            <a:off x="9098280" y="1463040"/>
            <a:ext cx="2560320" cy="365760"/>
          </a:xfrm>
          <a:prstGeom prst="rect">
            <a:avLst/>
          </a:prstGeom>
          <a:noFill/>
          <a:ln/>
        </p:spPr>
        <p:txBody>
          <a:bodyPr wrap="square" lIns="0" tIns="0" rIns="0" bIns="0" rtlCol="0" anchor="t"/>
          <a:lstStyle/>
          <a:p>
            <a:pPr indent="0" marL="0">
              <a:buNone/>
            </a:pPr>
            <a:r>
              <a:rPr lang="en-US" sz="1600" b="1" dirty="0">
                <a:solidFill>
                  <a:schemeClr val="tx1"/>
                </a:solidFill>
              </a:rPr>
              <a:t>Ce qu'on voit</a:t>
            </a:r>
            <a:endParaRPr lang="en-US" sz="1600" dirty="0"/>
          </a:p>
        </p:txBody>
      </p:sp>
      <p:sp>
        <p:nvSpPr>
          <p:cNvPr id="9" name="Text 5"/>
          <p:cNvSpPr txBox="1"/>
          <p:nvPr/>
        </p:nvSpPr>
        <p:spPr>
          <a:xfrm>
            <a:off x="9098280" y="1965960"/>
            <a:ext cx="329184" cy="329184"/>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10" name="txt-897"/>
          <p:cNvSpPr txBox="1"/>
          <p:nvPr/>
        </p:nvSpPr>
        <p:spPr>
          <a:xfrm>
            <a:off x="9555480" y="1929384"/>
            <a:ext cx="2103120" cy="1280160"/>
          </a:xfrm>
          <a:prstGeom prst="rect">
            <a:avLst/>
          </a:prstGeom>
          <a:noFill/>
          <a:ln/>
        </p:spPr>
        <p:txBody>
          <a:bodyPr wrap="square" lIns="0" tIns="0" rIns="0" bIns="0" rtlCol="0" anchor="t"/>
          <a:lstStyle/>
          <a:p>
            <a:pPr indent="0" marL="0">
              <a:buNone/>
            </a:pPr>
            <a:r>
              <a:rPr lang="en-US" sz="1250" dirty="0">
                <a:solidFill>
                  <a:schemeClr val="tx1"/>
                </a:solidFill>
              </a:rPr>
              <a:t>Les codes fréquents (E42, E43, E67) sont proposés sous la zone de saisie.</a:t>
            </a:r>
            <a:endParaRPr lang="en-US" sz="1250" dirty="0"/>
          </a:p>
        </p:txBody>
      </p:sp>
      <p:sp>
        <p:nvSpPr>
          <p:cNvPr id="11" name="Text 7"/>
          <p:cNvSpPr txBox="1"/>
          <p:nvPr/>
        </p:nvSpPr>
        <p:spPr>
          <a:xfrm>
            <a:off x="9098280" y="3337560"/>
            <a:ext cx="329184" cy="329184"/>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2" name="txt-898"/>
          <p:cNvSpPr txBox="1"/>
          <p:nvPr/>
        </p:nvSpPr>
        <p:spPr>
          <a:xfrm>
            <a:off x="9555480" y="3300984"/>
            <a:ext cx="2103120" cy="1280160"/>
          </a:xfrm>
          <a:prstGeom prst="rect">
            <a:avLst/>
          </a:prstGeom>
          <a:noFill/>
          <a:ln/>
        </p:spPr>
        <p:txBody>
          <a:bodyPr wrap="square" lIns="0" tIns="0" rIns="0" bIns="0" rtlCol="0" anchor="t"/>
          <a:lstStyle/>
          <a:p>
            <a:pPr indent="0" marL="0">
              <a:buNone/>
            </a:pPr>
            <a:r>
              <a:rPr lang="en-US" sz="1250" dirty="0">
                <a:solidFill>
                  <a:schemeClr val="tx1"/>
                </a:solidFill>
              </a:rPr>
              <a:t>Le technicien clique sur E42 : capteur de rétention de carte.</a:t>
            </a:r>
            <a:endParaRPr lang="en-US" sz="1250" dirty="0"/>
          </a:p>
        </p:txBody>
      </p:sp>
      <p:sp>
        <p:nvSpPr>
          <p:cNvPr id="13" name="Text 9"/>
          <p:cNvSpPr txBox="1"/>
          <p:nvPr/>
        </p:nvSpPr>
        <p:spPr>
          <a:xfrm>
            <a:off x="9098280" y="4709160"/>
            <a:ext cx="329184" cy="329184"/>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4" name="txt-899"/>
          <p:cNvSpPr txBox="1"/>
          <p:nvPr/>
        </p:nvSpPr>
        <p:spPr>
          <a:xfrm>
            <a:off x="9555480" y="4672584"/>
            <a:ext cx="2103120" cy="1280160"/>
          </a:xfrm>
          <a:prstGeom prst="rect">
            <a:avLst/>
          </a:prstGeom>
          <a:noFill/>
          <a:ln/>
        </p:spPr>
        <p:txBody>
          <a:bodyPr wrap="square" lIns="0" tIns="0" rIns="0" bIns="0" rtlCol="0" anchor="t"/>
          <a:lstStyle/>
          <a:p>
            <a:pPr indent="0" marL="0">
              <a:buNone/>
            </a:pPr>
            <a:r>
              <a:rPr lang="en-US" sz="1250" dirty="0">
                <a:solidFill>
                  <a:schemeClr val="tx1"/>
                </a:solidFill>
              </a:rPr>
              <a:t>ATM-BOT affiche la panne rattachée (P001) et les étapes de résolution.</a:t>
            </a:r>
            <a:endParaRPr lang="en-US" sz="125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42</a:t>
            </a:fld>
            <a:endParaRPr lang="en-US"/>
          </a:p>
        </p:txBody>
      </p:sp>
    </p:spTree>
  </p:cSld>
  <p:clrMapOvr>
    <a:masterClrMapping/>
  </p:clrMapOvr>
</p:sld>
</file>

<file path=ppt/theme/theme1.xml><?xml version="1.0" encoding="utf-8"?>
<a:theme xmlns:a="http://schemas.openxmlformats.org/drawingml/2006/main" name="ATM-BOT">
  <a:themeElements>
    <a:clrScheme name="ATM-BOT">
      <a:dk1>
        <a:srgbClr val="1B2630"/>
      </a:dk1>
      <a:lt1>
        <a:srgbClr val="FFFFFF"/>
      </a:lt1>
      <a:dk2>
        <a:srgbClr val="2E4A5C"/>
      </a:dk2>
      <a:lt2>
        <a:srgbClr val="EEF2F3"/>
      </a:lt2>
      <a:accent1>
        <a:srgbClr val="0E7C6B"/>
      </a:accent1>
      <a:accent2>
        <a:srgbClr val="E39B2D"/>
      </a:accent2>
      <a:accent3>
        <a:srgbClr val="2E4A5C"/>
      </a:accent3>
      <a:accent4>
        <a:srgbClr val="B5472B"/>
      </a:accent4>
      <a:accent5>
        <a:srgbClr val="6B7A86"/>
      </a:accent5>
      <a:accent6>
        <a:srgbClr val="4E7A27"/>
      </a:accent6>
      <a:hlink>
        <a:srgbClr val="0E7C6B"/>
      </a:hlink>
      <a:folHlink>
        <a:srgbClr val="2E4A5C"/>
      </a:folHlink>
    </a:clrScheme>
    <a:fontScheme name="ATM-BO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ATM-BOT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ATM-BOT</dc:title>
  <dc:subject>PptxGenJS Presentation</dc:subject>
  <dc:creator>PptxGenJS</dc:creator>
  <cp:lastModifiedBy>PptxGenJS</cp:lastModifiedBy>
  <cp:revision>1</cp:revision>
  <dcterms:created xsi:type="dcterms:W3CDTF">2026-10-08T14:57:59Z</dcterms:created>
  <dcterms:modified xsi:type="dcterms:W3CDTF">2026-10-08T14:57:59Z</dcterms:modified>
</cp:coreProperties>
</file>